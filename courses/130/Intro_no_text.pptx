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9" r:id="rId4"/>
    <p:sldId id="284" r:id="rId5"/>
    <p:sldId id="322" r:id="rId6"/>
    <p:sldId id="333" r:id="rId7"/>
    <p:sldId id="334" r:id="rId8"/>
    <p:sldId id="614" r:id="rId9"/>
    <p:sldId id="335" r:id="rId10"/>
    <p:sldId id="340" r:id="rId11"/>
    <p:sldId id="341" r:id="rId12"/>
    <p:sldId id="344" r:id="rId13"/>
    <p:sldId id="345" r:id="rId14"/>
    <p:sldId id="609" r:id="rId15"/>
    <p:sldId id="611" r:id="rId16"/>
    <p:sldId id="347" r:id="rId17"/>
    <p:sldId id="612" r:id="rId18"/>
    <p:sldId id="617" r:id="rId19"/>
    <p:sldId id="618" r:id="rId20"/>
    <p:sldId id="349" r:id="rId21"/>
    <p:sldId id="369" r:id="rId22"/>
    <p:sldId id="366" r:id="rId23"/>
    <p:sldId id="351" r:id="rId24"/>
    <p:sldId id="608" r:id="rId25"/>
    <p:sldId id="353" r:id="rId26"/>
    <p:sldId id="468" r:id="rId27"/>
    <p:sldId id="354" r:id="rId28"/>
    <p:sldId id="619" r:id="rId29"/>
    <p:sldId id="355" r:id="rId30"/>
    <p:sldId id="356" r:id="rId31"/>
    <p:sldId id="357" r:id="rId3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3" autoAdjust="0"/>
    <p:restoredTop sz="72026" autoAdjust="0"/>
  </p:normalViewPr>
  <p:slideViewPr>
    <p:cSldViewPr>
      <p:cViewPr varScale="1">
        <p:scale>
          <a:sx n="45" d="100"/>
          <a:sy n="45" d="100"/>
        </p:scale>
        <p:origin x="476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EA17759-50B8-EF0C-4B9F-08A1889362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EC58402-64F9-9F72-7B53-C36D8CE7390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2F38755-08FA-19AB-7B8A-B75AED1F869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9FED5FE-ECD2-5B25-E513-100C0CA06F1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4C71F8A-B8E5-C689-7D6F-4A5567BCC8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56AD522-33B4-7474-9C47-ED5FE22C5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EE4E2E8-F0A2-4D6E-8A80-8494571AB4A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2283D768-DF5F-473B-5A94-900BB7DED3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BD25AA-6B3F-4D45-BC30-71E7CBFEAED2}" type="slidenum">
              <a:rPr lang="en-US" altLang="en-US" smtClean="0"/>
              <a:pPr/>
              <a:t>1</a:t>
            </a:fld>
            <a:endParaRPr lang="en-US" altLang="en-US" dirty="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9378B914-FB2B-2158-83AD-383DBC88EC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912B9DE3-B219-C35B-EAFF-43C5C2C543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A2E807DA-941D-E4A9-FF2D-4C24932549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A93300-DCA8-4427-A7D1-D92FB737E3BB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B64F6E8C-A521-A8B1-4F09-B39CD424BA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4F36972-D339-1047-441B-BDB88E927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9447895B-5257-E4A6-5DB8-C42EB35AB8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C135E7-9E00-485B-92D3-9094F67A5216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40560E4-2064-6C1B-77D5-1CB676CCBF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48945F4-652E-9A8F-B3C4-02F826BA9F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1E8BA717-E0B6-677D-BA39-1CD7CA3F34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5DE222-414C-49A8-B54E-05FD50957888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A150AEDF-C619-B94E-CECE-0401CE3365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A8507DB-2577-1DA9-214C-92D293237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008D9C94-4EF2-AF92-EB50-691453833D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8FB5D655-4B7C-DF2D-966E-D5A8D07AD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BBF19F61-CFCC-C281-CF04-873E354E8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4BA37F-F10C-4057-AE3C-4D3D529BA0B9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C1B14A70-7DEF-C6FB-0072-EC6638B265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F7DE08-ED00-438C-AE66-FA17982C3BB9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FA917E2-53D5-A921-9920-27C6363C56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2C27186C-A05F-CAC5-E003-9FD389E12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74799542-BE04-6137-26F8-D3B20DA7BC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9AE433-0E72-450E-8AB9-B73AD520671E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3B3E245F-9048-C146-06D7-72CAC68EF2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EDEF983-9B1B-7E20-C763-A75B5082ED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E4E2E8-F0A2-4D6E-8A80-8494571AB4AF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088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2A152417-1F30-1FDE-4162-1158B12AF3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8A5D91-302E-4A77-A7B3-46275C0F29AC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7874408-E94D-C7F7-A695-79BDA56E16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21FC9C2A-93E0-E1D8-8F6F-5F04860D93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EB918738-F498-F7AA-4146-044795B03D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4479DB-C76D-41D6-B83F-B708D1056133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39DB7DB-E2D6-2933-29B6-7B9597598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F12C991E-9BE9-2F7E-496E-DCADE9527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0AEC9818-0AAA-1CCA-8731-1663518274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FF2A93-3E12-4543-A147-055A05318016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CCB5B802-342D-554D-6F13-6E55DBE668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A93512C5-6A16-13B7-CEF0-9A33B41E6F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756616B-49B1-136E-6F8D-27C56A3113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17D8BC-3E1B-4894-BC64-8AABCA318C3E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3E744080-FA76-F37A-D408-0B1BAEB621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70DDF06-EA29-BCF3-5C13-91E9F8984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9C7F837C-14CC-5E75-290F-A916FD42D1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9E8791-0553-4940-B679-EEAEEBDC5A34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946A0B90-DB43-4F5A-6280-8A9DA93057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8FF8E997-DA8A-38F4-11F5-85DBC37D9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E4E2E8-F0A2-4D6E-8A80-8494571AB4AF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3402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9798FE63-760B-0231-47F5-0A3C8591D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7816E21A-1E2F-5619-6A16-3DCEC8D51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45FDC396-9D9B-7AB5-95BE-C45AE7C41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4B8EC1-1D4C-4E40-B964-E1B3D28D7980}" type="slidenum">
              <a:rPr lang="en-US" altLang="en-US" smtClean="0"/>
              <a:pPr/>
              <a:t>16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E4E2E8-F0A2-4D6E-8A80-8494571AB4AF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10676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E4E2E8-F0A2-4D6E-8A80-8494571AB4AF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10056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6E71610B-4A1E-1235-5106-0A41038DB5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21B592-F2DD-47FB-862E-67CDEDE7F24C}" type="slidenum">
              <a:rPr lang="en-US" altLang="en-US" smtClean="0"/>
              <a:pPr/>
              <a:t>20</a:t>
            </a:fld>
            <a:endParaRPr lang="en-US" altLang="en-US" dirty="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B876DE3-AA14-7B78-C964-86A1A154CF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893A2AC-B5EF-62CD-7015-108B7BB2EC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E4E2E8-F0A2-4D6E-8A80-8494571AB4AF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660238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24399E3D-C9CC-1677-54DA-BD27E9FF3C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5C6B9064-D3AE-EE38-3C84-0814596FE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8CBED32D-144B-A954-5F87-B2303046A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391D43-9377-4FAB-BE1A-D308CF7DC64C}" type="slidenum">
              <a:rPr lang="en-US" altLang="en-US" smtClean="0"/>
              <a:pPr/>
              <a:t>22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E4E2E8-F0A2-4D6E-8A80-8494571AB4AF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64268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BA0F90-C8A5-480C-8B7E-0DC4F52F47CC}" type="slidenum">
              <a:rPr lang="en-US" altLang="en-US" smtClean="0"/>
              <a:pPr/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193221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7D5A1B44-0DB6-065C-0A00-65E0C1FD04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6654D3-EFF0-4BFC-A4CA-4E90043BCA63}" type="slidenum">
              <a:rPr lang="en-US" altLang="en-US" smtClean="0"/>
              <a:pPr/>
              <a:t>25</a:t>
            </a:fld>
            <a:endParaRPr lang="en-US" altLang="en-US" dirty="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4EF1F903-2B7E-7BBB-C3F7-2C7CA4DF5C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6906086E-9708-CD81-B641-25A13BFA7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19135-CCE3-4767-B7CE-2478AAC3316A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3119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07ABD15D-F8B5-A84B-8920-FF06A0E702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A0C24033-C751-4AD2-2DF0-E6F0151B2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6852B3F6-E89B-8D03-EA07-F77FEB17F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5B43B3-6790-4C31-AA3C-2ABBCC78F55E}" type="slidenum">
              <a:rPr lang="en-US" altLang="en-US" smtClean="0"/>
              <a:pPr/>
              <a:t>27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472728E8-0AAD-4B04-8B5D-72D7857351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34F21D4A-1037-480E-8FC7-2A91C3BD1F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6EEE4E17-DCEF-44DB-8C28-E19BE49F22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EEDE24-28BA-4E21-A94C-FDDCB743A818}" type="slidenum">
              <a:rPr lang="en-US" altLang="en-US"/>
              <a:pPr/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E4E2E8-F0A2-4D6E-8A80-8494571AB4AF}" type="slidenum">
              <a:rPr lang="en-US" altLang="en-US" smtClean="0"/>
              <a:pPr>
                <a:defRPr/>
              </a:pPr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36843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58348184-3A66-17F5-43EB-D4E7E6F10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0132765C-05CA-59EA-99E1-CE0FC2DCA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01469746-33C7-3CC6-F097-AA9EA9062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359C49-D189-41A2-9EA3-C1B6571A0A2D}" type="slidenum">
              <a:rPr lang="en-US" altLang="en-US" smtClean="0"/>
              <a:pPr/>
              <a:t>30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AA6E3663-8430-61E7-A406-445E080A6A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D9B794-C2CF-4C9B-B32D-F4B3B292FD21}" type="slidenum">
              <a:rPr lang="en-US" altLang="en-US" smtClean="0"/>
              <a:pPr/>
              <a:t>31</a:t>
            </a:fld>
            <a:endParaRPr lang="en-US" altLang="en-US" dirty="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E022AF6E-4872-B0B5-D8F8-AD2F5764E3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F94E5044-5784-FB72-4272-6CDB243797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BB2404-B48A-19CE-A0F6-F46FE8F7EA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169C7A-4B1B-F2F1-B2FD-83B28ED713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9FC6968-DB78-CBCC-7367-ABC16F2957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A9A69-775F-4D43-9F0A-714881BB672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040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B3B7D2-5B56-0256-1E1B-D9A149CCB8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3E1EB9-B07B-351D-F228-6493DBDF98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CAE683-BA26-D9A8-B1F3-25FE915DBD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011B2-AFE7-4797-9499-06FD5C704E2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64919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74EE3F-E3B7-1127-627D-D663026C52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5BD875-8ACD-DCF3-D9DA-F48BF7E150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F209D0-B416-EED8-6D5B-A0BCEF5CF7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DF773-99EB-4E6F-A00C-FEC62CCBC79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2481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118913-268F-51EC-89F9-BB7BD56A69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CB0F63-6DBA-120E-B002-DB188E770E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465EBC-C640-C3E4-59D4-867A12C408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408C74-452F-436C-A654-7A4615FC55C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6064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704F116-D6BF-3959-109B-A6388E20D2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6C78582-C4F4-B0F6-33F5-BB21D4D3A4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3ABBBC2-9AA2-804A-6631-E621E4A3DC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E676D-4466-4A87-A57F-DD372CE3BA1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4005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29E1988-8755-0B5E-215D-D626FCEDA8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0EA60FF-8CE2-D260-6854-F4E395CE77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58C26CC-BB5A-961A-FD8A-5BED985C06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AC806-6F94-43BC-90A8-133A9CC5542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306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F0C6BEF-4765-2736-A3C1-7C7ACEA27D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32F4CF-50C4-62D1-497A-9F3D6B02AA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5C35B21-6A04-F33B-95E4-0B13EA2C87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B10095-06F6-49EF-9873-84266795EED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19053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28B5B5-BA59-B460-03D7-4A39F5A65C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5F5D4A-8F98-CA64-AF6F-E35185E909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A87656-0865-F6D5-B6D7-0993DB4D84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8C81AB-4C75-48C7-A34C-EB19C6BCF7A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94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982E56-18E3-CB0C-D29D-91C9BC6CDC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4177D-48CD-E463-C454-7317098AE7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39A150-1A68-A841-8F82-CEBF1D8D06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ED1C3-1EF0-43A8-8F2D-632C9759EF6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193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A61F90-E2C0-515A-D5D4-F14131DFC2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02D3BA-345B-5065-9070-D3DE71B825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469DD2-3608-3EF0-88F2-07F64DE0D8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11E033-6E02-4871-86D6-2133C6BB09E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54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851F50-4C75-B817-2E82-B95C23EDAB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A063C2D-8BEA-58DA-12CC-35744C11CA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D68325-4E05-C660-92C7-C5A862ABF5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A6C00-A645-48B2-A306-8C8D085901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67284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AAB80-F65C-C039-0ABE-7F0C92793F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DCA4D2-0CA7-34A0-BAC0-C144C03213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64EC4-D467-FE4A-7451-764991B15C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6D35-73C0-42B6-BE4E-BA1A55BF226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22570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A760964-5E40-B8FA-321F-93FB345BD0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9F4710-DF44-9FDD-229B-5807738154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C27E766-1E2E-5AB9-296C-502298F41B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65FF2-BF85-4C58-9B3F-790E735FB02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0170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42DECF2-FAFF-F646-91D7-212908802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8B84482-5B88-8CBD-F988-60E75EC073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43D42D4-2C9A-2E99-7837-E021562CD62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dirty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4E62A63-DB4C-EBA6-BEBD-89D2034CDF6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0053EE9-AED2-125D-18F3-D449F75793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015B64E-3993-4B71-8A65-B421C345ED3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z62xPIY3nM?feature=oembed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dotearth.blogs.nytimes.com/2012/08/23/a-fresh-look-at-the-difference-between-climate-trends-and-variations/?_php=true&amp;_type=blogs&amp;src=recg&amp;_r=0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" descr="HLC1-1-1">
            <a:extLst>
              <a:ext uri="{FF2B5EF4-FFF2-40B4-BE49-F238E27FC236}">
                <a16:creationId xmlns:a16="http://schemas.microsoft.com/office/drawing/2014/main" id="{7C8374E3-4F35-D6D7-6B27-62192EFBB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8" b="4404"/>
          <a:stretch>
            <a:fillRect/>
          </a:stretch>
        </p:blipFill>
        <p:spPr bwMode="auto">
          <a:xfrm>
            <a:off x="0" y="0"/>
            <a:ext cx="12192000" cy="761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2">
            <a:extLst>
              <a:ext uri="{FF2B5EF4-FFF2-40B4-BE49-F238E27FC236}">
                <a16:creationId xmlns:a16="http://schemas.microsoft.com/office/drawing/2014/main" id="{D95CEC86-660B-9B6F-0098-A19A71D516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74"/>
          <a:stretch/>
        </p:blipFill>
        <p:spPr bwMode="auto">
          <a:xfrm>
            <a:off x="2667000" y="533400"/>
            <a:ext cx="6096000" cy="595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TreeLine">
            <a:extLst>
              <a:ext uri="{FF2B5EF4-FFF2-40B4-BE49-F238E27FC236}">
                <a16:creationId xmlns:a16="http://schemas.microsoft.com/office/drawing/2014/main" id="{8FBB54CC-E424-A4A6-EF15-B2A4F13D3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525"/>
            <a:ext cx="8831097" cy="661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 descr="solifluction1">
            <a:extLst>
              <a:ext uri="{FF2B5EF4-FFF2-40B4-BE49-F238E27FC236}">
                <a16:creationId xmlns:a16="http://schemas.microsoft.com/office/drawing/2014/main" id="{AF38CE30-987B-53ED-3FDD-1C3C40A71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2400"/>
            <a:ext cx="44704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7" descr="solifluction_siberia">
            <a:extLst>
              <a:ext uri="{FF2B5EF4-FFF2-40B4-BE49-F238E27FC236}">
                <a16:creationId xmlns:a16="http://schemas.microsoft.com/office/drawing/2014/main" id="{F195C8EF-24FA-B321-3D45-79EDDCE1A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4"/>
          <a:stretch>
            <a:fillRect/>
          </a:stretch>
        </p:blipFill>
        <p:spPr bwMode="auto">
          <a:xfrm>
            <a:off x="5638800" y="0"/>
            <a:ext cx="5029200" cy="407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 descr="lobe">
            <a:extLst>
              <a:ext uri="{FF2B5EF4-FFF2-40B4-BE49-F238E27FC236}">
                <a16:creationId xmlns:a16="http://schemas.microsoft.com/office/drawing/2014/main" id="{18B687DB-2A46-11AA-5595-B733EA96C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3" t="31186"/>
          <a:stretch>
            <a:fillRect/>
          </a:stretch>
        </p:blipFill>
        <p:spPr bwMode="auto">
          <a:xfrm>
            <a:off x="5638800" y="3810000"/>
            <a:ext cx="50292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>
            <a:extLst>
              <a:ext uri="{FF2B5EF4-FFF2-40B4-BE49-F238E27FC236}">
                <a16:creationId xmlns:a16="http://schemas.microsoft.com/office/drawing/2014/main" id="{23B58E09-8D9D-D0FF-F928-6BB1D6748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-361950"/>
            <a:ext cx="10363200" cy="758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ater canal with a crane&#10;&#10;Description automatically generated with medium confidence">
            <a:extLst>
              <a:ext uri="{FF2B5EF4-FFF2-40B4-BE49-F238E27FC236}">
                <a16:creationId xmlns:a16="http://schemas.microsoft.com/office/drawing/2014/main" id="{59553DB6-ADAF-F045-707B-BC5C8BB59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0"/>
            <a:ext cx="105507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2" descr="A diagram of a slope&#10;&#10;Description automatically generated">
            <a:extLst>
              <a:ext uri="{FF2B5EF4-FFF2-40B4-BE49-F238E27FC236}">
                <a16:creationId xmlns:a16="http://schemas.microsoft.com/office/drawing/2014/main" id="{CD7C0CE3-5DFC-0314-2113-40245ADCF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613"/>
          <a:stretch>
            <a:fillRect/>
          </a:stretch>
        </p:blipFill>
        <p:spPr bwMode="auto">
          <a:xfrm>
            <a:off x="762000" y="228600"/>
            <a:ext cx="10210800" cy="673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showing the temperature and precipitation&#10;&#10;Description automatically generated">
            <a:extLst>
              <a:ext uri="{FF2B5EF4-FFF2-40B4-BE49-F238E27FC236}">
                <a16:creationId xmlns:a16="http://schemas.microsoft.com/office/drawing/2014/main" id="{E621A52E-0399-B1DA-A6B3-DC1C949C1E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92035"/>
            <a:ext cx="8991600" cy="6273930"/>
          </a:xfrm>
        </p:spPr>
      </p:pic>
    </p:spTree>
    <p:extLst>
      <p:ext uri="{BB962C8B-B14F-4D97-AF65-F5344CB8AC3E}">
        <p14:creationId xmlns:p14="http://schemas.microsoft.com/office/powerpoint/2010/main" val="1092923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 descr="NAprsnt">
            <a:extLst>
              <a:ext uri="{FF2B5EF4-FFF2-40B4-BE49-F238E27FC236}">
                <a16:creationId xmlns:a16="http://schemas.microsoft.com/office/drawing/2014/main" id="{9699D4A5-5C40-BA3F-3DB6-85641E05BBC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7" r="10550"/>
          <a:stretch>
            <a:fillRect/>
          </a:stretch>
        </p:blipFill>
        <p:spPr>
          <a:xfrm>
            <a:off x="762000" y="322880"/>
            <a:ext cx="4953000" cy="6212237"/>
          </a:xfrm>
          <a:noFill/>
        </p:spPr>
      </p:pic>
      <p:pic>
        <p:nvPicPr>
          <p:cNvPr id="21509" name="Picture 2" descr="A map of north america&#10;&#10;Description automatically generated">
            <a:extLst>
              <a:ext uri="{FF2B5EF4-FFF2-40B4-BE49-F238E27FC236}">
                <a16:creationId xmlns:a16="http://schemas.microsoft.com/office/drawing/2014/main" id="{EFCBEAFD-9A9B-8D9B-FAE9-05B5E9112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8"/>
          <a:stretch>
            <a:fillRect/>
          </a:stretch>
        </p:blipFill>
        <p:spPr bwMode="auto">
          <a:xfrm>
            <a:off x="6056313" y="399292"/>
            <a:ext cx="5141913" cy="6059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10" descr="Q5240NW3">
            <a:extLst>
              <a:ext uri="{FF2B5EF4-FFF2-40B4-BE49-F238E27FC236}">
                <a16:creationId xmlns:a16="http://schemas.microsoft.com/office/drawing/2014/main" id="{8E583ABA-4D20-A5B3-608F-CB5C25C52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218295"/>
            <a:ext cx="5562600" cy="642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3" descr="water_climate_cycle">
            <a:extLst>
              <a:ext uri="{FF2B5EF4-FFF2-40B4-BE49-F238E27FC236}">
                <a16:creationId xmlns:a16="http://schemas.microsoft.com/office/drawing/2014/main" id="{8174D0F3-95B4-5AFD-FC88-2F81592BD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2400"/>
            <a:ext cx="8382000" cy="6583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4" descr="female_fire_fighter">
            <a:extLst>
              <a:ext uri="{FF2B5EF4-FFF2-40B4-BE49-F238E27FC236}">
                <a16:creationId xmlns:a16="http://schemas.microsoft.com/office/drawing/2014/main" id="{4A7FA020-E524-351C-F9D0-ACC95B4C616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43800" y="131763"/>
            <a:ext cx="4359275" cy="6594475"/>
          </a:xfrm>
          <a:noFill/>
        </p:spPr>
      </p:pic>
      <p:pic>
        <p:nvPicPr>
          <p:cNvPr id="27652" name="Picture 6" descr="http://www.airphotona.com/stockimg/images/17739.jpg">
            <a:extLst>
              <a:ext uri="{FF2B5EF4-FFF2-40B4-BE49-F238E27FC236}">
                <a16:creationId xmlns:a16="http://schemas.microsoft.com/office/drawing/2014/main" id="{899E0CB3-F425-2D05-ECA8-83F3F2690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" y="1219200"/>
            <a:ext cx="7186612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arrows pointing to a sign&#10;&#10;Description automatically generated">
            <a:extLst>
              <a:ext uri="{FF2B5EF4-FFF2-40B4-BE49-F238E27FC236}">
                <a16:creationId xmlns:a16="http://schemas.microsoft.com/office/drawing/2014/main" id="{A0723351-5943-693E-D377-CF653EEC9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87" y="914400"/>
            <a:ext cx="11639825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en field with water&#10;&#10;Description automatically generated with medium confidence">
            <a:extLst>
              <a:ext uri="{FF2B5EF4-FFF2-40B4-BE49-F238E27FC236}">
                <a16:creationId xmlns:a16="http://schemas.microsoft.com/office/drawing/2014/main" id="{7E0E337C-D313-B9C5-18DB-367744DD1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755885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ocky cliff with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A8804E3F-F5F5-C8AD-CA33-2F5CF00EC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152400"/>
            <a:ext cx="9525000" cy="6353101"/>
          </a:xfrm>
        </p:spPr>
      </p:pic>
    </p:spTree>
    <p:extLst>
      <p:ext uri="{BB962C8B-B14F-4D97-AF65-F5344CB8AC3E}">
        <p14:creationId xmlns:p14="http://schemas.microsoft.com/office/powerpoint/2010/main" val="4104979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>
            <a:extLst>
              <a:ext uri="{FF2B5EF4-FFF2-40B4-BE49-F238E27FC236}">
                <a16:creationId xmlns:a16="http://schemas.microsoft.com/office/drawing/2014/main" id="{F8C85D57-9D92-E52A-45D6-6DCE0C736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-36513"/>
            <a:ext cx="9882188" cy="689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Why You Can Light These Frozen Lakes On Fire">
            <a:hlinkClick r:id="" action="ppaction://media"/>
            <a:extLst>
              <a:ext uri="{FF2B5EF4-FFF2-40B4-BE49-F238E27FC236}">
                <a16:creationId xmlns:a16="http://schemas.microsoft.com/office/drawing/2014/main" id="{84E8E8A9-EAFD-E1B8-DF9B-76AE5ADCEBD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81000" y="202571"/>
            <a:ext cx="11430000" cy="645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45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tage and stage&#10;&#10;Description automatically generated">
            <a:extLst>
              <a:ext uri="{FF2B5EF4-FFF2-40B4-BE49-F238E27FC236}">
                <a16:creationId xmlns:a16="http://schemas.microsoft.com/office/drawing/2014/main" id="{27543839-0408-2FDA-4B1F-78D766048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11385927" cy="4267200"/>
          </a:xfrm>
        </p:spPr>
      </p:pic>
      <p:sp>
        <p:nvSpPr>
          <p:cNvPr id="3" name="Plus Sign 2">
            <a:extLst>
              <a:ext uri="{FF2B5EF4-FFF2-40B4-BE49-F238E27FC236}">
                <a16:creationId xmlns:a16="http://schemas.microsoft.com/office/drawing/2014/main" id="{62AF4539-2D18-7E61-C203-ED17B2439D35}"/>
              </a:ext>
            </a:extLst>
          </p:cNvPr>
          <p:cNvSpPr/>
          <p:nvPr/>
        </p:nvSpPr>
        <p:spPr>
          <a:xfrm>
            <a:off x="4114800" y="48986"/>
            <a:ext cx="914400" cy="9144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inus Sign 3">
            <a:extLst>
              <a:ext uri="{FF2B5EF4-FFF2-40B4-BE49-F238E27FC236}">
                <a16:creationId xmlns:a16="http://schemas.microsoft.com/office/drawing/2014/main" id="{57DE898D-49AA-1AAC-21E6-7B64C2E26501}"/>
              </a:ext>
            </a:extLst>
          </p:cNvPr>
          <p:cNvSpPr/>
          <p:nvPr/>
        </p:nvSpPr>
        <p:spPr>
          <a:xfrm>
            <a:off x="9448800" y="48986"/>
            <a:ext cx="914400" cy="914400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72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 of a river flowing through a river&#10;&#10;Description automatically generated with medium confidence">
            <a:extLst>
              <a:ext uri="{FF2B5EF4-FFF2-40B4-BE49-F238E27FC236}">
                <a16:creationId xmlns:a16="http://schemas.microsoft.com/office/drawing/2014/main" id="{9C62791F-268F-AB82-87F3-2B365936CE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-23813"/>
            <a:ext cx="3121402" cy="6858000"/>
          </a:xfrm>
          <a:prstGeom prst="rect">
            <a:avLst/>
          </a:prstGeom>
        </p:spPr>
      </p:pic>
      <p:sp>
        <p:nvSpPr>
          <p:cNvPr id="7" name="Plus Sign 6">
            <a:extLst>
              <a:ext uri="{FF2B5EF4-FFF2-40B4-BE49-F238E27FC236}">
                <a16:creationId xmlns:a16="http://schemas.microsoft.com/office/drawing/2014/main" id="{6A936852-1D46-B361-CAB6-8D53B6DA9CD2}"/>
              </a:ext>
            </a:extLst>
          </p:cNvPr>
          <p:cNvSpPr/>
          <p:nvPr/>
        </p:nvSpPr>
        <p:spPr>
          <a:xfrm>
            <a:off x="7086600" y="1576387"/>
            <a:ext cx="914400" cy="9144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inus Sign 7">
            <a:extLst>
              <a:ext uri="{FF2B5EF4-FFF2-40B4-BE49-F238E27FC236}">
                <a16:creationId xmlns:a16="http://schemas.microsoft.com/office/drawing/2014/main" id="{A6577172-8C41-114E-CCF3-843D8AEC600C}"/>
              </a:ext>
            </a:extLst>
          </p:cNvPr>
          <p:cNvSpPr/>
          <p:nvPr/>
        </p:nvSpPr>
        <p:spPr>
          <a:xfrm>
            <a:off x="7275701" y="5050630"/>
            <a:ext cx="914400" cy="914400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51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2" descr="story25i1">
            <a:extLst>
              <a:ext uri="{FF2B5EF4-FFF2-40B4-BE49-F238E27FC236}">
                <a16:creationId xmlns:a16="http://schemas.microsoft.com/office/drawing/2014/main" id="{6CEB477C-9953-70A1-0447-52FFDD9F0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2605"/>
            <a:ext cx="10363200" cy="6432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http://cdn.zmescience.com/wp-content/uploads/2014/08/california-drought.jpg">
            <a:extLst>
              <a:ext uri="{FF2B5EF4-FFF2-40B4-BE49-F238E27FC236}">
                <a16:creationId xmlns:a16="http://schemas.microsoft.com/office/drawing/2014/main" id="{7812E5F6-5A01-AF31-A4CA-AAFE1599E2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2716" y="0"/>
            <a:ext cx="10391083" cy="6926183"/>
          </a:xfr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5">
            <a:extLst>
              <a:ext uri="{FF2B5EF4-FFF2-40B4-BE49-F238E27FC236}">
                <a16:creationId xmlns:a16="http://schemas.microsoft.com/office/drawing/2014/main" id="{52041429-A61F-CD0A-F335-4FFCA68C22B2}"/>
              </a:ext>
            </a:extLst>
          </p:cNvPr>
          <p:cNvGrpSpPr>
            <a:grpSpLocks/>
          </p:cNvGrpSpPr>
          <p:nvPr/>
        </p:nvGrpSpPr>
        <p:grpSpPr bwMode="auto">
          <a:xfrm>
            <a:off x="2154238" y="-76200"/>
            <a:ext cx="7883525" cy="6561138"/>
            <a:chOff x="630072" y="76200"/>
            <a:chExt cx="7883856" cy="6561241"/>
          </a:xfrm>
        </p:grpSpPr>
        <p:pic>
          <p:nvPicPr>
            <p:cNvPr id="41993" name="Picture 3">
              <a:extLst>
                <a:ext uri="{FF2B5EF4-FFF2-40B4-BE49-F238E27FC236}">
                  <a16:creationId xmlns:a16="http://schemas.microsoft.com/office/drawing/2014/main" id="{96A10E59-6C57-1C45-F2E9-6E31E4978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072" y="76200"/>
              <a:ext cx="7883856" cy="629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994" name="Content Placeholder 3">
              <a:extLst>
                <a:ext uri="{FF2B5EF4-FFF2-40B4-BE49-F238E27FC236}">
                  <a16:creationId xmlns:a16="http://schemas.microsoft.com/office/drawing/2014/main" id="{0E861935-16AC-74A4-442C-FB8F6B6B8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4333"/>
            <a:stretch>
              <a:fillRect/>
            </a:stretch>
          </p:blipFill>
          <p:spPr bwMode="auto">
            <a:xfrm>
              <a:off x="678180" y="6265545"/>
              <a:ext cx="7828128" cy="3718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987" name="TextBox 6">
            <a:extLst>
              <a:ext uri="{FF2B5EF4-FFF2-40B4-BE49-F238E27FC236}">
                <a16:creationId xmlns:a16="http://schemas.microsoft.com/office/drawing/2014/main" id="{DE332956-91D8-E232-DBF9-5F245E7233E6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158875" y="1616075"/>
            <a:ext cx="162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Drought index</a:t>
            </a:r>
          </a:p>
        </p:txBody>
      </p:sp>
      <p:sp>
        <p:nvSpPr>
          <p:cNvPr id="41988" name="TextBox 7">
            <a:extLst>
              <a:ext uri="{FF2B5EF4-FFF2-40B4-BE49-F238E27FC236}">
                <a16:creationId xmlns:a16="http://schemas.microsoft.com/office/drawing/2014/main" id="{CBCC6F18-2D0D-E909-8100-1EA622AE088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207294" y="4355307"/>
            <a:ext cx="16208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Drought index</a:t>
            </a:r>
          </a:p>
        </p:txBody>
      </p:sp>
      <p:sp>
        <p:nvSpPr>
          <p:cNvPr id="41989" name="TextBox 9">
            <a:extLst>
              <a:ext uri="{FF2B5EF4-FFF2-40B4-BE49-F238E27FC236}">
                <a16:creationId xmlns:a16="http://schemas.microsoft.com/office/drawing/2014/main" id="{0791A7CD-0114-5DD0-B5D6-DCB15F484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3360738"/>
            <a:ext cx="590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Wet</a:t>
            </a:r>
          </a:p>
        </p:txBody>
      </p:sp>
      <p:sp>
        <p:nvSpPr>
          <p:cNvPr id="41990" name="TextBox 10">
            <a:extLst>
              <a:ext uri="{FF2B5EF4-FFF2-40B4-BE49-F238E27FC236}">
                <a16:creationId xmlns:a16="http://schemas.microsoft.com/office/drawing/2014/main" id="{DCFF8CB0-60C2-1A6C-7C22-ED21671F4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5746750"/>
            <a:ext cx="544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Dry</a:t>
            </a:r>
          </a:p>
        </p:txBody>
      </p:sp>
      <p:sp>
        <p:nvSpPr>
          <p:cNvPr id="41991" name="TextBox 11">
            <a:extLst>
              <a:ext uri="{FF2B5EF4-FFF2-40B4-BE49-F238E27FC236}">
                <a16:creationId xmlns:a16="http://schemas.microsoft.com/office/drawing/2014/main" id="{698F1CA5-773A-48FD-308A-78F7681B4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5888" y="301625"/>
            <a:ext cx="590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Wet</a:t>
            </a:r>
          </a:p>
        </p:txBody>
      </p:sp>
      <p:sp>
        <p:nvSpPr>
          <p:cNvPr id="41992" name="TextBox 12">
            <a:extLst>
              <a:ext uri="{FF2B5EF4-FFF2-40B4-BE49-F238E27FC236}">
                <a16:creationId xmlns:a16="http://schemas.microsoft.com/office/drawing/2014/main" id="{9DDC5366-DF5E-0AF4-6312-3FE7B7615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8288" y="2689225"/>
            <a:ext cx="542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Dry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2" descr="DESCRIPTION">
            <a:hlinkClick r:id="rId3"/>
            <a:extLst>
              <a:ext uri="{FF2B5EF4-FFF2-40B4-BE49-F238E27FC236}">
                <a16:creationId xmlns:a16="http://schemas.microsoft.com/office/drawing/2014/main" id="{BB1863AE-C6FF-49C4-68C7-120ED2159AB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57400" y="685800"/>
            <a:ext cx="7916863" cy="5410200"/>
          </a:xfrm>
          <a:prstGeom prst="rect">
            <a:avLst/>
          </a:prstGeom>
          <a:noFill/>
          <a:ln w="50800">
            <a:solidFill>
              <a:schemeClr val="accent1">
                <a:lumMod val="25000"/>
              </a:schemeClr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55792E-341E-2AC3-7B7B-8B2F36BC1579}"/>
              </a:ext>
            </a:extLst>
          </p:cNvPr>
          <p:cNvSpPr/>
          <p:nvPr/>
        </p:nvSpPr>
        <p:spPr>
          <a:xfrm>
            <a:off x="4267200" y="685800"/>
            <a:ext cx="39624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E0975E-4DE0-FA16-FD5D-7A3164545390}"/>
              </a:ext>
            </a:extLst>
          </p:cNvPr>
          <p:cNvSpPr/>
          <p:nvPr/>
        </p:nvSpPr>
        <p:spPr>
          <a:xfrm>
            <a:off x="5791200" y="5257800"/>
            <a:ext cx="39624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2.bp.blogspot.com/-PqnjikzVPLA/V4mMYqIYhfI/AAAAAAAAjSI/_oPWXC7xR80UlKzNjRX9hTknmRfRrxPmACEw/s640/Map3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-76200"/>
            <a:ext cx="5363169" cy="693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261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2" descr="http://www.evidentia.net/wp-content/uploads/selection-0182-02-500x319.jpg">
            <a:extLst>
              <a:ext uri="{FF2B5EF4-FFF2-40B4-BE49-F238E27FC236}">
                <a16:creationId xmlns:a16="http://schemas.microsoft.com/office/drawing/2014/main" id="{77FF03AD-538F-006D-80AA-5D9D01E3E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2" y="0"/>
            <a:ext cx="10696575" cy="682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1403" y="97606"/>
            <a:ext cx="5717579" cy="6662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9792" y="97606"/>
            <a:ext cx="4231455" cy="6518974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659441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C:\Documents and Settings\Jon Anthony Stallins\Desktop\3 Climate change and coral reef\greenland melting.jpg">
            <a:extLst>
              <a:ext uri="{FF2B5EF4-FFF2-40B4-BE49-F238E27FC236}">
                <a16:creationId xmlns:a16="http://schemas.microsoft.com/office/drawing/2014/main" id="{FD85E58B-B126-AC03-D075-961198124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725" y="2755900"/>
            <a:ext cx="588963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1" name="Picture 3" descr="C:\Documents and Settings\Jon Anthony Stallins\Desktop\3 Climate change and coral reef\sea ice in retreat1.jpg">
            <a:extLst>
              <a:ext uri="{FF2B5EF4-FFF2-40B4-BE49-F238E27FC236}">
                <a16:creationId xmlns:a16="http://schemas.microsoft.com/office/drawing/2014/main" id="{670EB9D5-9CF5-DE68-98FC-0217E78A1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10"/>
          <a:stretch>
            <a:fillRect/>
          </a:stretch>
        </p:blipFill>
        <p:spPr bwMode="auto">
          <a:xfrm>
            <a:off x="2293143" y="342106"/>
            <a:ext cx="7605713" cy="617378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>
            <a:extLst>
              <a:ext uri="{FF2B5EF4-FFF2-40B4-BE49-F238E27FC236}">
                <a16:creationId xmlns:a16="http://schemas.microsoft.com/office/drawing/2014/main" id="{CEA2041C-9349-4544-A9AD-6DFF0BC7D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1752600"/>
            <a:ext cx="1219200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2" descr="C:\Users\JAS\Desktop\Pinatubo91.jpg">
            <a:extLst>
              <a:ext uri="{FF2B5EF4-FFF2-40B4-BE49-F238E27FC236}">
                <a16:creationId xmlns:a16="http://schemas.microsoft.com/office/drawing/2014/main" id="{A7797117-7AA3-F5D8-87DA-9D158EF48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2400"/>
            <a:ext cx="9601200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http://www.climate4you.com/images/HadCRUT3%20GlobalMonthlyTempSince1985%20MtPinatubo.gif">
            <a:extLst>
              <a:ext uri="{FF2B5EF4-FFF2-40B4-BE49-F238E27FC236}">
                <a16:creationId xmlns:a16="http://schemas.microsoft.com/office/drawing/2014/main" id="{5F1C0357-13B1-46FB-48E7-6E10C5B4E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" y="228600"/>
            <a:ext cx="11515725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3305607-05B5-ABD1-E470-C6F5C97B3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3337"/>
            <a:ext cx="6019800" cy="679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C00000"/>
      </a:hlink>
      <a:folHlink>
        <a:srgbClr val="C000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37</Words>
  <Application>Microsoft Office PowerPoint</Application>
  <PresentationFormat>Widescreen</PresentationFormat>
  <Paragraphs>35</Paragraphs>
  <Slides>31</Slides>
  <Notes>29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Arial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Physical Geography</dc:title>
  <dc:creator>Shawn Lewers</dc:creator>
  <cp:lastModifiedBy>Stallins, Jon A.</cp:lastModifiedBy>
  <cp:revision>174</cp:revision>
  <dcterms:created xsi:type="dcterms:W3CDTF">2006-06-25T13:10:40Z</dcterms:created>
  <dcterms:modified xsi:type="dcterms:W3CDTF">2026-01-09T20:09:09Z</dcterms:modified>
</cp:coreProperties>
</file>