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57" r:id="rId2"/>
    <p:sldId id="299" r:id="rId3"/>
    <p:sldId id="267" r:id="rId4"/>
    <p:sldId id="272" r:id="rId5"/>
    <p:sldId id="318" r:id="rId6"/>
    <p:sldId id="354" r:id="rId7"/>
    <p:sldId id="320" r:id="rId8"/>
    <p:sldId id="322" r:id="rId9"/>
    <p:sldId id="336" r:id="rId10"/>
    <p:sldId id="337" r:id="rId11"/>
    <p:sldId id="355" r:id="rId12"/>
    <p:sldId id="338" r:id="rId13"/>
    <p:sldId id="343" r:id="rId14"/>
    <p:sldId id="342" r:id="rId15"/>
    <p:sldId id="339" r:id="rId16"/>
    <p:sldId id="340" r:id="rId17"/>
    <p:sldId id="344" r:id="rId18"/>
    <p:sldId id="345" r:id="rId19"/>
    <p:sldId id="356" r:id="rId20"/>
    <p:sldId id="348" r:id="rId21"/>
    <p:sldId id="326" r:id="rId22"/>
    <p:sldId id="349" r:id="rId23"/>
    <p:sldId id="357" r:id="rId24"/>
    <p:sldId id="332" r:id="rId25"/>
    <p:sldId id="333" r:id="rId26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AB7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46" autoAdjust="0"/>
    <p:restoredTop sz="80516" autoAdjust="0"/>
  </p:normalViewPr>
  <p:slideViewPr>
    <p:cSldViewPr>
      <p:cViewPr varScale="1">
        <p:scale>
          <a:sx n="51" d="100"/>
          <a:sy n="51" d="100"/>
        </p:scale>
        <p:origin x="1168" y="3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-557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A862C25E-CAD4-9BD1-0E34-F27BB892179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 dirty="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33351D39-C4F2-F0A7-6FD8-0FAF78BE444E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dirty="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6D039445-0EBF-A27E-C552-47F588725F8B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221" name="Rectangle 5">
            <a:extLst>
              <a:ext uri="{FF2B5EF4-FFF2-40B4-BE49-F238E27FC236}">
                <a16:creationId xmlns:a16="http://schemas.microsoft.com/office/drawing/2014/main" id="{5F01B587-5E3E-E9B4-D31C-7927CF2E60EC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222" name="Rectangle 6">
            <a:extLst>
              <a:ext uri="{FF2B5EF4-FFF2-40B4-BE49-F238E27FC236}">
                <a16:creationId xmlns:a16="http://schemas.microsoft.com/office/drawing/2014/main" id="{974063A8-EF9A-47C2-59D7-9F99758DFB84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dirty="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23" name="Rectangle 7">
            <a:extLst>
              <a:ext uri="{FF2B5EF4-FFF2-40B4-BE49-F238E27FC236}">
                <a16:creationId xmlns:a16="http://schemas.microsoft.com/office/drawing/2014/main" id="{6FE72BE8-15AA-F594-FB72-AAA8782188F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33EAC204-6A7A-47DC-BF24-3100353F99F5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7">
            <a:extLst>
              <a:ext uri="{FF2B5EF4-FFF2-40B4-BE49-F238E27FC236}">
                <a16:creationId xmlns:a16="http://schemas.microsoft.com/office/drawing/2014/main" id="{C697C774-500C-7BBC-DEEF-C307C75B043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E91E9E5-DE44-4181-B3E7-49682176F5D1}" type="slidenum">
              <a:rPr lang="en-US" altLang="en-US" smtClean="0"/>
              <a:pPr/>
              <a:t>1</a:t>
            </a:fld>
            <a:endParaRPr lang="en-US" altLang="en-US"/>
          </a:p>
        </p:txBody>
      </p:sp>
      <p:sp>
        <p:nvSpPr>
          <p:cNvPr id="4099" name="Rectangle 2">
            <a:extLst>
              <a:ext uri="{FF2B5EF4-FFF2-40B4-BE49-F238E27FC236}">
                <a16:creationId xmlns:a16="http://schemas.microsoft.com/office/drawing/2014/main" id="{75C3A577-085D-5482-2C6E-1FC32C37607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00" name="Rectangle 3">
            <a:extLst>
              <a:ext uri="{FF2B5EF4-FFF2-40B4-BE49-F238E27FC236}">
                <a16:creationId xmlns:a16="http://schemas.microsoft.com/office/drawing/2014/main" id="{25FB78DE-D9D7-6DC9-A755-F4C5140147D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Image Placeholder 1">
            <a:extLst>
              <a:ext uri="{FF2B5EF4-FFF2-40B4-BE49-F238E27FC236}">
                <a16:creationId xmlns:a16="http://schemas.microsoft.com/office/drawing/2014/main" id="{B2351677-C7D4-A3AF-A334-089DA58D9A2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7" name="Notes Placeholder 2">
            <a:extLst>
              <a:ext uri="{FF2B5EF4-FFF2-40B4-BE49-F238E27FC236}">
                <a16:creationId xmlns:a16="http://schemas.microsoft.com/office/drawing/2014/main" id="{49B50876-CB4F-0324-595B-25E1F19965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1268" name="Slide Number Placeholder 3">
            <a:extLst>
              <a:ext uri="{FF2B5EF4-FFF2-40B4-BE49-F238E27FC236}">
                <a16:creationId xmlns:a16="http://schemas.microsoft.com/office/drawing/2014/main" id="{DE6C087F-9FA0-B979-534B-07B745147C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69913ED-68DC-42F3-8B2E-C004CF3C9385}" type="slidenum">
              <a:rPr lang="en-US" altLang="en-US" smtClean="0"/>
              <a:pPr/>
              <a:t>2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>
            <a:extLst>
              <a:ext uri="{FF2B5EF4-FFF2-40B4-BE49-F238E27FC236}">
                <a16:creationId xmlns:a16="http://schemas.microsoft.com/office/drawing/2014/main" id="{B50EA064-DC1C-C426-627A-30F3A45FADC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4699ED3-BD38-48A7-98F6-E6BC994D6F28}" type="slidenum">
              <a:rPr lang="en-US" altLang="en-US" smtClean="0"/>
              <a:pPr/>
              <a:t>3</a:t>
            </a:fld>
            <a:endParaRPr lang="en-US" altLang="en-US"/>
          </a:p>
        </p:txBody>
      </p:sp>
      <p:sp>
        <p:nvSpPr>
          <p:cNvPr id="13315" name="Rectangle 2">
            <a:extLst>
              <a:ext uri="{FF2B5EF4-FFF2-40B4-BE49-F238E27FC236}">
                <a16:creationId xmlns:a16="http://schemas.microsoft.com/office/drawing/2014/main" id="{B727134F-82AF-1D87-53A1-77DC2EA3B8B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2" name="Rectangle 3">
            <a:extLst>
              <a:ext uri="{FF2B5EF4-FFF2-40B4-BE49-F238E27FC236}">
                <a16:creationId xmlns:a16="http://schemas.microsoft.com/office/drawing/2014/main" id="{CFB4D216-BDCD-94E4-1FEF-37BB1871717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pPr eaLnBrk="1" hangingPunct="1">
              <a:defRPr/>
            </a:pPr>
            <a:r>
              <a:rPr lang="en-US" altLang="en-US" kern="0" dirty="0"/>
              <a:t>Risk of heat exhaustion or heat stroke</a:t>
            </a:r>
          </a:p>
          <a:p>
            <a:pPr eaLnBrk="1" hangingPunct="1">
              <a:defRPr/>
            </a:pPr>
            <a:endParaRPr lang="en-US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>
            <a:extLst>
              <a:ext uri="{FF2B5EF4-FFF2-40B4-BE49-F238E27FC236}">
                <a16:creationId xmlns:a16="http://schemas.microsoft.com/office/drawing/2014/main" id="{F33FEED6-DBA9-78C8-3E6C-8AA64FB2232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49F1700-1834-4939-BFC2-BCD0BC11414D}" type="slidenum">
              <a:rPr lang="en-US" altLang="en-US" smtClean="0"/>
              <a:pPr/>
              <a:t>4</a:t>
            </a:fld>
            <a:endParaRPr lang="en-US" altLang="en-US"/>
          </a:p>
        </p:txBody>
      </p:sp>
      <p:sp>
        <p:nvSpPr>
          <p:cNvPr id="15363" name="Rectangle 2">
            <a:extLst>
              <a:ext uri="{FF2B5EF4-FFF2-40B4-BE49-F238E27FC236}">
                <a16:creationId xmlns:a16="http://schemas.microsoft.com/office/drawing/2014/main" id="{DFBD83C8-B795-23D2-42DA-FC44B015CE3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>
            <a:extLst>
              <a:ext uri="{FF2B5EF4-FFF2-40B4-BE49-F238E27FC236}">
                <a16:creationId xmlns:a16="http://schemas.microsoft.com/office/drawing/2014/main" id="{216F7563-6D6E-9B2F-5305-B2F9C935F72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Image Placeholder 1">
            <a:extLst>
              <a:ext uri="{FF2B5EF4-FFF2-40B4-BE49-F238E27FC236}">
                <a16:creationId xmlns:a16="http://schemas.microsoft.com/office/drawing/2014/main" id="{B6EF9086-9E17-98CB-A657-88BE1554928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5" name="Notes Placeholder 2">
            <a:extLst>
              <a:ext uri="{FF2B5EF4-FFF2-40B4-BE49-F238E27FC236}">
                <a16:creationId xmlns:a16="http://schemas.microsoft.com/office/drawing/2014/main" id="{4E149AF8-EC4A-105D-DE10-252CD93F90A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latin typeface="Arial" panose="020B0604020202020204" pitchFamily="34" charset="0"/>
              </a:rPr>
              <a:t>High clouds can be comprised of ice particles</a:t>
            </a:r>
          </a:p>
        </p:txBody>
      </p:sp>
      <p:sp>
        <p:nvSpPr>
          <p:cNvPr id="18436" name="Slide Number Placeholder 3">
            <a:extLst>
              <a:ext uri="{FF2B5EF4-FFF2-40B4-BE49-F238E27FC236}">
                <a16:creationId xmlns:a16="http://schemas.microsoft.com/office/drawing/2014/main" id="{5E47E413-83B6-2189-2AB1-3C2E915EC5C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112166F-151F-493D-A52E-63CDB364B01C}" type="slidenum">
              <a:rPr lang="en-US" altLang="en-US" smtClean="0"/>
              <a:pPr/>
              <a:t>6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>
            <a:extLst>
              <a:ext uri="{FF2B5EF4-FFF2-40B4-BE49-F238E27FC236}">
                <a16:creationId xmlns:a16="http://schemas.microsoft.com/office/drawing/2014/main" id="{AD017A42-BF52-44D9-835A-9EFE358DF9C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119F11C-B8DE-4141-872F-573CCC6F5279}" type="slidenum">
              <a:rPr lang="en-US" altLang="en-US" smtClean="0"/>
              <a:pPr/>
              <a:t>7</a:t>
            </a:fld>
            <a:endParaRPr lang="en-US" altLang="en-US"/>
          </a:p>
        </p:txBody>
      </p:sp>
      <p:sp>
        <p:nvSpPr>
          <p:cNvPr id="20483" name="Rectangle 2">
            <a:extLst>
              <a:ext uri="{FF2B5EF4-FFF2-40B4-BE49-F238E27FC236}">
                <a16:creationId xmlns:a16="http://schemas.microsoft.com/office/drawing/2014/main" id="{D8CD4FA9-E95B-17A5-A562-D78F7A3515E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>
            <a:extLst>
              <a:ext uri="{FF2B5EF4-FFF2-40B4-BE49-F238E27FC236}">
                <a16:creationId xmlns:a16="http://schemas.microsoft.com/office/drawing/2014/main" id="{4F6AFE1A-DD01-39C9-50ED-E085190B803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Image Placeholder 1">
            <a:extLst>
              <a:ext uri="{FF2B5EF4-FFF2-40B4-BE49-F238E27FC236}">
                <a16:creationId xmlns:a16="http://schemas.microsoft.com/office/drawing/2014/main" id="{7C46E2BB-5958-3804-45CE-EEFACD54D4D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79" name="Notes Placeholder 2">
            <a:extLst>
              <a:ext uri="{FF2B5EF4-FFF2-40B4-BE49-F238E27FC236}">
                <a16:creationId xmlns:a16="http://schemas.microsoft.com/office/drawing/2014/main" id="{CEFF5076-12D6-F7E3-1E41-E969542433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24580" name="Slide Number Placeholder 3">
            <a:extLst>
              <a:ext uri="{FF2B5EF4-FFF2-40B4-BE49-F238E27FC236}">
                <a16:creationId xmlns:a16="http://schemas.microsoft.com/office/drawing/2014/main" id="{82617D23-0CE2-9D07-91D0-241A85A3A3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D217E78-0311-48A5-A18A-3E739714279C}" type="slidenum">
              <a:rPr lang="en-US" altLang="en-US" smtClean="0"/>
              <a:pPr/>
              <a:t>8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>
            <a:extLst>
              <a:ext uri="{FF2B5EF4-FFF2-40B4-BE49-F238E27FC236}">
                <a16:creationId xmlns:a16="http://schemas.microsoft.com/office/drawing/2014/main" id="{705B4FC3-85FC-514F-BC2C-676263FCE23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FB0F44D-2BB5-4827-BBCD-1F232BBC31A2}" type="slidenum">
              <a:rPr lang="en-US" altLang="en-US" smtClean="0"/>
              <a:pPr/>
              <a:t>9</a:t>
            </a:fld>
            <a:endParaRPr lang="en-US" altLang="en-US"/>
          </a:p>
        </p:txBody>
      </p:sp>
      <p:sp>
        <p:nvSpPr>
          <p:cNvPr id="26627" name="Rectangle 2">
            <a:extLst>
              <a:ext uri="{FF2B5EF4-FFF2-40B4-BE49-F238E27FC236}">
                <a16:creationId xmlns:a16="http://schemas.microsoft.com/office/drawing/2014/main" id="{ADFA0C3D-36AE-D03E-4F33-D5C0A75C72D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>
            <a:extLst>
              <a:ext uri="{FF2B5EF4-FFF2-40B4-BE49-F238E27FC236}">
                <a16:creationId xmlns:a16="http://schemas.microsoft.com/office/drawing/2014/main" id="{6B9C0B56-CD3E-BAA3-2856-2E8D1A934A1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>
            <a:extLst>
              <a:ext uri="{FF2B5EF4-FFF2-40B4-BE49-F238E27FC236}">
                <a16:creationId xmlns:a16="http://schemas.microsoft.com/office/drawing/2014/main" id="{7C02EAFB-F420-132C-6592-4AD4220FA2A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73C5373-2E67-48FE-8F81-A8952EDCDBD6}" type="slidenum">
              <a:rPr lang="en-US" altLang="en-US" smtClean="0"/>
              <a:pPr/>
              <a:t>10</a:t>
            </a:fld>
            <a:endParaRPr lang="en-US" altLang="en-US"/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0D727CEF-872C-417D-126C-A92674871FF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>
            <a:extLst>
              <a:ext uri="{FF2B5EF4-FFF2-40B4-BE49-F238E27FC236}">
                <a16:creationId xmlns:a16="http://schemas.microsoft.com/office/drawing/2014/main" id="{09B3F66B-8CE6-93DB-055D-CE0024A46EF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>
                <a:latin typeface="Arial" panose="020B0604020202020204" pitchFamily="34" charset="0"/>
              </a:rPr>
              <a:t>ITCZ, zone of wind convergence and surface heating leading to low pressure and cloud formation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>
            <a:extLst>
              <a:ext uri="{FF2B5EF4-FFF2-40B4-BE49-F238E27FC236}">
                <a16:creationId xmlns:a16="http://schemas.microsoft.com/office/drawing/2014/main" id="{D0C0FB33-6009-FC30-1E9D-F2018421F8F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1530925-DAFC-45BF-B534-8DB8AFF5353C}" type="slidenum">
              <a:rPr lang="en-US" altLang="en-US" smtClean="0"/>
              <a:pPr/>
              <a:t>11</a:t>
            </a:fld>
            <a:endParaRPr lang="en-US" altLang="en-US"/>
          </a:p>
        </p:txBody>
      </p:sp>
      <p:sp>
        <p:nvSpPr>
          <p:cNvPr id="32771" name="Rectangle 2">
            <a:extLst>
              <a:ext uri="{FF2B5EF4-FFF2-40B4-BE49-F238E27FC236}">
                <a16:creationId xmlns:a16="http://schemas.microsoft.com/office/drawing/2014/main" id="{1D994098-7631-6C9A-3DB2-7B2CC1584EF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>
            <a:extLst>
              <a:ext uri="{FF2B5EF4-FFF2-40B4-BE49-F238E27FC236}">
                <a16:creationId xmlns:a16="http://schemas.microsoft.com/office/drawing/2014/main" id="{0C9CF949-36DE-0500-0158-1FA3EE68F12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>
            <a:extLst>
              <a:ext uri="{FF2B5EF4-FFF2-40B4-BE49-F238E27FC236}">
                <a16:creationId xmlns:a16="http://schemas.microsoft.com/office/drawing/2014/main" id="{C08FFE9C-1C5E-B811-2972-525F6F7FA33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66B77F5-7CFB-4FA8-A23A-93793D1276D2}" type="slidenum">
              <a:rPr lang="en-US" altLang="en-US" smtClean="0"/>
              <a:pPr/>
              <a:t>12</a:t>
            </a:fld>
            <a:endParaRPr lang="en-US" altLang="en-US"/>
          </a:p>
        </p:txBody>
      </p:sp>
      <p:sp>
        <p:nvSpPr>
          <p:cNvPr id="34819" name="Rectangle 2">
            <a:extLst>
              <a:ext uri="{FF2B5EF4-FFF2-40B4-BE49-F238E27FC236}">
                <a16:creationId xmlns:a16="http://schemas.microsoft.com/office/drawing/2014/main" id="{462DAF87-36FD-3884-28EE-6607D601E3D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>
            <a:extLst>
              <a:ext uri="{FF2B5EF4-FFF2-40B4-BE49-F238E27FC236}">
                <a16:creationId xmlns:a16="http://schemas.microsoft.com/office/drawing/2014/main" id="{D13B118B-F269-65F0-2E8B-1BDBA7F1187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>
            <a:extLst>
              <a:ext uri="{FF2B5EF4-FFF2-40B4-BE49-F238E27FC236}">
                <a16:creationId xmlns:a16="http://schemas.microsoft.com/office/drawing/2014/main" id="{C71D61F4-641B-1046-DBDB-4EB181174E7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BE76A34-7F07-451C-A16C-D4BC59EFCE97}" type="slidenum">
              <a:rPr lang="en-US" altLang="en-US" smtClean="0"/>
              <a:pPr/>
              <a:t>13</a:t>
            </a:fld>
            <a:endParaRPr lang="en-US" altLang="en-US"/>
          </a:p>
        </p:txBody>
      </p:sp>
      <p:sp>
        <p:nvSpPr>
          <p:cNvPr id="36867" name="Rectangle 2">
            <a:extLst>
              <a:ext uri="{FF2B5EF4-FFF2-40B4-BE49-F238E27FC236}">
                <a16:creationId xmlns:a16="http://schemas.microsoft.com/office/drawing/2014/main" id="{F4DC8D76-C7C8-BD41-219E-2674826B2D6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8" name="Rectangle 3">
            <a:extLst>
              <a:ext uri="{FF2B5EF4-FFF2-40B4-BE49-F238E27FC236}">
                <a16:creationId xmlns:a16="http://schemas.microsoft.com/office/drawing/2014/main" id="{ADEC1526-0252-774C-495D-013272A3EB3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>
            <a:extLst>
              <a:ext uri="{FF2B5EF4-FFF2-40B4-BE49-F238E27FC236}">
                <a16:creationId xmlns:a16="http://schemas.microsoft.com/office/drawing/2014/main" id="{389FE99B-1D89-9E85-5321-C6994E4D714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B7CE156-D3DC-4AD3-8F3C-BBDFD041F86F}" type="slidenum">
              <a:rPr lang="en-US" altLang="en-US" smtClean="0"/>
              <a:pPr/>
              <a:t>14</a:t>
            </a:fld>
            <a:endParaRPr lang="en-US" altLang="en-US"/>
          </a:p>
        </p:txBody>
      </p:sp>
      <p:sp>
        <p:nvSpPr>
          <p:cNvPr id="38915" name="Rectangle 2">
            <a:extLst>
              <a:ext uri="{FF2B5EF4-FFF2-40B4-BE49-F238E27FC236}">
                <a16:creationId xmlns:a16="http://schemas.microsoft.com/office/drawing/2014/main" id="{F627C545-D5D1-0D6C-44EA-9938871DE88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6" name="Rectangle 3">
            <a:extLst>
              <a:ext uri="{FF2B5EF4-FFF2-40B4-BE49-F238E27FC236}">
                <a16:creationId xmlns:a16="http://schemas.microsoft.com/office/drawing/2014/main" id="{909FE5F7-264B-27D3-6145-755CDCAE1C1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>
                <a:latin typeface="Arial" panose="020B0604020202020204" pitchFamily="34" charset="0"/>
              </a:rPr>
              <a:t>Rainshadow effects on Hawaii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>
            <a:extLst>
              <a:ext uri="{FF2B5EF4-FFF2-40B4-BE49-F238E27FC236}">
                <a16:creationId xmlns:a16="http://schemas.microsoft.com/office/drawing/2014/main" id="{C061A35D-6CBC-E8CF-002A-2727876E135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717B47F-0BDF-4F2D-B5AC-AD5656507983}" type="slidenum">
              <a:rPr lang="en-US" altLang="en-US" smtClean="0"/>
              <a:pPr/>
              <a:t>15</a:t>
            </a:fld>
            <a:endParaRPr lang="en-US" altLang="en-US"/>
          </a:p>
        </p:txBody>
      </p:sp>
      <p:sp>
        <p:nvSpPr>
          <p:cNvPr id="40963" name="Rectangle 2">
            <a:extLst>
              <a:ext uri="{FF2B5EF4-FFF2-40B4-BE49-F238E27FC236}">
                <a16:creationId xmlns:a16="http://schemas.microsoft.com/office/drawing/2014/main" id="{CEA7CBA6-1193-A711-951C-62781A6F51D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>
            <a:extLst>
              <a:ext uri="{FF2B5EF4-FFF2-40B4-BE49-F238E27FC236}">
                <a16:creationId xmlns:a16="http://schemas.microsoft.com/office/drawing/2014/main" id="{81B55458-4259-4F3F-2A02-A88AAACF04E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>
                <a:latin typeface="Arial" panose="020B0604020202020204" pitchFamily="34" charset="0"/>
              </a:rPr>
              <a:t>Rainshadow effects in Washington State.  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>
            <a:extLst>
              <a:ext uri="{FF2B5EF4-FFF2-40B4-BE49-F238E27FC236}">
                <a16:creationId xmlns:a16="http://schemas.microsoft.com/office/drawing/2014/main" id="{F74DD294-CBED-6C83-DB22-56ED727746D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A2606A7-AB76-469D-9E6E-A8EEBC6A0694}" type="slidenum">
              <a:rPr lang="en-US" altLang="en-US" smtClean="0"/>
              <a:pPr/>
              <a:t>16</a:t>
            </a:fld>
            <a:endParaRPr lang="en-US" altLang="en-US"/>
          </a:p>
        </p:txBody>
      </p:sp>
      <p:sp>
        <p:nvSpPr>
          <p:cNvPr id="43011" name="Rectangle 2">
            <a:extLst>
              <a:ext uri="{FF2B5EF4-FFF2-40B4-BE49-F238E27FC236}">
                <a16:creationId xmlns:a16="http://schemas.microsoft.com/office/drawing/2014/main" id="{869E4C93-71C7-5FE0-9408-1BF5EB24B99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2" name="Rectangle 3">
            <a:extLst>
              <a:ext uri="{FF2B5EF4-FFF2-40B4-BE49-F238E27FC236}">
                <a16:creationId xmlns:a16="http://schemas.microsoft.com/office/drawing/2014/main" id="{42F9E2E4-C81B-D240-B497-56511AFF63E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>
                <a:latin typeface="Arial" panose="020B0604020202020204" pitchFamily="34" charset="0"/>
              </a:rPr>
              <a:t>Topography of Washington state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>
            <a:extLst>
              <a:ext uri="{FF2B5EF4-FFF2-40B4-BE49-F238E27FC236}">
                <a16:creationId xmlns:a16="http://schemas.microsoft.com/office/drawing/2014/main" id="{88620B76-D6A1-E1FF-CE4D-FA9B9EB5B51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64E6BFB-A2B5-45EF-9E87-A8C2EEF23E28}" type="slidenum">
              <a:rPr lang="en-US" altLang="en-US" smtClean="0"/>
              <a:pPr/>
              <a:t>17</a:t>
            </a:fld>
            <a:endParaRPr lang="en-US" altLang="en-US"/>
          </a:p>
        </p:txBody>
      </p:sp>
      <p:sp>
        <p:nvSpPr>
          <p:cNvPr id="45059" name="Rectangle 2">
            <a:extLst>
              <a:ext uri="{FF2B5EF4-FFF2-40B4-BE49-F238E27FC236}">
                <a16:creationId xmlns:a16="http://schemas.microsoft.com/office/drawing/2014/main" id="{CA91E87E-0110-0E5B-AE48-519BB5AB8F6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0" name="Rectangle 3">
            <a:extLst>
              <a:ext uri="{FF2B5EF4-FFF2-40B4-BE49-F238E27FC236}">
                <a16:creationId xmlns:a16="http://schemas.microsoft.com/office/drawing/2014/main" id="{D14DFEC9-A5AA-5D0B-A098-0802ECF0E8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>
                <a:latin typeface="Arial" panose="020B0604020202020204" pitchFamily="34" charset="0"/>
              </a:rPr>
              <a:t>Cold front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>
            <a:extLst>
              <a:ext uri="{FF2B5EF4-FFF2-40B4-BE49-F238E27FC236}">
                <a16:creationId xmlns:a16="http://schemas.microsoft.com/office/drawing/2014/main" id="{ABE8E94E-6481-10E5-73FD-4E8C4604EBD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EEEBFF9-FB80-468B-8544-93F479815DC9}" type="slidenum">
              <a:rPr lang="en-US" altLang="en-US" smtClean="0"/>
              <a:pPr/>
              <a:t>18</a:t>
            </a:fld>
            <a:endParaRPr lang="en-US" altLang="en-US"/>
          </a:p>
        </p:txBody>
      </p:sp>
      <p:sp>
        <p:nvSpPr>
          <p:cNvPr id="47107" name="Rectangle 2">
            <a:extLst>
              <a:ext uri="{FF2B5EF4-FFF2-40B4-BE49-F238E27FC236}">
                <a16:creationId xmlns:a16="http://schemas.microsoft.com/office/drawing/2014/main" id="{968759D2-03EA-6194-6759-DF74EA512AB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>
            <a:extLst>
              <a:ext uri="{FF2B5EF4-FFF2-40B4-BE49-F238E27FC236}">
                <a16:creationId xmlns:a16="http://schemas.microsoft.com/office/drawing/2014/main" id="{8C5C0B70-85CD-8F12-387A-B9221106E14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Image Placeholder 1">
            <a:extLst>
              <a:ext uri="{FF2B5EF4-FFF2-40B4-BE49-F238E27FC236}">
                <a16:creationId xmlns:a16="http://schemas.microsoft.com/office/drawing/2014/main" id="{ED1A67F2-0610-D340-A303-EE3AF584DCD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5" name="Notes Placeholder 2">
            <a:extLst>
              <a:ext uri="{FF2B5EF4-FFF2-40B4-BE49-F238E27FC236}">
                <a16:creationId xmlns:a16="http://schemas.microsoft.com/office/drawing/2014/main" id="{39AFD257-6783-D5F1-8FBF-F888D55AC8A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latin typeface="Arial" panose="020B0604020202020204" pitchFamily="34" charset="0"/>
              </a:rPr>
              <a:t>Tracking the temperature and dew point of a parcel of air as it is lifted through the atmosphere can be visualized in a skew-t plot, a common tool of meteorologists.   Clouds are likely to form at the 700 mb level, several thousand feet up.</a:t>
            </a:r>
          </a:p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49156" name="Slide Number Placeholder 3">
            <a:extLst>
              <a:ext uri="{FF2B5EF4-FFF2-40B4-BE49-F238E27FC236}">
                <a16:creationId xmlns:a16="http://schemas.microsoft.com/office/drawing/2014/main" id="{F2C7BADA-EEDA-09E5-9497-3E2DF9C143D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D0E3411-511A-4D75-B338-AC20FFBFB8F5}" type="slidenum">
              <a:rPr lang="en-US" altLang="en-US" smtClean="0"/>
              <a:pPr/>
              <a:t>19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lide Image Placeholder 1">
            <a:extLst>
              <a:ext uri="{FF2B5EF4-FFF2-40B4-BE49-F238E27FC236}">
                <a16:creationId xmlns:a16="http://schemas.microsoft.com/office/drawing/2014/main" id="{62B0ADDC-942B-CD72-35EC-D8A5F36C51B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1" name="Notes Placeholder 2">
            <a:extLst>
              <a:ext uri="{FF2B5EF4-FFF2-40B4-BE49-F238E27FC236}">
                <a16:creationId xmlns:a16="http://schemas.microsoft.com/office/drawing/2014/main" id="{9ABEFC61-77C1-5448-0F91-07BCDA450D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latin typeface="Arial" panose="020B0604020202020204" pitchFamily="34" charset="0"/>
              </a:rPr>
              <a:t>Plastic bottle sealed at 14,000 feet, at 9000 feet, and 1000 ft (in Hawaii). Where would the air in the bottle be the coolest?  The warmest?</a:t>
            </a:r>
            <a:br>
              <a:rPr lang="en-US" altLang="en-US">
                <a:latin typeface="Arial" panose="020B0604020202020204" pitchFamily="34" charset="0"/>
              </a:rPr>
            </a:br>
            <a:br>
              <a:rPr lang="en-US" altLang="en-US">
                <a:latin typeface="Arial" panose="020B0604020202020204" pitchFamily="34" charset="0"/>
              </a:rPr>
            </a:br>
            <a:r>
              <a:rPr lang="en-US" altLang="en-US">
                <a:latin typeface="Arial" panose="020B0604020202020204" pitchFamily="34" charset="0"/>
              </a:rPr>
              <a:t>What would happen to temperature in the bottle as you went down in altitude?  As you went up?</a:t>
            </a:r>
          </a:p>
        </p:txBody>
      </p:sp>
      <p:sp>
        <p:nvSpPr>
          <p:cNvPr id="53252" name="Slide Number Placeholder 3">
            <a:extLst>
              <a:ext uri="{FF2B5EF4-FFF2-40B4-BE49-F238E27FC236}">
                <a16:creationId xmlns:a16="http://schemas.microsoft.com/office/drawing/2014/main" id="{1212E64B-74CF-F103-C7A6-D82CD79292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AE1D2FD-F832-4CD4-B8DE-E559F14B8739}" type="slidenum">
              <a:rPr lang="en-US" altLang="en-US" smtClean="0"/>
              <a:pPr/>
              <a:t>20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>
            <a:extLst>
              <a:ext uri="{FF2B5EF4-FFF2-40B4-BE49-F238E27FC236}">
                <a16:creationId xmlns:a16="http://schemas.microsoft.com/office/drawing/2014/main" id="{65903648-6197-1395-A96B-AF50C406378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0DDD3CA-AABB-4689-B6ED-629CBE47061C}" type="slidenum">
              <a:rPr lang="en-US" altLang="en-US" smtClean="0"/>
              <a:pPr/>
              <a:t>21</a:t>
            </a:fld>
            <a:endParaRPr lang="en-US" altLang="en-US"/>
          </a:p>
        </p:txBody>
      </p:sp>
      <p:sp>
        <p:nvSpPr>
          <p:cNvPr id="51203" name="Rectangle 2">
            <a:extLst>
              <a:ext uri="{FF2B5EF4-FFF2-40B4-BE49-F238E27FC236}">
                <a16:creationId xmlns:a16="http://schemas.microsoft.com/office/drawing/2014/main" id="{15DF59DF-ECE9-E64B-56C6-B2F8D7A1D3A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4" name="Rectangle 3">
            <a:extLst>
              <a:ext uri="{FF2B5EF4-FFF2-40B4-BE49-F238E27FC236}">
                <a16:creationId xmlns:a16="http://schemas.microsoft.com/office/drawing/2014/main" id="{1955E601-5BD8-0766-17F9-5EC068F1B45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>
            <a:extLst>
              <a:ext uri="{FF2B5EF4-FFF2-40B4-BE49-F238E27FC236}">
                <a16:creationId xmlns:a16="http://schemas.microsoft.com/office/drawing/2014/main" id="{6FFB1487-0840-89D8-9587-11D0C8B90ED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969D476-83BA-4E84-B104-8468DEDF1A54}" type="slidenum">
              <a:rPr lang="en-US" altLang="en-US" smtClean="0"/>
              <a:pPr/>
              <a:t>23</a:t>
            </a:fld>
            <a:endParaRPr lang="en-US" altLang="en-US"/>
          </a:p>
        </p:txBody>
      </p:sp>
      <p:sp>
        <p:nvSpPr>
          <p:cNvPr id="55299" name="Rectangle 2">
            <a:extLst>
              <a:ext uri="{FF2B5EF4-FFF2-40B4-BE49-F238E27FC236}">
                <a16:creationId xmlns:a16="http://schemas.microsoft.com/office/drawing/2014/main" id="{9CAFEBFE-CE81-B555-BFFE-98BC6210CBB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300" name="Rectangle 3">
            <a:extLst>
              <a:ext uri="{FF2B5EF4-FFF2-40B4-BE49-F238E27FC236}">
                <a16:creationId xmlns:a16="http://schemas.microsoft.com/office/drawing/2014/main" id="{49245D8F-7759-ED0F-2811-5C5548F535D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>
                <a:latin typeface="Arial" panose="020B0604020202020204" pitchFamily="34" charset="0"/>
              </a:rPr>
              <a:t>No heat is added from outside in adiabatic processes – temperature change is a function of changing air pressure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>
            <a:extLst>
              <a:ext uri="{FF2B5EF4-FFF2-40B4-BE49-F238E27FC236}">
                <a16:creationId xmlns:a16="http://schemas.microsoft.com/office/drawing/2014/main" id="{E0687AB1-30A2-5ED7-490D-BE346F6BDE7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4AD8581-44AB-43F7-BF60-D340D79F25BB}" type="slidenum">
              <a:rPr lang="en-US" altLang="en-US" smtClean="0"/>
              <a:pPr/>
              <a:t>25</a:t>
            </a:fld>
            <a:endParaRPr lang="en-US" altLang="en-US"/>
          </a:p>
        </p:txBody>
      </p:sp>
      <p:sp>
        <p:nvSpPr>
          <p:cNvPr id="62467" name="Rectangle 2">
            <a:extLst>
              <a:ext uri="{FF2B5EF4-FFF2-40B4-BE49-F238E27FC236}">
                <a16:creationId xmlns:a16="http://schemas.microsoft.com/office/drawing/2014/main" id="{D65541B1-575A-8451-13A3-14333AFA11A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8" name="Rectangle 3">
            <a:extLst>
              <a:ext uri="{FF2B5EF4-FFF2-40B4-BE49-F238E27FC236}">
                <a16:creationId xmlns:a16="http://schemas.microsoft.com/office/drawing/2014/main" id="{5C60398B-5986-D0D6-6278-50318C8B97C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>
                <a:latin typeface="Arial" panose="020B0604020202020204" pitchFamily="34" charset="0"/>
              </a:rPr>
              <a:t>Cumulonimbus clouds</a:t>
            </a:r>
            <a:br>
              <a:rPr lang="en-US" altLang="en-US">
                <a:latin typeface="Arial" panose="020B0604020202020204" pitchFamily="34" charset="0"/>
              </a:rPr>
            </a:br>
            <a:br>
              <a:rPr lang="en-US" altLang="en-US">
                <a:latin typeface="Arial" panose="020B0604020202020204" pitchFamily="34" charset="0"/>
              </a:rPr>
            </a:br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9E7D1C2-CEBB-4018-2526-225B4793ADD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8B013C3-D9CF-A948-A4EC-C70CD177CC0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3BFDF9F-82AF-1E0C-043C-91DA995AC0A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B1022B2-6FD8-4781-A4A6-4B44EB3B7CFB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6676083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BC95321-BEEA-7FCB-474C-98F04D74FD2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5CEEE93-64B3-B577-607D-9BA2E4D9CDB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12D95E1-3101-5F8F-6908-83767B51475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033692-A682-45B3-99A3-17A5C8944AA7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8243584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A1A090A-ED99-24E8-746A-B3546656CE4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0E83F67-1A82-B889-9D1C-4DEFC8AE16D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95B2019-FB1C-D5AD-D09B-FFA2B00274E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EE7A66-3617-413A-8437-93213011E19B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585930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F40E018-F440-8AC8-1A66-BF97FC946D4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3DB099B-0090-7B22-4BAD-FB12D20B3D2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3184449-D6B4-A519-0C7D-5D226F795CF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C421BA0-DD7D-4A5D-8587-84897C6148C3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472427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9FC805B0-BBFF-7689-C425-BF2A07F8201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162F7039-02C1-81C4-1506-F35AE54B661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648A7B78-F882-A092-8940-600A2E86C47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FFE4D1-9B1C-4010-97B7-625BC623047C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4430255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F054FD15-1DC5-5618-11DD-73FB4E6A8FA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758E62AE-D39F-EF82-6F91-063ECBEFAF7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019ABDC1-BFB4-53FE-9DB4-413FC9A9C42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4B276C-3630-4344-9065-B7DC52A6C536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0484977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1C5D66D6-455D-C7C9-8A88-7EBD05DDF01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BE879C9B-E9FF-3D1B-4DF7-EB9A0C04382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CA908071-A465-BAEB-EA8B-D25B60254F4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A3D0FE8-64A8-4D8F-939F-5F8892C8533A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7801562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A82ADA2-C32E-BDB1-0E07-6D09EFDB99E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D07BA31-9645-1190-D8BE-93E7E69050D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3F88C3D-AF7F-CC10-61D3-44B9845D7FD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E55FCC7-A3AF-4114-98BF-1BEE53506106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0342406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57903E4-306F-3477-D2BC-E99445D66C2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78EE58A-AC4A-9FA2-C7BB-F6480B5D303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D77A5A8-B2ED-34F1-F423-072175BE026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453CD85-CCA6-48A8-A942-183A1E059459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5318131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A678D64-53F6-FB5E-4F3A-B17BBC0665D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B4B7053-894E-AED3-80B1-985914D4538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99FFAE0-BC9F-E29B-0317-93A4FC4A86D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C4240D1-5545-47A9-A982-D9440C2D457B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1936676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134E9E3-C00A-7ACF-57D0-7A2544C8EE6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8BC383F-700B-DF16-897C-EFF0E628579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F834FA1-56CF-136A-4D4F-B0D830CF40A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FE033F1-4C8A-4996-8A13-CB2E9119C8AA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7174787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2350F22-74D2-3DE6-6FDE-F7F9526447C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2B898B5-61A8-CA8B-091E-2F4734C4DBF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A1B3E7E-A2A8-EF2F-EF60-1733E75D6FA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2FF2AB-992E-4815-B0B6-969D0FB96F7D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1137043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609600" y="274639"/>
            <a:ext cx="10972800" cy="58515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D8C0762C-1525-5476-ADCD-08F59B291B3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73BCEFDD-B806-BF98-230C-50EB66C8CC3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ED8508C4-3EC6-64DB-11B3-EBBB6B866EB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799E23B-B4B2-474B-A888-5F4F4A3B407C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4702177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197600" y="3938589"/>
            <a:ext cx="53848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95EAA437-479E-E8EA-EDF3-F488A1CD620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7E10EDF8-9C11-3255-3FC9-0D1A2B73F25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A0E902C5-47AE-95FE-5E56-567510F3DDC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3DDCA3-BD65-44D0-B159-A6338146B4BA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7634998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1E797AA8-3769-6D5C-68D8-222DCAC4B8E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542EAA5E-90DC-D8FB-CABC-B7C03D825A5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7618D2BA-7188-1D05-C139-9AD2CE638371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dirty="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50CCA48F-9E5C-2074-72ED-ED658AC2B42F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dirty="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58DDB604-A8F7-C59A-2B32-2B388273AC6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54CA3BA6-0085-4C8D-9F58-A4430FE86253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alibri Light" panose="020F030202020403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alibri Light" panose="020F030202020403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alibri Light" panose="020F030202020403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alibri Light" panose="020F030202020403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gi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gi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6" name="Picture 4" descr="air_parcel">
            <a:extLst>
              <a:ext uri="{FF2B5EF4-FFF2-40B4-BE49-F238E27FC236}">
                <a16:creationId xmlns:a16="http://schemas.microsoft.com/office/drawing/2014/main" id="{55A365BF-869D-DA6A-6967-115AA793B151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895600" y="152400"/>
            <a:ext cx="6633556" cy="6400800"/>
          </a:xfr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 descr="C:\Documents and Settings\Tony Stallins\Desktop\1.jpg">
            <a:extLst>
              <a:ext uri="{FF2B5EF4-FFF2-40B4-BE49-F238E27FC236}">
                <a16:creationId xmlns:a16="http://schemas.microsoft.com/office/drawing/2014/main" id="{37FDB139-00E3-4DAD-FF38-58200D9C12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24"/>
          <a:stretch>
            <a:fillRect/>
          </a:stretch>
        </p:blipFill>
        <p:spPr bwMode="auto">
          <a:xfrm>
            <a:off x="1676400" y="457200"/>
            <a:ext cx="8084690" cy="586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1" name="Picture 2" descr="C:\Users\JAS\Desktop\Peak_Heat_Indices.gif">
            <a:extLst>
              <a:ext uri="{FF2B5EF4-FFF2-40B4-BE49-F238E27FC236}">
                <a16:creationId xmlns:a16="http://schemas.microsoft.com/office/drawing/2014/main" id="{421B860C-C11C-5769-0289-42D23DF9C65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57400" y="228600"/>
            <a:ext cx="8535781" cy="6400800"/>
          </a:xfrm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41" name="Picture 6" descr="Grass-Dew">
            <a:extLst>
              <a:ext uri="{FF2B5EF4-FFF2-40B4-BE49-F238E27FC236}">
                <a16:creationId xmlns:a16="http://schemas.microsoft.com/office/drawing/2014/main" id="{0EB47963-F009-3F0F-37F3-E03706AE4750}"/>
              </a:ext>
            </a:extLst>
          </p:cNvPr>
          <p:cNvPicPr>
            <a:picLocks noGrp="1" noChangeAspect="1" noChangeArrowheads="1"/>
          </p:cNvPicPr>
          <p:nvPr>
            <p:ph sz="quarter" idx="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417" b="11168"/>
          <a:stretch>
            <a:fillRect/>
          </a:stretch>
        </p:blipFill>
        <p:spPr>
          <a:xfrm>
            <a:off x="991122" y="-1359"/>
            <a:ext cx="10209756" cy="6886499"/>
          </a:xfr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8" name="Picture 4" descr="horror%20frost%20and%20hills">
            <a:extLst>
              <a:ext uri="{FF2B5EF4-FFF2-40B4-BE49-F238E27FC236}">
                <a16:creationId xmlns:a16="http://schemas.microsoft.com/office/drawing/2014/main" id="{2970C5B1-ED15-43C4-FB34-453812217D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333"/>
          <a:stretch>
            <a:fillRect/>
          </a:stretch>
        </p:blipFill>
        <p:spPr bwMode="auto">
          <a:xfrm>
            <a:off x="3505199" y="3162822"/>
            <a:ext cx="5332294" cy="36659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89" name="Picture 6" descr="http://p1.pichost.me/i/42/1652546.jpg">
            <a:extLst>
              <a:ext uri="{FF2B5EF4-FFF2-40B4-BE49-F238E27FC236}">
                <a16:creationId xmlns:a16="http://schemas.microsoft.com/office/drawing/2014/main" id="{F93B3A48-3682-58C7-9665-C167378C9A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5200" y="29226"/>
            <a:ext cx="5332294" cy="33335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2" name="Picture 2" descr="C:\Documents and Settings\Tony Stallins\Desktop\clouds.jpg">
            <a:extLst>
              <a:ext uri="{FF2B5EF4-FFF2-40B4-BE49-F238E27FC236}">
                <a16:creationId xmlns:a16="http://schemas.microsoft.com/office/drawing/2014/main" id="{3988F870-3B5C-91C1-9C35-C771711D2C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2145" y="0"/>
            <a:ext cx="10327710" cy="68528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10" descr="xL_H2O_Mixing_Ratio_">
            <a:extLst>
              <a:ext uri="{FF2B5EF4-FFF2-40B4-BE49-F238E27FC236}">
                <a16:creationId xmlns:a16="http://schemas.microsoft.com/office/drawing/2014/main" id="{5E6B6DF8-8DF0-99FE-5692-C76542766A2A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88" t="8720" b="3867"/>
          <a:stretch>
            <a:fillRect/>
          </a:stretch>
        </p:blipFill>
        <p:spPr>
          <a:xfrm>
            <a:off x="1371599" y="0"/>
            <a:ext cx="9121551" cy="6858000"/>
          </a:xfrm>
          <a:noFill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2" descr="C:\Documents and Settings\Tony Stallins\Desktop\lifting.jpg">
            <a:extLst>
              <a:ext uri="{FF2B5EF4-FFF2-40B4-BE49-F238E27FC236}">
                <a16:creationId xmlns:a16="http://schemas.microsoft.com/office/drawing/2014/main" id="{A1C51174-504D-FE37-49A9-D9C03F981A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312737"/>
            <a:ext cx="6597650" cy="6232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D25A3AE-BAA8-3D0C-8B98-2F98AB6B24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313" y="190500"/>
            <a:ext cx="11767373" cy="6477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undefined">
            <a:extLst>
              <a:ext uri="{FF2B5EF4-FFF2-40B4-BE49-F238E27FC236}">
                <a16:creationId xmlns:a16="http://schemas.microsoft.com/office/drawing/2014/main" id="{1B8BEA94-68A4-FF50-36A2-1FE4802173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33400"/>
            <a:ext cx="12163361" cy="548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6" name="Picture 4" descr="rainshadow">
            <a:extLst>
              <a:ext uri="{FF2B5EF4-FFF2-40B4-BE49-F238E27FC236}">
                <a16:creationId xmlns:a16="http://schemas.microsoft.com/office/drawing/2014/main" id="{042811E0-6EB3-E56F-F0E4-F93EFA35176F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r="2248" b="9467"/>
          <a:stretch>
            <a:fillRect/>
          </a:stretch>
        </p:blipFill>
        <p:spPr>
          <a:xfrm>
            <a:off x="685800" y="76200"/>
            <a:ext cx="10528300" cy="6172200"/>
          </a:xfrm>
          <a:noFill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94" name="Picture 3" descr="rainshadow">
            <a:extLst>
              <a:ext uri="{FF2B5EF4-FFF2-40B4-BE49-F238E27FC236}">
                <a16:creationId xmlns:a16="http://schemas.microsoft.com/office/drawing/2014/main" id="{D1E8E3F1-7C8E-CD60-2F6B-8CA2B210B5B0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62000" y="-41275"/>
            <a:ext cx="9906000" cy="6940550"/>
          </a:xfrm>
          <a:noFill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2" name="Picture 2" descr="Wind convergence-Hawaii">
            <a:extLst>
              <a:ext uri="{FF2B5EF4-FFF2-40B4-BE49-F238E27FC236}">
                <a16:creationId xmlns:a16="http://schemas.microsoft.com/office/drawing/2014/main" id="{5143D2BE-10B5-7829-7D23-0C916E6224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00013"/>
            <a:ext cx="9144000" cy="6656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90" name="Picture 2" descr="hawaiippt2">
            <a:extLst>
              <a:ext uri="{FF2B5EF4-FFF2-40B4-BE49-F238E27FC236}">
                <a16:creationId xmlns:a16="http://schemas.microsoft.com/office/drawing/2014/main" id="{D9298421-CE1F-62EA-4414-BFDEF9F16F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0" y="273050"/>
            <a:ext cx="6629400" cy="6240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938" name="Picture 2" descr="precipitation_map">
            <a:extLst>
              <a:ext uri="{FF2B5EF4-FFF2-40B4-BE49-F238E27FC236}">
                <a16:creationId xmlns:a16="http://schemas.microsoft.com/office/drawing/2014/main" id="{92461CDE-110B-F6F3-3458-0D2FE7C249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-304800"/>
            <a:ext cx="9358722" cy="69474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86" name="Picture 2" descr="wa">
            <a:extLst>
              <a:ext uri="{FF2B5EF4-FFF2-40B4-BE49-F238E27FC236}">
                <a16:creationId xmlns:a16="http://schemas.microsoft.com/office/drawing/2014/main" id="{5FFB0F27-4EA9-3564-E495-1970BDC15B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9750" y="381000"/>
            <a:ext cx="8572500" cy="609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034" name="Picture 2" descr="1793">
            <a:extLst>
              <a:ext uri="{FF2B5EF4-FFF2-40B4-BE49-F238E27FC236}">
                <a16:creationId xmlns:a16="http://schemas.microsoft.com/office/drawing/2014/main" id="{AC91B714-58E5-ECC4-0214-AB3C5AF9821B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36" y="1295400"/>
            <a:ext cx="11607264" cy="449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4035" name="Text Box 3">
            <a:extLst>
              <a:ext uri="{FF2B5EF4-FFF2-40B4-BE49-F238E27FC236}">
                <a16:creationId xmlns:a16="http://schemas.microsoft.com/office/drawing/2014/main" id="{82BBA539-6A06-EC59-52CA-0C8A4A9334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0" y="381000"/>
            <a:ext cx="4395755" cy="46166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alibri Light" panose="020F030202020403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>
                <a:latin typeface="Arial" panose="020B0604020202020204" pitchFamily="34" charset="0"/>
              </a:rPr>
              <a:t>Frontal lifting along a cold front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82" name="Picture 2" descr="goes8ir">
            <a:extLst>
              <a:ext uri="{FF2B5EF4-FFF2-40B4-BE49-F238E27FC236}">
                <a16:creationId xmlns:a16="http://schemas.microsoft.com/office/drawing/2014/main" id="{D466470E-18EC-7517-457C-20DE364D2921}"/>
              </a:ext>
            </a:extLst>
          </p:cNvPr>
          <p:cNvPicPr>
            <a:picLocks noGrp="1" noChangeAspect="1" noChangeArrowheads="1" noCrop="1"/>
          </p:cNvPicPr>
          <p:nvPr>
            <p:ph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219200" y="-228600"/>
            <a:ext cx="9753600" cy="7315200"/>
          </a:xfrm>
          <a:noFill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32" name="Picture 2" descr="tlh">
            <a:extLst>
              <a:ext uri="{FF2B5EF4-FFF2-40B4-BE49-F238E27FC236}">
                <a16:creationId xmlns:a16="http://schemas.microsoft.com/office/drawing/2014/main" id="{DD3EEDC1-5C58-5A9A-96D9-E80EFAB4BF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44" r="22221" b="1389"/>
          <a:stretch>
            <a:fillRect/>
          </a:stretch>
        </p:blipFill>
        <p:spPr bwMode="auto">
          <a:xfrm>
            <a:off x="3810000" y="838200"/>
            <a:ext cx="5334000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3">
            <a:extLst>
              <a:ext uri="{FF2B5EF4-FFF2-40B4-BE49-F238E27FC236}">
                <a16:creationId xmlns:a16="http://schemas.microsoft.com/office/drawing/2014/main" id="{62DC3247-A9C9-9E8A-4DDC-235F3C1C204B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1818481" y="3028157"/>
            <a:ext cx="3133725" cy="40163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en-US" sz="2000" dirty="0">
                <a:latin typeface="+mj-lt"/>
              </a:rPr>
              <a:t>Air pressure in millibars (mb)</a:t>
            </a:r>
          </a:p>
        </p:txBody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C6D6AD90-66F5-D46B-FE2B-DCBE08EBD6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82900" y="5446713"/>
            <a:ext cx="947738" cy="40005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en-US" sz="2000" dirty="0">
                <a:latin typeface="+mj-lt"/>
              </a:rPr>
              <a:t>Surface</a:t>
            </a:r>
          </a:p>
        </p:txBody>
      </p:sp>
      <p:sp>
        <p:nvSpPr>
          <p:cNvPr id="7" name="TextBox 5">
            <a:extLst>
              <a:ext uri="{FF2B5EF4-FFF2-40B4-BE49-F238E27FC236}">
                <a16:creationId xmlns:a16="http://schemas.microsoft.com/office/drawing/2014/main" id="{26BEB8A4-D15B-6E89-EBCC-BD084DF9B1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24150" y="685800"/>
            <a:ext cx="1454150" cy="70802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  <a:defRPr/>
            </a:pPr>
            <a:r>
              <a:rPr lang="en-US" altLang="en-US" sz="2000" dirty="0">
                <a:latin typeface="+mj-lt"/>
              </a:rPr>
              <a:t>Upper </a:t>
            </a:r>
          </a:p>
          <a:p>
            <a:pPr algn="ctr">
              <a:spcBef>
                <a:spcPct val="0"/>
              </a:spcBef>
              <a:buFontTx/>
              <a:buNone/>
              <a:defRPr/>
            </a:pPr>
            <a:r>
              <a:rPr lang="en-US" altLang="en-US" sz="2000" dirty="0">
                <a:latin typeface="+mj-lt"/>
              </a:rPr>
              <a:t>troposphere</a:t>
            </a:r>
          </a:p>
        </p:txBody>
      </p:sp>
      <p:sp>
        <p:nvSpPr>
          <p:cNvPr id="2" name="Arrow: Up 1">
            <a:extLst>
              <a:ext uri="{FF2B5EF4-FFF2-40B4-BE49-F238E27FC236}">
                <a16:creationId xmlns:a16="http://schemas.microsoft.com/office/drawing/2014/main" id="{2AAD1C2D-A9A3-0D10-FD33-E70B45F8ED40}"/>
              </a:ext>
            </a:extLst>
          </p:cNvPr>
          <p:cNvSpPr/>
          <p:nvPr/>
        </p:nvSpPr>
        <p:spPr>
          <a:xfrm>
            <a:off x="7696200" y="5073328"/>
            <a:ext cx="381000" cy="914400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226" name="Picture 2" descr="C:\Users\JAS\Desktop\Lectures\Humidity\Plastic_bottle_at_14000_feet,_9000_feet_and_1000_feet,_sealed_at_14000_feet.png">
            <a:extLst>
              <a:ext uri="{FF2B5EF4-FFF2-40B4-BE49-F238E27FC236}">
                <a16:creationId xmlns:a16="http://schemas.microsoft.com/office/drawing/2014/main" id="{9C6321C8-8362-6F8B-1E46-5235C0795A5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2400" y="533400"/>
            <a:ext cx="11887200" cy="6096000"/>
          </a:xfrm>
          <a:noFill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80" name="Picture 4" descr="cumulonimbus_bob_jewell_470">
            <a:extLst>
              <a:ext uri="{FF2B5EF4-FFF2-40B4-BE49-F238E27FC236}">
                <a16:creationId xmlns:a16="http://schemas.microsoft.com/office/drawing/2014/main" id="{D83BB68E-BC51-60A2-2F7C-EECC0DB8A9F0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352800" y="0"/>
            <a:ext cx="5867400" cy="7828504"/>
          </a:xfrm>
          <a:noFill/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http://www.freecomputerguides.com/images/compressedair.jpg">
            <a:extLst>
              <a:ext uri="{FF2B5EF4-FFF2-40B4-BE49-F238E27FC236}">
                <a16:creationId xmlns:a16="http://schemas.microsoft.com/office/drawing/2014/main" id="{D736D68F-9CA1-3ABC-892E-5786B0F86D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0924" y="381000"/>
            <a:ext cx="6503390" cy="571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8" descr="http://www.performancebike.com/images/performance/products/large/40-3901-NCL-ANGLE.jpg">
            <a:extLst>
              <a:ext uri="{FF2B5EF4-FFF2-40B4-BE49-F238E27FC236}">
                <a16:creationId xmlns:a16="http://schemas.microsoft.com/office/drawing/2014/main" id="{8ACA1B27-3266-9379-1800-C5CAAC3E22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00" r="32143"/>
          <a:stretch>
            <a:fillRect/>
          </a:stretch>
        </p:blipFill>
        <p:spPr bwMode="auto">
          <a:xfrm>
            <a:off x="1066800" y="233293"/>
            <a:ext cx="2736850" cy="6391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655141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temperature diagram&#10;&#10;Description automatically generated">
            <a:extLst>
              <a:ext uri="{FF2B5EF4-FFF2-40B4-BE49-F238E27FC236}">
                <a16:creationId xmlns:a16="http://schemas.microsoft.com/office/drawing/2014/main" id="{3B4EE22A-4EEC-CBC4-4069-243F388BF4C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234" t="1" r="21813" b="19468"/>
          <a:stretch>
            <a:fillRect/>
          </a:stretch>
        </p:blipFill>
        <p:spPr>
          <a:xfrm>
            <a:off x="5770340" y="441021"/>
            <a:ext cx="2459260" cy="5729046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DEE0495-55AB-142F-C011-531A8F74558F}"/>
              </a:ext>
            </a:extLst>
          </p:cNvPr>
          <p:cNvSpPr/>
          <p:nvPr/>
        </p:nvSpPr>
        <p:spPr>
          <a:xfrm>
            <a:off x="11800114" y="2141537"/>
            <a:ext cx="685800" cy="45259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diagram of a temperature diagram&#10;&#10;Description automatically generated">
            <a:extLst>
              <a:ext uri="{FF2B5EF4-FFF2-40B4-BE49-F238E27FC236}">
                <a16:creationId xmlns:a16="http://schemas.microsoft.com/office/drawing/2014/main" id="{3A4FD266-579F-2B2C-079A-CC088504029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3047" b="15995"/>
          <a:stretch>
            <a:fillRect/>
          </a:stretch>
        </p:blipFill>
        <p:spPr>
          <a:xfrm>
            <a:off x="2895600" y="419100"/>
            <a:ext cx="2459260" cy="597616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B56BB8B4-234C-5730-75B1-73382E4E19D3}"/>
              </a:ext>
            </a:extLst>
          </p:cNvPr>
          <p:cNvSpPr/>
          <p:nvPr/>
        </p:nvSpPr>
        <p:spPr>
          <a:xfrm>
            <a:off x="4267200" y="1295400"/>
            <a:ext cx="1981200" cy="4648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AB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418" name="Picture 2" descr="C:\Documents and Settings\tony\Desktop\DSCF0040.JPG">
            <a:extLst>
              <a:ext uri="{FF2B5EF4-FFF2-40B4-BE49-F238E27FC236}">
                <a16:creationId xmlns:a16="http://schemas.microsoft.com/office/drawing/2014/main" id="{57958899-7C27-B3B7-55C4-7B70DA0ABE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0"/>
            <a:ext cx="9286875" cy="696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0421" name="Picture 3" descr="C:\Documents and Settings\tony\Desktop\pretty-blue-sky-by-halima-ahkdar.jpg">
            <a:extLst>
              <a:ext uri="{FF2B5EF4-FFF2-40B4-BE49-F238E27FC236}">
                <a16:creationId xmlns:a16="http://schemas.microsoft.com/office/drawing/2014/main" id="{66A17C8E-DA17-FE4A-C7D6-EEF60110A1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399" y="67544"/>
            <a:ext cx="9072009" cy="66380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42" name="Picture 4" descr="Picture1.jpg">
            <a:extLst>
              <a:ext uri="{FF2B5EF4-FFF2-40B4-BE49-F238E27FC236}">
                <a16:creationId xmlns:a16="http://schemas.microsoft.com/office/drawing/2014/main" id="{DBC4804E-B535-3D9E-AC66-BFFA234DC7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Custom 3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262672"/>
      </a:hlink>
      <a:folHlink>
        <a:srgbClr val="262672"/>
      </a:folHlink>
    </a:clrScheme>
    <a:fontScheme name="Custom 1">
      <a:majorFont>
        <a:latin typeface="Calibri Light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632</TotalTime>
  <Words>210</Words>
  <Application>Microsoft Office PowerPoint</Application>
  <PresentationFormat>Widescreen</PresentationFormat>
  <Paragraphs>38</Paragraphs>
  <Slides>25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 Light</vt:lpstr>
      <vt:lpstr>Default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FSU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Shawn Lewers</dc:creator>
  <cp:lastModifiedBy>Stallins, Jon A.</cp:lastModifiedBy>
  <cp:revision>108</cp:revision>
  <dcterms:created xsi:type="dcterms:W3CDTF">2006-07-06T08:44:01Z</dcterms:created>
  <dcterms:modified xsi:type="dcterms:W3CDTF">2026-02-10T14:27:06Z</dcterms:modified>
</cp:coreProperties>
</file>