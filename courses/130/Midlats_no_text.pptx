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33" r:id="rId2"/>
    <p:sldId id="279" r:id="rId3"/>
    <p:sldId id="297" r:id="rId4"/>
    <p:sldId id="298" r:id="rId5"/>
    <p:sldId id="281" r:id="rId6"/>
    <p:sldId id="332" r:id="rId7"/>
    <p:sldId id="289" r:id="rId8"/>
    <p:sldId id="288" r:id="rId9"/>
    <p:sldId id="321" r:id="rId10"/>
    <p:sldId id="291" r:id="rId11"/>
    <p:sldId id="294" r:id="rId12"/>
    <p:sldId id="295" r:id="rId13"/>
    <p:sldId id="304" r:id="rId14"/>
    <p:sldId id="339" r:id="rId15"/>
    <p:sldId id="341" r:id="rId16"/>
    <p:sldId id="292" r:id="rId17"/>
    <p:sldId id="334" r:id="rId18"/>
    <p:sldId id="274" r:id="rId19"/>
    <p:sldId id="338" r:id="rId20"/>
    <p:sldId id="335" r:id="rId21"/>
    <p:sldId id="296" r:id="rId22"/>
    <p:sldId id="337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79964" autoAdjust="0"/>
  </p:normalViewPr>
  <p:slideViewPr>
    <p:cSldViewPr>
      <p:cViewPr varScale="1">
        <p:scale>
          <a:sx n="66" d="100"/>
          <a:sy n="66" d="100"/>
        </p:scale>
        <p:origin x="509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6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A557E34-A9FA-9E7D-1923-73E24F421A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285F722-6639-F264-9D4C-59F4AA15F71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E2807CC-B545-6AE5-D9AD-3FF00BD0D70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4C88A429-1E3E-A0F1-E860-60987D6F3F5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F2E73172-038E-2CCD-3AE3-59A77818452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0D5497A5-CDD1-4D23-01C2-E32C05664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DE64BE-0E46-424E-81FF-BE71379A43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https://www.washingtonpost.com/climate-environment/interactive/2024/how-accurate-is-the-weather-forecast/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E64BE-0E46-424E-81FF-BE71379A437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003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57B8CA6-DE3F-6A8A-ACE3-9B37E5EDB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33B3F35-CC57-4C14-880A-98666705BFF7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D0114E0-588A-57DF-3278-D322752AE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4069C42-242B-A303-C895-66695481E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5754479-EB57-772F-526A-E80573DEAC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AEB2B1F-03FC-43BE-BE43-6734358D6C33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C08A515-48C1-835C-01D0-76C5FFC0D0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40DD70C-36B5-DB24-13A7-98865DA58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Cold front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0828187-C7D5-82E3-ABD2-FC29A576B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4E1981-D3AC-4D12-BF57-729C1C579B8D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7620CD7-D061-06BE-717B-DD3A535E1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F0B5837-F42E-3A6B-6ADC-6BA0DABC5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Warm front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AE8E009-7885-5B5F-D963-7A1F3937A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3DD41F-68FF-4FF1-8330-8B5811E2A647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849388F-7613-C5A9-E6FE-9CFF5E1C8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2DFE4F4-A46A-C581-2CA9-11C9B89F7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Cloud types differ in association with frontal type.  Stratus clouds are more often associated with the passage of a warm front. Cumulus clouds are more often associated with the passage of a cold front.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Feb 2026 Nor’easter, a strong coastal MLC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E64BE-0E46-424E-81FF-BE71379A437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843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C1C9DB9-3001-3241-75E3-4A4EA71D3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CC0A93F-5A7D-4350-A6B3-57B71CBD5F7E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6C441B9-8CA5-D474-AFCC-7EF42F4FD7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03D073A-3433-2CC8-CFAD-00E546BF2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55955F1-D07C-8D60-D44B-8786A8F0AC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EF8375-E6A3-412D-9F31-E1F6210F240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659AB3-0027-D0E9-3785-552E205AE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0710516-DE19-C3A8-FD0B-034D0C2CD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54F03839-CBBD-719B-34DC-147DCDCE32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B4661D90-4995-2EF9-1224-7A49B91F9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Note the differences in where midlatitude (extratropical) storms occur and where hurricanes (tropical storm systems) occur.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E05D3C60-F8A5-51DC-E888-55A52B713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F6FD45-BE83-45A4-A6E5-F5A44299B91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2CC04AB-490C-A0B1-2EBA-33C05027C8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03019F-8AAA-49D8-B93A-F6DF1FE77086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012FE64-22A3-FBA3-F797-941E6D9CC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D165604-9900-275A-A7C3-6E4BFBA92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CE73AC7-35F0-8285-82C5-EE4411BC4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537893-3F7F-4644-8FBF-2200C294A38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150879E-B668-0B61-7D3C-032DDB213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53AAEAD-8FB1-9866-18DC-DFF1B4378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Note that there is an upper level low (known as a trough on a constant </a:t>
            </a:r>
            <a:r>
              <a:rPr lang="en-US" altLang="en-US"/>
              <a:t>pressure surface) and </a:t>
            </a:r>
            <a:r>
              <a:rPr lang="en-US" altLang="en-US" dirty="0"/>
              <a:t>a surface low that are needed to form a midlatitude cyclone.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A6F9791-8BF2-383F-A7F7-6DE0B4285F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3B2736-2689-487A-998E-0DDD50CA9725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B45732E-ED83-97BC-852E-5A4EA6AFA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3363B07-9520-9626-B60A-CC0BBD743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Note: no upper level support is shown in this image even though a trough in the polar jet stream with speed and directional divergence are required to develop a robust midlatitude cyclone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EEB6DFD6-23D6-BC23-DF08-08D74932A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E8DB9405-314B-1BD3-AC0F-519AEF808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48653767-2D85-3C3E-A774-3C9B3BF06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34047A-190D-41FC-8F59-DA72B3AFA9C3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4EA2B527-D5B3-9880-E5B1-40F522B3DD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BA0ACD-B8FE-49CC-8CBA-CE28C3E531A3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88150E4-245F-73E6-5994-5FA1DB285A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BD11C22-AB90-A58C-5FF7-96C467201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https://apnews.com/article/winter-snow-bomb-cyclone-3de11481ad49fc94bafb570467a2f972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E64BE-0E46-424E-81FF-BE71379A437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62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964C4C8D-704B-9D48-428C-CB044B95D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188ADE-B683-48E8-8FE0-64CCF4F30A0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CFD471F-1B0C-AAD3-B158-06F49544D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CBCA0C7B-2A7A-5540-D2FE-55627D40B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0391A03-2AC8-809A-7426-0F4790F28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73235E1-6DC4-46DB-AACE-45E76033DC5C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FAC85A0-D890-8C8F-D1C5-F5590309D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100747E-98E3-DD7B-403A-F6F82402C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>
                <a:latin typeface="Arial" panose="020B0604020202020204" pitchFamily="34" charset="0"/>
              </a:rPr>
              <a:t>Famous nor’easters:</a:t>
            </a:r>
            <a:br>
              <a:rPr lang="en-US" altLang="en-US">
                <a:latin typeface="Arial" panose="020B0604020202020204" pitchFamily="34" charset="0"/>
              </a:rPr>
            </a:b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The Perfect Storm (1991)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>
                <a:latin typeface="Arial" panose="020B0604020202020204" pitchFamily="34" charset="0"/>
              </a:rPr>
              <a:t>Ash Wednesday Storm (1962)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Storm of the Century (1993)</a:t>
            </a:r>
            <a:br>
              <a:rPr lang="en-US" altLang="en-US">
                <a:latin typeface="Arial" panose="020B0604020202020204" pitchFamily="34" charset="0"/>
              </a:rPr>
            </a:br>
            <a:br>
              <a:rPr lang="en-US" altLang="en-US">
                <a:latin typeface="Arial" panose="020B0604020202020204" pitchFamily="34" charset="0"/>
              </a:rPr>
            </a:b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B885-F8D0-2DC9-F7E7-E6556B94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1C9C2AD2-6553-9334-B405-9FBFDCE315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CB9572D8-3B79-DF88-395D-7E3DF8097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DDA48567-63EB-9FCF-C8A1-0209943C1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8E4155-EBAC-489D-8CB7-C19910A6DAED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89232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895BFE-DC97-088B-1375-933530DC96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8F712D-B3FC-7600-C443-C6FA84D08A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361103-E693-70A2-27D1-410AFD5EFC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B905B-8209-44B1-AA96-50611A86E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81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4F0C87-0E54-BFF3-D2A9-D23FA51BE2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993AE6-D1A7-5AFF-504C-87BC003BC1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036D6D-A6FE-D30D-0A8E-68CCF05F9E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83186-6B90-4B6E-8A68-28BB9AE161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88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ACFD82-4F75-405B-E99E-5C6DA0357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9946DB-C58B-DDD4-939B-E0232C0071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65CB86-7BDE-947E-404A-5A1DD496AE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15CEC-6D0D-492D-99E4-2400F9A8A8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39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C41C4-17A6-2871-0EAA-9A58EEBA01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459BF0-8078-00F8-205C-AB33A2362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7CF28-BBD8-C0F8-0129-0696674FBE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6B21A-2AB3-4938-8DA4-8FBA52958F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27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A5B430-16FB-BA2C-EF65-9E3F02A471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BF5096-0D53-2752-B676-1E0A8EFA7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ED3737-A40F-40CF-E9FD-AE0E0A0C8A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BA0A6-BFE1-4128-AEE8-5CE06A0CBC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11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E236F2-DB26-7CBD-E821-6E5010FC17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02D46E-E6CE-7A81-87DC-D290DE0C4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4E307E0-13D3-A79F-5D8C-4A8CE4E51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0BB0B-B47F-428F-A029-80A54702DE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830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7200D0E-BC96-1F61-01A9-B6AD7DBB0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C1BF035-A836-8E62-5EE2-C0E32402DA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1FF26C-494D-0FDF-6D5F-750715EB6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FF800-2A75-4259-A53E-4302B53D12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32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34B15-49C3-D43F-290B-3532C248B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2CBBB-7F4A-825F-FCA7-2CFA12892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1462FB-21DA-09AF-EB39-C62DC297C1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3C181-2E16-4F23-B212-09B7C05A1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8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C4419-3235-38F3-2B65-2FCBF74FD4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E2C9F-C520-0FCB-AE4C-7470921402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55BED7-6063-5A0C-672C-94BB7F369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F8E05-532F-4B75-B7C4-59D58AAA7C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21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B983C2-AC56-8327-07AC-8096AA0C5D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183955-DF9B-686D-B79F-4E4FDFA650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55596-358D-F387-16F5-0453DBC38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0448E-0354-4C63-9BD6-D1A2D4EB8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2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D3F534-9E7D-F006-9295-8035A1F5B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E950D4-DC82-FD0F-98CA-4CA9C1708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80A6E4-5063-180B-F5D9-040D0160A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EA440-D4D1-432D-8118-2BC222F498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22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A849AA-5775-47BA-7971-DED77C6E89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DD6615-926B-0977-3C5F-465DA27715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63608C-53A4-9534-AE8E-17AF2C5335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3E1C2-2FCF-4496-BB8B-ADC22F78D3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916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7169B5-E33C-3707-5AC9-C16DA7C63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919F2-8676-904F-0532-9117B58701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443C4D-7DA2-5448-79F8-ED81DBD32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659D5-7CF9-4CC7-8427-E39710373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56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951F85-7901-D669-ACD2-CEFC11966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BE149DF-5921-9DB6-5BF8-88069130D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89485A-3F8E-285D-F2E7-9C6C5490BE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84F939-6172-02F0-777D-1419B24F9B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221C01-CDDF-A1B5-2CDC-BC3A122C5D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177D54E-AA94-46C3-983B-954BA24E35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B0B674-48FE-52EE-2DEB-444BAC329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84" y="487425"/>
            <a:ext cx="7978831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9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airmass">
            <a:extLst>
              <a:ext uri="{FF2B5EF4-FFF2-40B4-BE49-F238E27FC236}">
                <a16:creationId xmlns:a16="http://schemas.microsoft.com/office/drawing/2014/main" id="{1135F29C-FFD1-4DA9-6E84-A882BB453188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58738"/>
            <a:ext cx="7696200" cy="6654800"/>
          </a:xfr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563C253-FF04-9B2D-D41B-E0B1A655E1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			</a:t>
            </a:r>
          </a:p>
        </p:txBody>
      </p:sp>
      <p:pic>
        <p:nvPicPr>
          <p:cNvPr id="9219" name="Picture 9" descr="1793">
            <a:extLst>
              <a:ext uri="{FF2B5EF4-FFF2-40B4-BE49-F238E27FC236}">
                <a16:creationId xmlns:a16="http://schemas.microsoft.com/office/drawing/2014/main" id="{992CAB21-7C31-72CE-6709-74D242BD6A6A}"/>
              </a:ext>
            </a:extLst>
          </p:cNvPr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913" y="762000"/>
            <a:ext cx="11814175" cy="4572000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1E636E2-E0A2-0914-D09F-F8BF1A314F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			</a:t>
            </a:r>
          </a:p>
        </p:txBody>
      </p:sp>
      <p:pic>
        <p:nvPicPr>
          <p:cNvPr id="11267" name="Picture 5" descr="warm">
            <a:extLst>
              <a:ext uri="{FF2B5EF4-FFF2-40B4-BE49-F238E27FC236}">
                <a16:creationId xmlns:a16="http://schemas.microsoft.com/office/drawing/2014/main" id="{1DEC99B7-E73B-B0E2-73BB-2DA22178CA49}"/>
              </a:ext>
            </a:extLst>
          </p:cNvPr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25" y="396875"/>
            <a:ext cx="12014200" cy="4784725"/>
          </a:xfrm>
          <a:noFill/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490F34B4-2803-35A2-78AB-194B63DAD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029200"/>
            <a:ext cx="8305800" cy="479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B047D225-9CE2-A746-5C1E-B85B47820A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			</a:t>
            </a:r>
          </a:p>
        </p:txBody>
      </p:sp>
      <p:pic>
        <p:nvPicPr>
          <p:cNvPr id="13315" name="Picture 5" descr="fronts">
            <a:extLst>
              <a:ext uri="{FF2B5EF4-FFF2-40B4-BE49-F238E27FC236}">
                <a16:creationId xmlns:a16="http://schemas.microsoft.com/office/drawing/2014/main" id="{8415D5B7-5954-1B68-544F-A09066E3E5D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71438"/>
            <a:ext cx="8153400" cy="6786562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07A074E-1176-5DFA-EF6B-CBAE3C533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8" y="0"/>
            <a:ext cx="10879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5" descr="C:\Users\JAS\Backups\Desktop\Physical Geography\Lectures\Midlats\Images\midcyclone.gif">
            <a:extLst>
              <a:ext uri="{FF2B5EF4-FFF2-40B4-BE49-F238E27FC236}">
                <a16:creationId xmlns:a16="http://schemas.microsoft.com/office/drawing/2014/main" id="{505CA531-D719-5ACB-7324-0BFE6F462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04800"/>
            <a:ext cx="9092292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 descr="C:\Documents and Settings\Jon Anthony Stallins\Desktop\cross_midlatitudecyclone.gif">
            <a:extLst>
              <a:ext uri="{FF2B5EF4-FFF2-40B4-BE49-F238E27FC236}">
                <a16:creationId xmlns:a16="http://schemas.microsoft.com/office/drawing/2014/main" id="{A19B80D6-423F-9198-D8B4-4EF2D53D4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17316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Documents and Settings\Jon Anthony Stallins\Desktop\midlatitudecyclonepaths.gif">
            <a:extLst>
              <a:ext uri="{FF2B5EF4-FFF2-40B4-BE49-F238E27FC236}">
                <a16:creationId xmlns:a16="http://schemas.microsoft.com/office/drawing/2014/main" id="{2BA4A804-8ED0-3CA9-89CB-787C4FAFE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0"/>
            <a:ext cx="11358563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6" descr="agburt08_08">
            <a:extLst>
              <a:ext uri="{FF2B5EF4-FFF2-40B4-BE49-F238E27FC236}">
                <a16:creationId xmlns:a16="http://schemas.microsoft.com/office/drawing/2014/main" id="{6A50004C-95C4-1A47-9498-84B238D9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6" r="16341"/>
          <a:stretch>
            <a:fillRect/>
          </a:stretch>
        </p:blipFill>
        <p:spPr bwMode="auto">
          <a:xfrm>
            <a:off x="2057399" y="76200"/>
            <a:ext cx="7457069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 descr="trough">
            <a:extLst>
              <a:ext uri="{FF2B5EF4-FFF2-40B4-BE49-F238E27FC236}">
                <a16:creationId xmlns:a16="http://schemas.microsoft.com/office/drawing/2014/main" id="{75AEF38E-F8EC-9633-E66A-2C69C03B0ACF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644"/>
          <a:stretch>
            <a:fillRect/>
          </a:stretch>
        </p:blipFill>
        <p:spPr>
          <a:xfrm>
            <a:off x="2819400" y="457200"/>
            <a:ext cx="6629400" cy="6316663"/>
          </a:xfrm>
          <a:noFill/>
        </p:spPr>
      </p:pic>
      <p:sp>
        <p:nvSpPr>
          <p:cNvPr id="30723" name="TextBox 2">
            <a:extLst>
              <a:ext uri="{FF2B5EF4-FFF2-40B4-BE49-F238E27FC236}">
                <a16:creationId xmlns:a16="http://schemas.microsoft.com/office/drawing/2014/main" id="{8C17A551-35A0-3837-B501-F5AF7964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446837"/>
            <a:ext cx="2252662" cy="400110"/>
          </a:xfrm>
          <a:prstGeom prst="rect">
            <a:avLst/>
          </a:prstGeom>
          <a:solidFill>
            <a:schemeClr val="bg1">
              <a:alpha val="749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High pressure ridge</a:t>
            </a:r>
          </a:p>
        </p:txBody>
      </p:sp>
      <p:sp>
        <p:nvSpPr>
          <p:cNvPr id="28676" name="TextBox 3">
            <a:extLst>
              <a:ext uri="{FF2B5EF4-FFF2-40B4-BE49-F238E27FC236}">
                <a16:creationId xmlns:a16="http://schemas.microsoft.com/office/drawing/2014/main" id="{CF6BAE23-8ABA-7A4D-3CAF-C80E12633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05000"/>
            <a:ext cx="947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</a:rPr>
              <a:t>Warm air</a:t>
            </a:r>
          </a:p>
        </p:txBody>
      </p:sp>
      <p:sp>
        <p:nvSpPr>
          <p:cNvPr id="28677" name="TextBox 4">
            <a:extLst>
              <a:ext uri="{FF2B5EF4-FFF2-40B4-BE49-F238E27FC236}">
                <a16:creationId xmlns:a16="http://schemas.microsoft.com/office/drawing/2014/main" id="{EC081AAF-D6B4-6553-1BFE-800A5B5A2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990600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B0F0"/>
                </a:solidFill>
                <a:latin typeface="Arial" panose="020B0604020202020204" pitchFamily="34" charset="0"/>
              </a:rPr>
              <a:t>Cold air</a:t>
            </a:r>
          </a:p>
        </p:txBody>
      </p:sp>
      <p:sp>
        <p:nvSpPr>
          <p:cNvPr id="30726" name="TextBox 5">
            <a:extLst>
              <a:ext uri="{FF2B5EF4-FFF2-40B4-BE49-F238E27FC236}">
                <a16:creationId xmlns:a16="http://schemas.microsoft.com/office/drawing/2014/main" id="{C763774A-518B-4C16-ACB3-94E750E75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638" y="2138363"/>
            <a:ext cx="6210300" cy="1015663"/>
          </a:xfrm>
          <a:prstGeom prst="rect">
            <a:avLst/>
          </a:prstGeom>
          <a:solidFill>
            <a:schemeClr val="bg1">
              <a:alpha val="7607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Low pressure trough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j-lt"/>
              </a:rPr>
              <a:t>The trough creates downstream speed and directional divergence that enhances cyclogenesis</a:t>
            </a:r>
          </a:p>
        </p:txBody>
      </p:sp>
      <p:sp>
        <p:nvSpPr>
          <p:cNvPr id="30727" name="TextBox 6">
            <a:extLst>
              <a:ext uri="{FF2B5EF4-FFF2-40B4-BE49-F238E27FC236}">
                <a16:creationId xmlns:a16="http://schemas.microsoft.com/office/drawing/2014/main" id="{F99E43B1-21F1-2C26-A57B-F60FFFEA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284163"/>
            <a:ext cx="2879725" cy="2677656"/>
          </a:xfrm>
          <a:prstGeom prst="rect">
            <a:avLst/>
          </a:prstGeom>
          <a:solidFill>
            <a:schemeClr val="bg1">
              <a:alpha val="749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latin typeface="+mj-lt"/>
              </a:rPr>
              <a:t>This is a upper level map of showing the heights of a 500 mb constant pressure surface and the position of the polar jet stream</a:t>
            </a:r>
          </a:p>
        </p:txBody>
      </p:sp>
      <p:sp>
        <p:nvSpPr>
          <p:cNvPr id="30728" name="TextBox 7">
            <a:extLst>
              <a:ext uri="{FF2B5EF4-FFF2-40B4-BE49-F238E27FC236}">
                <a16:creationId xmlns:a16="http://schemas.microsoft.com/office/drawing/2014/main" id="{3FB191BF-5FC2-AA7E-8910-62B8DF1E4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4027488"/>
            <a:ext cx="5103812" cy="461962"/>
          </a:xfrm>
          <a:prstGeom prst="rect">
            <a:avLst/>
          </a:prstGeom>
          <a:solidFill>
            <a:schemeClr val="bg1">
              <a:alpha val="749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latin typeface="+mj-lt"/>
              </a:rPr>
              <a:t>Surface winds on a surface isobaric map</a:t>
            </a:r>
          </a:p>
        </p:txBody>
      </p:sp>
      <p:sp>
        <p:nvSpPr>
          <p:cNvPr id="28681" name="TextBox 3">
            <a:extLst>
              <a:ext uri="{FF2B5EF4-FFF2-40B4-BE49-F238E27FC236}">
                <a16:creationId xmlns:a16="http://schemas.microsoft.com/office/drawing/2014/main" id="{537264A2-BD5A-F008-1885-4E1BBD434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550" y="5559425"/>
            <a:ext cx="946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</a:rPr>
              <a:t>Warm air</a:t>
            </a:r>
          </a:p>
        </p:txBody>
      </p:sp>
      <p:sp>
        <p:nvSpPr>
          <p:cNvPr id="28682" name="TextBox 4">
            <a:extLst>
              <a:ext uri="{FF2B5EF4-FFF2-40B4-BE49-F238E27FC236}">
                <a16:creationId xmlns:a16="http://schemas.microsoft.com/office/drawing/2014/main" id="{8AB91133-EC98-865C-5CC0-17CB356A6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50" y="4652963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B0F0"/>
                </a:solidFill>
                <a:latin typeface="Arial" panose="020B0604020202020204" pitchFamily="34" charset="0"/>
              </a:rPr>
              <a:t>Cold air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>
            <a:extLst>
              <a:ext uri="{FF2B5EF4-FFF2-40B4-BE49-F238E27FC236}">
                <a16:creationId xmlns:a16="http://schemas.microsoft.com/office/drawing/2014/main" id="{2DC4AEBD-4A6A-B0BB-B8C3-751C1832E725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3" t="22223" r="5515" b="15277"/>
          <a:stretch>
            <a:fillRect/>
          </a:stretch>
        </p:blipFill>
        <p:spPr>
          <a:xfrm>
            <a:off x="57943" y="154781"/>
            <a:ext cx="12076113" cy="6548437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6">
            <a:extLst>
              <a:ext uri="{FF2B5EF4-FFF2-40B4-BE49-F238E27FC236}">
                <a16:creationId xmlns:a16="http://schemas.microsoft.com/office/drawing/2014/main" id="{70697205-9F9A-E1C3-80CC-9C551157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404516"/>
            <a:ext cx="1719262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Early stage</a:t>
            </a:r>
          </a:p>
        </p:txBody>
      </p:sp>
      <p:sp>
        <p:nvSpPr>
          <p:cNvPr id="30724" name="Text Box 7">
            <a:extLst>
              <a:ext uri="{FF2B5EF4-FFF2-40B4-BE49-F238E27FC236}">
                <a16:creationId xmlns:a16="http://schemas.microsoft.com/office/drawing/2014/main" id="{68C9346F-3B8B-D1F1-F27C-B09D08FE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068" y="2428875"/>
            <a:ext cx="2566988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Open wave stage</a:t>
            </a:r>
          </a:p>
        </p:txBody>
      </p:sp>
      <p:sp>
        <p:nvSpPr>
          <p:cNvPr id="30725" name="Text Box 8">
            <a:extLst>
              <a:ext uri="{FF2B5EF4-FFF2-40B4-BE49-F238E27FC236}">
                <a16:creationId xmlns:a16="http://schemas.microsoft.com/office/drawing/2014/main" id="{68735E0B-322A-6CCA-E0B9-277755636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322888"/>
            <a:ext cx="2667000" cy="129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Occluded stage</a:t>
            </a: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Occluded front formation marks a decaying MLC.</a:t>
            </a:r>
          </a:p>
        </p:txBody>
      </p:sp>
      <p:sp>
        <p:nvSpPr>
          <p:cNvPr id="30726" name="Text Box 9">
            <a:extLst>
              <a:ext uri="{FF2B5EF4-FFF2-40B4-BE49-F238E27FC236}">
                <a16:creationId xmlns:a16="http://schemas.microsoft.com/office/drawing/2014/main" id="{60124D90-8326-1DAD-116C-15676C157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738" y="3279775"/>
            <a:ext cx="4419600" cy="1014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Dissipating stage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MLCs lose organization 7-10 days after redistributing the heat that powers them</a:t>
            </a:r>
          </a:p>
        </p:txBody>
      </p:sp>
      <p:sp>
        <p:nvSpPr>
          <p:cNvPr id="30727" name="Text Box 10">
            <a:extLst>
              <a:ext uri="{FF2B5EF4-FFF2-40B4-BE49-F238E27FC236}">
                <a16:creationId xmlns:a16="http://schemas.microsoft.com/office/drawing/2014/main" id="{0267CA42-487C-B6AB-A7D1-F16C057D7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3" y="2895600"/>
            <a:ext cx="3595687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Zone of strong surface baroclinity</a:t>
            </a:r>
          </a:p>
        </p:txBody>
      </p:sp>
      <p:sp>
        <p:nvSpPr>
          <p:cNvPr id="30728" name="Line 11">
            <a:extLst>
              <a:ext uri="{FF2B5EF4-FFF2-40B4-BE49-F238E27FC236}">
                <a16:creationId xmlns:a16="http://schemas.microsoft.com/office/drawing/2014/main" id="{A199CD77-3097-64D6-A47F-F522A3A0D3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1905000"/>
            <a:ext cx="1143000" cy="9906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2">
            <a:extLst>
              <a:ext uri="{FF2B5EF4-FFF2-40B4-BE49-F238E27FC236}">
                <a16:creationId xmlns:a16="http://schemas.microsoft.com/office/drawing/2014/main" id="{95EF1A08-EE5B-6F97-C313-408CAA86A0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1828800"/>
            <a:ext cx="762000" cy="10668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C:\Documents and Settings\Tony Stallins\Desktop\new-1.jpg">
            <a:extLst>
              <a:ext uri="{FF2B5EF4-FFF2-40B4-BE49-F238E27FC236}">
                <a16:creationId xmlns:a16="http://schemas.microsoft.com/office/drawing/2014/main" id="{C7B9E1C8-6D35-2316-5A8B-BB99ECE4D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700"/>
            <a:ext cx="8607369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drawing to illustrate changing production of rain, freezing rain, sleet and snow. See caption for detailed description.">
            <a:extLst>
              <a:ext uri="{FF2B5EF4-FFF2-40B4-BE49-F238E27FC236}">
                <a16:creationId xmlns:a16="http://schemas.microsoft.com/office/drawing/2014/main" id="{4EBA3876-ED83-042D-35B9-0BE4421D2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260" y="4965539"/>
            <a:ext cx="7247283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DCD81D-653B-8E29-DD07-0819CC99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-25970"/>
            <a:ext cx="7214406" cy="491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8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6978A9-6DB7-7A27-E7B7-5854788CA142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 bwMode="auto">
          <a:xfrm>
            <a:off x="1447800" y="304800"/>
            <a:ext cx="896195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079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2">
            <a:extLst>
              <a:ext uri="{FF2B5EF4-FFF2-40B4-BE49-F238E27FC236}">
                <a16:creationId xmlns:a16="http://schemas.microsoft.com/office/drawing/2014/main" id="{52FAB274-DBCB-B1C1-7C94-AC1A8B955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228600"/>
            <a:ext cx="7502355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A26DA8-5307-289A-210E-92BDA8CD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59657"/>
            <a:ext cx="7772400" cy="653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17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sea temps">
            <a:extLst>
              <a:ext uri="{FF2B5EF4-FFF2-40B4-BE49-F238E27FC236}">
                <a16:creationId xmlns:a16="http://schemas.microsoft.com/office/drawing/2014/main" id="{902FC027-6261-4D9C-379B-ECEBC8E59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38100"/>
            <a:ext cx="6029325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 photo description available.">
            <a:extLst>
              <a:ext uri="{FF2B5EF4-FFF2-40B4-BE49-F238E27FC236}">
                <a16:creationId xmlns:a16="http://schemas.microsoft.com/office/drawing/2014/main" id="{4A6EBC9C-4C29-0D3A-73A4-407593BFD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38" y="0"/>
            <a:ext cx="6383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121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B3956-1363-8F97-027C-D9648D225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2174"/>
            <a:ext cx="8439491" cy="637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6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Documents and Settings\Tony Stallins\Desktop\new-2.jpg">
            <a:extLst>
              <a:ext uri="{FF2B5EF4-FFF2-40B4-BE49-F238E27FC236}">
                <a16:creationId xmlns:a16="http://schemas.microsoft.com/office/drawing/2014/main" id="{EACA8055-9853-963B-8428-9F3CFC08C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3" y="104775"/>
            <a:ext cx="4964112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5" descr="93infrared">
            <a:extLst>
              <a:ext uri="{FF2B5EF4-FFF2-40B4-BE49-F238E27FC236}">
                <a16:creationId xmlns:a16="http://schemas.microsoft.com/office/drawing/2014/main" id="{E78ED53C-2D2E-7C7D-B2DE-CCA0583FA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100013"/>
            <a:ext cx="6430962" cy="653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21A6-FE9E-58FF-438E-E7FB859B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Picture 3" descr="A satellite image of the earth&#10;&#10;Description automatically generated">
            <a:extLst>
              <a:ext uri="{FF2B5EF4-FFF2-40B4-BE49-F238E27FC236}">
                <a16:creationId xmlns:a16="http://schemas.microsoft.com/office/drawing/2014/main" id="{75703E07-F3DB-BCF2-E800-D55052DE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"/>
            <a:ext cx="768961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84362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FF"/>
      </a:hlink>
      <a:folHlink>
        <a:srgbClr val="3333FF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305</Words>
  <Application>Microsoft Office PowerPoint</Application>
  <PresentationFormat>Widescreen</PresentationFormat>
  <Paragraphs>48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 Light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J. Anthony Stallins</dc:creator>
  <cp:lastModifiedBy>Stallins, Jon A.</cp:lastModifiedBy>
  <cp:revision>122</cp:revision>
  <dcterms:created xsi:type="dcterms:W3CDTF">2005-05-26T22:11:46Z</dcterms:created>
  <dcterms:modified xsi:type="dcterms:W3CDTF">2026-03-08T15:37:12Z</dcterms:modified>
</cp:coreProperties>
</file>