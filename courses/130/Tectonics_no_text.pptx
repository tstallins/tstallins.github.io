
<file path=[Content_Types].xml><?xml version="1.0" encoding="utf-8"?>
<Types xmlns="http://schemas.openxmlformats.org/package/2006/content-types">
  <Default Extension="gif" ContentType="image/gif"/>
  <Default Extension="jpeg" ContentType="image/jpeg"/>
  <Default Extension="jpg" ContentType="image/jpeg"/>
  <Default Extension="mov" ContentType="video/quicktime"/>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93" r:id="rId2"/>
    <p:sldId id="291" r:id="rId3"/>
    <p:sldId id="296" r:id="rId4"/>
    <p:sldId id="334" r:id="rId5"/>
    <p:sldId id="259" r:id="rId6"/>
    <p:sldId id="260" r:id="rId7"/>
    <p:sldId id="330" r:id="rId8"/>
    <p:sldId id="309" r:id="rId9"/>
    <p:sldId id="279" r:id="rId10"/>
    <p:sldId id="331" r:id="rId11"/>
    <p:sldId id="285" r:id="rId12"/>
    <p:sldId id="303" r:id="rId13"/>
    <p:sldId id="304" r:id="rId14"/>
    <p:sldId id="305" r:id="rId15"/>
    <p:sldId id="310" r:id="rId16"/>
    <p:sldId id="318" r:id="rId17"/>
    <p:sldId id="269" r:id="rId18"/>
    <p:sldId id="322" r:id="rId19"/>
    <p:sldId id="306" r:id="rId20"/>
    <p:sldId id="312" r:id="rId21"/>
    <p:sldId id="267" r:id="rId22"/>
    <p:sldId id="307" r:id="rId23"/>
    <p:sldId id="325" r:id="rId24"/>
    <p:sldId id="299" r:id="rId25"/>
    <p:sldId id="332"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ntinental drift: origins of plate tectonics" id="{DD86BC0A-9353-4F2D-88ED-36624A7B747E}">
          <p14:sldIdLst>
            <p14:sldId id="293"/>
            <p14:sldId id="291"/>
            <p14:sldId id="296"/>
            <p14:sldId id="334"/>
          </p14:sldIdLst>
        </p14:section>
        <p14:section name="Divergent plate boundary" id="{A0EC0B00-5A4E-469E-8FF0-023230C7695C}">
          <p14:sldIdLst>
            <p14:sldId id="259"/>
            <p14:sldId id="260"/>
            <p14:sldId id="330"/>
            <p14:sldId id="309"/>
            <p14:sldId id="279"/>
            <p14:sldId id="331"/>
            <p14:sldId id="285"/>
            <p14:sldId id="303"/>
            <p14:sldId id="304"/>
          </p14:sldIdLst>
        </p14:section>
        <p14:section name="Convergent plate boundary" id="{70FF1CA8-2BC9-475C-B36D-1C37D4150377}">
          <p14:sldIdLst>
            <p14:sldId id="305"/>
            <p14:sldId id="310"/>
            <p14:sldId id="318"/>
            <p14:sldId id="269"/>
            <p14:sldId id="322"/>
            <p14:sldId id="306"/>
            <p14:sldId id="312"/>
          </p14:sldIdLst>
        </p14:section>
        <p14:section name="Transform plate boundaries" id="{64099B8A-A86A-4987-A57C-E16CE6EC9F44}">
          <p14:sldIdLst>
            <p14:sldId id="267"/>
            <p14:sldId id="307"/>
            <p14:sldId id="325"/>
          </p14:sldIdLst>
        </p14:section>
        <p14:section name="Complexity of plate motion" id="{9A0A4939-F5AF-478B-BE1C-5301A7A5F5C5}">
          <p14:sldIdLst>
            <p14:sldId id="299"/>
            <p14:sldId id="332"/>
          </p14:sldIdLst>
        </p14:section>
        <p14:section name="What drives movement of plates?" id="{B39D10BF-9BA2-4ABB-B08B-6367C0747FC4}">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64242" autoAdjust="0"/>
  </p:normalViewPr>
  <p:slideViewPr>
    <p:cSldViewPr snapToGrid="0">
      <p:cViewPr varScale="1">
        <p:scale>
          <a:sx n="53" d="100"/>
          <a:sy n="53" d="100"/>
        </p:scale>
        <p:origin x="1838" y="43"/>
      </p:cViewPr>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62" d="100"/>
          <a:sy n="62" d="100"/>
        </p:scale>
        <p:origin x="3226" y="7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367551F-A56C-4FBF-AC9A-9CF90D882E63}" type="datetimeFigureOut">
              <a:rPr lang="en-US" smtClean="0"/>
              <a:t>4/2/2026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E5FCBD-8B28-4A75-9649-F13162257FB8}" type="slidenum">
              <a:rPr lang="en-US" smtClean="0"/>
              <a:t>‹#›</a:t>
            </a:fld>
            <a:endParaRPr lang="en-US"/>
          </a:p>
        </p:txBody>
      </p:sp>
    </p:spTree>
    <p:extLst>
      <p:ext uri="{BB962C8B-B14F-4D97-AF65-F5344CB8AC3E}">
        <p14:creationId xmlns:p14="http://schemas.microsoft.com/office/powerpoint/2010/main" val="571830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 a plate be composed of both continental and oceanic crust? Yes.</a:t>
            </a:r>
          </a:p>
        </p:txBody>
      </p:sp>
      <p:sp>
        <p:nvSpPr>
          <p:cNvPr id="4" name="Slide Number Placeholder 3"/>
          <p:cNvSpPr>
            <a:spLocks noGrp="1"/>
          </p:cNvSpPr>
          <p:nvPr>
            <p:ph type="sldNum" sz="quarter" idx="5"/>
          </p:nvPr>
        </p:nvSpPr>
        <p:spPr/>
        <p:txBody>
          <a:bodyPr/>
          <a:lstStyle/>
          <a:p>
            <a:fld id="{C0E5FCBD-8B28-4A75-9649-F13162257FB8}" type="slidenum">
              <a:rPr lang="en-US" smtClean="0"/>
              <a:t>3</a:t>
            </a:fld>
            <a:endParaRPr lang="en-US"/>
          </a:p>
        </p:txBody>
      </p:sp>
    </p:spTree>
    <p:extLst>
      <p:ext uri="{BB962C8B-B14F-4D97-AF65-F5344CB8AC3E}">
        <p14:creationId xmlns:p14="http://schemas.microsoft.com/office/powerpoint/2010/main" val="2988068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3200" kern="1200" dirty="0">
                <a:solidFill>
                  <a:schemeClr val="tx1"/>
                </a:solidFill>
                <a:latin typeface="+mn-lt"/>
                <a:ea typeface="+mn-ea"/>
                <a:cs typeface="+mn-cs"/>
              </a:rPr>
              <a:t>Continental crust: </a:t>
            </a:r>
            <a:r>
              <a:rPr lang="en-US" sz="2800" kern="1200" dirty="0">
                <a:solidFill>
                  <a:schemeClr val="tx1"/>
                </a:solidFill>
                <a:latin typeface="+mn-lt"/>
                <a:ea typeface="+mn-ea"/>
                <a:cs typeface="+mn-cs"/>
              </a:rPr>
              <a:t>shown in brown and darker blue. Some of the continental crust is under the sea but is not oceanic crust – it is part of the continental crust that is underwater</a:t>
            </a:r>
          </a:p>
          <a:p>
            <a:r>
              <a:rPr lang="en-US" sz="3200" kern="1200" dirty="0">
                <a:solidFill>
                  <a:schemeClr val="tx1"/>
                </a:solidFill>
                <a:latin typeface="+mn-lt"/>
                <a:ea typeface="+mn-ea"/>
                <a:cs typeface="+mn-cs"/>
              </a:rPr>
              <a:t>Oceanic crust: </a:t>
            </a:r>
            <a:r>
              <a:rPr lang="en-US" sz="2800" kern="1200" dirty="0">
                <a:solidFill>
                  <a:schemeClr val="tx1"/>
                </a:solidFill>
                <a:latin typeface="+mn-lt"/>
                <a:ea typeface="+mn-ea"/>
                <a:cs typeface="+mn-cs"/>
              </a:rPr>
              <a:t>shown in light blue</a:t>
            </a:r>
          </a:p>
          <a:p>
            <a:endParaRPr lang="en-US" dirty="0"/>
          </a:p>
        </p:txBody>
      </p:sp>
      <p:sp>
        <p:nvSpPr>
          <p:cNvPr id="4" name="Slide Number Placeholder 3"/>
          <p:cNvSpPr>
            <a:spLocks noGrp="1"/>
          </p:cNvSpPr>
          <p:nvPr>
            <p:ph type="sldNum" sz="quarter" idx="5"/>
          </p:nvPr>
        </p:nvSpPr>
        <p:spPr/>
        <p:txBody>
          <a:bodyPr/>
          <a:lstStyle/>
          <a:p>
            <a:fld id="{C0E5FCBD-8B28-4A75-9649-F13162257FB8}" type="slidenum">
              <a:rPr lang="en-US" smtClean="0"/>
              <a:t>4</a:t>
            </a:fld>
            <a:endParaRPr lang="en-US"/>
          </a:p>
        </p:txBody>
      </p:sp>
    </p:spTree>
    <p:extLst>
      <p:ext uri="{BB962C8B-B14F-4D97-AF65-F5344CB8AC3E}">
        <p14:creationId xmlns:p14="http://schemas.microsoft.com/office/powerpoint/2010/main" val="20578311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E5FCBD-8B28-4A75-9649-F13162257FB8}" type="slidenum">
              <a:rPr lang="en-US" smtClean="0"/>
              <a:t>5</a:t>
            </a:fld>
            <a:endParaRPr lang="en-US"/>
          </a:p>
        </p:txBody>
      </p:sp>
    </p:spTree>
    <p:extLst>
      <p:ext uri="{BB962C8B-B14F-4D97-AF65-F5344CB8AC3E}">
        <p14:creationId xmlns:p14="http://schemas.microsoft.com/office/powerpoint/2010/main" val="25705490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Eruption along mid-Atlantic ridge spreading center</a:t>
            </a:r>
          </a:p>
        </p:txBody>
      </p:sp>
      <p:sp>
        <p:nvSpPr>
          <p:cNvPr id="4" name="Slide Number Placeholder 3"/>
          <p:cNvSpPr>
            <a:spLocks noGrp="1"/>
          </p:cNvSpPr>
          <p:nvPr>
            <p:ph type="sldNum" sz="quarter" idx="5"/>
          </p:nvPr>
        </p:nvSpPr>
        <p:spPr/>
        <p:txBody>
          <a:bodyPr/>
          <a:lstStyle/>
          <a:p>
            <a:fld id="{C0E5FCBD-8B28-4A75-9649-F13162257FB8}" type="slidenum">
              <a:rPr lang="en-US" smtClean="0"/>
              <a:t>7</a:t>
            </a:fld>
            <a:endParaRPr lang="en-US"/>
          </a:p>
        </p:txBody>
      </p:sp>
    </p:spTree>
    <p:extLst>
      <p:ext uri="{BB962C8B-B14F-4D97-AF65-F5344CB8AC3E}">
        <p14:creationId xmlns:p14="http://schemas.microsoft.com/office/powerpoint/2010/main" val="37621906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Rift valley</a:t>
            </a:r>
          </a:p>
        </p:txBody>
      </p:sp>
      <p:sp>
        <p:nvSpPr>
          <p:cNvPr id="4" name="Slide Number Placeholder 3"/>
          <p:cNvSpPr>
            <a:spLocks noGrp="1"/>
          </p:cNvSpPr>
          <p:nvPr>
            <p:ph type="sldNum" sz="quarter" idx="5"/>
          </p:nvPr>
        </p:nvSpPr>
        <p:spPr/>
        <p:txBody>
          <a:bodyPr/>
          <a:lstStyle/>
          <a:p>
            <a:fld id="{C0E5FCBD-8B28-4A75-9649-F13162257FB8}" type="slidenum">
              <a:rPr lang="en-US" smtClean="0"/>
              <a:t>9</a:t>
            </a:fld>
            <a:endParaRPr lang="en-US"/>
          </a:p>
        </p:txBody>
      </p:sp>
    </p:spTree>
    <p:extLst>
      <p:ext uri="{BB962C8B-B14F-4D97-AF65-F5344CB8AC3E}">
        <p14:creationId xmlns:p14="http://schemas.microsoft.com/office/powerpoint/2010/main" val="17764243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The Great Rift Valley of Africa </a:t>
            </a:r>
            <a:br>
              <a:rPr lang="en-US" b="0" dirty="0"/>
            </a:br>
            <a:br>
              <a:rPr lang="en-US" b="0" dirty="0"/>
            </a:br>
            <a:r>
              <a:rPr lang="en-US" b="0" dirty="0"/>
              <a:t>Lake Victoria: The largest lake in Africa and the second-largest freshwater lake in the world by surface area. It is shared by Tanzania, Uganda, and Kenya.</a:t>
            </a:r>
          </a:p>
          <a:p>
            <a:r>
              <a:rPr lang="en-US" b="0" dirty="0"/>
              <a:t>Lake Tanganyika: The second deepest and second-largest freshwater lake by volume in the world. It lies between Tanzania, the Democratic Republic of Congo (DRC), Burundi, and Zambia.</a:t>
            </a:r>
          </a:p>
          <a:p>
            <a:r>
              <a:rPr lang="en-US" b="0" dirty="0"/>
              <a:t>Lake Malawi: The third-largest lake in Africa and the ninth-largest in the world by area. It is located between Malawi, Mozambique, and Tanzania.</a:t>
            </a:r>
          </a:p>
          <a:p>
            <a:endParaRPr lang="en-US" dirty="0"/>
          </a:p>
        </p:txBody>
      </p:sp>
      <p:sp>
        <p:nvSpPr>
          <p:cNvPr id="4" name="Slide Number Placeholder 3"/>
          <p:cNvSpPr>
            <a:spLocks noGrp="1"/>
          </p:cNvSpPr>
          <p:nvPr>
            <p:ph type="sldNum" sz="quarter" idx="5"/>
          </p:nvPr>
        </p:nvSpPr>
        <p:spPr/>
        <p:txBody>
          <a:bodyPr/>
          <a:lstStyle/>
          <a:p>
            <a:fld id="{C0E5FCBD-8B28-4A75-9649-F13162257FB8}" type="slidenum">
              <a:rPr lang="en-US" smtClean="0"/>
              <a:t>10</a:t>
            </a:fld>
            <a:endParaRPr lang="en-US"/>
          </a:p>
        </p:txBody>
      </p:sp>
    </p:spTree>
    <p:extLst>
      <p:ext uri="{BB962C8B-B14F-4D97-AF65-F5344CB8AC3E}">
        <p14:creationId xmlns:p14="http://schemas.microsoft.com/office/powerpoint/2010/main" val="34398007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East Africa Rift Valley</a:t>
            </a:r>
            <a:br>
              <a:rPr lang="en-US" dirty="0"/>
            </a:br>
            <a:br>
              <a:rPr lang="en-US" dirty="0"/>
            </a:br>
            <a:r>
              <a:rPr lang="en-US" dirty="0"/>
              <a:t>https://youtu.be/b9FY57z2cXI?si=iZV_ZEzxHvY14go4</a:t>
            </a:r>
          </a:p>
        </p:txBody>
      </p:sp>
      <p:sp>
        <p:nvSpPr>
          <p:cNvPr id="4" name="Slide Number Placeholder 3"/>
          <p:cNvSpPr>
            <a:spLocks noGrp="1"/>
          </p:cNvSpPr>
          <p:nvPr>
            <p:ph type="sldNum" sz="quarter" idx="5"/>
          </p:nvPr>
        </p:nvSpPr>
        <p:spPr/>
        <p:txBody>
          <a:bodyPr/>
          <a:lstStyle/>
          <a:p>
            <a:fld id="{C0E5FCBD-8B28-4A75-9649-F13162257FB8}" type="slidenum">
              <a:rPr lang="en-US" smtClean="0"/>
              <a:t>12</a:t>
            </a:fld>
            <a:endParaRPr lang="en-US"/>
          </a:p>
        </p:txBody>
      </p:sp>
    </p:spTree>
    <p:extLst>
      <p:ext uri="{BB962C8B-B14F-4D97-AF65-F5344CB8AC3E}">
        <p14:creationId xmlns:p14="http://schemas.microsoft.com/office/powerpoint/2010/main" val="3179592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 Sea</a:t>
            </a:r>
          </a:p>
        </p:txBody>
      </p:sp>
      <p:sp>
        <p:nvSpPr>
          <p:cNvPr id="4" name="Slide Number Placeholder 3"/>
          <p:cNvSpPr>
            <a:spLocks noGrp="1"/>
          </p:cNvSpPr>
          <p:nvPr>
            <p:ph type="sldNum" sz="quarter" idx="5"/>
          </p:nvPr>
        </p:nvSpPr>
        <p:spPr/>
        <p:txBody>
          <a:bodyPr/>
          <a:lstStyle/>
          <a:p>
            <a:fld id="{C0E5FCBD-8B28-4A75-9649-F13162257FB8}" type="slidenum">
              <a:rPr lang="en-US" smtClean="0"/>
              <a:t>13</a:t>
            </a:fld>
            <a:endParaRPr lang="en-US"/>
          </a:p>
        </p:txBody>
      </p:sp>
    </p:spTree>
    <p:extLst>
      <p:ext uri="{BB962C8B-B14F-4D97-AF65-F5344CB8AC3E}">
        <p14:creationId xmlns:p14="http://schemas.microsoft.com/office/powerpoint/2010/main" val="34590243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Cascades and the Andes are volcanic arcs that form at continental-ocean crust convergent plate boundaries</a:t>
            </a:r>
            <a:br>
              <a:rPr lang="en-US" dirty="0"/>
            </a:br>
            <a:br>
              <a:rPr lang="en-US" dirty="0"/>
            </a:br>
            <a:r>
              <a:rPr lang="en-US" dirty="0"/>
              <a:t>Above (Cascade Mountains)</a:t>
            </a:r>
          </a:p>
        </p:txBody>
      </p:sp>
      <p:sp>
        <p:nvSpPr>
          <p:cNvPr id="4" name="Slide Number Placeholder 3"/>
          <p:cNvSpPr>
            <a:spLocks noGrp="1"/>
          </p:cNvSpPr>
          <p:nvPr>
            <p:ph type="sldNum" sz="quarter" idx="5"/>
          </p:nvPr>
        </p:nvSpPr>
        <p:spPr/>
        <p:txBody>
          <a:bodyPr/>
          <a:lstStyle/>
          <a:p>
            <a:fld id="{C0E5FCBD-8B28-4A75-9649-F13162257FB8}" type="slidenum">
              <a:rPr lang="en-US" smtClean="0"/>
              <a:t>14</a:t>
            </a:fld>
            <a:endParaRPr lang="en-US"/>
          </a:p>
        </p:txBody>
      </p:sp>
    </p:spTree>
    <p:extLst>
      <p:ext uri="{BB962C8B-B14F-4D97-AF65-F5344CB8AC3E}">
        <p14:creationId xmlns:p14="http://schemas.microsoft.com/office/powerpoint/2010/main" val="10992512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Ocean-ocean crust convergent boundary. Oceanic crust is subducted underneath oceanic crust</a:t>
            </a:r>
          </a:p>
        </p:txBody>
      </p:sp>
      <p:sp>
        <p:nvSpPr>
          <p:cNvPr id="4" name="Slide Number Placeholder 3"/>
          <p:cNvSpPr>
            <a:spLocks noGrp="1"/>
          </p:cNvSpPr>
          <p:nvPr>
            <p:ph type="sldNum" sz="quarter" idx="5"/>
          </p:nvPr>
        </p:nvSpPr>
        <p:spPr/>
        <p:txBody>
          <a:bodyPr/>
          <a:lstStyle/>
          <a:p>
            <a:fld id="{C0E5FCBD-8B28-4A75-9649-F13162257FB8}" type="slidenum">
              <a:rPr lang="en-US" smtClean="0"/>
              <a:t>15</a:t>
            </a:fld>
            <a:endParaRPr lang="en-US"/>
          </a:p>
        </p:txBody>
      </p:sp>
    </p:spTree>
    <p:extLst>
      <p:ext uri="{BB962C8B-B14F-4D97-AF65-F5344CB8AC3E}">
        <p14:creationId xmlns:p14="http://schemas.microsoft.com/office/powerpoint/2010/main" val="15975683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Japan arc and the Aleutian arc are island arcs formed from a convergent plate boundary where oceanic crust is subducted under oceanic crust.</a:t>
            </a:r>
          </a:p>
        </p:txBody>
      </p:sp>
      <p:sp>
        <p:nvSpPr>
          <p:cNvPr id="4" name="Slide Number Placeholder 3"/>
          <p:cNvSpPr>
            <a:spLocks noGrp="1"/>
          </p:cNvSpPr>
          <p:nvPr>
            <p:ph type="sldNum" sz="quarter" idx="5"/>
          </p:nvPr>
        </p:nvSpPr>
        <p:spPr/>
        <p:txBody>
          <a:bodyPr/>
          <a:lstStyle/>
          <a:p>
            <a:fld id="{C0E5FCBD-8B28-4A75-9649-F13162257FB8}" type="slidenum">
              <a:rPr lang="en-US" smtClean="0"/>
              <a:t>16</a:t>
            </a:fld>
            <a:endParaRPr lang="en-US"/>
          </a:p>
        </p:txBody>
      </p:sp>
    </p:spTree>
    <p:extLst>
      <p:ext uri="{BB962C8B-B14F-4D97-AF65-F5344CB8AC3E}">
        <p14:creationId xmlns:p14="http://schemas.microsoft.com/office/powerpoint/2010/main" val="18957055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Convergent plate boundary: continental crust colliding with continental crust</a:t>
            </a:r>
            <a:br>
              <a:rPr lang="en-US" dirty="0"/>
            </a:br>
            <a:br>
              <a:rPr lang="en-US" dirty="0"/>
            </a:br>
            <a:r>
              <a:rPr lang="en-US" dirty="0"/>
              <a:t>The Himalayas are a good example of this type of plate boundary and collision type. We can this type of mountain range a collisional mountain range</a:t>
            </a:r>
            <a:br>
              <a:rPr lang="en-US" dirty="0"/>
            </a:br>
            <a:br>
              <a:rPr lang="en-US" dirty="0"/>
            </a:br>
            <a:r>
              <a:rPr lang="en-US" sz="1800" b="0" i="0" u="none" strike="noStrike" baseline="0" dirty="0">
                <a:latin typeface="Arial" panose="020B0604020202020204" pitchFamily="34" charset="0"/>
              </a:rPr>
              <a:t>Little to no subduction and volcanic activity with collisional mountain ranges. Much more sedimentary rock that has been piled and pushed up form the mountains. Volcanic arcs and island arcs will have far more igneous rock material and may even still be volcanically active</a:t>
            </a:r>
            <a:endParaRPr lang="en-US" dirty="0"/>
          </a:p>
        </p:txBody>
      </p:sp>
      <p:sp>
        <p:nvSpPr>
          <p:cNvPr id="4" name="Slide Number Placeholder 3"/>
          <p:cNvSpPr>
            <a:spLocks noGrp="1"/>
          </p:cNvSpPr>
          <p:nvPr>
            <p:ph type="sldNum" sz="quarter" idx="5"/>
          </p:nvPr>
        </p:nvSpPr>
        <p:spPr/>
        <p:txBody>
          <a:bodyPr/>
          <a:lstStyle/>
          <a:p>
            <a:fld id="{C0E5FCBD-8B28-4A75-9649-F13162257FB8}" type="slidenum">
              <a:rPr lang="en-US" smtClean="0"/>
              <a:t>17</a:t>
            </a:fld>
            <a:endParaRPr lang="en-US"/>
          </a:p>
        </p:txBody>
      </p:sp>
    </p:spTree>
    <p:extLst>
      <p:ext uri="{BB962C8B-B14F-4D97-AF65-F5344CB8AC3E}">
        <p14:creationId xmlns:p14="http://schemas.microsoft.com/office/powerpoint/2010/main" val="25035072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mj-lt"/>
              </a:rPr>
              <a:t>Continent-continent convergent boundary and the formation of a collisional mountain range</a:t>
            </a:r>
            <a:endParaRPr lang="en-US" dirty="0"/>
          </a:p>
          <a:p>
            <a:endParaRPr lang="en-US" dirty="0"/>
          </a:p>
        </p:txBody>
      </p:sp>
      <p:sp>
        <p:nvSpPr>
          <p:cNvPr id="4" name="Slide Number Placeholder 3"/>
          <p:cNvSpPr>
            <a:spLocks noGrp="1"/>
          </p:cNvSpPr>
          <p:nvPr>
            <p:ph type="sldNum" sz="quarter" idx="5"/>
          </p:nvPr>
        </p:nvSpPr>
        <p:spPr/>
        <p:txBody>
          <a:bodyPr/>
          <a:lstStyle/>
          <a:p>
            <a:fld id="{C0E5FCBD-8B28-4A75-9649-F13162257FB8}" type="slidenum">
              <a:rPr lang="en-US" smtClean="0"/>
              <a:t>18</a:t>
            </a:fld>
            <a:endParaRPr lang="en-US"/>
          </a:p>
        </p:txBody>
      </p:sp>
    </p:spTree>
    <p:extLst>
      <p:ext uri="{BB962C8B-B14F-4D97-AF65-F5344CB8AC3E}">
        <p14:creationId xmlns:p14="http://schemas.microsoft.com/office/powerpoint/2010/main" val="18226576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https://youtu.be/d9bKXY0OMxc?si=jYV56CS0CeoOA67z</a:t>
            </a:r>
            <a:br>
              <a:rPr lang="en-US" dirty="0"/>
            </a:br>
            <a:br>
              <a:rPr lang="en-US" dirty="0"/>
            </a:br>
            <a:r>
              <a:rPr lang="en-US" dirty="0"/>
              <a:t>Start at 0:53</a:t>
            </a:r>
          </a:p>
        </p:txBody>
      </p:sp>
      <p:sp>
        <p:nvSpPr>
          <p:cNvPr id="4" name="Slide Number Placeholder 3"/>
          <p:cNvSpPr>
            <a:spLocks noGrp="1"/>
          </p:cNvSpPr>
          <p:nvPr>
            <p:ph type="sldNum" sz="quarter" idx="5"/>
          </p:nvPr>
        </p:nvSpPr>
        <p:spPr/>
        <p:txBody>
          <a:bodyPr/>
          <a:lstStyle/>
          <a:p>
            <a:fld id="{C0E5FCBD-8B28-4A75-9649-F13162257FB8}" type="slidenum">
              <a:rPr lang="en-US" smtClean="0"/>
              <a:t>19</a:t>
            </a:fld>
            <a:endParaRPr lang="en-US"/>
          </a:p>
        </p:txBody>
      </p:sp>
    </p:spTree>
    <p:extLst>
      <p:ext uri="{BB962C8B-B14F-4D97-AF65-F5344CB8AC3E}">
        <p14:creationId xmlns:p14="http://schemas.microsoft.com/office/powerpoint/2010/main" val="31196479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Himalayans, a collisional mountain range</a:t>
            </a:r>
          </a:p>
        </p:txBody>
      </p:sp>
      <p:sp>
        <p:nvSpPr>
          <p:cNvPr id="4" name="Slide Number Placeholder 3"/>
          <p:cNvSpPr>
            <a:spLocks noGrp="1"/>
          </p:cNvSpPr>
          <p:nvPr>
            <p:ph type="sldNum" sz="quarter" idx="5"/>
          </p:nvPr>
        </p:nvSpPr>
        <p:spPr/>
        <p:txBody>
          <a:bodyPr/>
          <a:lstStyle/>
          <a:p>
            <a:fld id="{C0E5FCBD-8B28-4A75-9649-F13162257FB8}" type="slidenum">
              <a:rPr lang="en-US" smtClean="0"/>
              <a:t>20</a:t>
            </a:fld>
            <a:endParaRPr lang="en-US"/>
          </a:p>
        </p:txBody>
      </p:sp>
    </p:spTree>
    <p:extLst>
      <p:ext uri="{BB962C8B-B14F-4D97-AF65-F5344CB8AC3E}">
        <p14:creationId xmlns:p14="http://schemas.microsoft.com/office/powerpoint/2010/main" val="31760194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San Andreas fault</a:t>
            </a:r>
          </a:p>
        </p:txBody>
      </p:sp>
      <p:sp>
        <p:nvSpPr>
          <p:cNvPr id="4" name="Slide Number Placeholder 3"/>
          <p:cNvSpPr>
            <a:spLocks noGrp="1"/>
          </p:cNvSpPr>
          <p:nvPr>
            <p:ph type="sldNum" sz="quarter" idx="5"/>
          </p:nvPr>
        </p:nvSpPr>
        <p:spPr/>
        <p:txBody>
          <a:bodyPr/>
          <a:lstStyle/>
          <a:p>
            <a:fld id="{C0E5FCBD-8B28-4A75-9649-F13162257FB8}" type="slidenum">
              <a:rPr lang="en-US" smtClean="0"/>
              <a:t>22</a:t>
            </a:fld>
            <a:endParaRPr lang="en-US"/>
          </a:p>
        </p:txBody>
      </p:sp>
    </p:spTree>
    <p:extLst>
      <p:ext uri="{BB962C8B-B14F-4D97-AF65-F5344CB8AC3E}">
        <p14:creationId xmlns:p14="http://schemas.microsoft.com/office/powerpoint/2010/main" val="20469563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a:extLst>
              <a:ext uri="{FF2B5EF4-FFF2-40B4-BE49-F238E27FC236}">
                <a16:creationId xmlns:a16="http://schemas.microsoft.com/office/drawing/2014/main" id="{6F418F81-FF0E-DAFE-DBA7-489FAB7302C6}"/>
              </a:ext>
            </a:extLst>
          </p:cNvPr>
          <p:cNvSpPr>
            <a:spLocks noGrp="1" noRot="1" noChangeAspect="1" noChangeArrowheads="1" noTextEdit="1"/>
          </p:cNvSpPr>
          <p:nvPr>
            <p:ph type="sldImg"/>
          </p:nvPr>
        </p:nvSpPr>
        <p:spPr>
          <a:ln/>
        </p:spPr>
      </p:sp>
      <p:sp>
        <p:nvSpPr>
          <p:cNvPr id="68611" name="Notes Placeholder 2">
            <a:extLst>
              <a:ext uri="{FF2B5EF4-FFF2-40B4-BE49-F238E27FC236}">
                <a16:creationId xmlns:a16="http://schemas.microsoft.com/office/drawing/2014/main" id="{51EC96BA-0F3F-DD55-6E81-9FBEF4E7BB0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rPr>
              <a:t>https://www.usgs.gov/news/new-report-details-whats-harms-way-near-californias-volcanoes</a:t>
            </a:r>
            <a:br>
              <a:rPr lang="en-US" altLang="en-US" dirty="0">
                <a:latin typeface="Arial" panose="020B0604020202020204" pitchFamily="34" charset="0"/>
              </a:rPr>
            </a:br>
            <a:br>
              <a:rPr lang="en-US" altLang="en-US" dirty="0">
                <a:latin typeface="Arial" panose="020B0604020202020204" pitchFamily="34" charset="0"/>
              </a:rPr>
            </a:br>
            <a:r>
              <a:rPr lang="en-US" altLang="en-US" dirty="0">
                <a:latin typeface="Arial" panose="020B0604020202020204" pitchFamily="34" charset="0"/>
              </a:rPr>
              <a:t>Not possible to have a large </a:t>
            </a:r>
            <a:r>
              <a:rPr lang="en-US" altLang="en-US" sz="1200" dirty="0"/>
              <a:t>eruptions in Los Angeles because there is no longer active subduction along the coast. </a:t>
            </a:r>
            <a:r>
              <a:rPr lang="en-US" altLang="en-US" dirty="0"/>
              <a:t>However </a:t>
            </a:r>
            <a:r>
              <a:rPr lang="en-US" altLang="en-US" sz="1200" dirty="0"/>
              <a:t>there are areas outside of Los Angeles that still have volcanic features that occasionally vent but would not destroy Los Angeles</a:t>
            </a:r>
            <a:endParaRPr lang="en-US" altLang="en-US" dirty="0">
              <a:latin typeface="Arial" panose="020B0604020202020204" pitchFamily="34" charset="0"/>
            </a:endParaRPr>
          </a:p>
          <a:p>
            <a:endParaRPr lang="en-US" altLang="en-US" dirty="0">
              <a:latin typeface="Arial" panose="020B0604020202020204" pitchFamily="34" charset="0"/>
            </a:endParaRPr>
          </a:p>
          <a:p>
            <a:r>
              <a:rPr lang="en-US" altLang="en-US" dirty="0">
                <a:latin typeface="Arial" panose="020B0604020202020204" pitchFamily="34" charset="0"/>
              </a:rPr>
              <a:t>Salton Buttes volcanic activity is formed from divergent plate motion associated with spreading center along Gulf of California</a:t>
            </a:r>
          </a:p>
          <a:p>
            <a:endParaRPr lang="en-US" altLang="en-US" dirty="0">
              <a:latin typeface="Arial" panose="020B0604020202020204" pitchFamily="34" charset="0"/>
            </a:endParaRPr>
          </a:p>
          <a:p>
            <a:r>
              <a:rPr lang="en-US" altLang="en-US" dirty="0">
                <a:latin typeface="Arial" panose="020B0604020202020204" pitchFamily="34" charset="0"/>
              </a:rPr>
              <a:t>https://www.nasa.gov/image-article/salton-trough/</a:t>
            </a:r>
            <a:br>
              <a:rPr lang="en-US" altLang="en-US" dirty="0">
                <a:latin typeface="Arial" panose="020B0604020202020204" pitchFamily="34" charset="0"/>
              </a:rPr>
            </a:br>
            <a:br>
              <a:rPr lang="en-US" altLang="en-US" dirty="0">
                <a:latin typeface="Arial" panose="020B0604020202020204" pitchFamily="34" charset="0"/>
              </a:rPr>
            </a:br>
            <a:endParaRPr lang="en-US" altLang="en-US" dirty="0">
              <a:latin typeface="Arial" panose="020B0604020202020204" pitchFamily="34" charset="0"/>
            </a:endParaRPr>
          </a:p>
        </p:txBody>
      </p:sp>
      <p:sp>
        <p:nvSpPr>
          <p:cNvPr id="68612" name="Slide Number Placeholder 3">
            <a:extLst>
              <a:ext uri="{FF2B5EF4-FFF2-40B4-BE49-F238E27FC236}">
                <a16:creationId xmlns:a16="http://schemas.microsoft.com/office/drawing/2014/main" id="{17F1869C-BFFE-7C84-3252-4FA73E2E6E2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E15988C-C745-4B9D-9A7E-52C3AC7E897D}" type="slidenum">
              <a:rPr lang="en-US" altLang="en-US"/>
              <a:pPr/>
              <a:t>23</a:t>
            </a:fld>
            <a:endParaRPr lang="en-US"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E5FCBD-8B28-4A75-9649-F13162257FB8}" type="slidenum">
              <a:rPr lang="en-US" smtClean="0"/>
              <a:t>24</a:t>
            </a:fld>
            <a:endParaRPr lang="en-US"/>
          </a:p>
        </p:txBody>
      </p:sp>
    </p:spTree>
    <p:extLst>
      <p:ext uri="{BB962C8B-B14F-4D97-AF65-F5344CB8AC3E}">
        <p14:creationId xmlns:p14="http://schemas.microsoft.com/office/powerpoint/2010/main" val="12566451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Parts of the San Andreas Fault system have a divergent motion due to underlying volcanic activity. This is what leads to the volcanism and Salton Butte. </a:t>
            </a:r>
            <a:br>
              <a:rPr lang="en-US" dirty="0"/>
            </a:br>
            <a:br>
              <a:rPr lang="en-US" dirty="0"/>
            </a:br>
            <a:r>
              <a:rPr lang="en-US" dirty="0"/>
              <a:t>https://www.mbari.org/news/the-geologic-setting-of-the-gulf-of-california/</a:t>
            </a:r>
          </a:p>
        </p:txBody>
      </p:sp>
      <p:sp>
        <p:nvSpPr>
          <p:cNvPr id="4" name="Slide Number Placeholder 3"/>
          <p:cNvSpPr>
            <a:spLocks noGrp="1"/>
          </p:cNvSpPr>
          <p:nvPr>
            <p:ph type="sldNum" sz="quarter" idx="5"/>
          </p:nvPr>
        </p:nvSpPr>
        <p:spPr/>
        <p:txBody>
          <a:bodyPr/>
          <a:lstStyle/>
          <a:p>
            <a:fld id="{C0E5FCBD-8B28-4A75-9649-F13162257FB8}" type="slidenum">
              <a:rPr lang="en-US" smtClean="0"/>
              <a:t>25</a:t>
            </a:fld>
            <a:endParaRPr lang="en-US"/>
          </a:p>
        </p:txBody>
      </p:sp>
    </p:spTree>
    <p:extLst>
      <p:ext uri="{BB962C8B-B14F-4D97-AF65-F5344CB8AC3E}">
        <p14:creationId xmlns:p14="http://schemas.microsoft.com/office/powerpoint/2010/main" val="27098101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DEC00-502D-ADE1-BE34-B7A7C51B2D7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4601F5D-9E3A-A734-559F-1500A27B937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7B8B86D-DF3B-5A47-1C2F-9077E5241A97}"/>
              </a:ext>
            </a:extLst>
          </p:cNvPr>
          <p:cNvSpPr>
            <a:spLocks noGrp="1"/>
          </p:cNvSpPr>
          <p:nvPr>
            <p:ph type="dt" sz="half" idx="10"/>
          </p:nvPr>
        </p:nvSpPr>
        <p:spPr/>
        <p:txBody>
          <a:bodyPr/>
          <a:lstStyle/>
          <a:p>
            <a:fld id="{59C4E446-3A32-495B-9FCE-917947E8A007}" type="datetimeFigureOut">
              <a:rPr lang="en-US" smtClean="0"/>
              <a:t>4/2/2026</a:t>
            </a:fld>
            <a:endParaRPr lang="en-US"/>
          </a:p>
        </p:txBody>
      </p:sp>
      <p:sp>
        <p:nvSpPr>
          <p:cNvPr id="5" name="Footer Placeholder 4">
            <a:extLst>
              <a:ext uri="{FF2B5EF4-FFF2-40B4-BE49-F238E27FC236}">
                <a16:creationId xmlns:a16="http://schemas.microsoft.com/office/drawing/2014/main" id="{0404CEB0-02DD-7DD9-9AB5-F4C086AD9A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59D5F8-7E93-4AB6-6A03-8B9A9D8039FE}"/>
              </a:ext>
            </a:extLst>
          </p:cNvPr>
          <p:cNvSpPr>
            <a:spLocks noGrp="1"/>
          </p:cNvSpPr>
          <p:nvPr>
            <p:ph type="sldNum" sz="quarter" idx="12"/>
          </p:nvPr>
        </p:nvSpPr>
        <p:spPr/>
        <p:txBody>
          <a:bodyPr/>
          <a:lstStyle/>
          <a:p>
            <a:fld id="{97EBBCE7-DD88-4163-9FF1-CCA95BA6F01E}" type="slidenum">
              <a:rPr lang="en-US" smtClean="0"/>
              <a:t>‹#›</a:t>
            </a:fld>
            <a:endParaRPr lang="en-US"/>
          </a:p>
        </p:txBody>
      </p:sp>
    </p:spTree>
    <p:extLst>
      <p:ext uri="{BB962C8B-B14F-4D97-AF65-F5344CB8AC3E}">
        <p14:creationId xmlns:p14="http://schemas.microsoft.com/office/powerpoint/2010/main" val="35744500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067EE-EB78-0E74-D67F-EE5BA9C2430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4CB8975-1A8A-FEED-A560-4064B40923E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5232EE-1096-572B-9380-E75DE7E0DD2B}"/>
              </a:ext>
            </a:extLst>
          </p:cNvPr>
          <p:cNvSpPr>
            <a:spLocks noGrp="1"/>
          </p:cNvSpPr>
          <p:nvPr>
            <p:ph type="dt" sz="half" idx="10"/>
          </p:nvPr>
        </p:nvSpPr>
        <p:spPr/>
        <p:txBody>
          <a:bodyPr/>
          <a:lstStyle/>
          <a:p>
            <a:fld id="{59C4E446-3A32-495B-9FCE-917947E8A007}" type="datetimeFigureOut">
              <a:rPr lang="en-US" smtClean="0"/>
              <a:t>4/2/2026</a:t>
            </a:fld>
            <a:endParaRPr lang="en-US"/>
          </a:p>
        </p:txBody>
      </p:sp>
      <p:sp>
        <p:nvSpPr>
          <p:cNvPr id="5" name="Footer Placeholder 4">
            <a:extLst>
              <a:ext uri="{FF2B5EF4-FFF2-40B4-BE49-F238E27FC236}">
                <a16:creationId xmlns:a16="http://schemas.microsoft.com/office/drawing/2014/main" id="{A950DCF7-EFBF-9A76-2408-66958DA2C5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6CC638-A498-B5D3-B584-11885CC41ECB}"/>
              </a:ext>
            </a:extLst>
          </p:cNvPr>
          <p:cNvSpPr>
            <a:spLocks noGrp="1"/>
          </p:cNvSpPr>
          <p:nvPr>
            <p:ph type="sldNum" sz="quarter" idx="12"/>
          </p:nvPr>
        </p:nvSpPr>
        <p:spPr/>
        <p:txBody>
          <a:bodyPr/>
          <a:lstStyle/>
          <a:p>
            <a:fld id="{97EBBCE7-DD88-4163-9FF1-CCA95BA6F01E}" type="slidenum">
              <a:rPr lang="en-US" smtClean="0"/>
              <a:t>‹#›</a:t>
            </a:fld>
            <a:endParaRPr lang="en-US"/>
          </a:p>
        </p:txBody>
      </p:sp>
    </p:spTree>
    <p:extLst>
      <p:ext uri="{BB962C8B-B14F-4D97-AF65-F5344CB8AC3E}">
        <p14:creationId xmlns:p14="http://schemas.microsoft.com/office/powerpoint/2010/main" val="1549583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3FA05E-2668-B225-D88B-99912DF99F3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3246B06-77F6-3DB2-072D-6830672941C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6C7EA28-B120-A0B4-D4A3-9075203C830D}"/>
              </a:ext>
            </a:extLst>
          </p:cNvPr>
          <p:cNvSpPr>
            <a:spLocks noGrp="1"/>
          </p:cNvSpPr>
          <p:nvPr>
            <p:ph type="dt" sz="half" idx="10"/>
          </p:nvPr>
        </p:nvSpPr>
        <p:spPr/>
        <p:txBody>
          <a:bodyPr/>
          <a:lstStyle/>
          <a:p>
            <a:fld id="{59C4E446-3A32-495B-9FCE-917947E8A007}" type="datetimeFigureOut">
              <a:rPr lang="en-US" smtClean="0"/>
              <a:t>4/2/2026</a:t>
            </a:fld>
            <a:endParaRPr lang="en-US"/>
          </a:p>
        </p:txBody>
      </p:sp>
      <p:sp>
        <p:nvSpPr>
          <p:cNvPr id="5" name="Footer Placeholder 4">
            <a:extLst>
              <a:ext uri="{FF2B5EF4-FFF2-40B4-BE49-F238E27FC236}">
                <a16:creationId xmlns:a16="http://schemas.microsoft.com/office/drawing/2014/main" id="{DCB83EF3-1E9B-EC64-CE26-82FF123FBB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CD279F-57B5-146C-3A0E-CCCF28AF3DED}"/>
              </a:ext>
            </a:extLst>
          </p:cNvPr>
          <p:cNvSpPr>
            <a:spLocks noGrp="1"/>
          </p:cNvSpPr>
          <p:nvPr>
            <p:ph type="sldNum" sz="quarter" idx="12"/>
          </p:nvPr>
        </p:nvSpPr>
        <p:spPr/>
        <p:txBody>
          <a:bodyPr/>
          <a:lstStyle/>
          <a:p>
            <a:fld id="{97EBBCE7-DD88-4163-9FF1-CCA95BA6F01E}" type="slidenum">
              <a:rPr lang="en-US" smtClean="0"/>
              <a:t>‹#›</a:t>
            </a:fld>
            <a:endParaRPr lang="en-US"/>
          </a:p>
        </p:txBody>
      </p:sp>
    </p:spTree>
    <p:extLst>
      <p:ext uri="{BB962C8B-B14F-4D97-AF65-F5344CB8AC3E}">
        <p14:creationId xmlns:p14="http://schemas.microsoft.com/office/powerpoint/2010/main" val="7538976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437A9-F93C-BF02-F106-DD483E2D021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E19C12D-70EB-8394-9DE7-6C601835702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9E922D7-7E9F-EA60-5BA9-AD5484B87CE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F8835CA-CFF6-77E4-8AD6-B1DCA46893CB}"/>
              </a:ext>
            </a:extLst>
          </p:cNvPr>
          <p:cNvSpPr>
            <a:spLocks noGrp="1"/>
          </p:cNvSpPr>
          <p:nvPr>
            <p:ph type="dt" sz="half" idx="10"/>
          </p:nvPr>
        </p:nvSpPr>
        <p:spPr/>
        <p:txBody>
          <a:bodyPr/>
          <a:lstStyle/>
          <a:p>
            <a:fld id="{59C4E446-3A32-495B-9FCE-917947E8A007}" type="datetimeFigureOut">
              <a:rPr lang="en-US" smtClean="0"/>
              <a:t>4/2/2026</a:t>
            </a:fld>
            <a:endParaRPr lang="en-US"/>
          </a:p>
        </p:txBody>
      </p:sp>
      <p:sp>
        <p:nvSpPr>
          <p:cNvPr id="6" name="Footer Placeholder 5">
            <a:extLst>
              <a:ext uri="{FF2B5EF4-FFF2-40B4-BE49-F238E27FC236}">
                <a16:creationId xmlns:a16="http://schemas.microsoft.com/office/drawing/2014/main" id="{0720E5CC-CC18-2DE6-46A5-769F3A38FB5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B5B1D9-7CDF-1F13-A5C4-E72849AD1DF1}"/>
              </a:ext>
            </a:extLst>
          </p:cNvPr>
          <p:cNvSpPr>
            <a:spLocks noGrp="1"/>
          </p:cNvSpPr>
          <p:nvPr>
            <p:ph type="sldNum" sz="quarter" idx="12"/>
          </p:nvPr>
        </p:nvSpPr>
        <p:spPr/>
        <p:txBody>
          <a:bodyPr/>
          <a:lstStyle/>
          <a:p>
            <a:fld id="{97EBBCE7-DD88-4163-9FF1-CCA95BA6F01E}" type="slidenum">
              <a:rPr lang="en-US" smtClean="0"/>
              <a:t>‹#›</a:t>
            </a:fld>
            <a:endParaRPr lang="en-US"/>
          </a:p>
        </p:txBody>
      </p:sp>
    </p:spTree>
    <p:extLst>
      <p:ext uri="{BB962C8B-B14F-4D97-AF65-F5344CB8AC3E}">
        <p14:creationId xmlns:p14="http://schemas.microsoft.com/office/powerpoint/2010/main" val="1909718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74AB0-677D-89B9-3E5F-2DBB59081BC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7B8977E-F4CA-7EA0-C888-52FB5BC89FE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85C42CA-0E1C-C2AD-96BE-232B2BA7321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019A119-1DCC-F47D-41BD-E408206F16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42BA7E6-137E-B3C2-9DF9-65EE59F37B8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6E74FAF-0557-7485-53C3-414B6C7F2473}"/>
              </a:ext>
            </a:extLst>
          </p:cNvPr>
          <p:cNvSpPr>
            <a:spLocks noGrp="1"/>
          </p:cNvSpPr>
          <p:nvPr>
            <p:ph type="dt" sz="half" idx="10"/>
          </p:nvPr>
        </p:nvSpPr>
        <p:spPr/>
        <p:txBody>
          <a:bodyPr/>
          <a:lstStyle/>
          <a:p>
            <a:fld id="{59C4E446-3A32-495B-9FCE-917947E8A007}" type="datetimeFigureOut">
              <a:rPr lang="en-US" smtClean="0"/>
              <a:t>4/2/2026</a:t>
            </a:fld>
            <a:endParaRPr lang="en-US"/>
          </a:p>
        </p:txBody>
      </p:sp>
      <p:sp>
        <p:nvSpPr>
          <p:cNvPr id="8" name="Footer Placeholder 7">
            <a:extLst>
              <a:ext uri="{FF2B5EF4-FFF2-40B4-BE49-F238E27FC236}">
                <a16:creationId xmlns:a16="http://schemas.microsoft.com/office/drawing/2014/main" id="{B9981F28-F2B4-D060-EB9F-C50F2146DB1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63AD0F6-F7FD-AA59-E130-D640988F0046}"/>
              </a:ext>
            </a:extLst>
          </p:cNvPr>
          <p:cNvSpPr>
            <a:spLocks noGrp="1"/>
          </p:cNvSpPr>
          <p:nvPr>
            <p:ph type="sldNum" sz="quarter" idx="12"/>
          </p:nvPr>
        </p:nvSpPr>
        <p:spPr/>
        <p:txBody>
          <a:bodyPr/>
          <a:lstStyle/>
          <a:p>
            <a:fld id="{97EBBCE7-DD88-4163-9FF1-CCA95BA6F01E}" type="slidenum">
              <a:rPr lang="en-US" smtClean="0"/>
              <a:t>‹#›</a:t>
            </a:fld>
            <a:endParaRPr lang="en-US"/>
          </a:p>
        </p:txBody>
      </p:sp>
    </p:spTree>
    <p:extLst>
      <p:ext uri="{BB962C8B-B14F-4D97-AF65-F5344CB8AC3E}">
        <p14:creationId xmlns:p14="http://schemas.microsoft.com/office/powerpoint/2010/main" val="20894633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9909E0-D2AA-B8EE-8AAA-AD2A6D85466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E39A67E-2846-4B5A-EE42-D5C7CB55D8C7}"/>
              </a:ext>
            </a:extLst>
          </p:cNvPr>
          <p:cNvSpPr>
            <a:spLocks noGrp="1"/>
          </p:cNvSpPr>
          <p:nvPr>
            <p:ph type="dt" sz="half" idx="10"/>
          </p:nvPr>
        </p:nvSpPr>
        <p:spPr/>
        <p:txBody>
          <a:bodyPr/>
          <a:lstStyle/>
          <a:p>
            <a:fld id="{59C4E446-3A32-495B-9FCE-917947E8A007}" type="datetimeFigureOut">
              <a:rPr lang="en-US" smtClean="0"/>
              <a:t>4/2/2026</a:t>
            </a:fld>
            <a:endParaRPr lang="en-US"/>
          </a:p>
        </p:txBody>
      </p:sp>
      <p:sp>
        <p:nvSpPr>
          <p:cNvPr id="4" name="Footer Placeholder 3">
            <a:extLst>
              <a:ext uri="{FF2B5EF4-FFF2-40B4-BE49-F238E27FC236}">
                <a16:creationId xmlns:a16="http://schemas.microsoft.com/office/drawing/2014/main" id="{0DDE1927-FAD1-58B5-3618-4C8BDC6C909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A9DBBDA-33E6-7AE9-C0A2-19013B2BE8C3}"/>
              </a:ext>
            </a:extLst>
          </p:cNvPr>
          <p:cNvSpPr>
            <a:spLocks noGrp="1"/>
          </p:cNvSpPr>
          <p:nvPr>
            <p:ph type="sldNum" sz="quarter" idx="12"/>
          </p:nvPr>
        </p:nvSpPr>
        <p:spPr/>
        <p:txBody>
          <a:bodyPr/>
          <a:lstStyle/>
          <a:p>
            <a:fld id="{97EBBCE7-DD88-4163-9FF1-CCA95BA6F01E}" type="slidenum">
              <a:rPr lang="en-US" smtClean="0"/>
              <a:t>‹#›</a:t>
            </a:fld>
            <a:endParaRPr lang="en-US"/>
          </a:p>
        </p:txBody>
      </p:sp>
    </p:spTree>
    <p:extLst>
      <p:ext uri="{BB962C8B-B14F-4D97-AF65-F5344CB8AC3E}">
        <p14:creationId xmlns:p14="http://schemas.microsoft.com/office/powerpoint/2010/main" val="4580815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594FB06-95CE-4E74-1C50-E8B4B8BB0EAD}"/>
              </a:ext>
            </a:extLst>
          </p:cNvPr>
          <p:cNvSpPr>
            <a:spLocks noGrp="1"/>
          </p:cNvSpPr>
          <p:nvPr>
            <p:ph type="dt" sz="half" idx="10"/>
          </p:nvPr>
        </p:nvSpPr>
        <p:spPr/>
        <p:txBody>
          <a:bodyPr/>
          <a:lstStyle/>
          <a:p>
            <a:fld id="{59C4E446-3A32-495B-9FCE-917947E8A007}" type="datetimeFigureOut">
              <a:rPr lang="en-US" smtClean="0"/>
              <a:t>4/2/2026</a:t>
            </a:fld>
            <a:endParaRPr lang="en-US"/>
          </a:p>
        </p:txBody>
      </p:sp>
      <p:sp>
        <p:nvSpPr>
          <p:cNvPr id="3" name="Footer Placeholder 2">
            <a:extLst>
              <a:ext uri="{FF2B5EF4-FFF2-40B4-BE49-F238E27FC236}">
                <a16:creationId xmlns:a16="http://schemas.microsoft.com/office/drawing/2014/main" id="{295FE22B-3F81-298B-9A67-8CB970A9FB6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CFC9218-8A4C-CF94-D080-A32E4EEAFEFD}"/>
              </a:ext>
            </a:extLst>
          </p:cNvPr>
          <p:cNvSpPr>
            <a:spLocks noGrp="1"/>
          </p:cNvSpPr>
          <p:nvPr>
            <p:ph type="sldNum" sz="quarter" idx="12"/>
          </p:nvPr>
        </p:nvSpPr>
        <p:spPr/>
        <p:txBody>
          <a:bodyPr/>
          <a:lstStyle/>
          <a:p>
            <a:fld id="{97EBBCE7-DD88-4163-9FF1-CCA95BA6F01E}" type="slidenum">
              <a:rPr lang="en-US" smtClean="0"/>
              <a:t>‹#›</a:t>
            </a:fld>
            <a:endParaRPr lang="en-US"/>
          </a:p>
        </p:txBody>
      </p:sp>
    </p:spTree>
    <p:extLst>
      <p:ext uri="{BB962C8B-B14F-4D97-AF65-F5344CB8AC3E}">
        <p14:creationId xmlns:p14="http://schemas.microsoft.com/office/powerpoint/2010/main" val="28069216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4ABE4-3015-64DC-56F3-60087B31977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88F34EC-5041-05F9-802A-48E96B0D919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8ABB96F-2BF2-4C62-046D-556CF4CD93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479982-B6DB-DDE6-4B52-CBD22BD20A77}"/>
              </a:ext>
            </a:extLst>
          </p:cNvPr>
          <p:cNvSpPr>
            <a:spLocks noGrp="1"/>
          </p:cNvSpPr>
          <p:nvPr>
            <p:ph type="dt" sz="half" idx="10"/>
          </p:nvPr>
        </p:nvSpPr>
        <p:spPr/>
        <p:txBody>
          <a:bodyPr/>
          <a:lstStyle/>
          <a:p>
            <a:fld id="{59C4E446-3A32-495B-9FCE-917947E8A007}" type="datetimeFigureOut">
              <a:rPr lang="en-US" smtClean="0"/>
              <a:t>4/2/2026</a:t>
            </a:fld>
            <a:endParaRPr lang="en-US"/>
          </a:p>
        </p:txBody>
      </p:sp>
      <p:sp>
        <p:nvSpPr>
          <p:cNvPr id="6" name="Footer Placeholder 5">
            <a:extLst>
              <a:ext uri="{FF2B5EF4-FFF2-40B4-BE49-F238E27FC236}">
                <a16:creationId xmlns:a16="http://schemas.microsoft.com/office/drawing/2014/main" id="{5E9637FF-F741-0693-B22C-A9562A1681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51AAA55-7370-3C37-3FF1-2E12CC2F9F27}"/>
              </a:ext>
            </a:extLst>
          </p:cNvPr>
          <p:cNvSpPr>
            <a:spLocks noGrp="1"/>
          </p:cNvSpPr>
          <p:nvPr>
            <p:ph type="sldNum" sz="quarter" idx="12"/>
          </p:nvPr>
        </p:nvSpPr>
        <p:spPr/>
        <p:txBody>
          <a:bodyPr/>
          <a:lstStyle/>
          <a:p>
            <a:fld id="{97EBBCE7-DD88-4163-9FF1-CCA95BA6F01E}" type="slidenum">
              <a:rPr lang="en-US" smtClean="0"/>
              <a:t>‹#›</a:t>
            </a:fld>
            <a:endParaRPr lang="en-US"/>
          </a:p>
        </p:txBody>
      </p:sp>
    </p:spTree>
    <p:extLst>
      <p:ext uri="{BB962C8B-B14F-4D97-AF65-F5344CB8AC3E}">
        <p14:creationId xmlns:p14="http://schemas.microsoft.com/office/powerpoint/2010/main" val="23041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314F4-3E52-EB8A-FD98-C6C58DE01F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F3394D2-1A2D-BDE7-1433-1BF80C28BD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861FD19-ABEB-CE11-12C5-4C597D03DC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8495FE-F87F-58B3-2004-6752E26E65B9}"/>
              </a:ext>
            </a:extLst>
          </p:cNvPr>
          <p:cNvSpPr>
            <a:spLocks noGrp="1"/>
          </p:cNvSpPr>
          <p:nvPr>
            <p:ph type="dt" sz="half" idx="10"/>
          </p:nvPr>
        </p:nvSpPr>
        <p:spPr/>
        <p:txBody>
          <a:bodyPr/>
          <a:lstStyle/>
          <a:p>
            <a:fld id="{59C4E446-3A32-495B-9FCE-917947E8A007}" type="datetimeFigureOut">
              <a:rPr lang="en-US" smtClean="0"/>
              <a:t>4/2/2026</a:t>
            </a:fld>
            <a:endParaRPr lang="en-US"/>
          </a:p>
        </p:txBody>
      </p:sp>
      <p:sp>
        <p:nvSpPr>
          <p:cNvPr id="6" name="Footer Placeholder 5">
            <a:extLst>
              <a:ext uri="{FF2B5EF4-FFF2-40B4-BE49-F238E27FC236}">
                <a16:creationId xmlns:a16="http://schemas.microsoft.com/office/drawing/2014/main" id="{9A3517E6-5AEC-E188-2631-521FBD6205B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0FDEDC-78E7-FBB5-B0E6-78F961D22649}"/>
              </a:ext>
            </a:extLst>
          </p:cNvPr>
          <p:cNvSpPr>
            <a:spLocks noGrp="1"/>
          </p:cNvSpPr>
          <p:nvPr>
            <p:ph type="sldNum" sz="quarter" idx="12"/>
          </p:nvPr>
        </p:nvSpPr>
        <p:spPr/>
        <p:txBody>
          <a:bodyPr/>
          <a:lstStyle/>
          <a:p>
            <a:fld id="{97EBBCE7-DD88-4163-9FF1-CCA95BA6F01E}" type="slidenum">
              <a:rPr lang="en-US" smtClean="0"/>
              <a:t>‹#›</a:t>
            </a:fld>
            <a:endParaRPr lang="en-US"/>
          </a:p>
        </p:txBody>
      </p:sp>
    </p:spTree>
    <p:extLst>
      <p:ext uri="{BB962C8B-B14F-4D97-AF65-F5344CB8AC3E}">
        <p14:creationId xmlns:p14="http://schemas.microsoft.com/office/powerpoint/2010/main" val="11663115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EDDCA-2F7C-78CE-FA03-BE692C9A0B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B3739D0-66D9-3567-60F4-9ECCD6CEEB2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514799-D248-25C2-CE1E-3B2E97A86A38}"/>
              </a:ext>
            </a:extLst>
          </p:cNvPr>
          <p:cNvSpPr>
            <a:spLocks noGrp="1"/>
          </p:cNvSpPr>
          <p:nvPr>
            <p:ph type="dt" sz="half" idx="10"/>
          </p:nvPr>
        </p:nvSpPr>
        <p:spPr/>
        <p:txBody>
          <a:bodyPr/>
          <a:lstStyle/>
          <a:p>
            <a:fld id="{59C4E446-3A32-495B-9FCE-917947E8A007}" type="datetimeFigureOut">
              <a:rPr lang="en-US" smtClean="0"/>
              <a:t>4/2/2026</a:t>
            </a:fld>
            <a:endParaRPr lang="en-US"/>
          </a:p>
        </p:txBody>
      </p:sp>
      <p:sp>
        <p:nvSpPr>
          <p:cNvPr id="5" name="Footer Placeholder 4">
            <a:extLst>
              <a:ext uri="{FF2B5EF4-FFF2-40B4-BE49-F238E27FC236}">
                <a16:creationId xmlns:a16="http://schemas.microsoft.com/office/drawing/2014/main" id="{320E7706-6E7E-0CAD-7F23-695E1B6346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40FEC0-741C-CFCD-14BD-B2A143DDFE2F}"/>
              </a:ext>
            </a:extLst>
          </p:cNvPr>
          <p:cNvSpPr>
            <a:spLocks noGrp="1"/>
          </p:cNvSpPr>
          <p:nvPr>
            <p:ph type="sldNum" sz="quarter" idx="12"/>
          </p:nvPr>
        </p:nvSpPr>
        <p:spPr/>
        <p:txBody>
          <a:bodyPr/>
          <a:lstStyle/>
          <a:p>
            <a:fld id="{97EBBCE7-DD88-4163-9FF1-CCA95BA6F01E}" type="slidenum">
              <a:rPr lang="en-US" smtClean="0"/>
              <a:t>‹#›</a:t>
            </a:fld>
            <a:endParaRPr lang="en-US"/>
          </a:p>
        </p:txBody>
      </p:sp>
    </p:spTree>
    <p:extLst>
      <p:ext uri="{BB962C8B-B14F-4D97-AF65-F5344CB8AC3E}">
        <p14:creationId xmlns:p14="http://schemas.microsoft.com/office/powerpoint/2010/main" val="7911185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45D0A85-66AF-350D-45F2-E839C87AB7A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A742F47-E83E-9857-D233-58816BB2B78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34683D-BEF7-3736-5E9A-BAB22FBA1E26}"/>
              </a:ext>
            </a:extLst>
          </p:cNvPr>
          <p:cNvSpPr>
            <a:spLocks noGrp="1"/>
          </p:cNvSpPr>
          <p:nvPr>
            <p:ph type="dt" sz="half" idx="10"/>
          </p:nvPr>
        </p:nvSpPr>
        <p:spPr/>
        <p:txBody>
          <a:bodyPr/>
          <a:lstStyle/>
          <a:p>
            <a:fld id="{59C4E446-3A32-495B-9FCE-917947E8A007}" type="datetimeFigureOut">
              <a:rPr lang="en-US" smtClean="0"/>
              <a:t>4/2/2026</a:t>
            </a:fld>
            <a:endParaRPr lang="en-US"/>
          </a:p>
        </p:txBody>
      </p:sp>
      <p:sp>
        <p:nvSpPr>
          <p:cNvPr id="5" name="Footer Placeholder 4">
            <a:extLst>
              <a:ext uri="{FF2B5EF4-FFF2-40B4-BE49-F238E27FC236}">
                <a16:creationId xmlns:a16="http://schemas.microsoft.com/office/drawing/2014/main" id="{AABBF188-7C01-4281-5E3D-845B4AF540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8CBE61-8ED6-7E67-401C-CD91D55EA8C1}"/>
              </a:ext>
            </a:extLst>
          </p:cNvPr>
          <p:cNvSpPr>
            <a:spLocks noGrp="1"/>
          </p:cNvSpPr>
          <p:nvPr>
            <p:ph type="sldNum" sz="quarter" idx="12"/>
          </p:nvPr>
        </p:nvSpPr>
        <p:spPr/>
        <p:txBody>
          <a:bodyPr/>
          <a:lstStyle/>
          <a:p>
            <a:fld id="{97EBBCE7-DD88-4163-9FF1-CCA95BA6F01E}" type="slidenum">
              <a:rPr lang="en-US" smtClean="0"/>
              <a:t>‹#›</a:t>
            </a:fld>
            <a:endParaRPr lang="en-US"/>
          </a:p>
        </p:txBody>
      </p:sp>
    </p:spTree>
    <p:extLst>
      <p:ext uri="{BB962C8B-B14F-4D97-AF65-F5344CB8AC3E}">
        <p14:creationId xmlns:p14="http://schemas.microsoft.com/office/powerpoint/2010/main" val="36534753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0C54E53-2686-BEB7-4AC4-590C4A5F16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1D72588-BE68-59D5-B3AC-BF51E48D5EF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84380B-DFE7-C462-35CD-982D360E54A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9C4E446-3A32-495B-9FCE-917947E8A007}" type="datetimeFigureOut">
              <a:rPr lang="en-US" smtClean="0"/>
              <a:t>4/2/2026</a:t>
            </a:fld>
            <a:endParaRPr lang="en-US"/>
          </a:p>
        </p:txBody>
      </p:sp>
      <p:sp>
        <p:nvSpPr>
          <p:cNvPr id="5" name="Footer Placeholder 4">
            <a:extLst>
              <a:ext uri="{FF2B5EF4-FFF2-40B4-BE49-F238E27FC236}">
                <a16:creationId xmlns:a16="http://schemas.microsoft.com/office/drawing/2014/main" id="{099DBB53-EB78-AB2F-AFB0-A87ED64D0EB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454F3F7-2CDA-B1FB-1FA7-72283D1C8BA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7EBBCE7-DD88-4163-9FF1-CCA95BA6F01E}" type="slidenum">
              <a:rPr lang="en-US" smtClean="0"/>
              <a:t>‹#›</a:t>
            </a:fld>
            <a:endParaRPr lang="en-US"/>
          </a:p>
        </p:txBody>
      </p:sp>
    </p:spTree>
    <p:extLst>
      <p:ext uri="{BB962C8B-B14F-4D97-AF65-F5344CB8AC3E}">
        <p14:creationId xmlns:p14="http://schemas.microsoft.com/office/powerpoint/2010/main" val="29621774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video" Target="https://www.youtube.com/embed/ZBlUFvdWmT0?feature=oembed" TargetMode="External"/><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slideLayout" Target="../slideLayouts/slideLayout2.xml"/><Relationship Id="rId1" Type="http://schemas.openxmlformats.org/officeDocument/2006/relationships/video" Target="https://www.youtube.com/embed/U3eT0qmPJbw?feature=oembed" TargetMode="Externa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ov"/><Relationship Id="rId1" Type="http://schemas.microsoft.com/office/2007/relationships/media" Target="../media/media1.mov"/><Relationship Id="rId5" Type="http://schemas.openxmlformats.org/officeDocument/2006/relationships/image" Target="../media/image10.png"/><Relationship Id="rId4"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video" Target="https://www.youtube.com/embed/b9FY57z2cXI?feature=oembed" TargetMode="External"/><Relationship Id="rId4" Type="http://schemas.openxmlformats.org/officeDocument/2006/relationships/image" Target="../media/image13.jpeg"/></Relationships>
</file>

<file path=ppt/slides/_rels/slide13.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5.gif"/></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9.jp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2.mov"/><Relationship Id="rId1" Type="http://schemas.microsoft.com/office/2007/relationships/media" Target="../media/media2.mov"/><Relationship Id="rId5" Type="http://schemas.openxmlformats.org/officeDocument/2006/relationships/image" Target="../media/image20.png"/><Relationship Id="rId4"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video" Target="https://www.youtube.com/embed/d9bKXY0OMxc?feature=oembed" TargetMode="External"/><Relationship Id="rId4" Type="http://schemas.openxmlformats.org/officeDocument/2006/relationships/image" Target="../media/image23.jpeg"/></Relationships>
</file>

<file path=ppt/slides/_rels/slide20.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3.mov"/><Relationship Id="rId1" Type="http://schemas.microsoft.com/office/2007/relationships/media" Target="../media/media3.mov"/><Relationship Id="rId5" Type="http://schemas.openxmlformats.org/officeDocument/2006/relationships/image" Target="../media/image26.png"/><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CB919A4-4895-78E7-8886-A81D589DE77E}"/>
              </a:ext>
            </a:extLst>
          </p:cNvPr>
          <p:cNvPicPr>
            <a:picLocks noGrp="1" noChangeAspect="1"/>
          </p:cNvPicPr>
          <p:nvPr>
            <p:ph idx="1"/>
          </p:nvPr>
        </p:nvPicPr>
        <p:blipFill rotWithShape="1">
          <a:blip r:embed="rId2"/>
          <a:srcRect l="-1" r="-1600"/>
          <a:stretch/>
        </p:blipFill>
        <p:spPr>
          <a:xfrm>
            <a:off x="0" y="0"/>
            <a:ext cx="12387072" cy="6956682"/>
          </a:xfrm>
        </p:spPr>
      </p:pic>
    </p:spTree>
    <p:extLst>
      <p:ext uri="{BB962C8B-B14F-4D97-AF65-F5344CB8AC3E}">
        <p14:creationId xmlns:p14="http://schemas.microsoft.com/office/powerpoint/2010/main" val="23809277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ayers of a structure of the earth&#10;&#10;Description automatically generated">
            <a:extLst>
              <a:ext uri="{FF2B5EF4-FFF2-40B4-BE49-F238E27FC236}">
                <a16:creationId xmlns:a16="http://schemas.microsoft.com/office/drawing/2014/main" id="{D07605DE-10F8-E8AF-5E7E-B1F1F2F03E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5703" y="377844"/>
            <a:ext cx="10202656" cy="5848785"/>
          </a:xfrm>
          <a:prstGeom prst="rect">
            <a:avLst/>
          </a:prstGeom>
        </p:spPr>
      </p:pic>
    </p:spTree>
    <p:extLst>
      <p:ext uri="{BB962C8B-B14F-4D97-AF65-F5344CB8AC3E}">
        <p14:creationId xmlns:p14="http://schemas.microsoft.com/office/powerpoint/2010/main" val="1844540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0754FB9A-CBDE-E44C-2A0A-2597E1ED909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83418" y="97535"/>
            <a:ext cx="11713510" cy="5948267"/>
          </a:xfrm>
          <a:prstGeom prst="rect">
            <a:avLst/>
          </a:prstGeom>
        </p:spPr>
      </p:pic>
      <p:pic>
        <p:nvPicPr>
          <p:cNvPr id="5" name="Picture 4">
            <a:extLst>
              <a:ext uri="{FF2B5EF4-FFF2-40B4-BE49-F238E27FC236}">
                <a16:creationId xmlns:a16="http://schemas.microsoft.com/office/drawing/2014/main" id="{612AA034-5E32-8AEB-D638-DB22AAE4C553}"/>
              </a:ext>
            </a:extLst>
          </p:cNvPr>
          <p:cNvPicPr>
            <a:picLocks noChangeAspect="1"/>
          </p:cNvPicPr>
          <p:nvPr/>
        </p:nvPicPr>
        <p:blipFill>
          <a:blip r:embed="rId4"/>
          <a:stretch>
            <a:fillRect/>
          </a:stretch>
        </p:blipFill>
        <p:spPr>
          <a:xfrm>
            <a:off x="1" y="4108704"/>
            <a:ext cx="2494658" cy="2749296"/>
          </a:xfrm>
          <a:prstGeom prst="rect">
            <a:avLst/>
          </a:prstGeom>
        </p:spPr>
      </p:pic>
    </p:spTree>
    <p:extLst>
      <p:ext uri="{BB962C8B-B14F-4D97-AF65-F5344CB8AC3E}">
        <p14:creationId xmlns:p14="http://schemas.microsoft.com/office/powerpoint/2010/main" val="40277523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2A7C3B5-1627-1A65-05FA-783CB7FFFDC3}"/>
              </a:ext>
            </a:extLst>
          </p:cNvPr>
          <p:cNvPicPr>
            <a:picLocks noGrp="1" noChangeAspect="1"/>
          </p:cNvPicPr>
          <p:nvPr>
            <p:ph idx="1"/>
          </p:nvPr>
        </p:nvPicPr>
        <p:blipFill>
          <a:blip r:embed="rId3"/>
          <a:srcRect l="50000"/>
          <a:stretch/>
        </p:blipFill>
        <p:spPr>
          <a:xfrm>
            <a:off x="594948" y="186202"/>
            <a:ext cx="10779210" cy="6112998"/>
          </a:xfrm>
        </p:spPr>
      </p:pic>
    </p:spTree>
    <p:extLst>
      <p:ext uri="{BB962C8B-B14F-4D97-AF65-F5344CB8AC3E}">
        <p14:creationId xmlns:p14="http://schemas.microsoft.com/office/powerpoint/2010/main" val="39755755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A5655B0-376B-96FA-70ED-FB270436E9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04173" y="0"/>
            <a:ext cx="4801730" cy="6858000"/>
          </a:xfrm>
          <a:prstGeom prst="rect">
            <a:avLst/>
          </a:prstGeom>
        </p:spPr>
      </p:pic>
    </p:spTree>
    <p:extLst>
      <p:ext uri="{BB962C8B-B14F-4D97-AF65-F5344CB8AC3E}">
        <p14:creationId xmlns:p14="http://schemas.microsoft.com/office/powerpoint/2010/main" val="4117406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0B0A558-E9DF-7CE5-5C3F-4CA1111E2EF0}"/>
              </a:ext>
            </a:extLst>
          </p:cNvPr>
          <p:cNvPicPr>
            <a:picLocks noGrp="1" noChangeAspect="1"/>
          </p:cNvPicPr>
          <p:nvPr>
            <p:ph idx="1"/>
          </p:nvPr>
        </p:nvPicPr>
        <p:blipFill>
          <a:blip r:embed="rId2"/>
          <a:stretch>
            <a:fillRect/>
          </a:stretch>
        </p:blipFill>
        <p:spPr>
          <a:xfrm>
            <a:off x="158913" y="433886"/>
            <a:ext cx="11656356" cy="5990227"/>
          </a:xfrm>
        </p:spPr>
      </p:pic>
    </p:spTree>
    <p:extLst>
      <p:ext uri="{BB962C8B-B14F-4D97-AF65-F5344CB8AC3E}">
        <p14:creationId xmlns:p14="http://schemas.microsoft.com/office/powerpoint/2010/main" val="39211744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Online Media 3" title="Mid Atlantic ridge volcanic eruption">
            <a:hlinkClick r:id="" action="ppaction://media"/>
            <a:extLst>
              <a:ext uri="{FF2B5EF4-FFF2-40B4-BE49-F238E27FC236}">
                <a16:creationId xmlns:a16="http://schemas.microsoft.com/office/drawing/2014/main" id="{0C158AAD-E669-1788-C640-9DDF0B308596}"/>
              </a:ext>
            </a:extLst>
          </p:cNvPr>
          <p:cNvPicPr>
            <a:picLocks noGrp="1" noRot="1" noChangeAspect="1"/>
          </p:cNvPicPr>
          <p:nvPr>
            <p:ph idx="1"/>
            <a:videoFile r:link="rId1"/>
          </p:nvPr>
        </p:nvPicPr>
        <p:blipFill>
          <a:blip r:embed="rId4"/>
          <a:srcRect b="11016"/>
          <a:stretch>
            <a:fillRect/>
          </a:stretch>
        </p:blipFill>
        <p:spPr>
          <a:xfrm>
            <a:off x="0" y="0"/>
            <a:ext cx="12192000" cy="6125029"/>
          </a:xfrm>
          <a:prstGeom prst="rect">
            <a:avLst/>
          </a:prstGeom>
        </p:spPr>
      </p:pic>
      <p:sp>
        <p:nvSpPr>
          <p:cNvPr id="2" name="TextBox 1">
            <a:extLst>
              <a:ext uri="{FF2B5EF4-FFF2-40B4-BE49-F238E27FC236}">
                <a16:creationId xmlns:a16="http://schemas.microsoft.com/office/drawing/2014/main" id="{B8B29D73-FB03-ED81-603F-AD8FA4800719}"/>
              </a:ext>
            </a:extLst>
          </p:cNvPr>
          <p:cNvSpPr txBox="1"/>
          <p:nvPr/>
        </p:nvSpPr>
        <p:spPr>
          <a:xfrm>
            <a:off x="210457" y="6125029"/>
            <a:ext cx="11771086" cy="584775"/>
          </a:xfrm>
          <a:prstGeom prst="rect">
            <a:avLst/>
          </a:prstGeom>
          <a:noFill/>
        </p:spPr>
        <p:txBody>
          <a:bodyPr wrap="square" rtlCol="0">
            <a:spAutoFit/>
          </a:bodyPr>
          <a:lstStyle/>
          <a:p>
            <a:r>
              <a:rPr lang="en-US" sz="3200" b="1" dirty="0">
                <a:solidFill>
                  <a:schemeClr val="bg1"/>
                </a:solidFill>
              </a:rPr>
              <a:t>The mid-Atlantic Ridge, a spreading center (divergent plate boundary)</a:t>
            </a:r>
          </a:p>
        </p:txBody>
      </p:sp>
    </p:spTree>
    <p:extLst>
      <p:ext uri="{BB962C8B-B14F-4D97-AF65-F5344CB8AC3E}">
        <p14:creationId xmlns:p14="http://schemas.microsoft.com/office/powerpoint/2010/main" val="3089674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nline Media 3" title="Where the Earth Drifts Apart - A Waterlust Film About Diving Silfra, Iceland">
            <a:hlinkClick r:id="" action="ppaction://media"/>
            <a:extLst>
              <a:ext uri="{FF2B5EF4-FFF2-40B4-BE49-F238E27FC236}">
                <a16:creationId xmlns:a16="http://schemas.microsoft.com/office/drawing/2014/main" id="{1BE22E64-998D-71C0-0DE7-475EF1F0AA54}"/>
              </a:ext>
            </a:extLst>
          </p:cNvPr>
          <p:cNvPicPr>
            <a:picLocks noGrp="1" noRot="1" noChangeAspect="1"/>
          </p:cNvPicPr>
          <p:nvPr>
            <p:ph idx="1"/>
            <a:videoFile r:link="rId1"/>
          </p:nvPr>
        </p:nvPicPr>
        <p:blipFill>
          <a:blip r:embed="rId3"/>
          <a:stretch>
            <a:fillRect/>
          </a:stretch>
        </p:blipFill>
        <p:spPr>
          <a:xfrm>
            <a:off x="0" y="0"/>
            <a:ext cx="12192000" cy="6883270"/>
          </a:xfrm>
          <a:prstGeom prst="rect">
            <a:avLst/>
          </a:prstGeom>
        </p:spPr>
      </p:pic>
    </p:spTree>
    <p:extLst>
      <p:ext uri="{BB962C8B-B14F-4D97-AF65-F5344CB8AC3E}">
        <p14:creationId xmlns:p14="http://schemas.microsoft.com/office/powerpoint/2010/main" val="158805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RiftValley">
            <a:hlinkClick r:id="" action="ppaction://media"/>
            <a:extLst>
              <a:ext uri="{FF2B5EF4-FFF2-40B4-BE49-F238E27FC236}">
                <a16:creationId xmlns:a16="http://schemas.microsoft.com/office/drawing/2014/main" id="{811CA941-DFAD-CD6A-7C4A-3D24A5116F51}"/>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5"/>
          <a:stretch>
            <a:fillRect/>
          </a:stretch>
        </p:blipFill>
        <p:spPr>
          <a:xfrm>
            <a:off x="1522332" y="0"/>
            <a:ext cx="9147335" cy="6858000"/>
          </a:xfrm>
        </p:spPr>
      </p:pic>
    </p:spTree>
    <p:extLst>
      <p:ext uri="{BB962C8B-B14F-4D97-AF65-F5344CB8AC3E}">
        <p14:creationId xmlns:p14="http://schemas.microsoft.com/office/powerpoint/2010/main" val="2158000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700E9DB-7C1E-F933-52FD-C817017B6F79}"/>
              </a:ext>
            </a:extLst>
          </p:cNvPr>
          <p:cNvPicPr>
            <a:picLocks noGrp="1" noChangeAspect="1"/>
          </p:cNvPicPr>
          <p:nvPr>
            <p:ph idx="1"/>
          </p:nvPr>
        </p:nvPicPr>
        <p:blipFill>
          <a:blip r:embed="rId3"/>
          <a:stretch>
            <a:fillRect/>
          </a:stretch>
        </p:blipFill>
        <p:spPr>
          <a:xfrm>
            <a:off x="1320799" y="-92665"/>
            <a:ext cx="9100457" cy="7043330"/>
          </a:xfrm>
        </p:spPr>
      </p:pic>
    </p:spTree>
    <p:extLst>
      <p:ext uri="{BB962C8B-B14F-4D97-AF65-F5344CB8AC3E}">
        <p14:creationId xmlns:p14="http://schemas.microsoft.com/office/powerpoint/2010/main" val="20104308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BC75C9B-9453-00B6-79AB-1032BA92FD09}"/>
              </a:ext>
            </a:extLst>
          </p:cNvPr>
          <p:cNvPicPr>
            <a:picLocks noGrp="1" noChangeAspect="1"/>
          </p:cNvPicPr>
          <p:nvPr>
            <p:ph idx="1"/>
          </p:nvPr>
        </p:nvPicPr>
        <p:blipFill>
          <a:blip r:embed="rId2"/>
          <a:stretch>
            <a:fillRect/>
          </a:stretch>
        </p:blipFill>
        <p:spPr>
          <a:xfrm>
            <a:off x="3396221" y="94653"/>
            <a:ext cx="5808740" cy="6668694"/>
          </a:xfrm>
        </p:spPr>
      </p:pic>
    </p:spTree>
    <p:extLst>
      <p:ext uri="{BB962C8B-B14F-4D97-AF65-F5344CB8AC3E}">
        <p14:creationId xmlns:p14="http://schemas.microsoft.com/office/powerpoint/2010/main" val="14995278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nline Media 3" title="Africa is Slowly Creating a New Ocean">
            <a:hlinkClick r:id="" action="ppaction://media"/>
            <a:extLst>
              <a:ext uri="{FF2B5EF4-FFF2-40B4-BE49-F238E27FC236}">
                <a16:creationId xmlns:a16="http://schemas.microsoft.com/office/drawing/2014/main" id="{6F297D8E-6ABD-EDAB-6835-FACBE145916F}"/>
              </a:ext>
            </a:extLst>
          </p:cNvPr>
          <p:cNvPicPr>
            <a:picLocks noGrp="1" noRot="1" noChangeAspect="1"/>
          </p:cNvPicPr>
          <p:nvPr>
            <p:ph idx="1"/>
            <a:videoFile r:link="rId1"/>
          </p:nvPr>
        </p:nvPicPr>
        <p:blipFill>
          <a:blip r:embed="rId4"/>
          <a:stretch>
            <a:fillRect/>
          </a:stretch>
        </p:blipFill>
        <p:spPr>
          <a:xfrm>
            <a:off x="0" y="0"/>
            <a:ext cx="12147241" cy="6858000"/>
          </a:xfrm>
          <a:prstGeom prst="rect">
            <a:avLst/>
          </a:prstGeom>
        </p:spPr>
      </p:pic>
    </p:spTree>
    <p:extLst>
      <p:ext uri="{BB962C8B-B14F-4D97-AF65-F5344CB8AC3E}">
        <p14:creationId xmlns:p14="http://schemas.microsoft.com/office/powerpoint/2010/main" val="2505261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map of the middle east&#10;&#10;Description automatically generated">
            <a:extLst>
              <a:ext uri="{FF2B5EF4-FFF2-40B4-BE49-F238E27FC236}">
                <a16:creationId xmlns:a16="http://schemas.microsoft.com/office/drawing/2014/main" id="{4ECEBD9E-2682-5116-51BE-17DACA17297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70857" y="0"/>
            <a:ext cx="5225143" cy="6858000"/>
          </a:xfrm>
        </p:spPr>
      </p:pic>
      <p:pic>
        <p:nvPicPr>
          <p:cNvPr id="9" name="Picture 8" descr="A map of africa with cities&#10;&#10;Description automatically generated">
            <a:extLst>
              <a:ext uri="{FF2B5EF4-FFF2-40B4-BE49-F238E27FC236}">
                <a16:creationId xmlns:a16="http://schemas.microsoft.com/office/drawing/2014/main" id="{167F9E4D-D254-D4B1-7F90-B4F1A62F983E}"/>
              </a:ext>
            </a:extLst>
          </p:cNvPr>
          <p:cNvPicPr>
            <a:picLocks noChangeAspect="1"/>
          </p:cNvPicPr>
          <p:nvPr/>
        </p:nvPicPr>
        <p:blipFill rotWithShape="1">
          <a:blip r:embed="rId4">
            <a:extLst>
              <a:ext uri="{28A0092B-C50C-407E-A947-70E740481C1C}">
                <a14:useLocalDpi xmlns:a14="http://schemas.microsoft.com/office/drawing/2010/main" val="0"/>
              </a:ext>
            </a:extLst>
          </a:blip>
          <a:srcRect b="17823"/>
          <a:stretch/>
        </p:blipFill>
        <p:spPr>
          <a:xfrm>
            <a:off x="6096000" y="0"/>
            <a:ext cx="5544485" cy="6858000"/>
          </a:xfrm>
          <a:prstGeom prst="rect">
            <a:avLst/>
          </a:prstGeom>
        </p:spPr>
      </p:pic>
    </p:spTree>
    <p:extLst>
      <p:ext uri="{BB962C8B-B14F-4D97-AF65-F5344CB8AC3E}">
        <p14:creationId xmlns:p14="http://schemas.microsoft.com/office/powerpoint/2010/main" val="38753359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diagram of a geological formation&#10;&#10;Description automatically generated">
            <a:extLst>
              <a:ext uri="{FF2B5EF4-FFF2-40B4-BE49-F238E27FC236}">
                <a16:creationId xmlns:a16="http://schemas.microsoft.com/office/drawing/2014/main" id="{0D87AD60-108A-B04F-16DB-C58A1CC4A940}"/>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l="986" t="1483" r="1299" b="2749"/>
          <a:stretch/>
        </p:blipFill>
        <p:spPr>
          <a:xfrm>
            <a:off x="461682" y="1075472"/>
            <a:ext cx="11268635" cy="4961965"/>
          </a:xfrm>
        </p:spPr>
      </p:pic>
    </p:spTree>
    <p:extLst>
      <p:ext uri="{BB962C8B-B14F-4D97-AF65-F5344CB8AC3E}">
        <p14:creationId xmlns:p14="http://schemas.microsoft.com/office/powerpoint/2010/main" val="35608678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diagram of a volcano&#10;&#10;Description automatically generated">
            <a:extLst>
              <a:ext uri="{FF2B5EF4-FFF2-40B4-BE49-F238E27FC236}">
                <a16:creationId xmlns:a16="http://schemas.microsoft.com/office/drawing/2014/main" id="{C3875182-5585-749A-788F-CBCB508E37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9431" y="1290917"/>
            <a:ext cx="11702569" cy="5019869"/>
          </a:xfrm>
          <a:prstGeom prst="rect">
            <a:avLst/>
          </a:prstGeom>
        </p:spPr>
      </p:pic>
    </p:spTree>
    <p:extLst>
      <p:ext uri="{BB962C8B-B14F-4D97-AF65-F5344CB8AC3E}">
        <p14:creationId xmlns:p14="http://schemas.microsoft.com/office/powerpoint/2010/main" val="22244418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map of the pacific ocean&#10;&#10;Description automatically generated">
            <a:extLst>
              <a:ext uri="{FF2B5EF4-FFF2-40B4-BE49-F238E27FC236}">
                <a16:creationId xmlns:a16="http://schemas.microsoft.com/office/drawing/2014/main" id="{E0DBFD16-57AD-7E8C-3A4A-60D9F26030C2}"/>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b="10212"/>
          <a:stretch/>
        </p:blipFill>
        <p:spPr>
          <a:xfrm>
            <a:off x="0" y="1815426"/>
            <a:ext cx="5840963" cy="4805265"/>
          </a:xfrm>
        </p:spPr>
      </p:pic>
      <p:pic>
        <p:nvPicPr>
          <p:cNvPr id="3" name="Picture 2" descr="A map of the earth&#10;&#10;Description automatically generated">
            <a:extLst>
              <a:ext uri="{FF2B5EF4-FFF2-40B4-BE49-F238E27FC236}">
                <a16:creationId xmlns:a16="http://schemas.microsoft.com/office/drawing/2014/main" id="{5A12A22C-DA32-CE55-810C-287549D6049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40963" y="1815426"/>
            <a:ext cx="6412761" cy="4805265"/>
          </a:xfrm>
          <a:prstGeom prst="rect">
            <a:avLst/>
          </a:prstGeom>
        </p:spPr>
      </p:pic>
    </p:spTree>
    <p:extLst>
      <p:ext uri="{BB962C8B-B14F-4D97-AF65-F5344CB8AC3E}">
        <p14:creationId xmlns:p14="http://schemas.microsoft.com/office/powerpoint/2010/main" val="8027861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HimalayaMountains">
            <a:hlinkClick r:id="" action="ppaction://media"/>
            <a:extLst>
              <a:ext uri="{FF2B5EF4-FFF2-40B4-BE49-F238E27FC236}">
                <a16:creationId xmlns:a16="http://schemas.microsoft.com/office/drawing/2014/main" id="{79B60CD2-A056-B949-1F44-AF3EC90F7071}"/>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5"/>
          <a:stretch>
            <a:fillRect/>
          </a:stretch>
        </p:blipFill>
        <p:spPr>
          <a:xfrm>
            <a:off x="3372862" y="167515"/>
            <a:ext cx="8700464" cy="6522969"/>
          </a:xfrm>
        </p:spPr>
      </p:pic>
      <p:sp>
        <p:nvSpPr>
          <p:cNvPr id="2" name="TextBox 1">
            <a:extLst>
              <a:ext uri="{FF2B5EF4-FFF2-40B4-BE49-F238E27FC236}">
                <a16:creationId xmlns:a16="http://schemas.microsoft.com/office/drawing/2014/main" id="{C1CAB1D2-1ABE-7C1C-C747-AA9B90111A95}"/>
              </a:ext>
            </a:extLst>
          </p:cNvPr>
          <p:cNvSpPr txBox="1"/>
          <p:nvPr/>
        </p:nvSpPr>
        <p:spPr>
          <a:xfrm>
            <a:off x="277660" y="126428"/>
            <a:ext cx="3046562" cy="2015936"/>
          </a:xfrm>
          <a:prstGeom prst="rect">
            <a:avLst/>
          </a:prstGeom>
          <a:solidFill>
            <a:schemeClr val="bg1"/>
          </a:solidFill>
        </p:spPr>
        <p:txBody>
          <a:bodyPr wrap="square">
            <a:spAutoFit/>
          </a:bodyPr>
          <a:lstStyle/>
          <a:p>
            <a:r>
              <a:rPr lang="en-US" sz="2500" dirty="0">
                <a:latin typeface="+mj-lt"/>
              </a:rPr>
              <a:t>Continent-continent convergent boundary and the formation of </a:t>
            </a:r>
          </a:p>
          <a:p>
            <a:r>
              <a:rPr lang="en-US" sz="2500" dirty="0">
                <a:latin typeface="+mj-lt"/>
              </a:rPr>
              <a:t>a collisional mountain range</a:t>
            </a:r>
            <a:endParaRPr lang="en-US" dirty="0"/>
          </a:p>
        </p:txBody>
      </p:sp>
    </p:spTree>
    <p:extLst>
      <p:ext uri="{BB962C8B-B14F-4D97-AF65-F5344CB8AC3E}">
        <p14:creationId xmlns:p14="http://schemas.microsoft.com/office/powerpoint/2010/main" val="3788154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833"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3"/>
                </p:tgtEl>
              </p:cMediaNode>
            </p:video>
            <p:seq concurrent="1" nextAc="seek">
              <p:cTn id="8" restart="whenNotActive" fill="hold" evtFilter="cancelBubble" nodeType="interactiveSeq">
                <p:stCondLst>
                  <p:cond evt="onClick" delay="0">
                    <p:tgtEl>
                      <p:spTgt spid="1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3"/>
                                        </p:tgtEl>
                                      </p:cBhvr>
                                    </p:cmd>
                                  </p:childTnLst>
                                </p:cTn>
                              </p:par>
                            </p:childTnLst>
                          </p:cTn>
                        </p:par>
                      </p:childTnLst>
                    </p:cTn>
                  </p:par>
                </p:childTnLst>
              </p:cTn>
              <p:nextCondLst>
                <p:cond evt="onClick" delay="0">
                  <p:tgtEl>
                    <p:spTgt spid="13"/>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F011B995-3131-DD35-E132-1B9D83AD1E5E}"/>
              </a:ext>
            </a:extLst>
          </p:cNvPr>
          <p:cNvPicPr>
            <a:picLocks noGrp="1" noChangeAspect="1"/>
          </p:cNvPicPr>
          <p:nvPr>
            <p:ph idx="1"/>
          </p:nvPr>
        </p:nvPicPr>
        <p:blipFill>
          <a:blip r:embed="rId3"/>
          <a:stretch>
            <a:fillRect/>
          </a:stretch>
        </p:blipFill>
        <p:spPr>
          <a:xfrm>
            <a:off x="707571" y="3429000"/>
            <a:ext cx="10515600" cy="3161432"/>
          </a:xfrm>
        </p:spPr>
      </p:pic>
      <p:pic>
        <p:nvPicPr>
          <p:cNvPr id="11" name="Picture 10">
            <a:extLst>
              <a:ext uri="{FF2B5EF4-FFF2-40B4-BE49-F238E27FC236}">
                <a16:creationId xmlns:a16="http://schemas.microsoft.com/office/drawing/2014/main" id="{7111FC20-D2BE-7877-4B5A-F04C7FF973F1}"/>
              </a:ext>
            </a:extLst>
          </p:cNvPr>
          <p:cNvPicPr>
            <a:picLocks noChangeAspect="1"/>
          </p:cNvPicPr>
          <p:nvPr/>
        </p:nvPicPr>
        <p:blipFill>
          <a:blip r:embed="rId4"/>
          <a:stretch>
            <a:fillRect/>
          </a:stretch>
        </p:blipFill>
        <p:spPr>
          <a:xfrm>
            <a:off x="628711" y="-186613"/>
            <a:ext cx="10934578" cy="3373017"/>
          </a:xfrm>
          <a:prstGeom prst="rect">
            <a:avLst/>
          </a:prstGeom>
        </p:spPr>
      </p:pic>
    </p:spTree>
    <p:extLst>
      <p:ext uri="{BB962C8B-B14F-4D97-AF65-F5344CB8AC3E}">
        <p14:creationId xmlns:p14="http://schemas.microsoft.com/office/powerpoint/2010/main" val="26008524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nline Media 3" title="Plate Tectonics - How Mountains are Made">
            <a:hlinkClick r:id="" action="ppaction://media"/>
            <a:extLst>
              <a:ext uri="{FF2B5EF4-FFF2-40B4-BE49-F238E27FC236}">
                <a16:creationId xmlns:a16="http://schemas.microsoft.com/office/drawing/2014/main" id="{98F0C86B-9562-3491-C256-E40E887B27C2}"/>
              </a:ext>
            </a:extLst>
          </p:cNvPr>
          <p:cNvPicPr>
            <a:picLocks noGrp="1" noRot="1" noChangeAspect="1"/>
          </p:cNvPicPr>
          <p:nvPr>
            <p:ph idx="1"/>
            <a:videoFile r:link="rId1"/>
          </p:nvPr>
        </p:nvPicPr>
        <p:blipFill>
          <a:blip r:embed="rId4"/>
          <a:stretch>
            <a:fillRect/>
          </a:stretch>
        </p:blipFill>
        <p:spPr>
          <a:xfrm>
            <a:off x="307403" y="160917"/>
            <a:ext cx="11577193" cy="6536166"/>
          </a:xfrm>
          <a:prstGeom prst="rect">
            <a:avLst/>
          </a:prstGeom>
        </p:spPr>
      </p:pic>
      <p:sp>
        <p:nvSpPr>
          <p:cNvPr id="2" name="TextBox 1">
            <a:extLst>
              <a:ext uri="{FF2B5EF4-FFF2-40B4-BE49-F238E27FC236}">
                <a16:creationId xmlns:a16="http://schemas.microsoft.com/office/drawing/2014/main" id="{A3DBE782-6506-3B25-C8B6-DC7DA34F01A2}"/>
              </a:ext>
            </a:extLst>
          </p:cNvPr>
          <p:cNvSpPr txBox="1"/>
          <p:nvPr/>
        </p:nvSpPr>
        <p:spPr>
          <a:xfrm>
            <a:off x="277660" y="126428"/>
            <a:ext cx="3046562" cy="2015936"/>
          </a:xfrm>
          <a:prstGeom prst="rect">
            <a:avLst/>
          </a:prstGeom>
          <a:solidFill>
            <a:schemeClr val="bg1"/>
          </a:solidFill>
        </p:spPr>
        <p:txBody>
          <a:bodyPr wrap="square">
            <a:spAutoFit/>
          </a:bodyPr>
          <a:lstStyle/>
          <a:p>
            <a:r>
              <a:rPr lang="en-US" sz="2500" dirty="0">
                <a:latin typeface="+mj-lt"/>
              </a:rPr>
              <a:t>Continent-continent convergent boundary and the formation of </a:t>
            </a:r>
          </a:p>
          <a:p>
            <a:r>
              <a:rPr lang="en-US" sz="2500" dirty="0">
                <a:latin typeface="+mj-lt"/>
              </a:rPr>
              <a:t>a collisional mountain range</a:t>
            </a:r>
            <a:endParaRPr lang="en-US" dirty="0"/>
          </a:p>
        </p:txBody>
      </p:sp>
    </p:spTree>
    <p:extLst>
      <p:ext uri="{BB962C8B-B14F-4D97-AF65-F5344CB8AC3E}">
        <p14:creationId xmlns:p14="http://schemas.microsoft.com/office/powerpoint/2010/main" val="890764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atellite view of a land&#10;&#10;Description automatically generated">
            <a:extLst>
              <a:ext uri="{FF2B5EF4-FFF2-40B4-BE49-F238E27FC236}">
                <a16:creationId xmlns:a16="http://schemas.microsoft.com/office/drawing/2014/main" id="{F7BF9E70-33EE-3338-6F3E-E19CF251004A}"/>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02433" y="0"/>
            <a:ext cx="10151706" cy="6763897"/>
          </a:xfrm>
        </p:spPr>
      </p:pic>
      <p:sp>
        <p:nvSpPr>
          <p:cNvPr id="2" name="TextBox 1">
            <a:extLst>
              <a:ext uri="{FF2B5EF4-FFF2-40B4-BE49-F238E27FC236}">
                <a16:creationId xmlns:a16="http://schemas.microsoft.com/office/drawing/2014/main" id="{0FA1CFBD-0D7F-C267-6503-F6DC718E5443}"/>
              </a:ext>
            </a:extLst>
          </p:cNvPr>
          <p:cNvSpPr txBox="1"/>
          <p:nvPr/>
        </p:nvSpPr>
        <p:spPr>
          <a:xfrm>
            <a:off x="277660" y="126428"/>
            <a:ext cx="3046562" cy="2015936"/>
          </a:xfrm>
          <a:prstGeom prst="rect">
            <a:avLst/>
          </a:prstGeom>
          <a:solidFill>
            <a:schemeClr val="bg1"/>
          </a:solidFill>
        </p:spPr>
        <p:txBody>
          <a:bodyPr wrap="square">
            <a:spAutoFit/>
          </a:bodyPr>
          <a:lstStyle/>
          <a:p>
            <a:r>
              <a:rPr lang="en-US" sz="2500" dirty="0">
                <a:latin typeface="+mj-lt"/>
              </a:rPr>
              <a:t>Continent-continent convergent boundary and the formation of </a:t>
            </a:r>
          </a:p>
          <a:p>
            <a:r>
              <a:rPr lang="en-US" sz="2500" dirty="0">
                <a:latin typeface="+mj-lt"/>
              </a:rPr>
              <a:t>a collisional mountain range</a:t>
            </a:r>
            <a:endParaRPr lang="en-US" dirty="0"/>
          </a:p>
        </p:txBody>
      </p:sp>
    </p:spTree>
    <p:extLst>
      <p:ext uri="{BB962C8B-B14F-4D97-AF65-F5344CB8AC3E}">
        <p14:creationId xmlns:p14="http://schemas.microsoft.com/office/powerpoint/2010/main" val="40982830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5BF3C1D-0965-1BB3-64AC-8D7ABDFEAD98}"/>
              </a:ext>
            </a:extLst>
          </p:cNvPr>
          <p:cNvPicPr>
            <a:picLocks noGrp="1" noChangeAspect="1"/>
          </p:cNvPicPr>
          <p:nvPr>
            <p:ph idx="1"/>
          </p:nvPr>
        </p:nvPicPr>
        <p:blipFill>
          <a:blip r:embed="rId4"/>
          <a:stretch>
            <a:fillRect/>
          </a:stretch>
        </p:blipFill>
        <p:spPr>
          <a:xfrm>
            <a:off x="8374219" y="294709"/>
            <a:ext cx="3491832" cy="6268582"/>
          </a:xfrm>
        </p:spPr>
      </p:pic>
      <p:pic>
        <p:nvPicPr>
          <p:cNvPr id="2" name="TransformBoundary">
            <a:hlinkClick r:id="" action="ppaction://media"/>
            <a:extLst>
              <a:ext uri="{FF2B5EF4-FFF2-40B4-BE49-F238E27FC236}">
                <a16:creationId xmlns:a16="http://schemas.microsoft.com/office/drawing/2014/main" id="{B968662F-A1A0-8598-E2F6-19C046AB74F5}"/>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47118" y="1664332"/>
            <a:ext cx="8343216" cy="4761349"/>
          </a:xfrm>
          <a:prstGeom prst="rect">
            <a:avLst/>
          </a:prstGeom>
        </p:spPr>
      </p:pic>
      <p:sp>
        <p:nvSpPr>
          <p:cNvPr id="3" name="Title 1">
            <a:extLst>
              <a:ext uri="{FF2B5EF4-FFF2-40B4-BE49-F238E27FC236}">
                <a16:creationId xmlns:a16="http://schemas.microsoft.com/office/drawing/2014/main" id="{C444FA5C-1655-669D-C47D-526BA46327E3}"/>
              </a:ext>
            </a:extLst>
          </p:cNvPr>
          <p:cNvSpPr>
            <a:spLocks noGrp="1" noChangeArrowheads="1"/>
          </p:cNvSpPr>
          <p:nvPr>
            <p:ph type="title"/>
          </p:nvPr>
        </p:nvSpPr>
        <p:spPr>
          <a:xfrm>
            <a:off x="184281" y="54429"/>
            <a:ext cx="8306054" cy="1143000"/>
          </a:xfrm>
        </p:spPr>
        <p:txBody>
          <a:bodyPr>
            <a:normAutofit/>
          </a:bodyPr>
          <a:lstStyle/>
          <a:p>
            <a:pPr algn="ctr"/>
            <a:r>
              <a:rPr lang="en-US" altLang="en-US" dirty="0"/>
              <a:t>Transform plate boundaries</a:t>
            </a:r>
          </a:p>
        </p:txBody>
      </p:sp>
    </p:spTree>
    <p:extLst>
      <p:ext uri="{BB962C8B-B14F-4D97-AF65-F5344CB8AC3E}">
        <p14:creationId xmlns:p14="http://schemas.microsoft.com/office/powerpoint/2010/main" val="1793324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166"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2"/>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2"/>
                                        </p:tgtEl>
                                      </p:cBhvr>
                                    </p:cmd>
                                  </p:childTnLst>
                                </p:cTn>
                              </p:par>
                            </p:childTnLst>
                          </p:cTn>
                        </p:par>
                      </p:childTnLst>
                    </p:cTn>
                  </p:par>
                </p:childTnLst>
              </p:cTn>
              <p:nextCondLst>
                <p:cond evt="onClick" delay="0">
                  <p:tgtEl>
                    <p:spTgt spid="2"/>
                  </p:tgtEl>
                </p:cond>
              </p:nextCondLst>
            </p:seq>
            <p:video>
              <p:cMediaNode vol="80000">
                <p:cTn id="12" fill="hold" display="0">
                  <p:stCondLst>
                    <p:cond delay="indefinite"/>
                  </p:stCondLst>
                </p:cTn>
                <p:tgtEl>
                  <p:spTgt spid="2"/>
                </p:tgtEl>
              </p:cMediaNode>
            </p:video>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map of a body of water with a red line&#10;&#10;Description automatically generated">
            <a:extLst>
              <a:ext uri="{FF2B5EF4-FFF2-40B4-BE49-F238E27FC236}">
                <a16:creationId xmlns:a16="http://schemas.microsoft.com/office/drawing/2014/main" id="{B4428F02-CF80-B69E-F7DF-8AD327BAA2D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837978" y="-7857"/>
            <a:ext cx="6865857" cy="6865857"/>
          </a:xfrm>
        </p:spPr>
      </p:pic>
    </p:spTree>
    <p:extLst>
      <p:ext uri="{BB962C8B-B14F-4D97-AF65-F5344CB8AC3E}">
        <p14:creationId xmlns:p14="http://schemas.microsoft.com/office/powerpoint/2010/main" val="28314731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752B7B1-5718-E59E-03C3-9269E1B78536}"/>
              </a:ext>
            </a:extLst>
          </p:cNvPr>
          <p:cNvPicPr>
            <a:picLocks noChangeAspect="1"/>
          </p:cNvPicPr>
          <p:nvPr/>
        </p:nvPicPr>
        <p:blipFill>
          <a:blip r:embed="rId3"/>
          <a:stretch>
            <a:fillRect/>
          </a:stretch>
        </p:blipFill>
        <p:spPr>
          <a:xfrm>
            <a:off x="3387862" y="388356"/>
            <a:ext cx="5730737" cy="6081287"/>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a:extLst>
              <a:ext uri="{FF2B5EF4-FFF2-40B4-BE49-F238E27FC236}">
                <a16:creationId xmlns:a16="http://schemas.microsoft.com/office/drawing/2014/main" id="{04C6B675-E0D2-3FA3-EF72-91EE8644C599}"/>
              </a:ext>
            </a:extLst>
          </p:cNvPr>
          <p:cNvPicPr>
            <a:picLocks noChangeAspect="1"/>
          </p:cNvPicPr>
          <p:nvPr/>
        </p:nvPicPr>
        <p:blipFill rotWithShape="1">
          <a:blip r:embed="rId3"/>
          <a:srcRect b="10596"/>
          <a:stretch/>
        </p:blipFill>
        <p:spPr>
          <a:xfrm>
            <a:off x="4023360" y="0"/>
            <a:ext cx="4145280" cy="6653184"/>
          </a:xfrm>
          <a:prstGeom prst="rect">
            <a:avLst/>
          </a:prstGeom>
        </p:spPr>
      </p:pic>
    </p:spTree>
    <p:extLst>
      <p:ext uri="{BB962C8B-B14F-4D97-AF65-F5344CB8AC3E}">
        <p14:creationId xmlns:p14="http://schemas.microsoft.com/office/powerpoint/2010/main" val="26953996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8E6C04F-0483-D06A-E48C-641935FEC1D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519193" y="124739"/>
            <a:ext cx="5798978" cy="6608522"/>
          </a:xfrm>
        </p:spPr>
      </p:pic>
    </p:spTree>
    <p:extLst>
      <p:ext uri="{BB962C8B-B14F-4D97-AF65-F5344CB8AC3E}">
        <p14:creationId xmlns:p14="http://schemas.microsoft.com/office/powerpoint/2010/main" val="30133461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ustom 4">
      <a:majorFont>
        <a:latin typeface="Calibri Light"/>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1920</TotalTime>
  <Words>565</Words>
  <Application>Microsoft Office PowerPoint</Application>
  <PresentationFormat>Widescreen</PresentationFormat>
  <Paragraphs>51</Paragraphs>
  <Slides>25</Slides>
  <Notes>19</Notes>
  <HiddenSlides>0</HiddenSlides>
  <MMClips>7</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Aptos</vt:lpstr>
      <vt:lpstr>Arial</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Transform plate boundaries</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Stallins, Jon A.</dc:creator>
  <cp:lastModifiedBy>Stallins, Jon A.</cp:lastModifiedBy>
  <cp:revision>49</cp:revision>
  <dcterms:created xsi:type="dcterms:W3CDTF">2024-03-25T15:54:07Z</dcterms:created>
  <dcterms:modified xsi:type="dcterms:W3CDTF">2026-04-02T22:09:32Z</dcterms:modified>
</cp:coreProperties>
</file>