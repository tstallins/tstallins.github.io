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6"/>
  </p:notesMasterIdLst>
  <p:handoutMasterIdLst>
    <p:handoutMasterId r:id="rId37"/>
  </p:handoutMasterIdLst>
  <p:sldIdLst>
    <p:sldId id="257" r:id="rId2"/>
    <p:sldId id="264" r:id="rId3"/>
    <p:sldId id="312" r:id="rId4"/>
    <p:sldId id="323" r:id="rId5"/>
    <p:sldId id="327" r:id="rId6"/>
    <p:sldId id="315" r:id="rId7"/>
    <p:sldId id="259" r:id="rId8"/>
    <p:sldId id="262" r:id="rId9"/>
    <p:sldId id="316" r:id="rId10"/>
    <p:sldId id="260" r:id="rId11"/>
    <p:sldId id="272" r:id="rId12"/>
    <p:sldId id="279" r:id="rId13"/>
    <p:sldId id="304" r:id="rId14"/>
    <p:sldId id="274" r:id="rId15"/>
    <p:sldId id="277" r:id="rId16"/>
    <p:sldId id="270" r:id="rId17"/>
    <p:sldId id="328" r:id="rId18"/>
    <p:sldId id="326" r:id="rId19"/>
    <p:sldId id="261" r:id="rId20"/>
    <p:sldId id="278" r:id="rId21"/>
    <p:sldId id="283" r:id="rId22"/>
    <p:sldId id="284" r:id="rId23"/>
    <p:sldId id="287" r:id="rId24"/>
    <p:sldId id="322" r:id="rId25"/>
    <p:sldId id="324" r:id="rId26"/>
    <p:sldId id="319" r:id="rId27"/>
    <p:sldId id="306" r:id="rId28"/>
    <p:sldId id="288" r:id="rId29"/>
    <p:sldId id="320" r:id="rId30"/>
    <p:sldId id="289" r:id="rId31"/>
    <p:sldId id="321" r:id="rId32"/>
    <p:sldId id="290" r:id="rId33"/>
    <p:sldId id="325" r:id="rId34"/>
    <p:sldId id="291" r:id="rId35"/>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E953C"/>
    <a:srgbClr val="A19A67"/>
    <a:srgbClr val="CB6767"/>
    <a:srgbClr val="006699"/>
    <a:srgbClr val="5C99A1"/>
    <a:srgbClr val="000000"/>
    <a:srgbClr val="C9CB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99" autoAdjust="0"/>
    <p:restoredTop sz="94552" autoAdjust="0"/>
  </p:normalViewPr>
  <p:slideViewPr>
    <p:cSldViewPr snapToGrid="0">
      <p:cViewPr varScale="1">
        <p:scale>
          <a:sx n="104" d="100"/>
          <a:sy n="104" d="100"/>
        </p:scale>
        <p:origin x="552" y="114"/>
      </p:cViewPr>
      <p:guideLst>
        <p:guide orient="horz" pos="2160"/>
        <p:guide pos="38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1" d="100"/>
          <a:sy n="61" d="100"/>
        </p:scale>
        <p:origin x="3216"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E82632C6-A3AF-F1F9-9424-4CB3C5874FD5}"/>
              </a:ext>
            </a:extLst>
          </p:cNvPr>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latin typeface="Times New Roman" pitchFamily="18" charset="0"/>
              </a:defRPr>
            </a:lvl1pPr>
          </a:lstStyle>
          <a:p>
            <a:pPr>
              <a:defRPr/>
            </a:pPr>
            <a:endParaRPr lang="en-US" dirty="0"/>
          </a:p>
        </p:txBody>
      </p:sp>
      <p:sp>
        <p:nvSpPr>
          <p:cNvPr id="88067" name="Rectangle 3">
            <a:extLst>
              <a:ext uri="{FF2B5EF4-FFF2-40B4-BE49-F238E27FC236}">
                <a16:creationId xmlns:a16="http://schemas.microsoft.com/office/drawing/2014/main" id="{19B0FFAA-86BF-C86B-465A-A8F57B774412}"/>
              </a:ext>
            </a:extLst>
          </p:cNvPr>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atin typeface="Times New Roman" pitchFamily="18" charset="0"/>
              </a:defRPr>
            </a:lvl1pPr>
          </a:lstStyle>
          <a:p>
            <a:pPr>
              <a:defRPr/>
            </a:pPr>
            <a:endParaRPr lang="en-US" dirty="0"/>
          </a:p>
        </p:txBody>
      </p:sp>
      <p:sp>
        <p:nvSpPr>
          <p:cNvPr id="88068" name="Rectangle 4">
            <a:extLst>
              <a:ext uri="{FF2B5EF4-FFF2-40B4-BE49-F238E27FC236}">
                <a16:creationId xmlns:a16="http://schemas.microsoft.com/office/drawing/2014/main" id="{397DEBD8-92A5-C4FD-35BF-8B46B26A083A}"/>
              </a:ext>
            </a:extLst>
          </p:cNvPr>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latin typeface="Times New Roman" pitchFamily="18" charset="0"/>
              </a:defRPr>
            </a:lvl1pPr>
          </a:lstStyle>
          <a:p>
            <a:pPr>
              <a:defRPr/>
            </a:pPr>
            <a:endParaRPr lang="en-US" dirty="0"/>
          </a:p>
        </p:txBody>
      </p:sp>
      <p:sp>
        <p:nvSpPr>
          <p:cNvPr id="88069" name="Rectangle 5">
            <a:extLst>
              <a:ext uri="{FF2B5EF4-FFF2-40B4-BE49-F238E27FC236}">
                <a16:creationId xmlns:a16="http://schemas.microsoft.com/office/drawing/2014/main" id="{E205A44A-0E8B-BF71-6DAB-EDF3DAD56591}"/>
              </a:ext>
            </a:extLst>
          </p:cNvPr>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200">
                <a:latin typeface="Times New Roman" panose="02020603050405020304" pitchFamily="18" charset="0"/>
              </a:defRPr>
            </a:lvl1pPr>
          </a:lstStyle>
          <a:p>
            <a:fld id="{644FF10C-1B33-475C-BCC8-6A3AA7035AAA}" type="slidenum">
              <a:rPr lang="en-US" altLang="en-US"/>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796D720-530D-2651-7784-1A8A768A710C}"/>
              </a:ext>
            </a:extLst>
          </p:cNvPr>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eaLnBrk="1" hangingPunct="1">
              <a:defRPr sz="1200">
                <a:latin typeface="Times New Roman" pitchFamily="18" charset="0"/>
              </a:defRPr>
            </a:lvl1pPr>
          </a:lstStyle>
          <a:p>
            <a:pPr>
              <a:defRPr/>
            </a:pPr>
            <a:endParaRPr lang="en-US" dirty="0"/>
          </a:p>
        </p:txBody>
      </p:sp>
      <p:sp>
        <p:nvSpPr>
          <p:cNvPr id="14339" name="Rectangle 3">
            <a:extLst>
              <a:ext uri="{FF2B5EF4-FFF2-40B4-BE49-F238E27FC236}">
                <a16:creationId xmlns:a16="http://schemas.microsoft.com/office/drawing/2014/main" id="{E4071DA6-00DF-FEEA-B229-6BD4DECC1468}"/>
              </a:ext>
            </a:extLst>
          </p:cNvPr>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defRPr sz="1200">
                <a:latin typeface="Times New Roman" pitchFamily="18" charset="0"/>
              </a:defRPr>
            </a:lvl1pPr>
          </a:lstStyle>
          <a:p>
            <a:pPr>
              <a:defRPr/>
            </a:pPr>
            <a:endParaRPr lang="en-US" dirty="0"/>
          </a:p>
        </p:txBody>
      </p:sp>
      <p:sp>
        <p:nvSpPr>
          <p:cNvPr id="31748" name="Rectangle 4">
            <a:extLst>
              <a:ext uri="{FF2B5EF4-FFF2-40B4-BE49-F238E27FC236}">
                <a16:creationId xmlns:a16="http://schemas.microsoft.com/office/drawing/2014/main" id="{EBDCC6FB-C6ED-EC6D-75E1-06560B60809C}"/>
              </a:ext>
            </a:extLst>
          </p:cNvPr>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a:extLst>
              <a:ext uri="{FF2B5EF4-FFF2-40B4-BE49-F238E27FC236}">
                <a16:creationId xmlns:a16="http://schemas.microsoft.com/office/drawing/2014/main" id="{5CA5B8A6-C97C-04B6-0EBD-1FF2587FCF85}"/>
              </a:ext>
            </a:extLst>
          </p:cNvPr>
          <p:cNvSpPr>
            <a:spLocks noGrp="1" noChangeArrowheads="1"/>
          </p:cNvSpPr>
          <p:nvPr>
            <p:ph type="body" sz="quarter" idx="3"/>
          </p:nvPr>
        </p:nvSpPr>
        <p:spPr bwMode="auto">
          <a:xfrm>
            <a:off x="701675" y="4416425"/>
            <a:ext cx="5607050" cy="4183063"/>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6">
            <a:extLst>
              <a:ext uri="{FF2B5EF4-FFF2-40B4-BE49-F238E27FC236}">
                <a16:creationId xmlns:a16="http://schemas.microsoft.com/office/drawing/2014/main" id="{1DB73AA4-4773-E300-A577-ACE0551E0AD2}"/>
              </a:ext>
            </a:extLst>
          </p:cNvPr>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eaLnBrk="1" hangingPunct="1">
              <a:defRPr sz="1200">
                <a:latin typeface="Times New Roman" pitchFamily="18" charset="0"/>
              </a:defRPr>
            </a:lvl1pPr>
          </a:lstStyle>
          <a:p>
            <a:pPr>
              <a:defRPr/>
            </a:pPr>
            <a:endParaRPr lang="en-US" dirty="0"/>
          </a:p>
        </p:txBody>
      </p:sp>
      <p:sp>
        <p:nvSpPr>
          <p:cNvPr id="14343" name="Rectangle 7">
            <a:extLst>
              <a:ext uri="{FF2B5EF4-FFF2-40B4-BE49-F238E27FC236}">
                <a16:creationId xmlns:a16="http://schemas.microsoft.com/office/drawing/2014/main" id="{08D51FFF-6E4C-3F0E-61BC-67D32DC5FD4A}"/>
              </a:ext>
            </a:extLst>
          </p:cNvPr>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defRPr sz="1600">
                <a:latin typeface="Arial" panose="020B0604020202020204" pitchFamily="34" charset="0"/>
                <a:cs typeface="Arial" panose="020B0604020202020204" pitchFamily="34" charset="0"/>
              </a:defRPr>
            </a:lvl1pPr>
          </a:lstStyle>
          <a:p>
            <a:fld id="{439C491C-BCC8-492B-8A22-AF0323774E66}" type="slidenum">
              <a:rPr lang="en-US" altLang="en-US" smtClean="0"/>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9877E648-932B-212A-D720-927662420A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A4A978-EAB8-43E0-853A-CF5EAFD1191D}" type="slidenum">
              <a:rPr lang="en-US" altLang="en-US"/>
              <a:pPr/>
              <a:t>1</a:t>
            </a:fld>
            <a:endParaRPr lang="en-US" altLang="en-US" dirty="0"/>
          </a:p>
        </p:txBody>
      </p:sp>
      <p:sp>
        <p:nvSpPr>
          <p:cNvPr id="31747" name="Rectangle 2">
            <a:extLst>
              <a:ext uri="{FF2B5EF4-FFF2-40B4-BE49-F238E27FC236}">
                <a16:creationId xmlns:a16="http://schemas.microsoft.com/office/drawing/2014/main" id="{930D7AAA-AD54-76D4-72D1-98CB42B4C894}"/>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23324E93-298E-43A7-2CA1-879BF07387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D0CA3CC2-B3BF-5346-AF76-7B5F0030BE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76E763-95E9-46A2-83D1-7D54EE344925}" type="slidenum">
              <a:rPr lang="en-US" altLang="en-US"/>
              <a:pPr/>
              <a:t>2</a:t>
            </a:fld>
            <a:endParaRPr lang="en-US" altLang="en-US" dirty="0"/>
          </a:p>
        </p:txBody>
      </p:sp>
      <p:sp>
        <p:nvSpPr>
          <p:cNvPr id="32771" name="Rectangle 2">
            <a:extLst>
              <a:ext uri="{FF2B5EF4-FFF2-40B4-BE49-F238E27FC236}">
                <a16:creationId xmlns:a16="http://schemas.microsoft.com/office/drawing/2014/main" id="{F616851A-8C64-951D-FDBA-7B455827DB45}"/>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4A5FBB5D-2478-20AC-AA65-D1B1B491A5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shifting back and forth throughout the year is what shapes the weather we experience at a broad space and time scale. </a:t>
            </a:r>
          </a:p>
        </p:txBody>
      </p:sp>
      <p:sp>
        <p:nvSpPr>
          <p:cNvPr id="4" name="Slide Number Placeholder 3"/>
          <p:cNvSpPr>
            <a:spLocks noGrp="1"/>
          </p:cNvSpPr>
          <p:nvPr>
            <p:ph type="sldNum" sz="quarter" idx="5"/>
          </p:nvPr>
        </p:nvSpPr>
        <p:spPr/>
        <p:txBody>
          <a:bodyPr/>
          <a:lstStyle/>
          <a:p>
            <a:fld id="{931C5E13-C77C-4F55-848C-A330A924E2A1}" type="slidenum">
              <a:rPr lang="en-US" altLang="en-US" smtClean="0"/>
              <a:pPr/>
              <a:t>3</a:t>
            </a:fld>
            <a:endParaRPr lang="en-US" altLang="en-US" dirty="0"/>
          </a:p>
        </p:txBody>
      </p:sp>
    </p:spTree>
    <p:extLst>
      <p:ext uri="{BB962C8B-B14F-4D97-AF65-F5344CB8AC3E}">
        <p14:creationId xmlns:p14="http://schemas.microsoft.com/office/powerpoint/2010/main" val="3992091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t>
            </a:r>
          </a:p>
        </p:txBody>
      </p:sp>
      <p:sp>
        <p:nvSpPr>
          <p:cNvPr id="4" name="Slide Number Placeholder 3"/>
          <p:cNvSpPr>
            <a:spLocks noGrp="1"/>
          </p:cNvSpPr>
          <p:nvPr>
            <p:ph type="sldNum" sz="quarter" idx="5"/>
          </p:nvPr>
        </p:nvSpPr>
        <p:spPr/>
        <p:txBody>
          <a:bodyPr/>
          <a:lstStyle/>
          <a:p>
            <a:fld id="{439C491C-BCC8-492B-8A22-AF0323774E66}" type="slidenum">
              <a:rPr lang="en-US" altLang="en-US" smtClean="0"/>
              <a:pPr/>
              <a:t>4</a:t>
            </a:fld>
            <a:endParaRPr lang="en-US" altLang="en-US" dirty="0"/>
          </a:p>
        </p:txBody>
      </p:sp>
    </p:spTree>
    <p:extLst>
      <p:ext uri="{BB962C8B-B14F-4D97-AF65-F5344CB8AC3E}">
        <p14:creationId xmlns:p14="http://schemas.microsoft.com/office/powerpoint/2010/main" val="3477984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how the seasons don’t capture all the variability of temperatures and weather. Even within the variability of the seasons, this past cold air outbreak and winter precipitation was outside of the average.  What caused it?  It was caused by the way heat is continually being redistributed on Earth because of the radiation and thermal energy imbalance between the tropics and the poles. </a:t>
            </a:r>
          </a:p>
        </p:txBody>
      </p:sp>
      <p:sp>
        <p:nvSpPr>
          <p:cNvPr id="4" name="Slide Number Placeholder 3"/>
          <p:cNvSpPr>
            <a:spLocks noGrp="1"/>
          </p:cNvSpPr>
          <p:nvPr>
            <p:ph type="sldNum" sz="quarter" idx="5"/>
          </p:nvPr>
        </p:nvSpPr>
        <p:spPr/>
        <p:txBody>
          <a:bodyPr/>
          <a:lstStyle/>
          <a:p>
            <a:fld id="{439C491C-BCC8-492B-8A22-AF0323774E66}" type="slidenum">
              <a:rPr lang="en-US" altLang="en-US" smtClean="0"/>
              <a:pPr/>
              <a:t>5</a:t>
            </a:fld>
            <a:endParaRPr lang="en-US" altLang="en-US" dirty="0"/>
          </a:p>
        </p:txBody>
      </p:sp>
    </p:spTree>
    <p:extLst>
      <p:ext uri="{BB962C8B-B14F-4D97-AF65-F5344CB8AC3E}">
        <p14:creationId xmlns:p14="http://schemas.microsoft.com/office/powerpoint/2010/main" val="1662972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9F012E4C-4CC5-1D32-4DB3-D8E09BDA9C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7AD685B6-7EF0-4F3A-BC85-D3FF21C89C6B}" type="slidenum">
              <a:rPr lang="en-US" altLang="en-US">
                <a:latin typeface="Times New Roman" panose="02020603050405020304" pitchFamily="18" charset="0"/>
              </a:rPr>
              <a:pPr/>
              <a:t>7</a:t>
            </a:fld>
            <a:endParaRPr lang="en-US" altLang="en-US" dirty="0">
              <a:latin typeface="Times New Roman" panose="02020603050405020304" pitchFamily="18" charset="0"/>
            </a:endParaRPr>
          </a:p>
        </p:txBody>
      </p:sp>
      <p:sp>
        <p:nvSpPr>
          <p:cNvPr id="34819" name="Rectangle 2">
            <a:extLst>
              <a:ext uri="{FF2B5EF4-FFF2-40B4-BE49-F238E27FC236}">
                <a16:creationId xmlns:a16="http://schemas.microsoft.com/office/drawing/2014/main" id="{14B8C977-9159-3FC7-2C79-312B49F4134A}"/>
              </a:ext>
            </a:extLst>
          </p:cNvPr>
          <p:cNvSpPr>
            <a:spLocks noGrp="1" noRot="1" noChangeAspect="1" noChangeArrowheads="1" noTextEdit="1"/>
          </p:cNvSpPr>
          <p:nvPr>
            <p:ph type="sldImg"/>
          </p:nvPr>
        </p:nvSpPr>
        <p:spPr>
          <a:xfrm>
            <a:off x="406400" y="696913"/>
            <a:ext cx="6197600" cy="3486150"/>
          </a:xfrm>
          <a:ln/>
        </p:spPr>
      </p:sp>
      <p:sp>
        <p:nvSpPr>
          <p:cNvPr id="34820" name="Rectangle 3">
            <a:extLst>
              <a:ext uri="{FF2B5EF4-FFF2-40B4-BE49-F238E27FC236}">
                <a16:creationId xmlns:a16="http://schemas.microsoft.com/office/drawing/2014/main" id="{98A40CBC-DF6B-43E2-A9C0-C3683BC4C5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Let’s begin with radiation. </a:t>
            </a:r>
            <a:br>
              <a:rPr lang="en-US" altLang="en-US" dirty="0"/>
            </a:br>
            <a:br>
              <a:rPr lang="en-US" altLang="en-US" dirty="0"/>
            </a:br>
            <a:r>
              <a:rPr lang="en-US" altLang="en-US" dirty="0"/>
              <a:t>All objects and entities have radiation. The arrows indicate the frequency of wavelengths of radiation emitted by the Sun and the Earth.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92382D83-39C3-183A-7D16-101AE75354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8F64E1EB-DACC-48E4-9EAB-54A939C2517B}" type="slidenum">
              <a:rPr lang="en-US" altLang="en-US">
                <a:latin typeface="Times New Roman" panose="02020603050405020304" pitchFamily="18" charset="0"/>
              </a:rPr>
              <a:pPr/>
              <a:t>8</a:t>
            </a:fld>
            <a:endParaRPr lang="en-US" altLang="en-US" dirty="0">
              <a:latin typeface="Times New Roman" panose="02020603050405020304" pitchFamily="18" charset="0"/>
            </a:endParaRPr>
          </a:p>
        </p:txBody>
      </p:sp>
      <p:sp>
        <p:nvSpPr>
          <p:cNvPr id="35843" name="Rectangle 2">
            <a:extLst>
              <a:ext uri="{FF2B5EF4-FFF2-40B4-BE49-F238E27FC236}">
                <a16:creationId xmlns:a16="http://schemas.microsoft.com/office/drawing/2014/main" id="{406863A0-3F8C-BA9D-92BD-9D0A4E6D68CE}"/>
              </a:ext>
            </a:extLst>
          </p:cNvPr>
          <p:cNvSpPr>
            <a:spLocks noGrp="1" noRot="1" noChangeAspect="1" noChangeArrowheads="1" noTextEdit="1"/>
          </p:cNvSpPr>
          <p:nvPr>
            <p:ph type="sldImg"/>
          </p:nvPr>
        </p:nvSpPr>
        <p:spPr>
          <a:xfrm>
            <a:off x="406400" y="696913"/>
            <a:ext cx="6197600" cy="3486150"/>
          </a:xfrm>
          <a:ln/>
        </p:spPr>
      </p:sp>
      <p:sp>
        <p:nvSpPr>
          <p:cNvPr id="35844" name="Rectangle 3">
            <a:extLst>
              <a:ext uri="{FF2B5EF4-FFF2-40B4-BE49-F238E27FC236}">
                <a16:creationId xmlns:a16="http://schemas.microsoft.com/office/drawing/2014/main" id="{D1BEC3D7-5D10-26B9-AB90-4C45104C75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Shortwave radiation is more energetic and passes through the atmosphere, although some can get reflected off clouds or absorbed in the atmosphere. When shortwave radiation strikes the surface of Earth it is absorbed and re-emitted as longwave radiation. Longwave radiation is less energetic and can be absorbed by greenhouse gases, thereby warming the Earth. In this sense, the Earth is heated from below.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A48CA4D3-8497-866D-FBE4-4F72807637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F8E011AB-F557-44B2-8D2B-A1CC62D428FF}" type="slidenum">
              <a:rPr lang="en-US" altLang="en-US">
                <a:latin typeface="Times New Roman" panose="02020603050405020304" pitchFamily="18" charset="0"/>
              </a:rPr>
              <a:pPr/>
              <a:t>10</a:t>
            </a:fld>
            <a:endParaRPr lang="en-US" altLang="en-US" dirty="0">
              <a:latin typeface="Times New Roman" panose="02020603050405020304" pitchFamily="18" charset="0"/>
            </a:endParaRPr>
          </a:p>
        </p:txBody>
      </p:sp>
      <p:sp>
        <p:nvSpPr>
          <p:cNvPr id="36867" name="Rectangle 2">
            <a:extLst>
              <a:ext uri="{FF2B5EF4-FFF2-40B4-BE49-F238E27FC236}">
                <a16:creationId xmlns:a16="http://schemas.microsoft.com/office/drawing/2014/main" id="{A6D11812-3C2A-4235-FF53-86C065011E3B}"/>
              </a:ext>
            </a:extLst>
          </p:cNvPr>
          <p:cNvSpPr>
            <a:spLocks noGrp="1" noRot="1" noChangeAspect="1" noChangeArrowheads="1" noTextEdit="1"/>
          </p:cNvSpPr>
          <p:nvPr>
            <p:ph type="sldImg"/>
          </p:nvPr>
        </p:nvSpPr>
        <p:spPr>
          <a:xfrm>
            <a:off x="406400" y="696913"/>
            <a:ext cx="6197600" cy="3486150"/>
          </a:xfrm>
          <a:ln/>
        </p:spPr>
      </p:sp>
      <p:sp>
        <p:nvSpPr>
          <p:cNvPr id="36868" name="Rectangle 3">
            <a:extLst>
              <a:ext uri="{FF2B5EF4-FFF2-40B4-BE49-F238E27FC236}">
                <a16:creationId xmlns:a16="http://schemas.microsoft.com/office/drawing/2014/main" id="{A212A86E-0E32-6B91-75F4-8E689D129E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Water vapor is a greenhouse gas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FF67DF7-5D52-3CBB-2FFA-D2CCC46505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DA355008-BEC4-4871-8135-46EB84A88AA0}" type="slidenum">
              <a:rPr lang="en-US" altLang="en-US">
                <a:latin typeface="Times New Roman" panose="02020603050405020304" pitchFamily="18" charset="0"/>
              </a:rPr>
              <a:pPr/>
              <a:t>11</a:t>
            </a:fld>
            <a:endParaRPr lang="en-US" altLang="en-US" dirty="0">
              <a:latin typeface="Times New Roman" panose="02020603050405020304" pitchFamily="18" charset="0"/>
            </a:endParaRPr>
          </a:p>
        </p:txBody>
      </p:sp>
      <p:sp>
        <p:nvSpPr>
          <p:cNvPr id="37891" name="Rectangle 2">
            <a:extLst>
              <a:ext uri="{FF2B5EF4-FFF2-40B4-BE49-F238E27FC236}">
                <a16:creationId xmlns:a16="http://schemas.microsoft.com/office/drawing/2014/main" id="{CF915AFB-9931-074D-D820-2B8A9CDC492E}"/>
              </a:ext>
            </a:extLst>
          </p:cNvPr>
          <p:cNvSpPr>
            <a:spLocks noGrp="1" noRot="1" noChangeAspect="1" noChangeArrowheads="1" noTextEdit="1"/>
          </p:cNvSpPr>
          <p:nvPr>
            <p:ph type="sldImg"/>
          </p:nvPr>
        </p:nvSpPr>
        <p:spPr>
          <a:xfrm>
            <a:off x="406400" y="696913"/>
            <a:ext cx="6197600" cy="3486150"/>
          </a:xfrm>
          <a:ln/>
        </p:spPr>
      </p:sp>
      <p:sp>
        <p:nvSpPr>
          <p:cNvPr id="37892" name="Rectangle 3">
            <a:extLst>
              <a:ext uri="{FF2B5EF4-FFF2-40B4-BE49-F238E27FC236}">
                <a16:creationId xmlns:a16="http://schemas.microsoft.com/office/drawing/2014/main" id="{AFBB175D-813B-C806-9991-72B4EB8D9D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sz="1200" dirty="0"/>
              <a:t>Nighttime longwave radiation emission for the month of April</a:t>
            </a:r>
            <a:br>
              <a:rPr lang="en-US" altLang="en-US" sz="1200" dirty="0"/>
            </a:br>
            <a:br>
              <a:rPr lang="en-US" altLang="en-US" sz="1200" dirty="0"/>
            </a:br>
            <a:r>
              <a:rPr lang="en-US" altLang="en-US" sz="1200" dirty="0"/>
              <a:t>What explains the patterns of longwave radiation in this image?</a:t>
            </a:r>
            <a:br>
              <a:rPr lang="en-US" altLang="en-US" sz="1200" dirty="0"/>
            </a:br>
            <a:br>
              <a:rPr lang="en-US" altLang="en-US" sz="1200" dirty="0"/>
            </a:br>
            <a:r>
              <a:rPr lang="en-US" altLang="en-US" sz="1200" dirty="0"/>
              <a:t>The Saharan Desert has very little water vapor to absorb longwave radiation</a:t>
            </a:r>
          </a:p>
          <a:p>
            <a:pPr eaLnBrk="1" hangingPunct="1"/>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7A16620A-C418-C0B6-4A44-72528D43CA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C193BA24-8C33-471E-BC62-99C690F52787}" type="slidenum">
              <a:rPr lang="en-US" altLang="en-US">
                <a:latin typeface="Times New Roman" panose="02020603050405020304" pitchFamily="18" charset="0"/>
              </a:rPr>
              <a:pPr/>
              <a:t>12</a:t>
            </a:fld>
            <a:endParaRPr lang="en-US" altLang="en-US" dirty="0">
              <a:latin typeface="Times New Roman" panose="02020603050405020304" pitchFamily="18" charset="0"/>
            </a:endParaRPr>
          </a:p>
        </p:txBody>
      </p:sp>
      <p:sp>
        <p:nvSpPr>
          <p:cNvPr id="41987" name="Rectangle 2">
            <a:extLst>
              <a:ext uri="{FF2B5EF4-FFF2-40B4-BE49-F238E27FC236}">
                <a16:creationId xmlns:a16="http://schemas.microsoft.com/office/drawing/2014/main" id="{EE3F6BAA-8D90-8634-4BE4-C885249EF661}"/>
              </a:ext>
            </a:extLst>
          </p:cNvPr>
          <p:cNvSpPr>
            <a:spLocks noGrp="1" noRot="1" noChangeAspect="1" noChangeArrowheads="1" noTextEdit="1"/>
          </p:cNvSpPr>
          <p:nvPr>
            <p:ph type="sldImg"/>
          </p:nvPr>
        </p:nvSpPr>
        <p:spPr>
          <a:xfrm>
            <a:off x="406400" y="696913"/>
            <a:ext cx="6197600" cy="3486150"/>
          </a:xfrm>
          <a:ln/>
        </p:spPr>
      </p:sp>
      <p:sp>
        <p:nvSpPr>
          <p:cNvPr id="41988" name="Rectangle 3">
            <a:extLst>
              <a:ext uri="{FF2B5EF4-FFF2-40B4-BE49-F238E27FC236}">
                <a16:creationId xmlns:a16="http://schemas.microsoft.com/office/drawing/2014/main" id="{AE1CB9EB-1A33-4B7C-C81B-0D9ABEAD0D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8965AA24-A0EC-476D-4C98-1695CF92550D}"/>
              </a:ext>
            </a:extLst>
          </p:cNvPr>
          <p:cNvSpPr>
            <a:spLocks noGrp="1" noRot="1" noChangeAspect="1" noTextEdit="1"/>
          </p:cNvSpPr>
          <p:nvPr>
            <p:ph type="sldImg"/>
          </p:nvPr>
        </p:nvSpPr>
        <p:spPr>
          <a:xfrm>
            <a:off x="406400" y="696913"/>
            <a:ext cx="6197600" cy="3486150"/>
          </a:xfrm>
          <a:ln/>
        </p:spPr>
      </p:sp>
      <p:sp>
        <p:nvSpPr>
          <p:cNvPr id="32771" name="Notes Placeholder 2">
            <a:extLst>
              <a:ext uri="{FF2B5EF4-FFF2-40B4-BE49-F238E27FC236}">
                <a16:creationId xmlns:a16="http://schemas.microsoft.com/office/drawing/2014/main" id="{E20E0065-5930-8819-DAFA-B02736EE4C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March 21</a:t>
            </a:r>
            <a:r>
              <a:rPr lang="en-US" altLang="en-US" baseline="30000" dirty="0"/>
              <a:t>st</a:t>
            </a:r>
            <a:r>
              <a:rPr lang="en-US" altLang="en-US" dirty="0"/>
              <a:t> – Spring Equinox</a:t>
            </a:r>
          </a:p>
          <a:p>
            <a:r>
              <a:rPr lang="en-US" altLang="en-US" dirty="0"/>
              <a:t>June 22 – Summer Solstice </a:t>
            </a:r>
          </a:p>
          <a:p>
            <a:r>
              <a:rPr lang="en-US" altLang="en-US" dirty="0"/>
              <a:t>Sept 23 – Autumnal Equinox</a:t>
            </a:r>
          </a:p>
          <a:p>
            <a:r>
              <a:rPr lang="en-US" altLang="en-US" dirty="0"/>
              <a:t>Dec 22 – Winter Solstice</a:t>
            </a:r>
          </a:p>
        </p:txBody>
      </p:sp>
      <p:sp>
        <p:nvSpPr>
          <p:cNvPr id="32772" name="Slide Number Placeholder 3">
            <a:extLst>
              <a:ext uri="{FF2B5EF4-FFF2-40B4-BE49-F238E27FC236}">
                <a16:creationId xmlns:a16="http://schemas.microsoft.com/office/drawing/2014/main" id="{FF6B6F3A-4F86-198D-9D27-40CC62480B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DD21D526-5B0C-4AFD-BEAF-B1083F2DBA84}" type="slidenum">
              <a:rPr lang="en-US" altLang="en-US">
                <a:latin typeface="Times New Roman" panose="02020603050405020304" pitchFamily="18" charset="0"/>
              </a:rPr>
              <a:pPr/>
              <a:t>13</a:t>
            </a:fld>
            <a:endParaRPr lang="en-US" altLang="en-US"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C9DEBDCB-4F49-75F0-C35C-F29447E092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E2D1D29A-3992-41EC-ABC9-C48A57D6AC84}" type="slidenum">
              <a:rPr lang="en-US" altLang="en-US">
                <a:latin typeface="Times New Roman" panose="02020603050405020304" pitchFamily="18" charset="0"/>
              </a:rPr>
              <a:pPr/>
              <a:t>14</a:t>
            </a:fld>
            <a:endParaRPr lang="en-US" altLang="en-US" dirty="0">
              <a:latin typeface="Times New Roman" panose="02020603050405020304" pitchFamily="18" charset="0"/>
            </a:endParaRPr>
          </a:p>
        </p:txBody>
      </p:sp>
      <p:sp>
        <p:nvSpPr>
          <p:cNvPr id="45059" name="Rectangle 2">
            <a:extLst>
              <a:ext uri="{FF2B5EF4-FFF2-40B4-BE49-F238E27FC236}">
                <a16:creationId xmlns:a16="http://schemas.microsoft.com/office/drawing/2014/main" id="{BACA790D-9949-74A5-1C86-B13B96963A6F}"/>
              </a:ext>
            </a:extLst>
          </p:cNvPr>
          <p:cNvSpPr>
            <a:spLocks noGrp="1" noRot="1" noChangeAspect="1" noChangeArrowheads="1" noTextEdit="1"/>
          </p:cNvSpPr>
          <p:nvPr>
            <p:ph type="sldImg"/>
          </p:nvPr>
        </p:nvSpPr>
        <p:spPr>
          <a:xfrm>
            <a:off x="406400" y="696913"/>
            <a:ext cx="6197600" cy="3486150"/>
          </a:xfrm>
          <a:ln/>
        </p:spPr>
      </p:sp>
      <p:sp>
        <p:nvSpPr>
          <p:cNvPr id="45060" name="Rectangle 3">
            <a:extLst>
              <a:ext uri="{FF2B5EF4-FFF2-40B4-BE49-F238E27FC236}">
                <a16:creationId xmlns:a16="http://schemas.microsoft.com/office/drawing/2014/main" id="{E1C5E35D-10E2-F515-9C6B-7867D22DD1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sz="1200" dirty="0"/>
              <a:t>Which plot is our summer?  Our winter? Annual radiation balance?</a:t>
            </a:r>
          </a:p>
          <a:p>
            <a:pPr eaLnBrk="1" hangingPunct="1"/>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3C189BE4-0070-D902-92C5-FB6843818BBC}"/>
              </a:ext>
            </a:extLst>
          </p:cNvPr>
          <p:cNvSpPr>
            <a:spLocks noGrp="1" noRot="1" noChangeAspect="1" noTextEdit="1"/>
          </p:cNvSpPr>
          <p:nvPr>
            <p:ph type="sldImg"/>
          </p:nvPr>
        </p:nvSpPr>
        <p:spPr>
          <a:xfrm>
            <a:off x="406400" y="696913"/>
            <a:ext cx="6197600" cy="3486150"/>
          </a:xfrm>
          <a:ln/>
        </p:spPr>
      </p:sp>
      <p:sp>
        <p:nvSpPr>
          <p:cNvPr id="48131" name="Notes Placeholder 2">
            <a:extLst>
              <a:ext uri="{FF2B5EF4-FFF2-40B4-BE49-F238E27FC236}">
                <a16:creationId xmlns:a16="http://schemas.microsoft.com/office/drawing/2014/main" id="{FC249A12-3D83-BB2A-F2E0-FEB4E2039C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dirty="0"/>
              <a:t>Albedo: a measure of how well a surface reflects insolation, it is an important part of the radiation budget</a:t>
            </a:r>
            <a:endParaRPr lang="en-US" altLang="en-US" dirty="0"/>
          </a:p>
          <a:p>
            <a:endParaRPr lang="en-US" altLang="en-US" dirty="0"/>
          </a:p>
        </p:txBody>
      </p:sp>
      <p:sp>
        <p:nvSpPr>
          <p:cNvPr id="48132" name="Slide Number Placeholder 3">
            <a:extLst>
              <a:ext uri="{FF2B5EF4-FFF2-40B4-BE49-F238E27FC236}">
                <a16:creationId xmlns:a16="http://schemas.microsoft.com/office/drawing/2014/main" id="{20DB28DF-2CA7-76EB-2B92-AA4C7208BEE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FD0901D5-4E73-407F-8263-9F3C26974917}" type="slidenum">
              <a:rPr lang="en-US" altLang="en-US">
                <a:latin typeface="Times New Roman" panose="02020603050405020304" pitchFamily="18" charset="0"/>
              </a:rPr>
              <a:pPr/>
              <a:t>15</a:t>
            </a:fld>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7606A2F6-F455-8F11-267D-AAB797A630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CD756B3E-A81C-4F7B-9790-617D9034EBFB}" type="slidenum">
              <a:rPr lang="en-US" altLang="en-US">
                <a:latin typeface="Times New Roman" panose="02020603050405020304" pitchFamily="18" charset="0"/>
              </a:rPr>
              <a:pPr/>
              <a:t>16</a:t>
            </a:fld>
            <a:endParaRPr lang="en-US" altLang="en-US" dirty="0">
              <a:latin typeface="Times New Roman" panose="02020603050405020304" pitchFamily="18" charset="0"/>
            </a:endParaRPr>
          </a:p>
        </p:txBody>
      </p:sp>
      <p:sp>
        <p:nvSpPr>
          <p:cNvPr id="49155" name="Rectangle 2">
            <a:extLst>
              <a:ext uri="{FF2B5EF4-FFF2-40B4-BE49-F238E27FC236}">
                <a16:creationId xmlns:a16="http://schemas.microsoft.com/office/drawing/2014/main" id="{5572C362-9EA1-80D8-3FFA-AA59B66AC2C5}"/>
              </a:ext>
            </a:extLst>
          </p:cNvPr>
          <p:cNvSpPr>
            <a:spLocks noGrp="1" noRot="1" noChangeAspect="1" noChangeArrowheads="1" noTextEdit="1"/>
          </p:cNvSpPr>
          <p:nvPr>
            <p:ph type="sldImg"/>
          </p:nvPr>
        </p:nvSpPr>
        <p:spPr>
          <a:xfrm>
            <a:off x="406400" y="696913"/>
            <a:ext cx="6197600" cy="3486150"/>
          </a:xfrm>
          <a:ln/>
        </p:spPr>
      </p:sp>
      <p:sp>
        <p:nvSpPr>
          <p:cNvPr id="49156" name="Rectangle 3">
            <a:extLst>
              <a:ext uri="{FF2B5EF4-FFF2-40B4-BE49-F238E27FC236}">
                <a16:creationId xmlns:a16="http://schemas.microsoft.com/office/drawing/2014/main" id="{72A52504-F103-FE25-8120-B160AF896C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What explains this pattern of albedo?</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https://weather.com/storms/winter/video/fresh-snow-can-act-like-a-refrigerator-causing-colder-temps</a:t>
            </a:r>
          </a:p>
        </p:txBody>
      </p:sp>
      <p:sp>
        <p:nvSpPr>
          <p:cNvPr id="4" name="Slide Number Placeholder 3"/>
          <p:cNvSpPr>
            <a:spLocks noGrp="1"/>
          </p:cNvSpPr>
          <p:nvPr>
            <p:ph type="sldNum" sz="quarter" idx="5"/>
          </p:nvPr>
        </p:nvSpPr>
        <p:spPr/>
        <p:txBody>
          <a:bodyPr/>
          <a:lstStyle/>
          <a:p>
            <a:fld id="{439C491C-BCC8-492B-8A22-AF0323774E66}" type="slidenum">
              <a:rPr lang="en-US" altLang="en-US" smtClean="0"/>
              <a:pPr/>
              <a:t>17</a:t>
            </a:fld>
            <a:endParaRPr lang="en-US" altLang="en-US" dirty="0"/>
          </a:p>
        </p:txBody>
      </p:sp>
    </p:spTree>
    <p:extLst>
      <p:ext uri="{BB962C8B-B14F-4D97-AF65-F5344CB8AC3E}">
        <p14:creationId xmlns:p14="http://schemas.microsoft.com/office/powerpoint/2010/main" val="2842984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https://www.nytimes.com/2026/01/30/climate/greenland-algae-melting-icesheet.html</a:t>
            </a:r>
          </a:p>
        </p:txBody>
      </p:sp>
      <p:sp>
        <p:nvSpPr>
          <p:cNvPr id="4" name="Slide Number Placeholder 3"/>
          <p:cNvSpPr>
            <a:spLocks noGrp="1"/>
          </p:cNvSpPr>
          <p:nvPr>
            <p:ph type="sldNum" sz="quarter" idx="5"/>
          </p:nvPr>
        </p:nvSpPr>
        <p:spPr/>
        <p:txBody>
          <a:bodyPr/>
          <a:lstStyle/>
          <a:p>
            <a:fld id="{439C491C-BCC8-492B-8A22-AF0323774E66}" type="slidenum">
              <a:rPr lang="en-US" altLang="en-US" smtClean="0"/>
              <a:pPr/>
              <a:t>18</a:t>
            </a:fld>
            <a:endParaRPr lang="en-US" altLang="en-US" dirty="0"/>
          </a:p>
        </p:txBody>
      </p:sp>
    </p:spTree>
    <p:extLst>
      <p:ext uri="{BB962C8B-B14F-4D97-AF65-F5344CB8AC3E}">
        <p14:creationId xmlns:p14="http://schemas.microsoft.com/office/powerpoint/2010/main" val="4136867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3DC98E09-CAD7-63F1-74AD-44C917E2A5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3A40E7AB-0FC1-4F75-84CD-CB4849CD118F}" type="slidenum">
              <a:rPr lang="en-US" altLang="en-US">
                <a:latin typeface="Times New Roman" panose="02020603050405020304" pitchFamily="18" charset="0"/>
              </a:rPr>
              <a:pPr/>
              <a:t>19</a:t>
            </a:fld>
            <a:endParaRPr lang="en-US" altLang="en-US" dirty="0">
              <a:latin typeface="Times New Roman" panose="02020603050405020304" pitchFamily="18" charset="0"/>
            </a:endParaRPr>
          </a:p>
        </p:txBody>
      </p:sp>
      <p:sp>
        <p:nvSpPr>
          <p:cNvPr id="40963" name="Rectangle 2">
            <a:extLst>
              <a:ext uri="{FF2B5EF4-FFF2-40B4-BE49-F238E27FC236}">
                <a16:creationId xmlns:a16="http://schemas.microsoft.com/office/drawing/2014/main" id="{51CD02A2-6E80-1D79-D938-29C39430EE06}"/>
              </a:ext>
            </a:extLst>
          </p:cNvPr>
          <p:cNvSpPr>
            <a:spLocks noGrp="1" noRot="1" noChangeAspect="1" noChangeArrowheads="1" noTextEdit="1"/>
          </p:cNvSpPr>
          <p:nvPr>
            <p:ph type="sldImg"/>
          </p:nvPr>
        </p:nvSpPr>
        <p:spPr>
          <a:xfrm>
            <a:off x="406400" y="696913"/>
            <a:ext cx="6197600" cy="3486150"/>
          </a:xfrm>
          <a:ln/>
        </p:spPr>
      </p:sp>
      <p:sp>
        <p:nvSpPr>
          <p:cNvPr id="40964" name="Rectangle 3">
            <a:extLst>
              <a:ext uri="{FF2B5EF4-FFF2-40B4-BE49-F238E27FC236}">
                <a16:creationId xmlns:a16="http://schemas.microsoft.com/office/drawing/2014/main" id="{B02F0D6B-B1CD-99CD-6F1E-69732112BB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200" dirty="0"/>
              <a:t>Path of incoming solar radiation (100 units) for the Earth</a:t>
            </a:r>
            <a:br>
              <a:rPr lang="en-US" altLang="en-US" sz="1200" dirty="0"/>
            </a:br>
            <a:br>
              <a:rPr lang="en-US" altLang="en-US" sz="1200" dirty="0"/>
            </a:br>
            <a:r>
              <a:rPr lang="en-US" altLang="en-US" sz="1200" dirty="0"/>
              <a:t>Know the 30-20-50 rule at right rather than trying to memorize all the details – 50% of insolation does not make it to the ground.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4AF454D4-0240-8455-F593-A9FA656759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8D76C2CB-D143-4098-A7AE-0011301B4F9A}" type="slidenum">
              <a:rPr lang="en-US" altLang="en-US">
                <a:latin typeface="Times New Roman" panose="02020603050405020304" pitchFamily="18" charset="0"/>
              </a:rPr>
              <a:pPr/>
              <a:t>20</a:t>
            </a:fld>
            <a:endParaRPr lang="en-US" altLang="en-US" dirty="0">
              <a:latin typeface="Times New Roman" panose="02020603050405020304" pitchFamily="18" charset="0"/>
            </a:endParaRPr>
          </a:p>
        </p:txBody>
      </p:sp>
      <p:sp>
        <p:nvSpPr>
          <p:cNvPr id="43011" name="Rectangle 2">
            <a:extLst>
              <a:ext uri="{FF2B5EF4-FFF2-40B4-BE49-F238E27FC236}">
                <a16:creationId xmlns:a16="http://schemas.microsoft.com/office/drawing/2014/main" id="{563E9CAB-71E8-E9F5-9C08-2C8C5A8C2454}"/>
              </a:ext>
            </a:extLst>
          </p:cNvPr>
          <p:cNvSpPr>
            <a:spLocks noGrp="1" noRot="1" noChangeAspect="1" noChangeArrowheads="1" noTextEdit="1"/>
          </p:cNvSpPr>
          <p:nvPr>
            <p:ph type="sldImg"/>
          </p:nvPr>
        </p:nvSpPr>
        <p:spPr>
          <a:xfrm>
            <a:off x="406400" y="696913"/>
            <a:ext cx="6197600" cy="3486150"/>
          </a:xfrm>
          <a:ln/>
        </p:spPr>
      </p:sp>
      <p:sp>
        <p:nvSpPr>
          <p:cNvPr id="43012" name="Rectangle 3">
            <a:extLst>
              <a:ext uri="{FF2B5EF4-FFF2-40B4-BE49-F238E27FC236}">
                <a16:creationId xmlns:a16="http://schemas.microsoft.com/office/drawing/2014/main" id="{2DF3B4BB-8853-4CD6-0CCA-F069A5A831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But how does this relate to temperature?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D0E8DE29-07A5-497D-8091-666C91F97F8A}"/>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9897CF0-9360-4514-B013-3329271A4694}" type="slidenum">
              <a:rPr lang="en-US" altLang="en-US" sz="1200">
                <a:latin typeface="Times New Roman" panose="02020603050405020304" pitchFamily="18" charset="0"/>
              </a:rPr>
              <a:pPr algn="r" eaLnBrk="1" hangingPunct="1"/>
              <a:t>21</a:t>
            </a:fld>
            <a:endParaRPr lang="en-US" altLang="en-US" sz="1200" dirty="0">
              <a:latin typeface="Times New Roman" panose="02020603050405020304" pitchFamily="18" charset="0"/>
            </a:endParaRPr>
          </a:p>
        </p:txBody>
      </p:sp>
      <p:sp>
        <p:nvSpPr>
          <p:cNvPr id="52227" name="Rectangle 2">
            <a:extLst>
              <a:ext uri="{FF2B5EF4-FFF2-40B4-BE49-F238E27FC236}">
                <a16:creationId xmlns:a16="http://schemas.microsoft.com/office/drawing/2014/main" id="{92B18C5D-ECB7-1804-370D-C2783C15BEA5}"/>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CF9B8537-4E3A-385E-D99B-4FEF7AC14C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en-US" sz="900" dirty="0"/>
              <a:t>Energy in radiation can be converted to thermal energy. Energy in the shortwave radiation from the Sun strikes molecules on the surface or in water or air and sets them into motion. This motion is thermal kinetic energy, which can be measured as temperature. Heat moves between locations due to differences in temperature. </a:t>
            </a:r>
          </a:p>
          <a:p>
            <a:pPr eaLnBrk="1" hangingPunct="1">
              <a:lnSpc>
                <a:spcPct val="80000"/>
              </a:lnSpc>
            </a:pPr>
            <a:endParaRPr lang="en-US" altLang="en-US" sz="900" dirty="0"/>
          </a:p>
          <a:p>
            <a:pPr eaLnBrk="1" hangingPunct="1">
              <a:lnSpc>
                <a:spcPct val="80000"/>
              </a:lnSpc>
            </a:pPr>
            <a:r>
              <a:rPr lang="en-US" altLang="en-US" sz="900" dirty="0"/>
              <a:t>Heat is a manifestation of energy through its ability to do work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95B9F56-23B6-A9A0-B39A-A635460372DF}"/>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9E1BC07-84E3-401F-ABBB-4CD50D4A57F9}" type="slidenum">
              <a:rPr lang="en-US" altLang="en-US" sz="1200">
                <a:latin typeface="Times New Roman" panose="02020603050405020304" pitchFamily="18" charset="0"/>
              </a:rPr>
              <a:pPr algn="r" eaLnBrk="1" hangingPunct="1"/>
              <a:t>22</a:t>
            </a:fld>
            <a:endParaRPr lang="en-US" altLang="en-US" sz="1200" dirty="0">
              <a:latin typeface="Times New Roman" panose="02020603050405020304" pitchFamily="18" charset="0"/>
            </a:endParaRPr>
          </a:p>
        </p:txBody>
      </p:sp>
      <p:sp>
        <p:nvSpPr>
          <p:cNvPr id="53251" name="Rectangle 2">
            <a:extLst>
              <a:ext uri="{FF2B5EF4-FFF2-40B4-BE49-F238E27FC236}">
                <a16:creationId xmlns:a16="http://schemas.microsoft.com/office/drawing/2014/main" id="{E842BEE2-DE3B-1050-0A0B-C3C182539CF5}"/>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313B33D5-444D-D352-3A02-5853D3D6D3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Shortwave radiation from the Sun is selectively absorbed by the atmosphere, oceans, and land surfaces. Absorbed energy increases molecular motion, warming these surfaces, which then emit longwave radiation. When this radiation is absorbed by surrounding air, land, or water, heat is transferred and can be measured as changes in temperature.</a:t>
            </a:r>
          </a:p>
          <a:p>
            <a:pPr eaLnBrk="1" hangingPunct="1"/>
            <a:br>
              <a:rPr lang="en-US" altLang="en-US" dirty="0"/>
            </a:br>
            <a:r>
              <a:rPr lang="en-US" altLang="en-US" dirty="0"/>
              <a:t>What is the difference between thermal energy and temperature? Compare the same volume of ocean (high thermal energy, low temperature) to that of the outer atmosphere, the thermosphere, on the edge of space, which has few molecules, but they have lots of energy, thus low thermal energy but high temperature (2200 degrees F).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EAE6D1D6-18A7-4CE7-DF1F-4A43AB506772}"/>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9926881-EBD5-4496-9AEF-0B31683E855F}" type="slidenum">
              <a:rPr lang="en-US" altLang="en-US" sz="1200">
                <a:latin typeface="Times New Roman" panose="02020603050405020304" pitchFamily="18" charset="0"/>
              </a:rPr>
              <a:pPr algn="r" eaLnBrk="1" hangingPunct="1"/>
              <a:t>23</a:t>
            </a:fld>
            <a:endParaRPr lang="en-US" altLang="en-US" sz="1200" dirty="0">
              <a:latin typeface="Times New Roman" panose="02020603050405020304" pitchFamily="18" charset="0"/>
            </a:endParaRPr>
          </a:p>
        </p:txBody>
      </p:sp>
      <p:sp>
        <p:nvSpPr>
          <p:cNvPr id="54275" name="Rectangle 2">
            <a:extLst>
              <a:ext uri="{FF2B5EF4-FFF2-40B4-BE49-F238E27FC236}">
                <a16:creationId xmlns:a16="http://schemas.microsoft.com/office/drawing/2014/main" id="{A2BFF9C4-DAAB-3E1F-819B-9F1706345ABB}"/>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F4F1E6E0-11D8-8B5D-938A-224833D4A7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0" dirty="0">
                <a:solidFill>
                  <a:schemeClr val="tx1"/>
                </a:solidFill>
              </a:rPr>
              <a:t>Latent heat cannot be measured directly because it represents the energy absorbed or released during a phase change of water without a corresponding change in temperature. Traditional thermometers measure temperature, but during a phase transition (e.g., melting, boiling, condensation of water), the temperature remains constant while heat energy is either absorbed or released</a:t>
            </a:r>
            <a:r>
              <a:rPr lang="en-US" dirty="0"/>
              <a:t>. When a substance undergoes a phase change (e.g., water turning into steam), energy goes into </a:t>
            </a:r>
            <a:r>
              <a:rPr lang="en-US" b="0" dirty="0"/>
              <a:t>breaking or forming intermolecular bonds </a:t>
            </a:r>
            <a:r>
              <a:rPr lang="en-US" dirty="0"/>
              <a:t>rather than increasing kinetic energy. Since temperature measures kinetic energy, it does not change, making direct measurement impossible with a thermometer.</a:t>
            </a:r>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C3602-1071-98A0-0640-A7BC3E097BDD}"/>
            </a:ext>
          </a:extLst>
        </p:cNvPr>
        <p:cNvGrpSpPr/>
        <p:nvPr/>
      </p:nvGrpSpPr>
      <p:grpSpPr>
        <a:xfrm>
          <a:off x="0" y="0"/>
          <a:ext cx="0" cy="0"/>
          <a:chOff x="0" y="0"/>
          <a:chExt cx="0" cy="0"/>
        </a:xfrm>
      </p:grpSpPr>
      <p:sp>
        <p:nvSpPr>
          <p:cNvPr id="53250" name="Rectangle 7">
            <a:extLst>
              <a:ext uri="{FF2B5EF4-FFF2-40B4-BE49-F238E27FC236}">
                <a16:creationId xmlns:a16="http://schemas.microsoft.com/office/drawing/2014/main" id="{3919E74A-C136-CF72-10C0-E56728F03EA5}"/>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9E1BC07-84E3-401F-ABBB-4CD50D4A57F9}" type="slidenum">
              <a:rPr lang="en-US" altLang="en-US" sz="1200">
                <a:latin typeface="Times New Roman" panose="02020603050405020304" pitchFamily="18" charset="0"/>
              </a:rPr>
              <a:pPr algn="r" eaLnBrk="1" hangingPunct="1"/>
              <a:t>24</a:t>
            </a:fld>
            <a:endParaRPr lang="en-US" altLang="en-US" sz="1200" dirty="0">
              <a:latin typeface="Times New Roman" panose="02020603050405020304" pitchFamily="18" charset="0"/>
            </a:endParaRPr>
          </a:p>
        </p:txBody>
      </p:sp>
      <p:sp>
        <p:nvSpPr>
          <p:cNvPr id="53251" name="Rectangle 2">
            <a:extLst>
              <a:ext uri="{FF2B5EF4-FFF2-40B4-BE49-F238E27FC236}">
                <a16:creationId xmlns:a16="http://schemas.microsoft.com/office/drawing/2014/main" id="{46DF8937-4062-EC90-79E5-06C4D1B16B73}"/>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52EEC9A8-91CA-F84F-A1F6-AA6BCFD4FF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Radiation is a thing, like shortwave radiation, and it is also a process, as shown here as radiative transfer of heat</a:t>
            </a:r>
          </a:p>
        </p:txBody>
      </p:sp>
    </p:spTree>
    <p:extLst>
      <p:ext uri="{BB962C8B-B14F-4D97-AF65-F5344CB8AC3E}">
        <p14:creationId xmlns:p14="http://schemas.microsoft.com/office/powerpoint/2010/main" val="727759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and cold air advection associated with a warm front and a cold front</a:t>
            </a:r>
          </a:p>
        </p:txBody>
      </p:sp>
      <p:sp>
        <p:nvSpPr>
          <p:cNvPr id="4" name="Slide Number Placeholder 3"/>
          <p:cNvSpPr>
            <a:spLocks noGrp="1"/>
          </p:cNvSpPr>
          <p:nvPr>
            <p:ph type="sldNum" sz="quarter" idx="5"/>
          </p:nvPr>
        </p:nvSpPr>
        <p:spPr/>
        <p:txBody>
          <a:bodyPr/>
          <a:lstStyle/>
          <a:p>
            <a:fld id="{439C491C-BCC8-492B-8A22-AF0323774E66}" type="slidenum">
              <a:rPr lang="en-US" altLang="en-US" smtClean="0"/>
              <a:pPr/>
              <a:t>27</a:t>
            </a:fld>
            <a:endParaRPr lang="en-US" altLang="en-US" dirty="0"/>
          </a:p>
        </p:txBody>
      </p:sp>
    </p:spTree>
    <p:extLst>
      <p:ext uri="{BB962C8B-B14F-4D97-AF65-F5344CB8AC3E}">
        <p14:creationId xmlns:p14="http://schemas.microsoft.com/office/powerpoint/2010/main" val="15972710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5946798A-CF06-D88C-E532-5A9F8EFF9DDA}"/>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F28EEC64-357B-4ADD-B5C5-77805013D86E}" type="slidenum">
              <a:rPr lang="en-US" altLang="en-US" sz="1200">
                <a:latin typeface="Times New Roman" panose="02020603050405020304" pitchFamily="18" charset="0"/>
              </a:rPr>
              <a:pPr algn="r" eaLnBrk="1" hangingPunct="1"/>
              <a:t>28</a:t>
            </a:fld>
            <a:endParaRPr lang="en-US" altLang="en-US" sz="1200" dirty="0">
              <a:latin typeface="Times New Roman" panose="02020603050405020304" pitchFamily="18" charset="0"/>
            </a:endParaRPr>
          </a:p>
        </p:txBody>
      </p:sp>
      <p:sp>
        <p:nvSpPr>
          <p:cNvPr id="56323" name="Rectangle 2">
            <a:extLst>
              <a:ext uri="{FF2B5EF4-FFF2-40B4-BE49-F238E27FC236}">
                <a16:creationId xmlns:a16="http://schemas.microsoft.com/office/drawing/2014/main" id="{8CB70858-E311-7DF2-5B72-6876EA65ACD3}"/>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19D9BD32-ABB2-95AD-3850-64B621686F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Processes going to the right, like melting, sublimation, and evaporation cool the environment because sensible heat is converted to latent heat and this latent heat is now tied up in the phase changes of water. It is stored as potential energy in liquid water or water vapor. </a:t>
            </a:r>
            <a:br>
              <a:rPr lang="en-US" altLang="en-US" dirty="0"/>
            </a:br>
            <a:br>
              <a:rPr lang="en-US" altLang="en-US" dirty="0"/>
            </a:br>
            <a:r>
              <a:rPr lang="en-US" altLang="en-US" dirty="0"/>
              <a:t>Processes going to the left, like condensation, freezing, or deposition warm the environment because latent heat is converted to sensible heat. The potential energy stored in water vapor or liquid water is released to the environment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F67AEE6-F757-5D64-B807-452808D41F8D}"/>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ECD4B41-A71F-4683-BB33-6A183FF8BFDC}" type="slidenum">
              <a:rPr lang="en-US" altLang="en-US" sz="1200">
                <a:latin typeface="Times New Roman" panose="02020603050405020304" pitchFamily="18" charset="0"/>
              </a:rPr>
              <a:pPr algn="r" eaLnBrk="1" hangingPunct="1"/>
              <a:t>30</a:t>
            </a:fld>
            <a:endParaRPr lang="en-US" altLang="en-US" sz="1200" dirty="0">
              <a:latin typeface="Times New Roman" panose="02020603050405020304" pitchFamily="18" charset="0"/>
            </a:endParaRPr>
          </a:p>
        </p:txBody>
      </p:sp>
      <p:sp>
        <p:nvSpPr>
          <p:cNvPr id="58371" name="Rectangle 2">
            <a:extLst>
              <a:ext uri="{FF2B5EF4-FFF2-40B4-BE49-F238E27FC236}">
                <a16:creationId xmlns:a16="http://schemas.microsoft.com/office/drawing/2014/main" id="{711A89CA-9383-3685-60E8-80F5301A212A}"/>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7D36ABDA-725D-0BEC-2AAB-2005B62D20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68EC6FA0-9750-EAF3-B1EB-FEE331E860C9}"/>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67C6CB3-B87C-49A1-AA8B-6898E70F8F1C}" type="slidenum">
              <a:rPr lang="en-US" altLang="en-US" sz="1200">
                <a:latin typeface="Times New Roman" panose="02020603050405020304" pitchFamily="18" charset="0"/>
              </a:rPr>
              <a:pPr algn="r" eaLnBrk="1" hangingPunct="1"/>
              <a:t>32</a:t>
            </a:fld>
            <a:endParaRPr lang="en-US" altLang="en-US" sz="1200" dirty="0">
              <a:latin typeface="Times New Roman" panose="02020603050405020304" pitchFamily="18" charset="0"/>
            </a:endParaRPr>
          </a:p>
        </p:txBody>
      </p:sp>
      <p:sp>
        <p:nvSpPr>
          <p:cNvPr id="59395" name="Rectangle 2">
            <a:extLst>
              <a:ext uri="{FF2B5EF4-FFF2-40B4-BE49-F238E27FC236}">
                <a16:creationId xmlns:a16="http://schemas.microsoft.com/office/drawing/2014/main" id="{829F8454-054D-FF56-DC9C-FBC73BEC0481}"/>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D573E06F-4C4E-7030-5478-0A45465C92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Weather and climate patterns are the Earth’s way of balancing the radiation and heat budget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8DAF73AE-8B06-2720-2F6F-434A91C9923B}"/>
              </a:ext>
            </a:extLst>
          </p:cNvPr>
          <p:cNvSpPr txBox="1">
            <a:spLocks noGrp="1" noChangeArrowheads="1"/>
          </p:cNvSpPr>
          <p:nvPr/>
        </p:nvSpPr>
        <p:spPr bwMode="auto">
          <a:xfrm>
            <a:off x="3970338" y="8829675"/>
            <a:ext cx="30384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1CB3CF5-6A0B-47A1-A368-FB9238E7D147}" type="slidenum">
              <a:rPr lang="en-US" altLang="en-US" sz="1200">
                <a:latin typeface="Times New Roman" panose="02020603050405020304" pitchFamily="18" charset="0"/>
              </a:rPr>
              <a:pPr algn="r" eaLnBrk="1" hangingPunct="1"/>
              <a:t>34</a:t>
            </a:fld>
            <a:endParaRPr lang="en-US" altLang="en-US" sz="1200" dirty="0">
              <a:latin typeface="Times New Roman" panose="02020603050405020304" pitchFamily="18" charset="0"/>
            </a:endParaRPr>
          </a:p>
        </p:txBody>
      </p:sp>
      <p:sp>
        <p:nvSpPr>
          <p:cNvPr id="60419" name="Rectangle 2">
            <a:extLst>
              <a:ext uri="{FF2B5EF4-FFF2-40B4-BE49-F238E27FC236}">
                <a16:creationId xmlns:a16="http://schemas.microsoft.com/office/drawing/2014/main" id="{A416CFA2-09CB-E2CE-D889-FCD308829660}"/>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C72A047E-8E0C-2E0D-EC37-EEBF6A75BC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Note how the warm ocean currents tend to flow toward the poles and the cold ocean currents tend to flow toward the equator. The Earth’s movements of heat through air and water happen because of the shifting heat imbalance between the tropics and the poles.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C2EB027-C384-B081-3F62-4B3A1706CA5B}"/>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DFAE3EE7-7F6B-B912-DB00-348FF3C7E811}"/>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8EA15C84-2F7C-FDB0-C168-90F82F3C8BBA}"/>
              </a:ext>
            </a:extLst>
          </p:cNvPr>
          <p:cNvSpPr>
            <a:spLocks noGrp="1" noChangeArrowheads="1"/>
          </p:cNvSpPr>
          <p:nvPr>
            <p:ph type="sldNum" sz="quarter" idx="12"/>
          </p:nvPr>
        </p:nvSpPr>
        <p:spPr>
          <a:ln/>
        </p:spPr>
        <p:txBody>
          <a:bodyPr/>
          <a:lstStyle>
            <a:lvl1pPr>
              <a:defRPr/>
            </a:lvl1pPr>
          </a:lstStyle>
          <a:p>
            <a:fld id="{49178A3B-424D-403D-8997-2368259B86A4}" type="slidenum">
              <a:rPr lang="en-US" altLang="en-US"/>
              <a:pPr/>
              <a:t>‹#›</a:t>
            </a:fld>
            <a:endParaRPr lang="en-US" altLang="en-US" dirty="0"/>
          </a:p>
        </p:txBody>
      </p:sp>
    </p:spTree>
    <p:extLst>
      <p:ext uri="{BB962C8B-B14F-4D97-AF65-F5344CB8AC3E}">
        <p14:creationId xmlns:p14="http://schemas.microsoft.com/office/powerpoint/2010/main" val="1920651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CE9E637-3A46-7ADB-5816-9CD278C536D0}"/>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D4FF86E4-93B7-E32B-98B3-039BF89178D6}"/>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692CA785-BF00-D74A-6724-7FC4DFF0FD91}"/>
              </a:ext>
            </a:extLst>
          </p:cNvPr>
          <p:cNvSpPr>
            <a:spLocks noGrp="1" noChangeArrowheads="1"/>
          </p:cNvSpPr>
          <p:nvPr>
            <p:ph type="sldNum" sz="quarter" idx="12"/>
          </p:nvPr>
        </p:nvSpPr>
        <p:spPr>
          <a:ln/>
        </p:spPr>
        <p:txBody>
          <a:bodyPr/>
          <a:lstStyle>
            <a:lvl1pPr>
              <a:defRPr sz="1600">
                <a:latin typeface="+mj-lt"/>
              </a:defRPr>
            </a:lvl1pPr>
          </a:lstStyle>
          <a:p>
            <a:fld id="{484D8ABC-0652-417C-8248-375E199FD30E}" type="slidenum">
              <a:rPr lang="en-US" altLang="en-US" smtClean="0"/>
              <a:pPr/>
              <a:t>‹#›</a:t>
            </a:fld>
            <a:endParaRPr lang="en-US" altLang="en-US" dirty="0"/>
          </a:p>
        </p:txBody>
      </p:sp>
    </p:spTree>
    <p:extLst>
      <p:ext uri="{BB962C8B-B14F-4D97-AF65-F5344CB8AC3E}">
        <p14:creationId xmlns:p14="http://schemas.microsoft.com/office/powerpoint/2010/main" val="2994774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5A3EA6E-13C9-A15B-62B3-D5736CF51DB3}"/>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75021773-62E0-7359-5597-9B986787E48E}"/>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C73ED985-D37E-7213-8BCB-3C9B3F6CBE5C}"/>
              </a:ext>
            </a:extLst>
          </p:cNvPr>
          <p:cNvSpPr>
            <a:spLocks noGrp="1" noChangeArrowheads="1"/>
          </p:cNvSpPr>
          <p:nvPr>
            <p:ph type="sldNum" sz="quarter" idx="12"/>
          </p:nvPr>
        </p:nvSpPr>
        <p:spPr>
          <a:ln/>
        </p:spPr>
        <p:txBody>
          <a:bodyPr/>
          <a:lstStyle>
            <a:lvl1pPr>
              <a:defRPr/>
            </a:lvl1pPr>
          </a:lstStyle>
          <a:p>
            <a:fld id="{B8236213-999C-4FCB-B8D3-1A39B27BAEDA}" type="slidenum">
              <a:rPr lang="en-US" altLang="en-US"/>
              <a:pPr/>
              <a:t>‹#›</a:t>
            </a:fld>
            <a:endParaRPr lang="en-US" altLang="en-US" dirty="0"/>
          </a:p>
        </p:txBody>
      </p:sp>
    </p:spTree>
    <p:extLst>
      <p:ext uri="{BB962C8B-B14F-4D97-AF65-F5344CB8AC3E}">
        <p14:creationId xmlns:p14="http://schemas.microsoft.com/office/powerpoint/2010/main" val="3681152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51161EF-F192-5978-BD43-C8402B0F4E4A}"/>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2B3401CF-03FB-A33A-22A1-4DC6449F6D72}"/>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4339D03B-C6F7-2779-FA1E-9B77770106A2}"/>
              </a:ext>
            </a:extLst>
          </p:cNvPr>
          <p:cNvSpPr>
            <a:spLocks noGrp="1" noChangeArrowheads="1"/>
          </p:cNvSpPr>
          <p:nvPr>
            <p:ph type="sldNum" sz="quarter" idx="12"/>
          </p:nvPr>
        </p:nvSpPr>
        <p:spPr>
          <a:ln/>
        </p:spPr>
        <p:txBody>
          <a:bodyPr/>
          <a:lstStyle>
            <a:lvl1pPr>
              <a:defRPr/>
            </a:lvl1pPr>
          </a:lstStyle>
          <a:p>
            <a:fld id="{0462EACD-4FB9-440B-A825-CA801F17E3C5}" type="slidenum">
              <a:rPr lang="en-US" altLang="en-US"/>
              <a:pPr/>
              <a:t>‹#›</a:t>
            </a:fld>
            <a:endParaRPr lang="en-US" altLang="en-US" dirty="0"/>
          </a:p>
        </p:txBody>
      </p:sp>
    </p:spTree>
    <p:extLst>
      <p:ext uri="{BB962C8B-B14F-4D97-AF65-F5344CB8AC3E}">
        <p14:creationId xmlns:p14="http://schemas.microsoft.com/office/powerpoint/2010/main" val="3267701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08FCAD8-1F9D-A051-57CF-3CA5A1F0FB4C}"/>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a:extLst>
              <a:ext uri="{FF2B5EF4-FFF2-40B4-BE49-F238E27FC236}">
                <a16:creationId xmlns:a16="http://schemas.microsoft.com/office/drawing/2014/main" id="{20A7517B-1958-2534-23C4-2219B05A34DD}"/>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a:extLst>
              <a:ext uri="{FF2B5EF4-FFF2-40B4-BE49-F238E27FC236}">
                <a16:creationId xmlns:a16="http://schemas.microsoft.com/office/drawing/2014/main" id="{FC575F74-35A7-844B-9D05-CC948BF69C29}"/>
              </a:ext>
            </a:extLst>
          </p:cNvPr>
          <p:cNvSpPr>
            <a:spLocks noGrp="1" noChangeArrowheads="1"/>
          </p:cNvSpPr>
          <p:nvPr>
            <p:ph type="sldNum" sz="quarter" idx="12"/>
          </p:nvPr>
        </p:nvSpPr>
        <p:spPr>
          <a:ln/>
        </p:spPr>
        <p:txBody>
          <a:bodyPr/>
          <a:lstStyle>
            <a:lvl1pPr>
              <a:defRPr/>
            </a:lvl1pPr>
          </a:lstStyle>
          <a:p>
            <a:fld id="{DB8710E3-1780-4D03-A831-D698BA23FFB1}" type="slidenum">
              <a:rPr lang="en-US" altLang="en-US"/>
              <a:pPr/>
              <a:t>‹#›</a:t>
            </a:fld>
            <a:endParaRPr lang="en-US" altLang="en-US" dirty="0"/>
          </a:p>
        </p:txBody>
      </p:sp>
    </p:spTree>
    <p:extLst>
      <p:ext uri="{BB962C8B-B14F-4D97-AF65-F5344CB8AC3E}">
        <p14:creationId xmlns:p14="http://schemas.microsoft.com/office/powerpoint/2010/main" val="310189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15BEDF4-992C-709A-1CE8-BE535438E777}"/>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a:extLst>
              <a:ext uri="{FF2B5EF4-FFF2-40B4-BE49-F238E27FC236}">
                <a16:creationId xmlns:a16="http://schemas.microsoft.com/office/drawing/2014/main" id="{F0AE0303-16AA-75FF-9A39-38EC3F84A9CC}"/>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a:extLst>
              <a:ext uri="{FF2B5EF4-FFF2-40B4-BE49-F238E27FC236}">
                <a16:creationId xmlns:a16="http://schemas.microsoft.com/office/drawing/2014/main" id="{FE498564-8F20-D546-7196-321DFD8EB6F0}"/>
              </a:ext>
            </a:extLst>
          </p:cNvPr>
          <p:cNvSpPr>
            <a:spLocks noGrp="1" noChangeArrowheads="1"/>
          </p:cNvSpPr>
          <p:nvPr>
            <p:ph type="sldNum" sz="quarter" idx="12"/>
          </p:nvPr>
        </p:nvSpPr>
        <p:spPr>
          <a:ln/>
        </p:spPr>
        <p:txBody>
          <a:bodyPr/>
          <a:lstStyle>
            <a:lvl1pPr>
              <a:defRPr/>
            </a:lvl1pPr>
          </a:lstStyle>
          <a:p>
            <a:fld id="{8231C4E5-58AC-4D76-A320-E60922DC93F7}" type="slidenum">
              <a:rPr lang="en-US" altLang="en-US"/>
              <a:pPr/>
              <a:t>‹#›</a:t>
            </a:fld>
            <a:endParaRPr lang="en-US" altLang="en-US" dirty="0"/>
          </a:p>
        </p:txBody>
      </p:sp>
    </p:spTree>
    <p:extLst>
      <p:ext uri="{BB962C8B-B14F-4D97-AF65-F5344CB8AC3E}">
        <p14:creationId xmlns:p14="http://schemas.microsoft.com/office/powerpoint/2010/main" val="2176431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C384B8A-4947-D947-690E-B8E36BFA140C}"/>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a:extLst>
              <a:ext uri="{FF2B5EF4-FFF2-40B4-BE49-F238E27FC236}">
                <a16:creationId xmlns:a16="http://schemas.microsoft.com/office/drawing/2014/main" id="{8DD3897E-CA9C-3A8A-D288-9B2333DB41CD}"/>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a:extLst>
              <a:ext uri="{FF2B5EF4-FFF2-40B4-BE49-F238E27FC236}">
                <a16:creationId xmlns:a16="http://schemas.microsoft.com/office/drawing/2014/main" id="{B9F58AB4-A055-E58A-86A9-C59125DFF395}"/>
              </a:ext>
            </a:extLst>
          </p:cNvPr>
          <p:cNvSpPr>
            <a:spLocks noGrp="1" noChangeArrowheads="1"/>
          </p:cNvSpPr>
          <p:nvPr>
            <p:ph type="sldNum" sz="quarter" idx="12"/>
          </p:nvPr>
        </p:nvSpPr>
        <p:spPr>
          <a:ln/>
        </p:spPr>
        <p:txBody>
          <a:bodyPr/>
          <a:lstStyle>
            <a:lvl1pPr>
              <a:defRPr/>
            </a:lvl1pPr>
          </a:lstStyle>
          <a:p>
            <a:fld id="{779DC8B8-2509-4163-AD96-E39B2FF13D7D}" type="slidenum">
              <a:rPr lang="en-US" altLang="en-US"/>
              <a:pPr/>
              <a:t>‹#›</a:t>
            </a:fld>
            <a:endParaRPr lang="en-US" altLang="en-US" dirty="0"/>
          </a:p>
        </p:txBody>
      </p:sp>
    </p:spTree>
    <p:extLst>
      <p:ext uri="{BB962C8B-B14F-4D97-AF65-F5344CB8AC3E}">
        <p14:creationId xmlns:p14="http://schemas.microsoft.com/office/powerpoint/2010/main" val="3194865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3634BB3-2B60-ED6F-B9C8-CD21735AB9E4}"/>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8D272781-28A1-44CA-B8FA-FF7898EC9BE7}"/>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A0CE13EE-53EC-8B88-5094-75EEC50D2F60}"/>
              </a:ext>
            </a:extLst>
          </p:cNvPr>
          <p:cNvSpPr>
            <a:spLocks noGrp="1" noChangeArrowheads="1"/>
          </p:cNvSpPr>
          <p:nvPr>
            <p:ph type="sldNum" sz="quarter" idx="12"/>
          </p:nvPr>
        </p:nvSpPr>
        <p:spPr>
          <a:ln/>
        </p:spPr>
        <p:txBody>
          <a:bodyPr/>
          <a:lstStyle>
            <a:lvl1pPr>
              <a:defRPr/>
            </a:lvl1pPr>
          </a:lstStyle>
          <a:p>
            <a:fld id="{1A513F96-7B41-44B2-8FD6-BDA267502ED3}" type="slidenum">
              <a:rPr lang="en-US" altLang="en-US"/>
              <a:pPr/>
              <a:t>‹#›</a:t>
            </a:fld>
            <a:endParaRPr lang="en-US" altLang="en-US" dirty="0"/>
          </a:p>
        </p:txBody>
      </p:sp>
    </p:spTree>
    <p:extLst>
      <p:ext uri="{BB962C8B-B14F-4D97-AF65-F5344CB8AC3E}">
        <p14:creationId xmlns:p14="http://schemas.microsoft.com/office/powerpoint/2010/main" val="3755617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5A93D6F-40FE-3CAB-A211-CB366AF91F6D}"/>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a:extLst>
              <a:ext uri="{FF2B5EF4-FFF2-40B4-BE49-F238E27FC236}">
                <a16:creationId xmlns:a16="http://schemas.microsoft.com/office/drawing/2014/main" id="{E276B8A4-5A02-4EE6-F6B2-4E9CBDC5B3CE}"/>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a:extLst>
              <a:ext uri="{FF2B5EF4-FFF2-40B4-BE49-F238E27FC236}">
                <a16:creationId xmlns:a16="http://schemas.microsoft.com/office/drawing/2014/main" id="{6CC48CCA-19FB-838D-A376-24A11777ACA9}"/>
              </a:ext>
            </a:extLst>
          </p:cNvPr>
          <p:cNvSpPr>
            <a:spLocks noGrp="1" noChangeArrowheads="1"/>
          </p:cNvSpPr>
          <p:nvPr>
            <p:ph type="sldNum" sz="quarter" idx="12"/>
          </p:nvPr>
        </p:nvSpPr>
        <p:spPr>
          <a:ln/>
        </p:spPr>
        <p:txBody>
          <a:bodyPr/>
          <a:lstStyle>
            <a:lvl1pPr>
              <a:defRPr/>
            </a:lvl1pPr>
          </a:lstStyle>
          <a:p>
            <a:fld id="{E65A50E5-8B7B-4CF8-94C9-B002FD1B0C1F}" type="slidenum">
              <a:rPr lang="en-US" altLang="en-US"/>
              <a:pPr/>
              <a:t>‹#›</a:t>
            </a:fld>
            <a:endParaRPr lang="en-US" altLang="en-US" dirty="0"/>
          </a:p>
        </p:txBody>
      </p:sp>
    </p:spTree>
    <p:extLst>
      <p:ext uri="{BB962C8B-B14F-4D97-AF65-F5344CB8AC3E}">
        <p14:creationId xmlns:p14="http://schemas.microsoft.com/office/powerpoint/2010/main" val="518489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60B0808-48A6-F372-F92F-BEBDCD3B0476}"/>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0D5B0D41-0FEF-F264-1A66-CB86D5FAE6CA}"/>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D977514F-7B1C-D735-A72B-E5EC8E9C3696}"/>
              </a:ext>
            </a:extLst>
          </p:cNvPr>
          <p:cNvSpPr>
            <a:spLocks noGrp="1" noChangeArrowheads="1"/>
          </p:cNvSpPr>
          <p:nvPr>
            <p:ph type="sldNum" sz="quarter" idx="12"/>
          </p:nvPr>
        </p:nvSpPr>
        <p:spPr>
          <a:ln/>
        </p:spPr>
        <p:txBody>
          <a:bodyPr/>
          <a:lstStyle>
            <a:lvl1pPr>
              <a:defRPr/>
            </a:lvl1pPr>
          </a:lstStyle>
          <a:p>
            <a:fld id="{78C57A61-1455-4B02-981B-73DB9385CC21}" type="slidenum">
              <a:rPr lang="en-US" altLang="en-US"/>
              <a:pPr/>
              <a:t>‹#›</a:t>
            </a:fld>
            <a:endParaRPr lang="en-US" altLang="en-US" dirty="0"/>
          </a:p>
        </p:txBody>
      </p:sp>
    </p:spTree>
    <p:extLst>
      <p:ext uri="{BB962C8B-B14F-4D97-AF65-F5344CB8AC3E}">
        <p14:creationId xmlns:p14="http://schemas.microsoft.com/office/powerpoint/2010/main" val="3306264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9A68398-D72C-BBBD-D236-23ED03B8D5E0}"/>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a:extLst>
              <a:ext uri="{FF2B5EF4-FFF2-40B4-BE49-F238E27FC236}">
                <a16:creationId xmlns:a16="http://schemas.microsoft.com/office/drawing/2014/main" id="{C4047046-3CAC-3A03-9FD4-DB20648A8996}"/>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a:extLst>
              <a:ext uri="{FF2B5EF4-FFF2-40B4-BE49-F238E27FC236}">
                <a16:creationId xmlns:a16="http://schemas.microsoft.com/office/drawing/2014/main" id="{186B13B4-D5EA-3177-11E0-18CB332A7598}"/>
              </a:ext>
            </a:extLst>
          </p:cNvPr>
          <p:cNvSpPr>
            <a:spLocks noGrp="1" noChangeArrowheads="1"/>
          </p:cNvSpPr>
          <p:nvPr>
            <p:ph type="sldNum" sz="quarter" idx="12"/>
          </p:nvPr>
        </p:nvSpPr>
        <p:spPr>
          <a:ln/>
        </p:spPr>
        <p:txBody>
          <a:bodyPr/>
          <a:lstStyle>
            <a:lvl1pPr>
              <a:defRPr/>
            </a:lvl1pPr>
          </a:lstStyle>
          <a:p>
            <a:fld id="{D88EDDD9-E0E8-4D51-BEE2-674BFB1AF036}" type="slidenum">
              <a:rPr lang="en-US" altLang="en-US"/>
              <a:pPr/>
              <a:t>‹#›</a:t>
            </a:fld>
            <a:endParaRPr lang="en-US" altLang="en-US" dirty="0"/>
          </a:p>
        </p:txBody>
      </p:sp>
    </p:spTree>
    <p:extLst>
      <p:ext uri="{BB962C8B-B14F-4D97-AF65-F5344CB8AC3E}">
        <p14:creationId xmlns:p14="http://schemas.microsoft.com/office/powerpoint/2010/main" val="38737619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a:extLst>
              <a:ext uri="{FF2B5EF4-FFF2-40B4-BE49-F238E27FC236}">
                <a16:creationId xmlns:a16="http://schemas.microsoft.com/office/drawing/2014/main" id="{F1507295-6BAD-BDFF-2E22-13AC874C9F6A}"/>
              </a:ext>
            </a:extLst>
          </p:cNvPr>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a:extLst>
              <a:ext uri="{FF2B5EF4-FFF2-40B4-BE49-F238E27FC236}">
                <a16:creationId xmlns:a16="http://schemas.microsoft.com/office/drawing/2014/main" id="{803E4101-817E-4B93-130C-B45B1ADCA3F5}"/>
              </a:ext>
            </a:extLst>
          </p:cNvPr>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a:extLst>
              <a:ext uri="{FF2B5EF4-FFF2-40B4-BE49-F238E27FC236}">
                <a16:creationId xmlns:a16="http://schemas.microsoft.com/office/drawing/2014/main" id="{2551EAF6-0704-7542-FBAA-C7C4398CA497}"/>
              </a:ext>
            </a:extLst>
          </p:cNvPr>
          <p:cNvSpPr>
            <a:spLocks noGrp="1" noChangeArrowheads="1"/>
          </p:cNvSpPr>
          <p:nvPr>
            <p:ph type="sldNum" sz="quarter" idx="12"/>
          </p:nvPr>
        </p:nvSpPr>
        <p:spPr>
          <a:ln/>
        </p:spPr>
        <p:txBody>
          <a:bodyPr/>
          <a:lstStyle>
            <a:lvl1pPr>
              <a:defRPr/>
            </a:lvl1pPr>
          </a:lstStyle>
          <a:p>
            <a:fld id="{78400256-EF37-4B7E-8083-3ED11F1E4360}" type="slidenum">
              <a:rPr lang="en-US" altLang="en-US"/>
              <a:pPr/>
              <a:t>‹#›</a:t>
            </a:fld>
            <a:endParaRPr lang="en-US" altLang="en-US" dirty="0"/>
          </a:p>
        </p:txBody>
      </p:sp>
    </p:spTree>
    <p:extLst>
      <p:ext uri="{BB962C8B-B14F-4D97-AF65-F5344CB8AC3E}">
        <p14:creationId xmlns:p14="http://schemas.microsoft.com/office/powerpoint/2010/main" val="2806956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165EBC6-850D-44C0-960B-DF16BB43217D}"/>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a:extLst>
              <a:ext uri="{FF2B5EF4-FFF2-40B4-BE49-F238E27FC236}">
                <a16:creationId xmlns:a16="http://schemas.microsoft.com/office/drawing/2014/main" id="{A1CC5355-EAFD-F327-FE46-B72FB5AF0D65}"/>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8132" name="Rectangle 4">
            <a:extLst>
              <a:ext uri="{FF2B5EF4-FFF2-40B4-BE49-F238E27FC236}">
                <a16:creationId xmlns:a16="http://schemas.microsoft.com/office/drawing/2014/main" id="{5CED1A87-AC65-2601-2A76-E2AED440C9F1}"/>
              </a:ext>
            </a:extLst>
          </p:cNvPr>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dirty="0"/>
          </a:p>
        </p:txBody>
      </p:sp>
      <p:sp>
        <p:nvSpPr>
          <p:cNvPr id="48133" name="Rectangle 5">
            <a:extLst>
              <a:ext uri="{FF2B5EF4-FFF2-40B4-BE49-F238E27FC236}">
                <a16:creationId xmlns:a16="http://schemas.microsoft.com/office/drawing/2014/main" id="{A803A426-3218-8B65-7F98-DA963BC7118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dirty="0"/>
          </a:p>
        </p:txBody>
      </p:sp>
      <p:sp>
        <p:nvSpPr>
          <p:cNvPr id="48134" name="Rectangle 6">
            <a:extLst>
              <a:ext uri="{FF2B5EF4-FFF2-40B4-BE49-F238E27FC236}">
                <a16:creationId xmlns:a16="http://schemas.microsoft.com/office/drawing/2014/main" id="{F364DA2A-CC65-E570-E812-EBCD9EF5EB6C}"/>
              </a:ext>
            </a:extLst>
          </p:cNvPr>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51702A8C-FA79-400E-A7E1-1027D98B39D9}"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gif"/><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hyperlink" Target="http://www-gvm.jrc.it/stars/albedo.ht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4.jpg"/></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fg02_04">
            <a:extLst>
              <a:ext uri="{FF2B5EF4-FFF2-40B4-BE49-F238E27FC236}">
                <a16:creationId xmlns:a16="http://schemas.microsoft.com/office/drawing/2014/main" id="{9DAB81BA-28CC-ADC8-9E95-F64F94AE7C9B}"/>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6626" y="1636643"/>
            <a:ext cx="5892800" cy="4419600"/>
          </a:xfrm>
          <a:noFill/>
        </p:spPr>
      </p:pic>
      <p:sp>
        <p:nvSpPr>
          <p:cNvPr id="3075" name="Text Box 6">
            <a:extLst>
              <a:ext uri="{FF2B5EF4-FFF2-40B4-BE49-F238E27FC236}">
                <a16:creationId xmlns:a16="http://schemas.microsoft.com/office/drawing/2014/main" id="{3A373296-D4A6-81AF-51B1-6916AF3E91DD}"/>
              </a:ext>
            </a:extLst>
          </p:cNvPr>
          <p:cNvSpPr txBox="1">
            <a:spLocks noChangeArrowheads="1"/>
          </p:cNvSpPr>
          <p:nvPr/>
        </p:nvSpPr>
        <p:spPr bwMode="auto">
          <a:xfrm>
            <a:off x="609600" y="263148"/>
            <a:ext cx="10972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600" dirty="0">
                <a:latin typeface="Calibri Light (Headings)"/>
              </a:rPr>
              <a:t>The Earth’s tilt generates the patterns of radiation surplus and deficit at global extents…</a:t>
            </a:r>
          </a:p>
        </p:txBody>
      </p:sp>
      <p:pic>
        <p:nvPicPr>
          <p:cNvPr id="3076" name="Picture 7" descr="fg02_21">
            <a:extLst>
              <a:ext uri="{FF2B5EF4-FFF2-40B4-BE49-F238E27FC236}">
                <a16:creationId xmlns:a16="http://schemas.microsoft.com/office/drawing/2014/main" id="{64C83E49-8887-E52B-7F68-E88BDE5C0F84}"/>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5486400" y="1331843"/>
            <a:ext cx="6705600" cy="5029200"/>
          </a:xfr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8" descr="temperature_airs_200304">
            <a:extLst>
              <a:ext uri="{FF2B5EF4-FFF2-40B4-BE49-F238E27FC236}">
                <a16:creationId xmlns:a16="http://schemas.microsoft.com/office/drawing/2014/main" id="{03BA2EB4-348C-F184-E918-293908824340}"/>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1409700" y="1143000"/>
            <a:ext cx="9372600" cy="5467351"/>
          </a:xfrm>
        </p:spPr>
      </p:pic>
      <p:sp>
        <p:nvSpPr>
          <p:cNvPr id="4099" name="Rectangle 10">
            <a:extLst>
              <a:ext uri="{FF2B5EF4-FFF2-40B4-BE49-F238E27FC236}">
                <a16:creationId xmlns:a16="http://schemas.microsoft.com/office/drawing/2014/main" id="{0E47B2FB-3DE9-6F61-E9FA-6D3B85DF9E72}"/>
              </a:ext>
            </a:extLst>
          </p:cNvPr>
          <p:cNvSpPr>
            <a:spLocks noChangeArrowheads="1"/>
          </p:cNvSpPr>
          <p:nvPr/>
        </p:nvSpPr>
        <p:spPr bwMode="auto">
          <a:xfrm>
            <a:off x="292963" y="247649"/>
            <a:ext cx="1180730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600" dirty="0">
                <a:latin typeface="Calibri Light (Headings)"/>
              </a:rPr>
              <a:t>…which in turn shapes global patterns of heat and temperature </a:t>
            </a:r>
          </a:p>
          <a:p>
            <a:pPr eaLnBrk="1" hangingPunct="1"/>
            <a:endParaRPr lang="en-US" altLang="en-US" sz="2800" dirty="0"/>
          </a:p>
        </p:txBody>
      </p:sp>
      <p:sp>
        <p:nvSpPr>
          <p:cNvPr id="4100" name="Text Box 11">
            <a:extLst>
              <a:ext uri="{FF2B5EF4-FFF2-40B4-BE49-F238E27FC236}">
                <a16:creationId xmlns:a16="http://schemas.microsoft.com/office/drawing/2014/main" id="{AE577076-C08D-709E-FE81-17FEB54C38FF}"/>
              </a:ext>
            </a:extLst>
          </p:cNvPr>
          <p:cNvSpPr txBox="1">
            <a:spLocks noChangeArrowheads="1"/>
          </p:cNvSpPr>
          <p:nvPr/>
        </p:nvSpPr>
        <p:spPr bwMode="auto">
          <a:xfrm>
            <a:off x="2498725" y="-801688"/>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11C0E-7576-D4B0-B938-B61D913D3648}"/>
              </a:ext>
            </a:extLst>
          </p:cNvPr>
          <p:cNvSpPr>
            <a:spLocks noGrp="1"/>
          </p:cNvSpPr>
          <p:nvPr>
            <p:ph type="title"/>
          </p:nvPr>
        </p:nvSpPr>
        <p:spPr/>
        <p:txBody>
          <a:bodyPr/>
          <a:lstStyle/>
          <a:p>
            <a:r>
              <a:rPr lang="en-US" sz="3600" dirty="0">
                <a:latin typeface="Calibri Light (Headings)"/>
              </a:rPr>
              <a:t>…and with the Earth’s revolution around the sun comes  the march of the seasons</a:t>
            </a:r>
          </a:p>
        </p:txBody>
      </p:sp>
      <p:pic>
        <p:nvPicPr>
          <p:cNvPr id="4" name="Content Placeholder 7" descr="A map of the world&#10;&#10;Description automatically generated">
            <a:extLst>
              <a:ext uri="{FF2B5EF4-FFF2-40B4-BE49-F238E27FC236}">
                <a16:creationId xmlns:a16="http://schemas.microsoft.com/office/drawing/2014/main" id="{155869B7-FD14-2E1B-5BB3-393C8628AA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8498" y="1417638"/>
            <a:ext cx="7787860" cy="5372577"/>
          </a:xfrm>
          <a:prstGeom prst="rect">
            <a:avLst/>
          </a:prstGeom>
        </p:spPr>
      </p:pic>
    </p:spTree>
    <p:extLst>
      <p:ext uri="{BB962C8B-B14F-4D97-AF65-F5344CB8AC3E}">
        <p14:creationId xmlns:p14="http://schemas.microsoft.com/office/powerpoint/2010/main" val="2938312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16CD4-E11F-6A7B-A41B-B45F70DBAA14}"/>
              </a:ext>
            </a:extLst>
          </p:cNvPr>
          <p:cNvSpPr>
            <a:spLocks noGrp="1"/>
          </p:cNvSpPr>
          <p:nvPr>
            <p:ph type="title"/>
          </p:nvPr>
        </p:nvSpPr>
        <p:spPr>
          <a:xfrm>
            <a:off x="112542" y="683748"/>
            <a:ext cx="12192000" cy="1042989"/>
          </a:xfrm>
        </p:spPr>
        <p:txBody>
          <a:bodyPr/>
          <a:lstStyle/>
          <a:p>
            <a:r>
              <a:rPr lang="en-US" sz="3600" dirty="0">
                <a:latin typeface="Calibri Light (Headings)"/>
              </a:rPr>
              <a:t>Does Earth-Sun geometry and how it shapes the broad shifting distribution of global radiation and temperatures on Earth explain all weather patterns?</a:t>
            </a:r>
          </a:p>
        </p:txBody>
      </p:sp>
      <p:sp>
        <p:nvSpPr>
          <p:cNvPr id="3" name="Slide Number Placeholder 2">
            <a:extLst>
              <a:ext uri="{FF2B5EF4-FFF2-40B4-BE49-F238E27FC236}">
                <a16:creationId xmlns:a16="http://schemas.microsoft.com/office/drawing/2014/main" id="{0B93DB46-6574-4B04-6871-2763327DD9FA}"/>
              </a:ext>
            </a:extLst>
          </p:cNvPr>
          <p:cNvSpPr>
            <a:spLocks noGrp="1"/>
          </p:cNvSpPr>
          <p:nvPr>
            <p:ph type="sldNum" sz="quarter" idx="12"/>
          </p:nvPr>
        </p:nvSpPr>
        <p:spPr/>
        <p:txBody>
          <a:bodyPr/>
          <a:lstStyle/>
          <a:p>
            <a:fld id="{8231C4E5-58AC-4D76-A320-E60922DC93F7}" type="slidenum">
              <a:rPr lang="en-US" altLang="en-US" smtClean="0"/>
              <a:pPr/>
              <a:t>4</a:t>
            </a:fld>
            <a:endParaRPr lang="en-US" altLang="en-US" dirty="0"/>
          </a:p>
        </p:txBody>
      </p:sp>
      <p:sp>
        <p:nvSpPr>
          <p:cNvPr id="4" name="Content Placeholder 2">
            <a:extLst>
              <a:ext uri="{FF2B5EF4-FFF2-40B4-BE49-F238E27FC236}">
                <a16:creationId xmlns:a16="http://schemas.microsoft.com/office/drawing/2014/main" id="{181A16A8-9659-4307-8BD5-CBAFECE4D310}"/>
              </a:ext>
            </a:extLst>
          </p:cNvPr>
          <p:cNvSpPr txBox="1">
            <a:spLocks/>
          </p:cNvSpPr>
          <p:nvPr/>
        </p:nvSpPr>
        <p:spPr>
          <a:xfrm>
            <a:off x="609600" y="2391507"/>
            <a:ext cx="3939540" cy="409184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buFont typeface="Arial" panose="020B0604020202020204" pitchFamily="34" charset="0"/>
              <a:buChar char="•"/>
            </a:pPr>
            <a:r>
              <a:rPr lang="en-US" sz="3000" dirty="0">
                <a:latin typeface="Calibri Light (Headings)"/>
              </a:rPr>
              <a:t>The march of the seasons, has within it other processes that cause weather and climate to change on smaller space and time scales</a:t>
            </a:r>
          </a:p>
        </p:txBody>
      </p:sp>
      <p:pic>
        <p:nvPicPr>
          <p:cNvPr id="6" name="Picture 8" descr="temperature_airs_200304">
            <a:extLst>
              <a:ext uri="{FF2B5EF4-FFF2-40B4-BE49-F238E27FC236}">
                <a16:creationId xmlns:a16="http://schemas.microsoft.com/office/drawing/2014/main" id="{D722A155-60FD-6FDC-2873-3DC7C897B8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9963" y="2391507"/>
            <a:ext cx="6484705" cy="37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9626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F2AECA4-A32F-AACB-00FC-22FBCA8C4805}"/>
              </a:ext>
            </a:extLst>
          </p:cNvPr>
          <p:cNvSpPr>
            <a:spLocks noGrp="1"/>
          </p:cNvSpPr>
          <p:nvPr>
            <p:ph type="sldNum" sz="quarter" idx="12"/>
          </p:nvPr>
        </p:nvSpPr>
        <p:spPr/>
        <p:txBody>
          <a:bodyPr/>
          <a:lstStyle/>
          <a:p>
            <a:fld id="{8231C4E5-58AC-4D76-A320-E60922DC93F7}" type="slidenum">
              <a:rPr lang="en-US" altLang="en-US" smtClean="0"/>
              <a:pPr/>
              <a:t>5</a:t>
            </a:fld>
            <a:endParaRPr lang="en-US" altLang="en-US" dirty="0"/>
          </a:p>
        </p:txBody>
      </p:sp>
      <p:pic>
        <p:nvPicPr>
          <p:cNvPr id="4" name="Picture 2">
            <a:extLst>
              <a:ext uri="{FF2B5EF4-FFF2-40B4-BE49-F238E27FC236}">
                <a16:creationId xmlns:a16="http://schemas.microsoft.com/office/drawing/2014/main" id="{70A9267D-62DC-4C5C-3BC5-3F640E9F3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156" y="251709"/>
            <a:ext cx="11122425" cy="6247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322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75F0D9-E43A-FDE2-0F16-A4D235143FED}"/>
              </a:ext>
            </a:extLst>
          </p:cNvPr>
          <p:cNvSpPr>
            <a:spLocks noGrp="1"/>
          </p:cNvSpPr>
          <p:nvPr>
            <p:ph idx="1"/>
          </p:nvPr>
        </p:nvSpPr>
        <p:spPr>
          <a:xfrm>
            <a:off x="609600" y="1533378"/>
            <a:ext cx="6306667" cy="4949973"/>
          </a:xfrm>
        </p:spPr>
        <p:txBody>
          <a:bodyPr/>
          <a:lstStyle/>
          <a:p>
            <a:pPr eaLnBrk="1" hangingPunct="1">
              <a:buFont typeface="Arial" panose="020B0604020202020204" pitchFamily="34" charset="0"/>
              <a:buChar char="•"/>
            </a:pPr>
            <a:r>
              <a:rPr lang="en-US" altLang="en-US" sz="2800" dirty="0">
                <a:latin typeface="Calibri Light (Headings)"/>
                <a:ea typeface="Calibri Light" panose="020F0302020204030204" pitchFamily="34" charset="0"/>
                <a:cs typeface="Calibri Light" panose="020F0302020204030204" pitchFamily="34" charset="0"/>
              </a:rPr>
              <a:t>How does the Sun’s radiation shape heat and temperature closer to the Earth’s surface? </a:t>
            </a:r>
          </a:p>
          <a:p>
            <a:pPr eaLnBrk="1" hangingPunct="1">
              <a:buFont typeface="Arial" panose="020B0604020202020204" pitchFamily="34" charset="0"/>
              <a:buChar char="•"/>
            </a:pPr>
            <a:r>
              <a:rPr lang="en-US" sz="2800" dirty="0">
                <a:latin typeface="Calibri Light (Headings)"/>
              </a:rPr>
              <a:t>What determines the very dynamic and constantly varying weather property of temperature? </a:t>
            </a:r>
          </a:p>
          <a:p>
            <a:pPr eaLnBrk="1" hangingPunct="1">
              <a:buFont typeface="Arial" panose="020B0604020202020204" pitchFamily="34" charset="0"/>
              <a:buChar char="•"/>
            </a:pPr>
            <a:r>
              <a:rPr lang="en-US" sz="2800" dirty="0">
                <a:latin typeface="Calibri Light (Headings)"/>
              </a:rPr>
              <a:t>How does the Earth redistribute heat from the tropics to the poles?</a:t>
            </a:r>
          </a:p>
          <a:p>
            <a:pPr eaLnBrk="1" hangingPunct="1">
              <a:buFont typeface="Arial" panose="020B0604020202020204" pitchFamily="34" charset="0"/>
              <a:buChar char="•"/>
            </a:pPr>
            <a:r>
              <a:rPr lang="en-US" sz="2800" dirty="0">
                <a:latin typeface="Calibri Light (Headings)"/>
              </a:rPr>
              <a:t>It all starts with radiation from the Sun</a:t>
            </a:r>
          </a:p>
        </p:txBody>
      </p:sp>
      <p:sp>
        <p:nvSpPr>
          <p:cNvPr id="4" name="Slide Number Placeholder 3">
            <a:extLst>
              <a:ext uri="{FF2B5EF4-FFF2-40B4-BE49-F238E27FC236}">
                <a16:creationId xmlns:a16="http://schemas.microsoft.com/office/drawing/2014/main" id="{6F710FA7-08DF-A721-EF34-39181D2B572E}"/>
              </a:ext>
            </a:extLst>
          </p:cNvPr>
          <p:cNvSpPr>
            <a:spLocks noGrp="1"/>
          </p:cNvSpPr>
          <p:nvPr>
            <p:ph type="sldNum" sz="quarter" idx="12"/>
          </p:nvPr>
        </p:nvSpPr>
        <p:spPr/>
        <p:txBody>
          <a:bodyPr/>
          <a:lstStyle/>
          <a:p>
            <a:fld id="{484D8ABC-0652-417C-8248-375E199FD30E}" type="slidenum">
              <a:rPr lang="en-US" altLang="en-US" smtClean="0"/>
              <a:pPr/>
              <a:t>6</a:t>
            </a:fld>
            <a:endParaRPr lang="en-US" altLang="en-US" dirty="0"/>
          </a:p>
        </p:txBody>
      </p:sp>
      <p:pic>
        <p:nvPicPr>
          <p:cNvPr id="5" name="Picture 3" descr="atmosphere%20after">
            <a:extLst>
              <a:ext uri="{FF2B5EF4-FFF2-40B4-BE49-F238E27FC236}">
                <a16:creationId xmlns:a16="http://schemas.microsoft.com/office/drawing/2014/main" id="{F0548900-AD05-6637-6E90-84866226B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924" t="8607" r="709"/>
          <a:stretch>
            <a:fillRect/>
          </a:stretch>
        </p:blipFill>
        <p:spPr bwMode="auto">
          <a:xfrm>
            <a:off x="7376984" y="374649"/>
            <a:ext cx="4666133" cy="6108702"/>
          </a:xfrm>
          <a:prstGeom prst="rect">
            <a:avLst/>
          </a:prstGeom>
          <a:solidFill>
            <a:schemeClr val="bg1"/>
          </a:solidFill>
          <a:ln>
            <a:noFill/>
          </a:ln>
        </p:spPr>
      </p:pic>
      <p:sp>
        <p:nvSpPr>
          <p:cNvPr id="7" name="Title 1">
            <a:extLst>
              <a:ext uri="{FF2B5EF4-FFF2-40B4-BE49-F238E27FC236}">
                <a16:creationId xmlns:a16="http://schemas.microsoft.com/office/drawing/2014/main" id="{FFE5FF93-EE0F-736B-8C23-2C46042CF1B5}"/>
              </a:ext>
            </a:extLst>
          </p:cNvPr>
          <p:cNvSpPr>
            <a:spLocks noGrp="1"/>
          </p:cNvSpPr>
          <p:nvPr>
            <p:ph type="title"/>
          </p:nvPr>
        </p:nvSpPr>
        <p:spPr>
          <a:xfrm>
            <a:off x="609600" y="274638"/>
            <a:ext cx="6564923" cy="1143000"/>
          </a:xfrm>
        </p:spPr>
        <p:txBody>
          <a:bodyPr/>
          <a:lstStyle/>
          <a:p>
            <a:r>
              <a:rPr lang="en-US" sz="3600" dirty="0">
                <a:latin typeface="Calibri Light (Headings)"/>
              </a:rPr>
              <a:t>In this unit on radiation and heat:</a:t>
            </a:r>
          </a:p>
        </p:txBody>
      </p:sp>
    </p:spTree>
    <p:extLst>
      <p:ext uri="{BB962C8B-B14F-4D97-AF65-F5344CB8AC3E}">
        <p14:creationId xmlns:p14="http://schemas.microsoft.com/office/powerpoint/2010/main" val="2182200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4" descr="Spectrum">
            <a:extLst>
              <a:ext uri="{FF2B5EF4-FFF2-40B4-BE49-F238E27FC236}">
                <a16:creationId xmlns:a16="http://schemas.microsoft.com/office/drawing/2014/main" id="{A129CA51-0A82-400F-82A9-314BF0ECCE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2597" y="0"/>
            <a:ext cx="7543800" cy="297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5" descr="longwave">
            <a:extLst>
              <a:ext uri="{FF2B5EF4-FFF2-40B4-BE49-F238E27FC236}">
                <a16:creationId xmlns:a16="http://schemas.microsoft.com/office/drawing/2014/main" id="{7051A796-1F5C-82F8-2728-EFC1A4DD52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3124201"/>
            <a:ext cx="4572000" cy="336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6" descr="flare_eit195_big">
            <a:extLst>
              <a:ext uri="{FF2B5EF4-FFF2-40B4-BE49-F238E27FC236}">
                <a16:creationId xmlns:a16="http://schemas.microsoft.com/office/drawing/2014/main" id="{34BD1684-BCDF-6488-07F1-22401EF36A74}"/>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156745" y="3130550"/>
            <a:ext cx="33528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11">
            <a:extLst>
              <a:ext uri="{FF2B5EF4-FFF2-40B4-BE49-F238E27FC236}">
                <a16:creationId xmlns:a16="http://schemas.microsoft.com/office/drawing/2014/main" id="{1555D079-F5D6-BF30-8C5D-144E206DDA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3352800"/>
            <a:ext cx="152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Text Box 13">
            <a:extLst>
              <a:ext uri="{FF2B5EF4-FFF2-40B4-BE49-F238E27FC236}">
                <a16:creationId xmlns:a16="http://schemas.microsoft.com/office/drawing/2014/main" id="{EA87ABB4-44DE-B641-3418-C4D9E4866D68}"/>
              </a:ext>
            </a:extLst>
          </p:cNvPr>
          <p:cNvSpPr txBox="1">
            <a:spLocks noChangeArrowheads="1"/>
          </p:cNvSpPr>
          <p:nvPr/>
        </p:nvSpPr>
        <p:spPr bwMode="auto">
          <a:xfrm>
            <a:off x="8469297" y="1066800"/>
            <a:ext cx="736600" cy="466725"/>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Sun</a:t>
            </a:r>
          </a:p>
        </p:txBody>
      </p:sp>
      <p:sp>
        <p:nvSpPr>
          <p:cNvPr id="6151" name="Text Box 15">
            <a:extLst>
              <a:ext uri="{FF2B5EF4-FFF2-40B4-BE49-F238E27FC236}">
                <a16:creationId xmlns:a16="http://schemas.microsoft.com/office/drawing/2014/main" id="{59CBD873-76A0-317D-4F2A-2A4494D5FCC5}"/>
              </a:ext>
            </a:extLst>
          </p:cNvPr>
          <p:cNvSpPr txBox="1">
            <a:spLocks noChangeArrowheads="1"/>
          </p:cNvSpPr>
          <p:nvPr/>
        </p:nvSpPr>
        <p:spPr bwMode="auto">
          <a:xfrm>
            <a:off x="10352072" y="1055688"/>
            <a:ext cx="922338" cy="466725"/>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Earth</a:t>
            </a:r>
          </a:p>
        </p:txBody>
      </p:sp>
      <p:sp>
        <p:nvSpPr>
          <p:cNvPr id="6152" name="AutoShape 10">
            <a:extLst>
              <a:ext uri="{FF2B5EF4-FFF2-40B4-BE49-F238E27FC236}">
                <a16:creationId xmlns:a16="http://schemas.microsoft.com/office/drawing/2014/main" id="{61D2EB15-83AE-6A69-B4E8-B9566B979FA2}"/>
              </a:ext>
            </a:extLst>
          </p:cNvPr>
          <p:cNvSpPr>
            <a:spLocks noChangeArrowheads="1"/>
          </p:cNvSpPr>
          <p:nvPr/>
        </p:nvSpPr>
        <p:spPr bwMode="auto">
          <a:xfrm>
            <a:off x="8697897" y="930274"/>
            <a:ext cx="1214438" cy="241300"/>
          </a:xfrm>
          <a:prstGeom prst="leftRightArrow">
            <a:avLst>
              <a:gd name="adj1" fmla="val 50000"/>
              <a:gd name="adj2" fmla="val 100658"/>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6153" name="AutoShape 12">
            <a:extLst>
              <a:ext uri="{FF2B5EF4-FFF2-40B4-BE49-F238E27FC236}">
                <a16:creationId xmlns:a16="http://schemas.microsoft.com/office/drawing/2014/main" id="{C194E213-F644-11DC-E047-7D65D7369D1B}"/>
              </a:ext>
            </a:extLst>
          </p:cNvPr>
          <p:cNvSpPr>
            <a:spLocks noChangeArrowheads="1"/>
          </p:cNvSpPr>
          <p:nvPr/>
        </p:nvSpPr>
        <p:spPr bwMode="auto">
          <a:xfrm>
            <a:off x="9688497" y="1204912"/>
            <a:ext cx="762000" cy="271462"/>
          </a:xfrm>
          <a:prstGeom prst="leftRightArrow">
            <a:avLst>
              <a:gd name="adj1" fmla="val 50000"/>
              <a:gd name="adj2" fmla="val 5614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dirty="0"/>
          </a:p>
        </p:txBody>
      </p:sp>
      <p:sp>
        <p:nvSpPr>
          <p:cNvPr id="6154" name="Text Box 16">
            <a:extLst>
              <a:ext uri="{FF2B5EF4-FFF2-40B4-BE49-F238E27FC236}">
                <a16:creationId xmlns:a16="http://schemas.microsoft.com/office/drawing/2014/main" id="{F2F98E30-F41F-D59D-39D0-5156BC42573D}"/>
              </a:ext>
            </a:extLst>
          </p:cNvPr>
          <p:cNvSpPr txBox="1">
            <a:spLocks noChangeArrowheads="1"/>
          </p:cNvSpPr>
          <p:nvPr/>
        </p:nvSpPr>
        <p:spPr bwMode="auto">
          <a:xfrm>
            <a:off x="214729" y="5764937"/>
            <a:ext cx="3952861" cy="830997"/>
          </a:xfrm>
          <a:prstGeom prst="rect">
            <a:avLst/>
          </a:prstGeom>
          <a:solidFill>
            <a:schemeClr val="bg1"/>
          </a:solidFill>
          <a:ln w="9525">
            <a:solidFill>
              <a:schemeClr val="tx1"/>
            </a:solidFill>
            <a:miter lim="800000"/>
            <a:headEnd/>
            <a:tailEnd/>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latin typeface="Calibri Light (Headings)"/>
              </a:rPr>
              <a:t>The Sun emits high intensity shortwave radiation</a:t>
            </a:r>
          </a:p>
        </p:txBody>
      </p:sp>
      <p:sp>
        <p:nvSpPr>
          <p:cNvPr id="6155" name="Text Box 17">
            <a:extLst>
              <a:ext uri="{FF2B5EF4-FFF2-40B4-BE49-F238E27FC236}">
                <a16:creationId xmlns:a16="http://schemas.microsoft.com/office/drawing/2014/main" id="{18B2A8F0-6D0B-9904-8842-F67695382644}"/>
              </a:ext>
            </a:extLst>
          </p:cNvPr>
          <p:cNvSpPr txBox="1">
            <a:spLocks noChangeArrowheads="1"/>
          </p:cNvSpPr>
          <p:nvPr/>
        </p:nvSpPr>
        <p:spPr bwMode="auto">
          <a:xfrm>
            <a:off x="9205896" y="3427633"/>
            <a:ext cx="2893739" cy="1200329"/>
          </a:xfrm>
          <a:prstGeom prst="rect">
            <a:avLst/>
          </a:prstGeom>
          <a:solidFill>
            <a:schemeClr val="bg1"/>
          </a:solidFill>
          <a:ln w="9525">
            <a:solidFill>
              <a:schemeClr val="tx1"/>
            </a:solidFill>
            <a:miter lim="800000"/>
            <a:headEnd/>
            <a:tailEnd/>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2400" dirty="0">
                <a:latin typeface="Calibri Light (Headings)"/>
              </a:rPr>
              <a:t>The Earth emits lower intensity longwave radiation</a:t>
            </a:r>
          </a:p>
        </p:txBody>
      </p:sp>
      <p:sp>
        <p:nvSpPr>
          <p:cNvPr id="2" name="Slide Number Placeholder 1">
            <a:extLst>
              <a:ext uri="{FF2B5EF4-FFF2-40B4-BE49-F238E27FC236}">
                <a16:creationId xmlns:a16="http://schemas.microsoft.com/office/drawing/2014/main" id="{C991D90E-3904-D251-CB37-45E1F887C891}"/>
              </a:ext>
            </a:extLst>
          </p:cNvPr>
          <p:cNvSpPr>
            <a:spLocks noGrp="1"/>
          </p:cNvSpPr>
          <p:nvPr>
            <p:ph type="sldNum" sz="quarter" idx="12"/>
          </p:nvPr>
        </p:nvSpPr>
        <p:spPr/>
        <p:txBody>
          <a:bodyPr/>
          <a:lstStyle/>
          <a:p>
            <a:fld id="{484D8ABC-0652-417C-8248-375E199FD30E}" type="slidenum">
              <a:rPr lang="en-US" altLang="en-US" smtClean="0"/>
              <a:pPr/>
              <a:t>7</a:t>
            </a:fld>
            <a:endParaRPr lang="en-US" altLang="en-US" dirty="0"/>
          </a:p>
        </p:txBody>
      </p:sp>
      <p:sp>
        <p:nvSpPr>
          <p:cNvPr id="3" name="Title 1">
            <a:extLst>
              <a:ext uri="{FF2B5EF4-FFF2-40B4-BE49-F238E27FC236}">
                <a16:creationId xmlns:a16="http://schemas.microsoft.com/office/drawing/2014/main" id="{C55F0637-5454-FCCF-3C77-4395B0FB324D}"/>
              </a:ext>
            </a:extLst>
          </p:cNvPr>
          <p:cNvSpPr>
            <a:spLocks noGrp="1"/>
          </p:cNvSpPr>
          <p:nvPr>
            <p:ph type="title"/>
          </p:nvPr>
        </p:nvSpPr>
        <p:spPr>
          <a:xfrm>
            <a:off x="180315" y="227014"/>
            <a:ext cx="3952860" cy="1249360"/>
          </a:xfrm>
        </p:spPr>
        <p:txBody>
          <a:bodyPr/>
          <a:lstStyle/>
          <a:p>
            <a:r>
              <a:rPr lang="en-US" dirty="0">
                <a:latin typeface="Calibri Light (Headings)"/>
              </a:rPr>
              <a:t>Radiation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1" name="Picture 3" descr="atmosphere%20after">
            <a:extLst>
              <a:ext uri="{FF2B5EF4-FFF2-40B4-BE49-F238E27FC236}">
                <a16:creationId xmlns:a16="http://schemas.microsoft.com/office/drawing/2014/main" id="{9324F344-2E17-22F7-431E-59A306C29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2347"/>
            <a:ext cx="12192000" cy="9145493"/>
          </a:xfrm>
          <a:prstGeom prst="rect">
            <a:avLst/>
          </a:prstGeom>
          <a:solidFill>
            <a:schemeClr val="bg1"/>
          </a:solidFill>
          <a:ln>
            <a:noFill/>
          </a:ln>
        </p:spPr>
      </p:pic>
      <p:sp>
        <p:nvSpPr>
          <p:cNvPr id="7170" name="Text Box 2">
            <a:extLst>
              <a:ext uri="{FF2B5EF4-FFF2-40B4-BE49-F238E27FC236}">
                <a16:creationId xmlns:a16="http://schemas.microsoft.com/office/drawing/2014/main" id="{5C98B13C-4613-9B8C-6A4E-FA0E7F5F8C87}"/>
              </a:ext>
            </a:extLst>
          </p:cNvPr>
          <p:cNvSpPr txBox="1">
            <a:spLocks noChangeArrowheads="1"/>
          </p:cNvSpPr>
          <p:nvPr/>
        </p:nvSpPr>
        <p:spPr bwMode="auto">
          <a:xfrm>
            <a:off x="316832" y="300789"/>
            <a:ext cx="11467498" cy="3231654"/>
          </a:xfrm>
          <a:prstGeom prst="rect">
            <a:avLst/>
          </a:prstGeom>
          <a:solidFill>
            <a:schemeClr val="tx1">
              <a:alpha val="50195"/>
            </a:schemeClr>
          </a:solidFill>
          <a:ln>
            <a:noFill/>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b="1" dirty="0">
                <a:solidFill>
                  <a:schemeClr val="bg1"/>
                </a:solidFill>
                <a:latin typeface="Calibri Light (Headings)"/>
              </a:rPr>
              <a:t>How does shortwave radiation from the Sun heat Earth?</a:t>
            </a:r>
          </a:p>
          <a:p>
            <a:pPr eaLnBrk="1" hangingPunct="1"/>
            <a:endParaRPr lang="en-US" altLang="en-US" sz="3200" b="1" dirty="0">
              <a:solidFill>
                <a:schemeClr val="bg1"/>
              </a:solidFill>
              <a:latin typeface="Calibri Light (Headings)"/>
            </a:endParaRPr>
          </a:p>
          <a:p>
            <a:pPr eaLnBrk="1" hangingPunct="1"/>
            <a:r>
              <a:rPr lang="en-US" altLang="en-US" sz="2800" dirty="0">
                <a:solidFill>
                  <a:schemeClr val="bg1"/>
                </a:solidFill>
                <a:latin typeface="Calibri Light (Headings)"/>
              </a:rPr>
              <a:t>Through </a:t>
            </a:r>
            <a:r>
              <a:rPr lang="en-US" altLang="en-US" sz="2800" b="1" dirty="0">
                <a:solidFill>
                  <a:schemeClr val="bg1"/>
                </a:solidFill>
                <a:latin typeface="Calibri Light (Headings)"/>
              </a:rPr>
              <a:t>counter-radiation warming</a:t>
            </a:r>
            <a:r>
              <a:rPr lang="en-US" altLang="en-US" sz="2800" dirty="0">
                <a:solidFill>
                  <a:schemeClr val="bg1"/>
                </a:solidFill>
                <a:latin typeface="Calibri Light (Headings)"/>
              </a:rPr>
              <a:t>, in which the atmosphere is heated from below by longwave radiation emitted by the Earth. A portion of shortwave radiation reaches the Earth's surface, where it is absorbed and reemitted as longwave radiation. This radiation is absorbed by clouds and gases to heat the lowermost layers of the atmosphere that humans experience. </a:t>
            </a:r>
            <a:endParaRPr lang="en-US" altLang="en-US" sz="2800" dirty="0">
              <a:latin typeface="Calibri Light (Headings)"/>
            </a:endParaRPr>
          </a:p>
        </p:txBody>
      </p:sp>
      <p:sp>
        <p:nvSpPr>
          <p:cNvPr id="2" name="Slide Number Placeholder 1">
            <a:extLst>
              <a:ext uri="{FF2B5EF4-FFF2-40B4-BE49-F238E27FC236}">
                <a16:creationId xmlns:a16="http://schemas.microsoft.com/office/drawing/2014/main" id="{C05B374A-041B-289D-B4AA-1AC35EC79B34}"/>
              </a:ext>
            </a:extLst>
          </p:cNvPr>
          <p:cNvSpPr>
            <a:spLocks noGrp="1"/>
          </p:cNvSpPr>
          <p:nvPr>
            <p:ph type="sldNum" sz="quarter" idx="12"/>
          </p:nvPr>
        </p:nvSpPr>
        <p:spPr/>
        <p:txBody>
          <a:bodyPr/>
          <a:lstStyle/>
          <a:p>
            <a:fld id="{484D8ABC-0652-417C-8248-375E199FD30E}" type="slidenum">
              <a:rPr lang="en-US" altLang="en-US" smtClean="0"/>
              <a:pPr/>
              <a:t>8</a:t>
            </a:fld>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F116A28-3238-21F7-AC4E-9CCFC59FDD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5400000">
            <a:off x="2416596" y="869265"/>
            <a:ext cx="6954119" cy="5215589"/>
          </a:xfrm>
        </p:spPr>
      </p:pic>
      <p:sp>
        <p:nvSpPr>
          <p:cNvPr id="4" name="Slide Number Placeholder 3">
            <a:extLst>
              <a:ext uri="{FF2B5EF4-FFF2-40B4-BE49-F238E27FC236}">
                <a16:creationId xmlns:a16="http://schemas.microsoft.com/office/drawing/2014/main" id="{27B3CCF9-0867-3231-0140-BD3AF601A85B}"/>
              </a:ext>
            </a:extLst>
          </p:cNvPr>
          <p:cNvSpPr>
            <a:spLocks noGrp="1"/>
          </p:cNvSpPr>
          <p:nvPr>
            <p:ph type="sldNum" sz="quarter" idx="12"/>
          </p:nvPr>
        </p:nvSpPr>
        <p:spPr/>
        <p:txBody>
          <a:bodyPr/>
          <a:lstStyle/>
          <a:p>
            <a:fld id="{484D8ABC-0652-417C-8248-375E199FD30E}" type="slidenum">
              <a:rPr lang="en-US" altLang="en-US" smtClean="0"/>
              <a:pPr/>
              <a:t>9</a:t>
            </a:fld>
            <a:endParaRPr lang="en-US" altLang="en-US" dirty="0"/>
          </a:p>
        </p:txBody>
      </p:sp>
    </p:spTree>
    <p:extLst>
      <p:ext uri="{BB962C8B-B14F-4D97-AF65-F5344CB8AC3E}">
        <p14:creationId xmlns:p14="http://schemas.microsoft.com/office/powerpoint/2010/main" val="341121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1DE50B1E-D538-2024-FEBD-F982AA477AB2}"/>
              </a:ext>
            </a:extLst>
          </p:cNvPr>
          <p:cNvSpPr txBox="1">
            <a:spLocks noChangeArrowheads="1"/>
          </p:cNvSpPr>
          <p:nvPr/>
        </p:nvSpPr>
        <p:spPr bwMode="auto">
          <a:xfrm>
            <a:off x="433137" y="457200"/>
            <a:ext cx="11442031"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b="1" dirty="0">
                <a:solidFill>
                  <a:schemeClr val="bg1"/>
                </a:solidFill>
                <a:latin typeface="Calibri Light (Headings)"/>
              </a:rPr>
              <a:t>Radiation cooling </a:t>
            </a:r>
            <a:r>
              <a:rPr lang="en-US" altLang="en-US" sz="3200" dirty="0">
                <a:solidFill>
                  <a:schemeClr val="bg1"/>
                </a:solidFill>
                <a:latin typeface="Calibri Light (Headings)"/>
              </a:rPr>
              <a:t>happens when longwave radiation escapes to space</a:t>
            </a:r>
            <a:br>
              <a:rPr lang="en-US" altLang="en-US" sz="2800" b="1" dirty="0">
                <a:solidFill>
                  <a:schemeClr val="bg1"/>
                </a:solidFill>
                <a:latin typeface="Calibri Light (Headings)"/>
              </a:rPr>
            </a:br>
            <a:endParaRPr lang="en-US" altLang="en-US" sz="2800" b="1" dirty="0">
              <a:solidFill>
                <a:schemeClr val="bg1"/>
              </a:solidFill>
              <a:latin typeface="Calibri Light (Headings)"/>
            </a:endParaRPr>
          </a:p>
          <a:p>
            <a:pPr eaLnBrk="1" hangingPunct="1"/>
            <a:r>
              <a:rPr lang="en-US" altLang="en-US" sz="2800" dirty="0">
                <a:solidFill>
                  <a:schemeClr val="bg1"/>
                </a:solidFill>
                <a:latin typeface="Calibri Light (Headings)"/>
              </a:rPr>
              <a:t>When are our nights in Lexington the coldest, when it is cloudy or when it is clear? </a:t>
            </a:r>
          </a:p>
          <a:p>
            <a:pPr eaLnBrk="1" hangingPunct="1"/>
            <a:endParaRPr lang="en-US" altLang="en-US" sz="2800" dirty="0">
              <a:solidFill>
                <a:schemeClr val="bg1"/>
              </a:solidFill>
              <a:latin typeface="Calibri Light (Headings)"/>
            </a:endParaRPr>
          </a:p>
          <a:p>
            <a:pPr eaLnBrk="1" hangingPunct="1"/>
            <a:r>
              <a:rPr lang="en-US" altLang="en-US" sz="2800" dirty="0">
                <a:solidFill>
                  <a:schemeClr val="bg1"/>
                </a:solidFill>
                <a:latin typeface="Calibri Light (Headings)"/>
              </a:rPr>
              <a:t>Why is the desert cold at night?</a:t>
            </a:r>
          </a:p>
          <a:p>
            <a:pPr eaLnBrk="1" hangingPunct="1"/>
            <a:endParaRPr lang="en-US" altLang="en-US" sz="2800" dirty="0"/>
          </a:p>
          <a:p>
            <a:pPr eaLnBrk="1" hangingPunct="1"/>
            <a:endParaRPr lang="en-US" altLang="en-US" sz="2800" dirty="0"/>
          </a:p>
        </p:txBody>
      </p:sp>
      <p:sp>
        <p:nvSpPr>
          <p:cNvPr id="2" name="Slide Number Placeholder 1">
            <a:extLst>
              <a:ext uri="{FF2B5EF4-FFF2-40B4-BE49-F238E27FC236}">
                <a16:creationId xmlns:a16="http://schemas.microsoft.com/office/drawing/2014/main" id="{44FA5F7E-23E1-E7DA-F621-0A480ED50593}"/>
              </a:ext>
            </a:extLst>
          </p:cNvPr>
          <p:cNvSpPr>
            <a:spLocks noGrp="1"/>
          </p:cNvSpPr>
          <p:nvPr>
            <p:ph type="sldNum" sz="quarter" idx="12"/>
          </p:nvPr>
        </p:nvSpPr>
        <p:spPr/>
        <p:txBody>
          <a:bodyPr/>
          <a:lstStyle/>
          <a:p>
            <a:fld id="{484D8ABC-0652-417C-8248-375E199FD30E}" type="slidenum">
              <a:rPr lang="en-US" altLang="en-US" smtClean="0"/>
              <a:pPr/>
              <a:t>10</a:t>
            </a:fld>
            <a:endParaRPr lang="en-US"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218" name="Picture 4" descr="nightime longwave radiation emission">
            <a:extLst>
              <a:ext uri="{FF2B5EF4-FFF2-40B4-BE49-F238E27FC236}">
                <a16:creationId xmlns:a16="http://schemas.microsoft.com/office/drawing/2014/main" id="{BB601660-4E1C-1C13-616A-D83BC3729A95}"/>
              </a:ext>
            </a:extLst>
          </p:cNvPr>
          <p:cNvPicPr>
            <a:picLocks noGrp="1" noChangeAspect="1" noChangeArrowheads="1"/>
          </p:cNvPicPr>
          <p:nvPr>
            <p:ph/>
          </p:nvPr>
        </p:nvPicPr>
        <p:blipFill rotWithShape="1">
          <a:blip r:embed="rId3">
            <a:extLst>
              <a:ext uri="{28A0092B-C50C-407E-A947-70E740481C1C}">
                <a14:useLocalDpi xmlns:a14="http://schemas.microsoft.com/office/drawing/2010/main" val="0"/>
              </a:ext>
            </a:extLst>
          </a:blip>
          <a:srcRect l="8877" t="3333" r="3763"/>
          <a:stretch/>
        </p:blipFill>
        <p:spPr>
          <a:xfrm>
            <a:off x="3303270" y="904163"/>
            <a:ext cx="8755380" cy="5856506"/>
          </a:xfrm>
        </p:spPr>
      </p:pic>
      <p:sp>
        <p:nvSpPr>
          <p:cNvPr id="4" name="TextBox 3">
            <a:extLst>
              <a:ext uri="{FF2B5EF4-FFF2-40B4-BE49-F238E27FC236}">
                <a16:creationId xmlns:a16="http://schemas.microsoft.com/office/drawing/2014/main" id="{0FD47266-A3C2-CDC3-22C0-DAA0381D7A85}"/>
              </a:ext>
            </a:extLst>
          </p:cNvPr>
          <p:cNvSpPr txBox="1"/>
          <p:nvPr/>
        </p:nvSpPr>
        <p:spPr>
          <a:xfrm>
            <a:off x="148590" y="97331"/>
            <a:ext cx="8196514"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sz="3600" dirty="0">
                <a:solidFill>
                  <a:schemeClr val="bg1"/>
                </a:solidFill>
                <a:latin typeface="Calibri Light (Headings)"/>
                <a:ea typeface="Cambria" panose="02040503050406030204" pitchFamily="18" charset="0"/>
              </a:rPr>
              <a:t>Nighttime longwave radiation emission</a:t>
            </a:r>
          </a:p>
        </p:txBody>
      </p:sp>
      <p:sp>
        <p:nvSpPr>
          <p:cNvPr id="2" name="TextBox 1">
            <a:extLst>
              <a:ext uri="{FF2B5EF4-FFF2-40B4-BE49-F238E27FC236}">
                <a16:creationId xmlns:a16="http://schemas.microsoft.com/office/drawing/2014/main" id="{3EF743ED-08F9-939E-EB3A-65FD21AF02AF}"/>
              </a:ext>
            </a:extLst>
          </p:cNvPr>
          <p:cNvSpPr txBox="1"/>
          <p:nvPr/>
        </p:nvSpPr>
        <p:spPr>
          <a:xfrm>
            <a:off x="148590" y="1198813"/>
            <a:ext cx="2872740" cy="1569660"/>
          </a:xfrm>
          <a:prstGeom prst="rect">
            <a:avLst/>
          </a:prstGeom>
          <a:noFill/>
        </p:spPr>
        <p:txBody>
          <a:bodyPr wrap="square">
            <a:sp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sz="3200" dirty="0">
                <a:solidFill>
                  <a:schemeClr val="bg1"/>
                </a:solidFill>
                <a:latin typeface="Calibri Light (Headings)"/>
              </a:rPr>
              <a:t>Why is it higher over the Saharan desert?</a:t>
            </a:r>
          </a:p>
        </p:txBody>
      </p:sp>
      <p:sp>
        <p:nvSpPr>
          <p:cNvPr id="3" name="Slide Number Placeholder 2">
            <a:extLst>
              <a:ext uri="{FF2B5EF4-FFF2-40B4-BE49-F238E27FC236}">
                <a16:creationId xmlns:a16="http://schemas.microsoft.com/office/drawing/2014/main" id="{25AB829B-F7DB-56B2-5907-03DED7FC43AD}"/>
              </a:ext>
            </a:extLst>
          </p:cNvPr>
          <p:cNvSpPr>
            <a:spLocks noGrp="1"/>
          </p:cNvSpPr>
          <p:nvPr>
            <p:ph type="sldNum" sz="quarter" idx="12"/>
          </p:nvPr>
        </p:nvSpPr>
        <p:spPr/>
        <p:txBody>
          <a:bodyPr/>
          <a:lstStyle/>
          <a:p>
            <a:fld id="{78400256-EF37-4B7E-8083-3ED11F1E4360}" type="slidenum">
              <a:rPr lang="en-US" altLang="en-US" smtClean="0"/>
              <a:pPr/>
              <a:t>11</a:t>
            </a:fld>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F69F3B0C-712E-E684-796E-505D67D6ED8B}"/>
              </a:ext>
            </a:extLst>
          </p:cNvPr>
          <p:cNvSpPr txBox="1">
            <a:spLocks noChangeArrowheads="1"/>
          </p:cNvSpPr>
          <p:nvPr/>
        </p:nvSpPr>
        <p:spPr bwMode="auto">
          <a:xfrm>
            <a:off x="637674" y="1844593"/>
            <a:ext cx="7294746"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eaLnBrk="1" hangingPunct="1">
              <a:buFont typeface="Arial" panose="020B0604020202020204" pitchFamily="34" charset="0"/>
              <a:buChar char="•"/>
            </a:pPr>
            <a:r>
              <a:rPr lang="en-US" altLang="en-US" sz="3200" dirty="0">
                <a:latin typeface="Calibri Light (Headings)"/>
              </a:rPr>
              <a:t>If SW in and LW out balance each other then temperature stays the same (steady state). </a:t>
            </a:r>
          </a:p>
          <a:p>
            <a:pPr marL="342900" indent="-342900" eaLnBrk="1" hangingPunct="1">
              <a:buFont typeface="Arial" panose="020B0604020202020204" pitchFamily="34" charset="0"/>
              <a:buChar char="•"/>
            </a:pPr>
            <a:r>
              <a:rPr lang="en-US" altLang="en-US" sz="3200" dirty="0">
                <a:latin typeface="Calibri Light (Headings)"/>
              </a:rPr>
              <a:t>If SW in and LW out do not balance, then there is a trend in temperature (dynamic equilibrium)</a:t>
            </a:r>
          </a:p>
          <a:p>
            <a:pPr marL="342900" indent="-342900" eaLnBrk="1" hangingPunct="1">
              <a:buFont typeface="Arial" panose="020B0604020202020204" pitchFamily="34" charset="0"/>
              <a:buChar char="•"/>
            </a:pPr>
            <a:r>
              <a:rPr lang="en-US" altLang="en-US" sz="3200" dirty="0">
                <a:latin typeface="Calibri Light (Headings)"/>
              </a:rPr>
              <a:t>SW in &lt; LW out = cooling temperatures </a:t>
            </a:r>
          </a:p>
          <a:p>
            <a:pPr marL="342900" indent="-342900" eaLnBrk="1" hangingPunct="1">
              <a:buFont typeface="Arial" panose="020B0604020202020204" pitchFamily="34" charset="0"/>
              <a:buChar char="•"/>
            </a:pPr>
            <a:r>
              <a:rPr lang="en-US" altLang="en-US" sz="3200" dirty="0">
                <a:latin typeface="Calibri Light (Headings)"/>
              </a:rPr>
              <a:t>SW in &gt; LW out = warming temperatures</a:t>
            </a:r>
          </a:p>
          <a:p>
            <a:pPr eaLnBrk="1" hangingPunct="1"/>
            <a:endParaRPr lang="en-US" altLang="en-US" sz="2400" dirty="0"/>
          </a:p>
          <a:p>
            <a:pPr eaLnBrk="1" hangingPunct="1"/>
            <a:endParaRPr lang="en-US" altLang="en-US" sz="2400" dirty="0"/>
          </a:p>
        </p:txBody>
      </p:sp>
      <p:sp>
        <p:nvSpPr>
          <p:cNvPr id="13317" name="Text Box 2">
            <a:extLst>
              <a:ext uri="{FF2B5EF4-FFF2-40B4-BE49-F238E27FC236}">
                <a16:creationId xmlns:a16="http://schemas.microsoft.com/office/drawing/2014/main" id="{FDEF6B5C-EAAF-7ED5-6F65-2EC6D0BA67C9}"/>
              </a:ext>
            </a:extLst>
          </p:cNvPr>
          <p:cNvSpPr txBox="1">
            <a:spLocks noChangeArrowheads="1"/>
          </p:cNvSpPr>
          <p:nvPr/>
        </p:nvSpPr>
        <p:spPr bwMode="auto">
          <a:xfrm>
            <a:off x="2209800" y="471209"/>
            <a:ext cx="77724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4400" dirty="0">
                <a:latin typeface="Calibri Light (Headings)"/>
              </a:rPr>
              <a:t>Radiation budgets</a:t>
            </a:r>
          </a:p>
        </p:txBody>
      </p:sp>
      <p:pic>
        <p:nvPicPr>
          <p:cNvPr id="4" name="Picture 3" descr="A yellow bucket with blue water pouring out of it&#10;&#10;Description automatically generated">
            <a:extLst>
              <a:ext uri="{FF2B5EF4-FFF2-40B4-BE49-F238E27FC236}">
                <a16:creationId xmlns:a16="http://schemas.microsoft.com/office/drawing/2014/main" id="{A8384B84-F5BE-5E7C-2617-80F98AA87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2420" y="1594447"/>
            <a:ext cx="4282378" cy="4282378"/>
          </a:xfrm>
          <a:prstGeom prst="rect">
            <a:avLst/>
          </a:prstGeom>
        </p:spPr>
      </p:pic>
      <p:sp>
        <p:nvSpPr>
          <p:cNvPr id="2" name="Slide Number Placeholder 1">
            <a:extLst>
              <a:ext uri="{FF2B5EF4-FFF2-40B4-BE49-F238E27FC236}">
                <a16:creationId xmlns:a16="http://schemas.microsoft.com/office/drawing/2014/main" id="{68483653-EE69-EE26-E6D7-2E25F6DF44FF}"/>
              </a:ext>
            </a:extLst>
          </p:cNvPr>
          <p:cNvSpPr>
            <a:spLocks noGrp="1"/>
          </p:cNvSpPr>
          <p:nvPr>
            <p:ph type="sldNum" sz="quarter" idx="12"/>
          </p:nvPr>
        </p:nvSpPr>
        <p:spPr/>
        <p:txBody>
          <a:bodyPr/>
          <a:lstStyle/>
          <a:p>
            <a:fld id="{484D8ABC-0652-417C-8248-375E199FD30E}" type="slidenum">
              <a:rPr lang="en-US" altLang="en-US" smtClean="0"/>
              <a:pPr/>
              <a:t>12</a:t>
            </a:fld>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7" descr="C:\Users\JAS\Desktop\nswrs_web.gif">
            <a:extLst>
              <a:ext uri="{FF2B5EF4-FFF2-40B4-BE49-F238E27FC236}">
                <a16:creationId xmlns:a16="http://schemas.microsoft.com/office/drawing/2014/main" id="{8F9DB96C-A161-8133-B467-7C240A90B6F4}"/>
              </a:ext>
            </a:extLst>
          </p:cNvPr>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a:xfrm>
            <a:off x="1143919" y="184653"/>
            <a:ext cx="9696533" cy="6579721"/>
          </a:xfrm>
          <a:noFill/>
        </p:spPr>
      </p:pic>
      <p:sp>
        <p:nvSpPr>
          <p:cNvPr id="2" name="Slide Number Placeholder 1">
            <a:extLst>
              <a:ext uri="{FF2B5EF4-FFF2-40B4-BE49-F238E27FC236}">
                <a16:creationId xmlns:a16="http://schemas.microsoft.com/office/drawing/2014/main" id="{8C4874A3-D713-DA0B-EC77-B2AC63E04ED6}"/>
              </a:ext>
            </a:extLst>
          </p:cNvPr>
          <p:cNvSpPr>
            <a:spLocks noGrp="1"/>
          </p:cNvSpPr>
          <p:nvPr>
            <p:ph type="sldNum" sz="quarter" idx="12"/>
          </p:nvPr>
        </p:nvSpPr>
        <p:spPr/>
        <p:txBody>
          <a:bodyPr/>
          <a:lstStyle/>
          <a:p>
            <a:fld id="{484D8ABC-0652-417C-8248-375E199FD30E}" type="slidenum">
              <a:rPr lang="en-US" altLang="en-US" smtClean="0"/>
              <a:pPr/>
              <a:t>13</a:t>
            </a:fld>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9CBAE"/>
        </a:solidFill>
        <a:effectLst/>
      </p:bgPr>
    </p:bg>
    <p:spTree>
      <p:nvGrpSpPr>
        <p:cNvPr id="1" name=""/>
        <p:cNvGrpSpPr/>
        <p:nvPr/>
      </p:nvGrpSpPr>
      <p:grpSpPr>
        <a:xfrm>
          <a:off x="0" y="0"/>
          <a:ext cx="0" cy="0"/>
          <a:chOff x="0" y="0"/>
          <a:chExt cx="0" cy="0"/>
        </a:xfrm>
      </p:grpSpPr>
      <p:pic>
        <p:nvPicPr>
          <p:cNvPr id="15362" name="Picture 4" descr="new-2">
            <a:extLst>
              <a:ext uri="{FF2B5EF4-FFF2-40B4-BE49-F238E27FC236}">
                <a16:creationId xmlns:a16="http://schemas.microsoft.com/office/drawing/2014/main" id="{E3FDA4FD-4A39-0505-461A-7AB80489C1AC}"/>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716" t="7013" r="2277" b="52813"/>
          <a:stretch/>
        </p:blipFill>
        <p:spPr>
          <a:xfrm>
            <a:off x="1034281" y="3137590"/>
            <a:ext cx="4604520" cy="3273257"/>
          </a:xfrm>
        </p:spPr>
      </p:pic>
      <p:pic>
        <p:nvPicPr>
          <p:cNvPr id="15363" name="Picture 8" descr="new-1">
            <a:extLst>
              <a:ext uri="{FF2B5EF4-FFF2-40B4-BE49-F238E27FC236}">
                <a16:creationId xmlns:a16="http://schemas.microsoft.com/office/drawing/2014/main" id="{6A3FE005-5DD2-AC87-1041-EB7D29C0A994}"/>
              </a:ext>
            </a:extLst>
          </p:cNvPr>
          <p:cNvPicPr>
            <a:picLocks noGrp="1" noChangeAspect="1" noChangeArrowheads="1"/>
          </p:cNvPicPr>
          <p:nvPr>
            <p:ph sz="half" idx="1"/>
          </p:nvPr>
        </p:nvPicPr>
        <p:blipFill rotWithShape="1">
          <a:blip r:embed="rId4">
            <a:extLst>
              <a:ext uri="{28A0092B-C50C-407E-A947-70E740481C1C}">
                <a14:useLocalDpi xmlns:a14="http://schemas.microsoft.com/office/drawing/2010/main" val="0"/>
              </a:ext>
            </a:extLst>
          </a:blip>
          <a:srcRect l="3785" t="52901" r="6320" b="27140"/>
          <a:stretch/>
        </p:blipFill>
        <p:spPr>
          <a:xfrm>
            <a:off x="6328401" y="0"/>
            <a:ext cx="4487988" cy="3273257"/>
          </a:xfrm>
        </p:spPr>
      </p:pic>
      <p:pic>
        <p:nvPicPr>
          <p:cNvPr id="15365" name="Picture 4" descr="new-2">
            <a:extLst>
              <a:ext uri="{FF2B5EF4-FFF2-40B4-BE49-F238E27FC236}">
                <a16:creationId xmlns:a16="http://schemas.microsoft.com/office/drawing/2014/main" id="{106DDFB2-B8E2-797F-7D5E-46137E7A273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161" t="56245" r="4396" b="2797"/>
          <a:stretch/>
        </p:blipFill>
        <p:spPr bwMode="auto">
          <a:xfrm>
            <a:off x="6420853" y="3137591"/>
            <a:ext cx="4395536" cy="3273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DDF46D37-9B18-E18F-0FB1-8B4F50AAFFFB}"/>
              </a:ext>
            </a:extLst>
          </p:cNvPr>
          <p:cNvSpPr txBox="1"/>
          <p:nvPr/>
        </p:nvSpPr>
        <p:spPr>
          <a:xfrm>
            <a:off x="532397" y="528721"/>
            <a:ext cx="5331203" cy="1569660"/>
          </a:xfrm>
          <a:prstGeom prst="rect">
            <a:avLst/>
          </a:prstGeom>
          <a:noFill/>
        </p:spPr>
        <p:txBody>
          <a:bodyPr wrap="square">
            <a:spAutoFit/>
          </a:bodyPr>
          <a:lstStyle/>
          <a:p>
            <a:r>
              <a:rPr lang="en-US" sz="3200" dirty="0">
                <a:solidFill>
                  <a:schemeClr val="bg1"/>
                </a:solidFill>
                <a:latin typeface="Calibri Light (Headings)"/>
              </a:rPr>
              <a:t>Which plot shows the NH summer?  The NH winter? The annual radiation balance?</a:t>
            </a:r>
          </a:p>
        </p:txBody>
      </p:sp>
      <p:sp>
        <p:nvSpPr>
          <p:cNvPr id="2" name="Slide Number Placeholder 1">
            <a:extLst>
              <a:ext uri="{FF2B5EF4-FFF2-40B4-BE49-F238E27FC236}">
                <a16:creationId xmlns:a16="http://schemas.microsoft.com/office/drawing/2014/main" id="{87EC19B7-08AD-1C1C-7F53-80DE79B70ACF}"/>
              </a:ext>
            </a:extLst>
          </p:cNvPr>
          <p:cNvSpPr>
            <a:spLocks noGrp="1"/>
          </p:cNvSpPr>
          <p:nvPr>
            <p:ph type="sldNum" sz="quarter" idx="12"/>
          </p:nvPr>
        </p:nvSpPr>
        <p:spPr/>
        <p:txBody>
          <a:bodyPr/>
          <a:lstStyle/>
          <a:p>
            <a:fld id="{0462EACD-4FB9-440B-A825-CA801F17E3C5}" type="slidenum">
              <a:rPr lang="en-US" altLang="en-US" smtClean="0"/>
              <a:pPr/>
              <a:t>14</a:t>
            </a:fld>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1A84630-2E90-F954-FE32-2A98C941C308}"/>
              </a:ext>
            </a:extLst>
          </p:cNvPr>
          <p:cNvSpPr>
            <a:spLocks noGrp="1" noChangeArrowheads="1"/>
          </p:cNvSpPr>
          <p:nvPr>
            <p:ph type="title"/>
          </p:nvPr>
        </p:nvSpPr>
        <p:spPr>
          <a:xfrm>
            <a:off x="5043767" y="0"/>
            <a:ext cx="7026314" cy="1143000"/>
          </a:xfrm>
        </p:spPr>
        <p:txBody>
          <a:bodyPr/>
          <a:lstStyle/>
          <a:p>
            <a:r>
              <a:rPr lang="en-US" altLang="en-US" sz="4800" dirty="0">
                <a:latin typeface="Calibri Light (Headings)"/>
                <a:ea typeface="Calibri Light" panose="020F0302020204030204" pitchFamily="34" charset="0"/>
                <a:cs typeface="Calibri Light" panose="020F0302020204030204" pitchFamily="34" charset="0"/>
              </a:rPr>
              <a:t>Albedo</a:t>
            </a:r>
          </a:p>
        </p:txBody>
      </p:sp>
      <p:sp>
        <p:nvSpPr>
          <p:cNvPr id="18435" name="Rectangle 3">
            <a:extLst>
              <a:ext uri="{FF2B5EF4-FFF2-40B4-BE49-F238E27FC236}">
                <a16:creationId xmlns:a16="http://schemas.microsoft.com/office/drawing/2014/main" id="{9BF32ACB-7FF1-0211-D63D-72ED71852771}"/>
              </a:ext>
            </a:extLst>
          </p:cNvPr>
          <p:cNvSpPr>
            <a:spLocks noGrp="1" noChangeArrowheads="1"/>
          </p:cNvSpPr>
          <p:nvPr>
            <p:ph type="body" idx="1"/>
          </p:nvPr>
        </p:nvSpPr>
        <p:spPr>
          <a:xfrm>
            <a:off x="340896" y="480060"/>
            <a:ext cx="4562574" cy="6103619"/>
          </a:xfrm>
        </p:spPr>
        <p:txBody>
          <a:bodyPr/>
          <a:lstStyle/>
          <a:p>
            <a:pPr>
              <a:lnSpc>
                <a:spcPct val="90000"/>
              </a:lnSpc>
            </a:pPr>
            <a:r>
              <a:rPr lang="en-US" altLang="en-US" dirty="0">
                <a:latin typeface="Calibri Light" panose="020F0302020204030204" pitchFamily="34" charset="0"/>
                <a:ea typeface="Calibri Light" panose="020F0302020204030204" pitchFamily="34" charset="0"/>
                <a:cs typeface="Calibri Light" panose="020F0302020204030204" pitchFamily="34" charset="0"/>
              </a:rPr>
              <a:t>Measured as the percent of solar radiation reflected</a:t>
            </a:r>
          </a:p>
          <a:p>
            <a:pPr lvl="1">
              <a:lnSpc>
                <a:spcPct val="90000"/>
              </a:lnSpc>
            </a:pPr>
            <a:r>
              <a:rPr lang="en-US" altLang="en-US" dirty="0">
                <a:latin typeface="Calibri Light" panose="020F0302020204030204" pitchFamily="34" charset="0"/>
                <a:ea typeface="Calibri Light" panose="020F0302020204030204" pitchFamily="34" charset="0"/>
                <a:cs typeface="Calibri Light" panose="020F0302020204030204" pitchFamily="34" charset="0"/>
              </a:rPr>
              <a:t>Fresh snow 80-95%</a:t>
            </a:r>
          </a:p>
          <a:p>
            <a:pPr lvl="1">
              <a:lnSpc>
                <a:spcPct val="90000"/>
              </a:lnSpc>
            </a:pPr>
            <a:r>
              <a:rPr lang="en-US" altLang="en-US" dirty="0">
                <a:latin typeface="Calibri Light" panose="020F0302020204030204" pitchFamily="34" charset="0"/>
                <a:ea typeface="Calibri Light" panose="020F0302020204030204" pitchFamily="34" charset="0"/>
                <a:cs typeface="Calibri Light" panose="020F0302020204030204" pitchFamily="34" charset="0"/>
              </a:rPr>
              <a:t>Forests 10-20%</a:t>
            </a:r>
          </a:p>
          <a:p>
            <a:pPr lvl="1">
              <a:lnSpc>
                <a:spcPct val="90000"/>
              </a:lnSpc>
            </a:pPr>
            <a:r>
              <a:rPr lang="en-US" altLang="en-US" dirty="0">
                <a:latin typeface="Calibri Light" panose="020F0302020204030204" pitchFamily="34" charset="0"/>
                <a:ea typeface="Calibri Light" panose="020F0302020204030204" pitchFamily="34" charset="0"/>
                <a:cs typeface="Calibri Light" panose="020F0302020204030204" pitchFamily="34" charset="0"/>
              </a:rPr>
              <a:t>Asphalt 5-10% </a:t>
            </a:r>
          </a:p>
          <a:p>
            <a:pPr lvl="1">
              <a:lnSpc>
                <a:spcPct val="90000"/>
              </a:lnSpc>
            </a:pPr>
            <a:r>
              <a:rPr lang="en-US" altLang="en-US" dirty="0">
                <a:latin typeface="Calibri Light" panose="020F0302020204030204" pitchFamily="34" charset="0"/>
                <a:ea typeface="Calibri Light" panose="020F0302020204030204" pitchFamily="34" charset="0"/>
                <a:cs typeface="Calibri Light" panose="020F0302020204030204" pitchFamily="34" charset="0"/>
              </a:rPr>
              <a:t>Water bodies 10-60% (depends on sun angle and color of water)</a:t>
            </a:r>
          </a:p>
          <a:p>
            <a:pPr lvl="1">
              <a:lnSpc>
                <a:spcPct val="90000"/>
              </a:lnSpc>
            </a:pPr>
            <a:r>
              <a:rPr lang="en-US" altLang="en-US" dirty="0">
                <a:latin typeface="Calibri Light" panose="020F0302020204030204" pitchFamily="34" charset="0"/>
                <a:ea typeface="Calibri Light" panose="020F0302020204030204" pitchFamily="34" charset="0"/>
                <a:cs typeface="Calibri Light" panose="020F0302020204030204" pitchFamily="34" charset="0"/>
              </a:rPr>
              <a:t>Cirrus clouds 10-30%</a:t>
            </a:r>
          </a:p>
          <a:p>
            <a:pPr lvl="1">
              <a:lnSpc>
                <a:spcPct val="90000"/>
              </a:lnSpc>
            </a:pPr>
            <a:r>
              <a:rPr lang="en-US" altLang="en-US" dirty="0">
                <a:latin typeface="Calibri Light" panose="020F0302020204030204" pitchFamily="34" charset="0"/>
                <a:ea typeface="Calibri Light" panose="020F0302020204030204" pitchFamily="34" charset="0"/>
                <a:cs typeface="Calibri Light" panose="020F0302020204030204" pitchFamily="34" charset="0"/>
              </a:rPr>
              <a:t>Stratus clouds 70-90%</a:t>
            </a:r>
          </a:p>
        </p:txBody>
      </p:sp>
      <p:pic>
        <p:nvPicPr>
          <p:cNvPr id="2" name="Picture 4" descr="albedo">
            <a:hlinkClick r:id="rId3"/>
            <a:extLst>
              <a:ext uri="{FF2B5EF4-FFF2-40B4-BE49-F238E27FC236}">
                <a16:creationId xmlns:a16="http://schemas.microsoft.com/office/drawing/2014/main" id="{E705C14F-9CC7-6B67-3C7B-2BA8B13EA1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333" b="3999"/>
          <a:stretch>
            <a:fillRect/>
          </a:stretch>
        </p:blipFill>
        <p:spPr bwMode="auto">
          <a:xfrm>
            <a:off x="5153255" y="1325881"/>
            <a:ext cx="6807337" cy="4628989"/>
          </a:xfrm>
          <a:prstGeom prst="rect">
            <a:avLst/>
          </a:prstGeom>
          <a:noFill/>
          <a:ln w="44450">
            <a:solidFill>
              <a:srgbClr val="800000"/>
            </a:solidFill>
            <a:miter lim="800000"/>
            <a:headEnd/>
            <a:tailEnd/>
          </a:ln>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3AEC1B0-A64B-D247-3403-5AA44B5378B4}"/>
              </a:ext>
            </a:extLst>
          </p:cNvPr>
          <p:cNvSpPr>
            <a:spLocks noGrp="1"/>
          </p:cNvSpPr>
          <p:nvPr>
            <p:ph type="sldNum" sz="quarter" idx="12"/>
          </p:nvPr>
        </p:nvSpPr>
        <p:spPr/>
        <p:txBody>
          <a:bodyPr/>
          <a:lstStyle/>
          <a:p>
            <a:fld id="{484D8ABC-0652-417C-8248-375E199FD30E}" type="slidenum">
              <a:rPr lang="en-US" altLang="en-US" smtClean="0"/>
              <a:pPr/>
              <a:t>15</a:t>
            </a:fld>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5" descr="albedo">
            <a:extLst>
              <a:ext uri="{FF2B5EF4-FFF2-40B4-BE49-F238E27FC236}">
                <a16:creationId xmlns:a16="http://schemas.microsoft.com/office/drawing/2014/main" id="{162407EF-1CDC-0CF7-8CCB-6059766B32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573" y="0"/>
            <a:ext cx="11754853" cy="681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9C668439-906A-2662-9B6F-95F89C04AD8B}"/>
              </a:ext>
            </a:extLst>
          </p:cNvPr>
          <p:cNvSpPr txBox="1"/>
          <p:nvPr/>
        </p:nvSpPr>
        <p:spPr>
          <a:xfrm>
            <a:off x="218573" y="4831869"/>
            <a:ext cx="11754853" cy="1083374"/>
          </a:xfrm>
          <a:prstGeom prst="rect">
            <a:avLst/>
          </a:prstGeom>
          <a:solidFill>
            <a:schemeClr val="bg1"/>
          </a:solidFill>
        </p:spPr>
        <p:txBody>
          <a:bodyPr wrap="square">
            <a:spAutoFit/>
          </a:bodyPr>
          <a:lstStyle/>
          <a:p>
            <a:pPr eaLnBrk="1" hangingPunct="1">
              <a:spcBef>
                <a:spcPct val="30000"/>
              </a:spcBef>
              <a:defRPr/>
            </a:pPr>
            <a:r>
              <a:rPr lang="en-US" altLang="en-US" sz="2800" dirty="0">
                <a:solidFill>
                  <a:schemeClr val="tx2"/>
                </a:solidFill>
                <a:latin typeface="Calibri Light" panose="020F0302020204030204" pitchFamily="34" charset="0"/>
                <a:ea typeface="Calibri Light" panose="020F0302020204030204" pitchFamily="34" charset="0"/>
                <a:cs typeface="Calibri Light" panose="020F0302020204030204" pitchFamily="34" charset="0"/>
              </a:rPr>
              <a:t>Why is the albedo the same in Siberia as in the Sahara?</a:t>
            </a:r>
          </a:p>
          <a:p>
            <a:pPr eaLnBrk="1" hangingPunct="1">
              <a:spcBef>
                <a:spcPct val="30000"/>
              </a:spcBef>
              <a:defRPr/>
            </a:pPr>
            <a:r>
              <a:rPr lang="en-US" altLang="en-US" sz="2800" dirty="0">
                <a:solidFill>
                  <a:schemeClr val="tx2"/>
                </a:solidFill>
                <a:latin typeface="Calibri Light" panose="020F0302020204030204" pitchFamily="34" charset="0"/>
                <a:ea typeface="Calibri Light" panose="020F0302020204030204" pitchFamily="34" charset="0"/>
                <a:cs typeface="Calibri Light" panose="020F0302020204030204" pitchFamily="34" charset="0"/>
              </a:rPr>
              <a:t>Why is albedo low over the central tropical rainforests of Africa?</a:t>
            </a:r>
          </a:p>
        </p:txBody>
      </p:sp>
      <p:sp>
        <p:nvSpPr>
          <p:cNvPr id="2" name="Slide Number Placeholder 1">
            <a:extLst>
              <a:ext uri="{FF2B5EF4-FFF2-40B4-BE49-F238E27FC236}">
                <a16:creationId xmlns:a16="http://schemas.microsoft.com/office/drawing/2014/main" id="{5A93B0F7-109A-13D3-3B4E-2623D8B8DF31}"/>
              </a:ext>
            </a:extLst>
          </p:cNvPr>
          <p:cNvSpPr>
            <a:spLocks noGrp="1"/>
          </p:cNvSpPr>
          <p:nvPr>
            <p:ph type="sldNum" sz="quarter" idx="12"/>
          </p:nvPr>
        </p:nvSpPr>
        <p:spPr/>
        <p:txBody>
          <a:bodyPr/>
          <a:lstStyle/>
          <a:p>
            <a:fld id="{484D8ABC-0652-417C-8248-375E199FD30E}" type="slidenum">
              <a:rPr lang="en-US" altLang="en-US" smtClean="0"/>
              <a:pPr/>
              <a:t>16</a:t>
            </a:fld>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2808AB0-2D07-6593-3530-EB4829351375}"/>
              </a:ext>
            </a:extLst>
          </p:cNvPr>
          <p:cNvSpPr>
            <a:spLocks noGrp="1"/>
          </p:cNvSpPr>
          <p:nvPr>
            <p:ph type="sldNum" sz="quarter" idx="12"/>
          </p:nvPr>
        </p:nvSpPr>
        <p:spPr/>
        <p:txBody>
          <a:bodyPr/>
          <a:lstStyle/>
          <a:p>
            <a:fld id="{8231C4E5-58AC-4D76-A320-E60922DC93F7}" type="slidenum">
              <a:rPr lang="en-US" altLang="en-US" smtClean="0"/>
              <a:pPr/>
              <a:t>17</a:t>
            </a:fld>
            <a:endParaRPr lang="en-US" altLang="en-US" dirty="0"/>
          </a:p>
        </p:txBody>
      </p:sp>
      <p:pic>
        <p:nvPicPr>
          <p:cNvPr id="7" name="Picture 6">
            <a:extLst>
              <a:ext uri="{FF2B5EF4-FFF2-40B4-BE49-F238E27FC236}">
                <a16:creationId xmlns:a16="http://schemas.microsoft.com/office/drawing/2014/main" id="{1B4DEC26-F9AA-0B69-5A5A-D2EBFA48FA09}"/>
              </a:ext>
            </a:extLst>
          </p:cNvPr>
          <p:cNvPicPr>
            <a:picLocks noChangeAspect="1"/>
          </p:cNvPicPr>
          <p:nvPr/>
        </p:nvPicPr>
        <p:blipFill>
          <a:blip r:embed="rId3"/>
          <a:stretch>
            <a:fillRect/>
          </a:stretch>
        </p:blipFill>
        <p:spPr>
          <a:xfrm>
            <a:off x="1635857" y="136525"/>
            <a:ext cx="8524143" cy="6402579"/>
          </a:xfrm>
          <a:prstGeom prst="rect">
            <a:avLst/>
          </a:prstGeom>
        </p:spPr>
      </p:pic>
    </p:spTree>
    <p:extLst>
      <p:ext uri="{BB962C8B-B14F-4D97-AF65-F5344CB8AC3E}">
        <p14:creationId xmlns:p14="http://schemas.microsoft.com/office/powerpoint/2010/main" val="2123174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31133D-41CB-DEF1-6A2F-AC363874A54A}"/>
              </a:ext>
            </a:extLst>
          </p:cNvPr>
          <p:cNvSpPr>
            <a:spLocks noGrp="1"/>
          </p:cNvSpPr>
          <p:nvPr>
            <p:ph type="sldNum" sz="quarter" idx="12"/>
          </p:nvPr>
        </p:nvSpPr>
        <p:spPr/>
        <p:txBody>
          <a:bodyPr/>
          <a:lstStyle/>
          <a:p>
            <a:fld id="{484D8ABC-0652-417C-8248-375E199FD30E}" type="slidenum">
              <a:rPr lang="en-US" altLang="en-US" smtClean="0"/>
              <a:pPr/>
              <a:t>18</a:t>
            </a:fld>
            <a:endParaRPr lang="en-US" altLang="en-US" dirty="0"/>
          </a:p>
        </p:txBody>
      </p:sp>
      <p:pic>
        <p:nvPicPr>
          <p:cNvPr id="5122" name="Picture 2" descr="Large gray splotches from ice algae nearly most of the snowy, hilly terrain on Greenland. ">
            <a:extLst>
              <a:ext uri="{FF2B5EF4-FFF2-40B4-BE49-F238E27FC236}">
                <a16:creationId xmlns:a16="http://schemas.microsoft.com/office/drawing/2014/main" id="{216B796D-046D-19E2-60E8-81B1671F366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72540" y="340360"/>
            <a:ext cx="9265920" cy="6177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144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1" name="Picture 3" descr="SWRadiationBudget">
            <a:extLst>
              <a:ext uri="{FF2B5EF4-FFF2-40B4-BE49-F238E27FC236}">
                <a16:creationId xmlns:a16="http://schemas.microsoft.com/office/drawing/2014/main" id="{A0C0134C-5B87-B5F5-52EE-7AEBA5DE00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0637"/>
            <a:ext cx="8032751" cy="669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Text Box 4">
            <a:extLst>
              <a:ext uri="{FF2B5EF4-FFF2-40B4-BE49-F238E27FC236}">
                <a16:creationId xmlns:a16="http://schemas.microsoft.com/office/drawing/2014/main" id="{095A269C-9ED7-F7DC-29FE-E9C1577FA90F}"/>
              </a:ext>
            </a:extLst>
          </p:cNvPr>
          <p:cNvSpPr txBox="1">
            <a:spLocks noChangeArrowheads="1"/>
          </p:cNvSpPr>
          <p:nvPr/>
        </p:nvSpPr>
        <p:spPr bwMode="auto">
          <a:xfrm>
            <a:off x="7746531" y="5686973"/>
            <a:ext cx="3365024" cy="954107"/>
          </a:xfrm>
          <a:prstGeom prst="rect">
            <a:avLst/>
          </a:prstGeom>
          <a:solidFill>
            <a:srgbClr val="CE953C"/>
          </a:solid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chemeClr val="bg1"/>
                </a:solidFill>
              </a:rPr>
              <a:t>50% of insolation </a:t>
            </a:r>
          </a:p>
          <a:p>
            <a:pPr eaLnBrk="1" hangingPunct="1"/>
            <a:r>
              <a:rPr lang="en-US" altLang="en-US" sz="2800" dirty="0">
                <a:solidFill>
                  <a:schemeClr val="bg1"/>
                </a:solidFill>
              </a:rPr>
              <a:t>absorbed at surface</a:t>
            </a:r>
          </a:p>
        </p:txBody>
      </p:sp>
      <p:sp>
        <p:nvSpPr>
          <p:cNvPr id="12293" name="Text Box 4">
            <a:extLst>
              <a:ext uri="{FF2B5EF4-FFF2-40B4-BE49-F238E27FC236}">
                <a16:creationId xmlns:a16="http://schemas.microsoft.com/office/drawing/2014/main" id="{7EBB9399-03E8-D21D-FDF7-1725861451EE}"/>
              </a:ext>
            </a:extLst>
          </p:cNvPr>
          <p:cNvSpPr txBox="1">
            <a:spLocks noChangeArrowheads="1"/>
          </p:cNvSpPr>
          <p:nvPr/>
        </p:nvSpPr>
        <p:spPr bwMode="auto">
          <a:xfrm>
            <a:off x="7567059" y="3076870"/>
            <a:ext cx="3023585" cy="954107"/>
          </a:xfrm>
          <a:prstGeom prst="rect">
            <a:avLst/>
          </a:prstGeom>
          <a:solidFill>
            <a:srgbClr val="006699"/>
          </a:solid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chemeClr val="bg1"/>
                </a:solidFill>
              </a:rPr>
              <a:t>20% of insolation </a:t>
            </a:r>
          </a:p>
          <a:p>
            <a:pPr eaLnBrk="1" hangingPunct="1"/>
            <a:r>
              <a:rPr lang="en-US" altLang="en-US" sz="2800" dirty="0">
                <a:solidFill>
                  <a:schemeClr val="bg1"/>
                </a:solidFill>
              </a:rPr>
              <a:t>absorbed by atm</a:t>
            </a:r>
          </a:p>
        </p:txBody>
      </p:sp>
      <p:sp>
        <p:nvSpPr>
          <p:cNvPr id="12294" name="Text Box 4">
            <a:extLst>
              <a:ext uri="{FF2B5EF4-FFF2-40B4-BE49-F238E27FC236}">
                <a16:creationId xmlns:a16="http://schemas.microsoft.com/office/drawing/2014/main" id="{828BCA2B-6D5C-AA87-1B33-CD3B64BFFF65}"/>
              </a:ext>
            </a:extLst>
          </p:cNvPr>
          <p:cNvSpPr txBox="1">
            <a:spLocks noChangeArrowheads="1"/>
          </p:cNvSpPr>
          <p:nvPr/>
        </p:nvSpPr>
        <p:spPr bwMode="auto">
          <a:xfrm>
            <a:off x="7567059" y="1324327"/>
            <a:ext cx="3023585" cy="954107"/>
          </a:xfrm>
          <a:prstGeom prst="rect">
            <a:avLst/>
          </a:prstGeom>
          <a:solidFill>
            <a:srgbClr val="000000"/>
          </a:solid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chemeClr val="bg1"/>
                </a:solidFill>
              </a:rPr>
              <a:t>30% of insolation </a:t>
            </a:r>
          </a:p>
          <a:p>
            <a:pPr eaLnBrk="1" hangingPunct="1"/>
            <a:r>
              <a:rPr lang="en-US" altLang="en-US" sz="2800" dirty="0">
                <a:solidFill>
                  <a:schemeClr val="bg1"/>
                </a:solidFill>
              </a:rPr>
              <a:t>lost to space</a:t>
            </a:r>
          </a:p>
        </p:txBody>
      </p:sp>
      <p:sp>
        <p:nvSpPr>
          <p:cNvPr id="2" name="Rectangle 2">
            <a:extLst>
              <a:ext uri="{FF2B5EF4-FFF2-40B4-BE49-F238E27FC236}">
                <a16:creationId xmlns:a16="http://schemas.microsoft.com/office/drawing/2014/main" id="{6D2F9A4A-FA6B-989A-77D1-35D2E9EC37E5}"/>
              </a:ext>
            </a:extLst>
          </p:cNvPr>
          <p:cNvSpPr>
            <a:spLocks noGrp="1" noChangeArrowheads="1"/>
          </p:cNvSpPr>
          <p:nvPr>
            <p:ph type="title"/>
          </p:nvPr>
        </p:nvSpPr>
        <p:spPr>
          <a:xfrm>
            <a:off x="4689006" y="20637"/>
            <a:ext cx="7280910" cy="1143000"/>
          </a:xfrm>
          <a:solidFill>
            <a:srgbClr val="000000"/>
          </a:solidFill>
        </p:spPr>
        <p:txBody>
          <a:bodyPr/>
          <a:lstStyle/>
          <a:p>
            <a:r>
              <a:rPr lang="en-US" altLang="en-US" sz="4800" dirty="0">
                <a:solidFill>
                  <a:schemeClr val="bg1"/>
                </a:solidFill>
                <a:latin typeface="Calibri Light (Headings)"/>
                <a:ea typeface="Calibri Light" panose="020F0302020204030204" pitchFamily="34" charset="0"/>
                <a:cs typeface="Calibri Light" panose="020F0302020204030204" pitchFamily="34" charset="0"/>
              </a:rPr>
              <a:t>The Earth’s radiation budget</a:t>
            </a:r>
          </a:p>
        </p:txBody>
      </p:sp>
      <p:sp>
        <p:nvSpPr>
          <p:cNvPr id="3" name="Slide Number Placeholder 2">
            <a:extLst>
              <a:ext uri="{FF2B5EF4-FFF2-40B4-BE49-F238E27FC236}">
                <a16:creationId xmlns:a16="http://schemas.microsoft.com/office/drawing/2014/main" id="{E423C734-F0FD-5967-86ED-3160DB23114C}"/>
              </a:ext>
            </a:extLst>
          </p:cNvPr>
          <p:cNvSpPr>
            <a:spLocks noGrp="1"/>
          </p:cNvSpPr>
          <p:nvPr>
            <p:ph type="sldNum" sz="quarter" idx="12"/>
          </p:nvPr>
        </p:nvSpPr>
        <p:spPr/>
        <p:txBody>
          <a:bodyPr/>
          <a:lstStyle/>
          <a:p>
            <a:fld id="{484D8ABC-0652-417C-8248-375E199FD30E}" type="slidenum">
              <a:rPr lang="en-US" altLang="en-US" smtClean="0"/>
              <a:pPr/>
              <a:t>19</a:t>
            </a:fld>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 name="Picture 7" descr="new-4">
            <a:extLst>
              <a:ext uri="{FF2B5EF4-FFF2-40B4-BE49-F238E27FC236}">
                <a16:creationId xmlns:a16="http://schemas.microsoft.com/office/drawing/2014/main" id="{BB14F1D0-BBAD-339D-ADD1-ADCC777091DA}"/>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5098519" y="738824"/>
            <a:ext cx="7093481" cy="5380351"/>
          </a:xfrm>
        </p:spPr>
      </p:pic>
      <p:sp>
        <p:nvSpPr>
          <p:cNvPr id="3" name="Title 1">
            <a:extLst>
              <a:ext uri="{FF2B5EF4-FFF2-40B4-BE49-F238E27FC236}">
                <a16:creationId xmlns:a16="http://schemas.microsoft.com/office/drawing/2014/main" id="{5D09D5B6-267A-9D28-554B-CC37B18C5FB5}"/>
              </a:ext>
            </a:extLst>
          </p:cNvPr>
          <p:cNvSpPr txBox="1">
            <a:spLocks/>
          </p:cNvSpPr>
          <p:nvPr/>
        </p:nvSpPr>
        <p:spPr bwMode="auto">
          <a:xfrm>
            <a:off x="438952" y="583248"/>
            <a:ext cx="475026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en-US" sz="4000" kern="0" dirty="0">
                <a:latin typeface="Calibri Light" panose="020F0302020204030204" pitchFamily="34" charset="0"/>
                <a:ea typeface="Calibri Light" panose="020F0302020204030204" pitchFamily="34" charset="0"/>
                <a:cs typeface="Calibri Light" panose="020F0302020204030204" pitchFamily="34" charset="0"/>
              </a:rPr>
              <a:t>A typical local daily radiation budget</a:t>
            </a:r>
          </a:p>
        </p:txBody>
      </p:sp>
      <p:sp>
        <p:nvSpPr>
          <p:cNvPr id="4" name="Rectangle 3">
            <a:extLst>
              <a:ext uri="{FF2B5EF4-FFF2-40B4-BE49-F238E27FC236}">
                <a16:creationId xmlns:a16="http://schemas.microsoft.com/office/drawing/2014/main" id="{776E5AC5-B4B9-6B1B-46A8-9132C73A603A}"/>
              </a:ext>
            </a:extLst>
          </p:cNvPr>
          <p:cNvSpPr txBox="1">
            <a:spLocks noChangeArrowheads="1"/>
          </p:cNvSpPr>
          <p:nvPr/>
        </p:nvSpPr>
        <p:spPr bwMode="auto">
          <a:xfrm>
            <a:off x="282141" y="2187571"/>
            <a:ext cx="4907077" cy="3931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en-US" altLang="en-US" sz="2800" kern="0" dirty="0">
                <a:latin typeface="Calibri Light" panose="020F0302020204030204" pitchFamily="34" charset="0"/>
                <a:ea typeface="Calibri Light" panose="020F0302020204030204" pitchFamily="34" charset="0"/>
                <a:cs typeface="Calibri Light" panose="020F0302020204030204" pitchFamily="34" charset="0"/>
              </a:rPr>
              <a:t>SW in typically peaks midday when sun angle is highest</a:t>
            </a:r>
          </a:p>
          <a:p>
            <a:pPr eaLnBrk="1" hangingPunct="1"/>
            <a:r>
              <a:rPr lang="en-US" altLang="en-US" sz="2800" kern="0" dirty="0">
                <a:latin typeface="Calibri Light" panose="020F0302020204030204" pitchFamily="34" charset="0"/>
                <a:ea typeface="Calibri Light" panose="020F0302020204030204" pitchFamily="34" charset="0"/>
                <a:cs typeface="Calibri Light" panose="020F0302020204030204" pitchFamily="34" charset="0"/>
              </a:rPr>
              <a:t>LW out peaks later, after SW is converted to LW</a:t>
            </a:r>
          </a:p>
          <a:p>
            <a:pPr eaLnBrk="1" hangingPunct="1"/>
            <a:r>
              <a:rPr lang="en-US" altLang="en-US" sz="2800" kern="0" dirty="0">
                <a:latin typeface="Calibri Light" panose="020F0302020204030204" pitchFamily="34" charset="0"/>
                <a:ea typeface="Calibri Light" panose="020F0302020204030204" pitchFamily="34" charset="0"/>
                <a:cs typeface="Calibri Light" panose="020F0302020204030204" pitchFamily="34" charset="0"/>
              </a:rPr>
              <a:t>Local radiation budgets will vary according to location, time of year, and fluctuations in daily weather conditions</a:t>
            </a:r>
          </a:p>
          <a:p>
            <a:pPr eaLnBrk="1" hangingPunct="1"/>
            <a:endParaRPr lang="en-US" altLang="en-US" sz="2800" kern="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 name="Slide Number Placeholder 1">
            <a:extLst>
              <a:ext uri="{FF2B5EF4-FFF2-40B4-BE49-F238E27FC236}">
                <a16:creationId xmlns:a16="http://schemas.microsoft.com/office/drawing/2014/main" id="{79823CCC-D6E2-E670-1C4C-23B297A44A88}"/>
              </a:ext>
            </a:extLst>
          </p:cNvPr>
          <p:cNvSpPr>
            <a:spLocks noGrp="1"/>
          </p:cNvSpPr>
          <p:nvPr>
            <p:ph type="sldNum" sz="quarter" idx="12"/>
          </p:nvPr>
        </p:nvSpPr>
        <p:spPr/>
        <p:txBody>
          <a:bodyPr/>
          <a:lstStyle/>
          <a:p>
            <a:fld id="{78400256-EF37-4B7E-8083-3ED11F1E4360}" type="slidenum">
              <a:rPr lang="en-US" altLang="en-US" smtClean="0"/>
              <a:pPr/>
              <a:t>20</a:t>
            </a:fld>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7E4AFE86-23C8-72AC-A833-ABF4926B46C8}"/>
              </a:ext>
            </a:extLst>
          </p:cNvPr>
          <p:cNvSpPr>
            <a:spLocks noGrp="1" noChangeArrowheads="1"/>
          </p:cNvSpPr>
          <p:nvPr>
            <p:ph type="title" idx="4294967295"/>
          </p:nvPr>
        </p:nvSpPr>
        <p:spPr>
          <a:xfrm>
            <a:off x="4624754" y="160336"/>
            <a:ext cx="7182234" cy="1143000"/>
          </a:xfrm>
        </p:spPr>
        <p:txBody>
          <a:bodyPr/>
          <a:lstStyle/>
          <a:p>
            <a:pPr eaLnBrk="1" hangingPunct="1"/>
            <a:r>
              <a:rPr lang="en-US" altLang="en-US" dirty="0">
                <a:latin typeface="Calibri Light (Headings)"/>
              </a:rPr>
              <a:t>Rules for heat transfer</a:t>
            </a:r>
          </a:p>
        </p:txBody>
      </p:sp>
      <p:sp>
        <p:nvSpPr>
          <p:cNvPr id="22531" name="Rectangle 3">
            <a:extLst>
              <a:ext uri="{FF2B5EF4-FFF2-40B4-BE49-F238E27FC236}">
                <a16:creationId xmlns:a16="http://schemas.microsoft.com/office/drawing/2014/main" id="{F373ABCE-A87F-C37B-F6C9-90919BADA359}"/>
              </a:ext>
            </a:extLst>
          </p:cNvPr>
          <p:cNvSpPr>
            <a:spLocks noGrp="1" noChangeArrowheads="1"/>
          </p:cNvSpPr>
          <p:nvPr>
            <p:ph type="body" sz="half" idx="4294967295"/>
          </p:nvPr>
        </p:nvSpPr>
        <p:spPr>
          <a:xfrm>
            <a:off x="385011" y="342900"/>
            <a:ext cx="4433173" cy="6354764"/>
          </a:xfrm>
        </p:spPr>
        <p:txBody>
          <a:bodyPr/>
          <a:lstStyle/>
          <a:p>
            <a:pPr marL="609600" indent="-609600" eaLnBrk="1" hangingPunct="1">
              <a:buFontTx/>
              <a:buAutoNum type="arabicPeriod"/>
            </a:pPr>
            <a:r>
              <a:rPr lang="en-US" altLang="en-US" sz="3000" dirty="0">
                <a:solidFill>
                  <a:srgbClr val="00B050"/>
                </a:solidFill>
                <a:latin typeface="Calibri Light" panose="020F0302020204030204" pitchFamily="34" charset="0"/>
                <a:ea typeface="Calibri Light" panose="020F0302020204030204" pitchFamily="34" charset="0"/>
                <a:cs typeface="Calibri Light" panose="020F0302020204030204" pitchFamily="34" charset="0"/>
              </a:rPr>
              <a:t>Energy is not created or destroyed but converted from one form to another</a:t>
            </a:r>
          </a:p>
          <a:p>
            <a:pPr marL="609600" indent="-609600" eaLnBrk="1" hangingPunct="1">
              <a:buFontTx/>
              <a:buAutoNum type="arabicPeriod"/>
            </a:pPr>
            <a:r>
              <a:rPr lang="en-US" altLang="en-US" sz="3000" b="1" dirty="0">
                <a:solidFill>
                  <a:srgbClr val="00B050"/>
                </a:solidFill>
                <a:latin typeface="Calibri Light" panose="020F0302020204030204" pitchFamily="34" charset="0"/>
                <a:ea typeface="Calibri Light" panose="020F0302020204030204" pitchFamily="34" charset="0"/>
                <a:cs typeface="Calibri Light" panose="020F0302020204030204" pitchFamily="34" charset="0"/>
              </a:rPr>
              <a:t>Radiation</a:t>
            </a:r>
            <a:r>
              <a:rPr lang="en-US" altLang="en-US" sz="3000" dirty="0">
                <a:solidFill>
                  <a:srgbClr val="00B050"/>
                </a:solidFill>
                <a:latin typeface="Calibri Light" panose="020F0302020204030204" pitchFamily="34" charset="0"/>
                <a:ea typeface="Calibri Light" panose="020F0302020204030204" pitchFamily="34" charset="0"/>
                <a:cs typeface="Calibri Light" panose="020F0302020204030204" pitchFamily="34" charset="0"/>
              </a:rPr>
              <a:t> can be converted into </a:t>
            </a:r>
            <a:r>
              <a:rPr lang="en-US" altLang="en-US" sz="3000" b="1" dirty="0">
                <a:solidFill>
                  <a:srgbClr val="00B050"/>
                </a:solidFill>
                <a:latin typeface="Calibri Light" panose="020F0302020204030204" pitchFamily="34" charset="0"/>
                <a:ea typeface="Calibri Light" panose="020F0302020204030204" pitchFamily="34" charset="0"/>
                <a:cs typeface="Calibri Light" panose="020F0302020204030204" pitchFamily="34" charset="0"/>
              </a:rPr>
              <a:t>thermal energy</a:t>
            </a:r>
            <a:r>
              <a:rPr lang="en-US" altLang="en-US" sz="3000" dirty="0">
                <a:solidFill>
                  <a:srgbClr val="00B050"/>
                </a:solidFill>
                <a:latin typeface="Calibri Light" panose="020F0302020204030204" pitchFamily="34" charset="0"/>
                <a:ea typeface="Calibri Light" panose="020F0302020204030204" pitchFamily="34" charset="0"/>
                <a:cs typeface="Calibri Light" panose="020F0302020204030204" pitchFamily="34" charset="0"/>
              </a:rPr>
              <a:t>. When this energy is transferred, it is called </a:t>
            </a:r>
            <a:r>
              <a:rPr lang="en-US" altLang="en-US" sz="3000" b="1" dirty="0">
                <a:solidFill>
                  <a:srgbClr val="00B050"/>
                </a:solidFill>
                <a:latin typeface="Calibri Light" panose="020F0302020204030204" pitchFamily="34" charset="0"/>
                <a:ea typeface="Calibri Light" panose="020F0302020204030204" pitchFamily="34" charset="0"/>
                <a:cs typeface="Calibri Light" panose="020F0302020204030204" pitchFamily="34" charset="0"/>
              </a:rPr>
              <a:t>heat</a:t>
            </a:r>
            <a:r>
              <a:rPr lang="en-US" altLang="en-US" sz="3000" dirty="0">
                <a:solidFill>
                  <a:srgbClr val="00B050"/>
                </a:solidFill>
                <a:latin typeface="Calibri Light" panose="020F0302020204030204" pitchFamily="34" charset="0"/>
                <a:ea typeface="Calibri Light" panose="020F0302020204030204" pitchFamily="34" charset="0"/>
                <a:cs typeface="Calibri Light" panose="020F0302020204030204" pitchFamily="34" charset="0"/>
              </a:rPr>
              <a:t>, and its effects are observed as changes in </a:t>
            </a:r>
            <a:r>
              <a:rPr lang="en-US" altLang="en-US" sz="3000" b="1" dirty="0">
                <a:solidFill>
                  <a:srgbClr val="00B050"/>
                </a:solidFill>
                <a:latin typeface="Calibri Light" panose="020F0302020204030204" pitchFamily="34" charset="0"/>
                <a:ea typeface="Calibri Light" panose="020F0302020204030204" pitchFamily="34" charset="0"/>
                <a:cs typeface="Calibri Light" panose="020F0302020204030204" pitchFamily="34" charset="0"/>
              </a:rPr>
              <a:t>temperature.</a:t>
            </a:r>
          </a:p>
        </p:txBody>
      </p:sp>
      <p:pic>
        <p:nvPicPr>
          <p:cNvPr id="7" name="Picture 6">
            <a:extLst>
              <a:ext uri="{FF2B5EF4-FFF2-40B4-BE49-F238E27FC236}">
                <a16:creationId xmlns:a16="http://schemas.microsoft.com/office/drawing/2014/main" id="{F09FFC26-BBD4-F2D3-18B8-A53F5406A42B}"/>
              </a:ext>
            </a:extLst>
          </p:cNvPr>
          <p:cNvPicPr>
            <a:picLocks noChangeAspect="1"/>
          </p:cNvPicPr>
          <p:nvPr/>
        </p:nvPicPr>
        <p:blipFill>
          <a:blip r:embed="rId3"/>
          <a:stretch>
            <a:fillRect/>
          </a:stretch>
        </p:blipFill>
        <p:spPr>
          <a:xfrm>
            <a:off x="5055083" y="1303336"/>
            <a:ext cx="6751905" cy="5151566"/>
          </a:xfrm>
          <a:prstGeom prst="rect">
            <a:avLst/>
          </a:prstGeom>
        </p:spPr>
      </p:pic>
      <p:sp>
        <p:nvSpPr>
          <p:cNvPr id="2" name="Slide Number Placeholder 1">
            <a:extLst>
              <a:ext uri="{FF2B5EF4-FFF2-40B4-BE49-F238E27FC236}">
                <a16:creationId xmlns:a16="http://schemas.microsoft.com/office/drawing/2014/main" id="{4D5D5AE0-D0ED-6ED1-28EE-1578C21658C2}"/>
              </a:ext>
            </a:extLst>
          </p:cNvPr>
          <p:cNvSpPr>
            <a:spLocks noGrp="1"/>
          </p:cNvSpPr>
          <p:nvPr>
            <p:ph type="sldNum" sz="quarter" idx="12"/>
          </p:nvPr>
        </p:nvSpPr>
        <p:spPr/>
        <p:txBody>
          <a:bodyPr/>
          <a:lstStyle/>
          <a:p>
            <a:fld id="{779DC8B8-2509-4163-AD96-E39B2FF13D7D}" type="slidenum">
              <a:rPr lang="en-US" altLang="en-US" smtClean="0"/>
              <a:pPr/>
              <a:t>21</a:t>
            </a:fld>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6233805C-6999-5504-2639-BFA61DF73C1B}"/>
              </a:ext>
            </a:extLst>
          </p:cNvPr>
          <p:cNvSpPr>
            <a:spLocks noGrp="1" noChangeArrowheads="1"/>
          </p:cNvSpPr>
          <p:nvPr>
            <p:ph type="body" sz="half" idx="4294967295"/>
          </p:nvPr>
        </p:nvSpPr>
        <p:spPr>
          <a:xfrm>
            <a:off x="0" y="274319"/>
            <a:ext cx="4091940" cy="6447155"/>
          </a:xfrm>
        </p:spPr>
        <p:txBody>
          <a:bodyPr/>
          <a:lstStyle/>
          <a:p>
            <a:pPr marL="609600" indent="-609600" eaLnBrk="1" hangingPunct="1">
              <a:buFontTx/>
              <a:buAutoNum type="arabicPeriod" startAt="3"/>
              <a:defRPr/>
            </a:pPr>
            <a:r>
              <a:rPr lang="en-US" altLang="en-US" sz="2900" b="1" dirty="0">
                <a:solidFill>
                  <a:srgbClr val="00B050"/>
                </a:solidFill>
                <a:latin typeface="Calibri Light (Headings)"/>
              </a:rPr>
              <a:t>Thermal energy </a:t>
            </a:r>
            <a:r>
              <a:rPr lang="en-US" altLang="en-US" sz="2900" dirty="0">
                <a:solidFill>
                  <a:srgbClr val="00B050"/>
                </a:solidFill>
                <a:latin typeface="Calibri Light (Headings)"/>
              </a:rPr>
              <a:t>is a measure of the total amount of motion of molecules. </a:t>
            </a:r>
            <a:r>
              <a:rPr lang="en-US" altLang="en-US" sz="2900" b="1" dirty="0">
                <a:solidFill>
                  <a:srgbClr val="00B050"/>
                </a:solidFill>
                <a:latin typeface="Calibri Light (Headings)"/>
              </a:rPr>
              <a:t>Temperature</a:t>
            </a:r>
            <a:r>
              <a:rPr lang="en-US" altLang="en-US" sz="2900" dirty="0">
                <a:solidFill>
                  <a:srgbClr val="00B050"/>
                </a:solidFill>
                <a:latin typeface="Calibri Light (Headings)"/>
              </a:rPr>
              <a:t> is measure of the average speed of the molecules, a sample of  thermal energy. </a:t>
            </a:r>
            <a:r>
              <a:rPr lang="en-US" sz="2900" b="1" dirty="0">
                <a:solidFill>
                  <a:srgbClr val="00B050"/>
                </a:solidFill>
                <a:latin typeface="Calibri Light (Headings)"/>
              </a:rPr>
              <a:t>Heat</a:t>
            </a:r>
            <a:r>
              <a:rPr lang="en-US" sz="2900" dirty="0">
                <a:solidFill>
                  <a:srgbClr val="00B050"/>
                </a:solidFill>
                <a:latin typeface="Calibri Light (Headings)"/>
              </a:rPr>
              <a:t> is the thermal energy transferred between locations due to temperature difference. </a:t>
            </a:r>
            <a:endParaRPr lang="en-US" altLang="en-US" sz="2900" dirty="0"/>
          </a:p>
        </p:txBody>
      </p:sp>
      <p:sp>
        <p:nvSpPr>
          <p:cNvPr id="2" name="Slide Number Placeholder 1">
            <a:extLst>
              <a:ext uri="{FF2B5EF4-FFF2-40B4-BE49-F238E27FC236}">
                <a16:creationId xmlns:a16="http://schemas.microsoft.com/office/drawing/2014/main" id="{DC1F16E3-FCFC-F00D-4464-172495A97021}"/>
              </a:ext>
            </a:extLst>
          </p:cNvPr>
          <p:cNvSpPr>
            <a:spLocks noGrp="1"/>
          </p:cNvSpPr>
          <p:nvPr>
            <p:ph type="sldNum" sz="quarter" idx="12"/>
          </p:nvPr>
        </p:nvSpPr>
        <p:spPr/>
        <p:txBody>
          <a:bodyPr/>
          <a:lstStyle/>
          <a:p>
            <a:fld id="{779DC8B8-2509-4163-AD96-E39B2FF13D7D}" type="slidenum">
              <a:rPr lang="en-US" altLang="en-US" smtClean="0"/>
              <a:pPr/>
              <a:t>22</a:t>
            </a:fld>
            <a:endParaRPr lang="en-US" altLang="en-US" dirty="0"/>
          </a:p>
        </p:txBody>
      </p:sp>
      <p:pic>
        <p:nvPicPr>
          <p:cNvPr id="3" name="Picture 7" descr="KeyWest7">
            <a:extLst>
              <a:ext uri="{FF2B5EF4-FFF2-40B4-BE49-F238E27FC236}">
                <a16:creationId xmlns:a16="http://schemas.microsoft.com/office/drawing/2014/main" id="{033F868E-6FFC-237E-4D7C-6F9861796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3865" y="543580"/>
            <a:ext cx="7692394" cy="576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1AEACAF1-A159-573B-F228-0F9F09595101}"/>
              </a:ext>
            </a:extLst>
          </p:cNvPr>
          <p:cNvSpPr>
            <a:spLocks noGrp="1" noChangeArrowheads="1"/>
          </p:cNvSpPr>
          <p:nvPr>
            <p:ph type="body" sz="half" idx="4294967295"/>
          </p:nvPr>
        </p:nvSpPr>
        <p:spPr>
          <a:xfrm>
            <a:off x="274321" y="251461"/>
            <a:ext cx="4206239" cy="6309360"/>
          </a:xfrm>
        </p:spPr>
        <p:txBody>
          <a:bodyPr/>
          <a:lstStyle/>
          <a:p>
            <a:pPr marL="609600" indent="-609600" eaLnBrk="1" hangingPunct="1">
              <a:buFontTx/>
              <a:buAutoNum type="arabicPeriod" startAt="4"/>
            </a:pPr>
            <a:r>
              <a:rPr lang="en-US" altLang="en-US" sz="2800" dirty="0">
                <a:solidFill>
                  <a:srgbClr val="00B050"/>
                </a:solidFill>
                <a:latin typeface="Calibri Light (Headings)"/>
              </a:rPr>
              <a:t>Heat spontaneously flows from warm to cold</a:t>
            </a:r>
          </a:p>
          <a:p>
            <a:pPr marL="609600" indent="-609600" eaLnBrk="1" hangingPunct="1">
              <a:buFontTx/>
              <a:buAutoNum type="arabicPeriod" startAt="4"/>
            </a:pPr>
            <a:r>
              <a:rPr lang="en-US" altLang="en-US" sz="2800" dirty="0">
                <a:solidFill>
                  <a:srgbClr val="00B050"/>
                </a:solidFill>
                <a:latin typeface="Calibri Light (Headings)"/>
              </a:rPr>
              <a:t>Two kinds of heat:  sensible and latent</a:t>
            </a:r>
          </a:p>
          <a:p>
            <a:pPr marL="609600" indent="-609600" eaLnBrk="1" hangingPunct="1">
              <a:buFontTx/>
              <a:buAutoNum type="arabicPeriod" startAt="4"/>
            </a:pPr>
            <a:r>
              <a:rPr lang="en-US" altLang="en-US" sz="2800" dirty="0">
                <a:solidFill>
                  <a:srgbClr val="00B050"/>
                </a:solidFill>
                <a:latin typeface="Calibri Light (Headings)"/>
              </a:rPr>
              <a:t>Sensible heat can be sensed and measured. Latent heat cannot be measured directly.</a:t>
            </a:r>
          </a:p>
          <a:p>
            <a:pPr marL="609600" indent="-609600" eaLnBrk="1" hangingPunct="1">
              <a:buFontTx/>
              <a:buAutoNum type="arabicPeriod" startAt="4"/>
            </a:pPr>
            <a:r>
              <a:rPr lang="en-US" altLang="en-US" sz="2800" dirty="0">
                <a:solidFill>
                  <a:srgbClr val="00B050"/>
                </a:solidFill>
                <a:latin typeface="Calibri Light (Headings)"/>
              </a:rPr>
              <a:t>Sensible heat can be transferred by conduction, convection, radiation, and advection</a:t>
            </a:r>
          </a:p>
        </p:txBody>
      </p:sp>
      <p:sp>
        <p:nvSpPr>
          <p:cNvPr id="3" name="Slide Number Placeholder 2">
            <a:extLst>
              <a:ext uri="{FF2B5EF4-FFF2-40B4-BE49-F238E27FC236}">
                <a16:creationId xmlns:a16="http://schemas.microsoft.com/office/drawing/2014/main" id="{D635E597-1017-AFFA-BB5A-E30F8C103DED}"/>
              </a:ext>
            </a:extLst>
          </p:cNvPr>
          <p:cNvSpPr>
            <a:spLocks noGrp="1"/>
          </p:cNvSpPr>
          <p:nvPr>
            <p:ph type="sldNum" sz="quarter" idx="12"/>
          </p:nvPr>
        </p:nvSpPr>
        <p:spPr/>
        <p:txBody>
          <a:bodyPr/>
          <a:lstStyle/>
          <a:p>
            <a:fld id="{779DC8B8-2509-4163-AD96-E39B2FF13D7D}" type="slidenum">
              <a:rPr lang="en-US" altLang="en-US" smtClean="0"/>
              <a:pPr/>
              <a:t>23</a:t>
            </a:fld>
            <a:endParaRPr lang="en-US" altLang="en-US" dirty="0"/>
          </a:p>
        </p:txBody>
      </p:sp>
      <p:pic>
        <p:nvPicPr>
          <p:cNvPr id="1026" name="Picture 2">
            <a:extLst>
              <a:ext uri="{FF2B5EF4-FFF2-40B4-BE49-F238E27FC236}">
                <a16:creationId xmlns:a16="http://schemas.microsoft.com/office/drawing/2014/main" id="{679FA7CF-9DE3-7BDA-0CE3-9EEEC7894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0560" y="495139"/>
            <a:ext cx="7135869" cy="40082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DB4AA-D149-4188-AD34-7557252A96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384398-30D5-2379-0075-67E4AA5A5280}"/>
              </a:ext>
            </a:extLst>
          </p:cNvPr>
          <p:cNvSpPr>
            <a:spLocks noGrp="1"/>
          </p:cNvSpPr>
          <p:nvPr>
            <p:ph type="sldNum" sz="quarter" idx="12"/>
          </p:nvPr>
        </p:nvSpPr>
        <p:spPr/>
        <p:txBody>
          <a:bodyPr/>
          <a:lstStyle/>
          <a:p>
            <a:fld id="{779DC8B8-2509-4163-AD96-E39B2FF13D7D}" type="slidenum">
              <a:rPr lang="en-US" altLang="en-US" smtClean="0"/>
              <a:pPr/>
              <a:t>24</a:t>
            </a:fld>
            <a:endParaRPr lang="en-US" altLang="en-US" dirty="0"/>
          </a:p>
        </p:txBody>
      </p:sp>
      <p:pic>
        <p:nvPicPr>
          <p:cNvPr id="4" name="Picture 3">
            <a:extLst>
              <a:ext uri="{FF2B5EF4-FFF2-40B4-BE49-F238E27FC236}">
                <a16:creationId xmlns:a16="http://schemas.microsoft.com/office/drawing/2014/main" id="{4BAC2B3F-AA67-6780-4BDC-D78D03E6158F}"/>
              </a:ext>
            </a:extLst>
          </p:cNvPr>
          <p:cNvPicPr>
            <a:picLocks noChangeAspect="1"/>
          </p:cNvPicPr>
          <p:nvPr/>
        </p:nvPicPr>
        <p:blipFill>
          <a:blip r:embed="rId3"/>
          <a:stretch>
            <a:fillRect/>
          </a:stretch>
        </p:blipFill>
        <p:spPr>
          <a:xfrm>
            <a:off x="2262164" y="547116"/>
            <a:ext cx="7323796" cy="5763768"/>
          </a:xfrm>
          <a:prstGeom prst="rect">
            <a:avLst/>
          </a:prstGeom>
        </p:spPr>
      </p:pic>
    </p:spTree>
    <p:extLst>
      <p:ext uri="{BB962C8B-B14F-4D97-AF65-F5344CB8AC3E}">
        <p14:creationId xmlns:p14="http://schemas.microsoft.com/office/powerpoint/2010/main" val="3193292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1A8828-4E09-575A-D064-FED3F2638203}"/>
              </a:ext>
            </a:extLst>
          </p:cNvPr>
          <p:cNvSpPr>
            <a:spLocks noGrp="1"/>
          </p:cNvSpPr>
          <p:nvPr>
            <p:ph type="sldNum" sz="quarter" idx="12"/>
          </p:nvPr>
        </p:nvSpPr>
        <p:spPr/>
        <p:txBody>
          <a:bodyPr/>
          <a:lstStyle/>
          <a:p>
            <a:fld id="{779DC8B8-2509-4163-AD96-E39B2FF13D7D}" type="slidenum">
              <a:rPr lang="en-US" altLang="en-US" smtClean="0"/>
              <a:pPr/>
              <a:t>25</a:t>
            </a:fld>
            <a:endParaRPr lang="en-US" altLang="en-US" dirty="0"/>
          </a:p>
        </p:txBody>
      </p:sp>
      <p:pic>
        <p:nvPicPr>
          <p:cNvPr id="4" name="Picture 3">
            <a:extLst>
              <a:ext uri="{FF2B5EF4-FFF2-40B4-BE49-F238E27FC236}">
                <a16:creationId xmlns:a16="http://schemas.microsoft.com/office/drawing/2014/main" id="{CAFBDC7E-9E4F-1C4E-2CA1-733FF0DE7282}"/>
              </a:ext>
            </a:extLst>
          </p:cNvPr>
          <p:cNvPicPr>
            <a:picLocks noChangeAspect="1"/>
          </p:cNvPicPr>
          <p:nvPr/>
        </p:nvPicPr>
        <p:blipFill>
          <a:blip r:embed="rId2"/>
          <a:stretch>
            <a:fillRect/>
          </a:stretch>
        </p:blipFill>
        <p:spPr>
          <a:xfrm>
            <a:off x="2351332" y="-38636"/>
            <a:ext cx="7094928" cy="6760111"/>
          </a:xfrm>
          <a:prstGeom prst="rect">
            <a:avLst/>
          </a:prstGeom>
        </p:spPr>
      </p:pic>
    </p:spTree>
    <p:extLst>
      <p:ext uri="{BB962C8B-B14F-4D97-AF65-F5344CB8AC3E}">
        <p14:creationId xmlns:p14="http://schemas.microsoft.com/office/powerpoint/2010/main" val="3886760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46838D-A289-45A0-E4BB-F96671C2111B}"/>
              </a:ext>
            </a:extLst>
          </p:cNvPr>
          <p:cNvSpPr>
            <a:spLocks noGrp="1"/>
          </p:cNvSpPr>
          <p:nvPr>
            <p:ph type="sldNum" sz="quarter" idx="12"/>
          </p:nvPr>
        </p:nvSpPr>
        <p:spPr/>
        <p:txBody>
          <a:bodyPr/>
          <a:lstStyle/>
          <a:p>
            <a:fld id="{779DC8B8-2509-4163-AD96-E39B2FF13D7D}" type="slidenum">
              <a:rPr lang="en-US" altLang="en-US" smtClean="0"/>
              <a:pPr/>
              <a:t>26</a:t>
            </a:fld>
            <a:endParaRPr lang="en-US" altLang="en-US" dirty="0"/>
          </a:p>
        </p:txBody>
      </p:sp>
      <p:pic>
        <p:nvPicPr>
          <p:cNvPr id="4" name="Picture 3">
            <a:extLst>
              <a:ext uri="{FF2B5EF4-FFF2-40B4-BE49-F238E27FC236}">
                <a16:creationId xmlns:a16="http://schemas.microsoft.com/office/drawing/2014/main" id="{CF703F97-CF0E-F491-B76F-DA002E40B83A}"/>
              </a:ext>
            </a:extLst>
          </p:cNvPr>
          <p:cNvPicPr>
            <a:picLocks noChangeAspect="1"/>
          </p:cNvPicPr>
          <p:nvPr/>
        </p:nvPicPr>
        <p:blipFill>
          <a:blip r:embed="rId2"/>
          <a:srcRect t="6258"/>
          <a:stretch>
            <a:fillRect/>
          </a:stretch>
        </p:blipFill>
        <p:spPr>
          <a:xfrm>
            <a:off x="619299" y="1025609"/>
            <a:ext cx="10953402" cy="4127158"/>
          </a:xfrm>
          <a:prstGeom prst="rect">
            <a:avLst/>
          </a:prstGeom>
        </p:spPr>
      </p:pic>
    </p:spTree>
    <p:extLst>
      <p:ext uri="{BB962C8B-B14F-4D97-AF65-F5344CB8AC3E}">
        <p14:creationId xmlns:p14="http://schemas.microsoft.com/office/powerpoint/2010/main" val="2437793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map of the united states with a satellite map&#10;&#10;Description automatically generated">
            <a:extLst>
              <a:ext uri="{FF2B5EF4-FFF2-40B4-BE49-F238E27FC236}">
                <a16:creationId xmlns:a16="http://schemas.microsoft.com/office/drawing/2014/main" id="{CCB1AE2B-07A3-62B1-2657-35059966BDF5}"/>
              </a:ext>
            </a:extLst>
          </p:cNvPr>
          <p:cNvPicPr>
            <a:picLocks noChangeAspect="1"/>
          </p:cNvPicPr>
          <p:nvPr/>
        </p:nvPicPr>
        <p:blipFill rotWithShape="1">
          <a:blip r:embed="rId3">
            <a:extLst>
              <a:ext uri="{28A0092B-C50C-407E-A947-70E740481C1C}">
                <a14:useLocalDpi xmlns:a14="http://schemas.microsoft.com/office/drawing/2010/main" val="0"/>
              </a:ext>
            </a:extLst>
          </a:blip>
          <a:srcRect b="18246"/>
          <a:stretch/>
        </p:blipFill>
        <p:spPr>
          <a:xfrm>
            <a:off x="3803460" y="-22860"/>
            <a:ext cx="8388540" cy="6858000"/>
          </a:xfrm>
          <a:prstGeom prst="rect">
            <a:avLst/>
          </a:prstGeom>
        </p:spPr>
      </p:pic>
      <p:sp>
        <p:nvSpPr>
          <p:cNvPr id="2" name="Rectangle 3">
            <a:extLst>
              <a:ext uri="{FF2B5EF4-FFF2-40B4-BE49-F238E27FC236}">
                <a16:creationId xmlns:a16="http://schemas.microsoft.com/office/drawing/2014/main" id="{6AB7BD49-4BF3-FF82-6959-65A83DC8F8F4}"/>
              </a:ext>
            </a:extLst>
          </p:cNvPr>
          <p:cNvSpPr txBox="1">
            <a:spLocks noChangeArrowheads="1"/>
          </p:cNvSpPr>
          <p:nvPr/>
        </p:nvSpPr>
        <p:spPr bwMode="auto">
          <a:xfrm>
            <a:off x="365760" y="266539"/>
            <a:ext cx="3341267" cy="493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r>
              <a:rPr lang="en-US" altLang="en-US" kern="0" dirty="0">
                <a:latin typeface="Calibri Light (Headings)"/>
              </a:rPr>
              <a:t>Advection is the horizontal transfer of  through atmospheric forces that generate winds</a:t>
            </a:r>
          </a:p>
        </p:txBody>
      </p:sp>
      <p:sp>
        <p:nvSpPr>
          <p:cNvPr id="3" name="Slide Number Placeholder 2">
            <a:extLst>
              <a:ext uri="{FF2B5EF4-FFF2-40B4-BE49-F238E27FC236}">
                <a16:creationId xmlns:a16="http://schemas.microsoft.com/office/drawing/2014/main" id="{807E96BE-3D9A-B1E0-7BA5-D0330FD01D33}"/>
              </a:ext>
            </a:extLst>
          </p:cNvPr>
          <p:cNvSpPr>
            <a:spLocks noGrp="1"/>
          </p:cNvSpPr>
          <p:nvPr>
            <p:ph type="sldNum" sz="quarter" idx="12"/>
          </p:nvPr>
        </p:nvSpPr>
        <p:spPr/>
        <p:txBody>
          <a:bodyPr/>
          <a:lstStyle/>
          <a:p>
            <a:fld id="{779DC8B8-2509-4163-AD96-E39B2FF13D7D}" type="slidenum">
              <a:rPr lang="en-US" altLang="en-US" smtClean="0"/>
              <a:pPr/>
              <a:t>27</a:t>
            </a:fld>
            <a:endParaRPr lang="en-US" altLang="en-US" dirty="0"/>
          </a:p>
        </p:txBody>
      </p:sp>
    </p:spTree>
    <p:extLst>
      <p:ext uri="{BB962C8B-B14F-4D97-AF65-F5344CB8AC3E}">
        <p14:creationId xmlns:p14="http://schemas.microsoft.com/office/powerpoint/2010/main" val="2409295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A1E1F3E8-23EB-6907-C1EE-F1A56923AE83}"/>
              </a:ext>
            </a:extLst>
          </p:cNvPr>
          <p:cNvSpPr>
            <a:spLocks noGrp="1" noChangeArrowheads="1"/>
          </p:cNvSpPr>
          <p:nvPr>
            <p:ph type="body" sz="half" idx="4294967295"/>
          </p:nvPr>
        </p:nvSpPr>
        <p:spPr>
          <a:xfrm>
            <a:off x="553453" y="265113"/>
            <a:ext cx="11405936" cy="4525962"/>
          </a:xfrm>
        </p:spPr>
        <p:txBody>
          <a:bodyPr/>
          <a:lstStyle/>
          <a:p>
            <a:pPr marL="609600" indent="-609600" eaLnBrk="1" hangingPunct="1">
              <a:buFontTx/>
              <a:buAutoNum type="arabicPeriod" startAt="8"/>
            </a:pPr>
            <a:r>
              <a:rPr lang="en-US" altLang="en-US" dirty="0">
                <a:solidFill>
                  <a:srgbClr val="00B050"/>
                </a:solidFill>
                <a:latin typeface="Calibri Light (Headings)"/>
              </a:rPr>
              <a:t>Latent heat is potential energy associated with the phase changes of water</a:t>
            </a:r>
          </a:p>
          <a:p>
            <a:pPr marL="609600" indent="-609600" eaLnBrk="1" hangingPunct="1">
              <a:buFontTx/>
              <a:buAutoNum type="arabicPeriod" startAt="8"/>
            </a:pPr>
            <a:r>
              <a:rPr lang="en-US" altLang="en-US" dirty="0">
                <a:solidFill>
                  <a:srgbClr val="00B050"/>
                </a:solidFill>
                <a:latin typeface="Calibri Light (Headings)"/>
              </a:rPr>
              <a:t>Evaporation cools the environment, condensation warms the environment</a:t>
            </a:r>
          </a:p>
        </p:txBody>
      </p:sp>
      <p:pic>
        <p:nvPicPr>
          <p:cNvPr id="26627" name="Picture 4" descr="phase changes">
            <a:extLst>
              <a:ext uri="{FF2B5EF4-FFF2-40B4-BE49-F238E27FC236}">
                <a16:creationId xmlns:a16="http://schemas.microsoft.com/office/drawing/2014/main" id="{1A8EC4BE-706C-87C9-0DDF-99C59D40E7CD}"/>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1916112" y="2376487"/>
            <a:ext cx="8359775" cy="4344988"/>
          </a:xfrm>
          <a:noFill/>
        </p:spPr>
      </p:pic>
      <p:sp>
        <p:nvSpPr>
          <p:cNvPr id="2" name="Slide Number Placeholder 1">
            <a:extLst>
              <a:ext uri="{FF2B5EF4-FFF2-40B4-BE49-F238E27FC236}">
                <a16:creationId xmlns:a16="http://schemas.microsoft.com/office/drawing/2014/main" id="{BE91715A-0191-457A-B381-FD8F878D794F}"/>
              </a:ext>
            </a:extLst>
          </p:cNvPr>
          <p:cNvSpPr>
            <a:spLocks noGrp="1"/>
          </p:cNvSpPr>
          <p:nvPr>
            <p:ph type="sldNum" sz="quarter" idx="12"/>
          </p:nvPr>
        </p:nvSpPr>
        <p:spPr/>
        <p:txBody>
          <a:bodyPr/>
          <a:lstStyle/>
          <a:p>
            <a:fld id="{779DC8B8-2509-4163-AD96-E39B2FF13D7D}" type="slidenum">
              <a:rPr lang="en-US" altLang="en-US" smtClean="0"/>
              <a:pPr/>
              <a:t>28</a:t>
            </a:fld>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40A61E-4A9B-9763-F5F7-53AAA52D0847}"/>
              </a:ext>
            </a:extLst>
          </p:cNvPr>
          <p:cNvSpPr>
            <a:spLocks noGrp="1"/>
          </p:cNvSpPr>
          <p:nvPr>
            <p:ph type="sldNum" sz="quarter" idx="12"/>
          </p:nvPr>
        </p:nvSpPr>
        <p:spPr/>
        <p:txBody>
          <a:bodyPr/>
          <a:lstStyle/>
          <a:p>
            <a:fld id="{779DC8B8-2509-4163-AD96-E39B2FF13D7D}" type="slidenum">
              <a:rPr lang="en-US" altLang="en-US" smtClean="0"/>
              <a:pPr/>
              <a:t>29</a:t>
            </a:fld>
            <a:endParaRPr lang="en-US" altLang="en-US" dirty="0"/>
          </a:p>
        </p:txBody>
      </p:sp>
      <p:pic>
        <p:nvPicPr>
          <p:cNvPr id="4" name="Picture 3">
            <a:extLst>
              <a:ext uri="{FF2B5EF4-FFF2-40B4-BE49-F238E27FC236}">
                <a16:creationId xmlns:a16="http://schemas.microsoft.com/office/drawing/2014/main" id="{8851C392-73FC-1D46-F198-AEC19CE1C3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064" y="1130644"/>
            <a:ext cx="11653872" cy="4596712"/>
          </a:xfrm>
          <a:prstGeom prst="rect">
            <a:avLst/>
          </a:prstGeom>
        </p:spPr>
      </p:pic>
    </p:spTree>
    <p:extLst>
      <p:ext uri="{BB962C8B-B14F-4D97-AF65-F5344CB8AC3E}">
        <p14:creationId xmlns:p14="http://schemas.microsoft.com/office/powerpoint/2010/main" val="745924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02D475F-FEEA-3E7C-91F3-5ED90936FD83}"/>
              </a:ext>
            </a:extLst>
          </p:cNvPr>
          <p:cNvSpPr>
            <a:spLocks noGrp="1" noChangeArrowheads="1"/>
          </p:cNvSpPr>
          <p:nvPr>
            <p:ph type="body" sz="half" idx="4294967295"/>
          </p:nvPr>
        </p:nvSpPr>
        <p:spPr>
          <a:xfrm>
            <a:off x="348916" y="293688"/>
            <a:ext cx="11105147" cy="4525962"/>
          </a:xfrm>
        </p:spPr>
        <p:txBody>
          <a:bodyPr/>
          <a:lstStyle/>
          <a:p>
            <a:pPr marL="609600" indent="-609600" eaLnBrk="1" hangingPunct="1">
              <a:buNone/>
            </a:pPr>
            <a:r>
              <a:rPr lang="en-US" altLang="en-US" sz="2800" dirty="0">
                <a:solidFill>
                  <a:srgbClr val="00B050"/>
                </a:solidFill>
                <a:latin typeface="Calibri Light (Headings)"/>
              </a:rPr>
              <a:t>10.</a:t>
            </a:r>
            <a:r>
              <a:rPr lang="en-US" altLang="en-US" sz="2800" dirty="0">
                <a:latin typeface="Calibri Light (Headings)"/>
              </a:rPr>
              <a:t>	</a:t>
            </a:r>
            <a:r>
              <a:rPr lang="en-US" altLang="en-US" sz="2800" dirty="0">
                <a:solidFill>
                  <a:srgbClr val="00B050"/>
                </a:solidFill>
                <a:latin typeface="Calibri Light (Headings)"/>
              </a:rPr>
              <a:t>Temperature at any one point is determined by the net balance between incoming and outgoing radiation (SW and LW); sensible heat available through conduction, convection, radiation; latent heat transfer; advective heat transport (wind-driven); and the availability of water and in what form (ice, liquid, or solid)</a:t>
            </a:r>
          </a:p>
        </p:txBody>
      </p:sp>
      <p:pic>
        <p:nvPicPr>
          <p:cNvPr id="3" name="Picture 2" descr="A basketball hoop on a wet surface&#10;&#10;Description automatically generated">
            <a:extLst>
              <a:ext uri="{FF2B5EF4-FFF2-40B4-BE49-F238E27FC236}">
                <a16:creationId xmlns:a16="http://schemas.microsoft.com/office/drawing/2014/main" id="{18396BF4-8FF8-BFF5-223E-A140A630C3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916" y="2930023"/>
            <a:ext cx="5668879" cy="3779253"/>
          </a:xfrm>
          <a:prstGeom prst="rect">
            <a:avLst/>
          </a:prstGeom>
        </p:spPr>
      </p:pic>
      <p:pic>
        <p:nvPicPr>
          <p:cNvPr id="5" name="Picture 4" descr="A landscape of a valley with trees and fog&#10;&#10;Description automatically generated with medium confidence">
            <a:extLst>
              <a:ext uri="{FF2B5EF4-FFF2-40B4-BE49-F238E27FC236}">
                <a16:creationId xmlns:a16="http://schemas.microsoft.com/office/drawing/2014/main" id="{E9AB7294-1C8A-64B2-3F33-219E2777F4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930023"/>
            <a:ext cx="5668878" cy="3779252"/>
          </a:xfrm>
          <a:prstGeom prst="rect">
            <a:avLst/>
          </a:prstGeom>
        </p:spPr>
      </p:pic>
      <p:sp>
        <p:nvSpPr>
          <p:cNvPr id="2" name="Slide Number Placeholder 1">
            <a:extLst>
              <a:ext uri="{FF2B5EF4-FFF2-40B4-BE49-F238E27FC236}">
                <a16:creationId xmlns:a16="http://schemas.microsoft.com/office/drawing/2014/main" id="{E97DF2BB-9E35-04FE-5DDA-E3CABCD1E5FD}"/>
              </a:ext>
            </a:extLst>
          </p:cNvPr>
          <p:cNvSpPr>
            <a:spLocks noGrp="1"/>
          </p:cNvSpPr>
          <p:nvPr>
            <p:ph type="sldNum" sz="quarter" idx="12"/>
          </p:nvPr>
        </p:nvSpPr>
        <p:spPr/>
        <p:txBody>
          <a:bodyPr/>
          <a:lstStyle/>
          <a:p>
            <a:fld id="{779DC8B8-2509-4163-AD96-E39B2FF13D7D}" type="slidenum">
              <a:rPr lang="en-US" altLang="en-US" smtClean="0"/>
              <a:pPr/>
              <a:t>30</a:t>
            </a:fld>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5A7514-1CA8-03A2-A124-BB55E3BB288A}"/>
              </a:ext>
            </a:extLst>
          </p:cNvPr>
          <p:cNvSpPr>
            <a:spLocks noGrp="1"/>
          </p:cNvSpPr>
          <p:nvPr>
            <p:ph type="sldNum" sz="quarter" idx="12"/>
          </p:nvPr>
        </p:nvSpPr>
        <p:spPr/>
        <p:txBody>
          <a:bodyPr/>
          <a:lstStyle/>
          <a:p>
            <a:fld id="{779DC8B8-2509-4163-AD96-E39B2FF13D7D}" type="slidenum">
              <a:rPr lang="en-US" altLang="en-US" smtClean="0"/>
              <a:pPr/>
              <a:t>31</a:t>
            </a:fld>
            <a:endParaRPr lang="en-US" altLang="en-US" dirty="0"/>
          </a:p>
        </p:txBody>
      </p:sp>
      <p:pic>
        <p:nvPicPr>
          <p:cNvPr id="5" name="Picture 4">
            <a:extLst>
              <a:ext uri="{FF2B5EF4-FFF2-40B4-BE49-F238E27FC236}">
                <a16:creationId xmlns:a16="http://schemas.microsoft.com/office/drawing/2014/main" id="{0A649871-94AC-141E-DA19-570EF55A5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038" y="575868"/>
            <a:ext cx="9442938" cy="5669357"/>
          </a:xfrm>
          <a:prstGeom prst="rect">
            <a:avLst/>
          </a:prstGeom>
        </p:spPr>
      </p:pic>
    </p:spTree>
    <p:extLst>
      <p:ext uri="{BB962C8B-B14F-4D97-AF65-F5344CB8AC3E}">
        <p14:creationId xmlns:p14="http://schemas.microsoft.com/office/powerpoint/2010/main" val="42026710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05D9462-687D-88E3-7154-A68826A408A2}"/>
              </a:ext>
            </a:extLst>
          </p:cNvPr>
          <p:cNvSpPr>
            <a:spLocks noGrp="1" noChangeArrowheads="1"/>
          </p:cNvSpPr>
          <p:nvPr>
            <p:ph type="body" sz="half" idx="4294967295"/>
          </p:nvPr>
        </p:nvSpPr>
        <p:spPr>
          <a:xfrm>
            <a:off x="409074" y="512763"/>
            <a:ext cx="3785736" cy="5732462"/>
          </a:xfrm>
        </p:spPr>
        <p:txBody>
          <a:bodyPr/>
          <a:lstStyle/>
          <a:p>
            <a:pPr marL="609600" indent="-609600" eaLnBrk="1" hangingPunct="1">
              <a:buNone/>
            </a:pPr>
            <a:r>
              <a:rPr lang="en-US" altLang="en-US" dirty="0">
                <a:solidFill>
                  <a:srgbClr val="00B050"/>
                </a:solidFill>
                <a:latin typeface="Calibri Light (Headings)"/>
              </a:rPr>
              <a:t>10</a:t>
            </a:r>
            <a:r>
              <a:rPr lang="en-US" altLang="en-US" dirty="0">
                <a:latin typeface="Calibri Light (Headings)"/>
              </a:rPr>
              <a:t>. </a:t>
            </a:r>
            <a:r>
              <a:rPr lang="en-US" altLang="en-US" dirty="0">
                <a:solidFill>
                  <a:srgbClr val="00B050"/>
                </a:solidFill>
                <a:latin typeface="Calibri Light (Headings)"/>
              </a:rPr>
              <a:t>Heat is continually redistributed on Earth by radiation budgets, phase changes of water, and global atmospheric circulation </a:t>
            </a:r>
            <a:endParaRPr lang="en-US" altLang="en-US" sz="2800" dirty="0">
              <a:solidFill>
                <a:srgbClr val="00B050"/>
              </a:solidFill>
              <a:latin typeface="Calibri Light (Headings)"/>
            </a:endParaRPr>
          </a:p>
        </p:txBody>
      </p:sp>
      <p:sp>
        <p:nvSpPr>
          <p:cNvPr id="2" name="Slide Number Placeholder 1">
            <a:extLst>
              <a:ext uri="{FF2B5EF4-FFF2-40B4-BE49-F238E27FC236}">
                <a16:creationId xmlns:a16="http://schemas.microsoft.com/office/drawing/2014/main" id="{53E66012-FA0C-045E-E225-6BCE11EFBE2C}"/>
              </a:ext>
            </a:extLst>
          </p:cNvPr>
          <p:cNvSpPr>
            <a:spLocks noGrp="1"/>
          </p:cNvSpPr>
          <p:nvPr>
            <p:ph type="sldNum" sz="quarter" idx="12"/>
          </p:nvPr>
        </p:nvSpPr>
        <p:spPr/>
        <p:txBody>
          <a:bodyPr/>
          <a:lstStyle/>
          <a:p>
            <a:fld id="{779DC8B8-2509-4163-AD96-E39B2FF13D7D}" type="slidenum">
              <a:rPr lang="en-US" altLang="en-US" smtClean="0"/>
              <a:pPr/>
              <a:t>32</a:t>
            </a:fld>
            <a:endParaRPr lang="en-US" altLang="en-US" dirty="0"/>
          </a:p>
        </p:txBody>
      </p:sp>
      <p:pic>
        <p:nvPicPr>
          <p:cNvPr id="2050" name="Picture 2" descr="Atmospheric Circulation - Labster">
            <a:extLst>
              <a:ext uri="{FF2B5EF4-FFF2-40B4-BE49-F238E27FC236}">
                <a16:creationId xmlns:a16="http://schemas.microsoft.com/office/drawing/2014/main" id="{CB206831-23E2-5925-C331-7F639E332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8592" y="512763"/>
            <a:ext cx="8077200" cy="548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E82F47-0797-1F56-0C15-40AD9E6B323E}"/>
              </a:ext>
            </a:extLst>
          </p:cNvPr>
          <p:cNvSpPr>
            <a:spLocks noGrp="1"/>
          </p:cNvSpPr>
          <p:nvPr>
            <p:ph type="sldNum" sz="quarter" idx="12"/>
          </p:nvPr>
        </p:nvSpPr>
        <p:spPr/>
        <p:txBody>
          <a:bodyPr/>
          <a:lstStyle/>
          <a:p>
            <a:fld id="{779DC8B8-2509-4163-AD96-E39B2FF13D7D}" type="slidenum">
              <a:rPr lang="en-US" altLang="en-US" smtClean="0"/>
              <a:pPr/>
              <a:t>33</a:t>
            </a:fld>
            <a:endParaRPr lang="en-US" altLang="en-US" dirty="0"/>
          </a:p>
        </p:txBody>
      </p:sp>
      <p:pic>
        <p:nvPicPr>
          <p:cNvPr id="4" name="Picture 3">
            <a:extLst>
              <a:ext uri="{FF2B5EF4-FFF2-40B4-BE49-F238E27FC236}">
                <a16:creationId xmlns:a16="http://schemas.microsoft.com/office/drawing/2014/main" id="{27E78283-43B4-5788-4DF1-7226013F67D9}"/>
              </a:ext>
            </a:extLst>
          </p:cNvPr>
          <p:cNvPicPr>
            <a:picLocks noChangeAspect="1"/>
          </p:cNvPicPr>
          <p:nvPr/>
        </p:nvPicPr>
        <p:blipFill>
          <a:blip r:embed="rId2"/>
          <a:stretch>
            <a:fillRect/>
          </a:stretch>
        </p:blipFill>
        <p:spPr>
          <a:xfrm rot="5400000">
            <a:off x="2978818" y="-1053604"/>
            <a:ext cx="6234365" cy="8965208"/>
          </a:xfrm>
          <a:prstGeom prst="rect">
            <a:avLst/>
          </a:prstGeom>
        </p:spPr>
      </p:pic>
    </p:spTree>
    <p:extLst>
      <p:ext uri="{BB962C8B-B14F-4D97-AF65-F5344CB8AC3E}">
        <p14:creationId xmlns:p14="http://schemas.microsoft.com/office/powerpoint/2010/main" val="16684539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108397D-323E-00BF-193B-92F4B3CD5032}"/>
              </a:ext>
            </a:extLst>
          </p:cNvPr>
          <p:cNvSpPr>
            <a:spLocks noGrp="1" noChangeArrowheads="1"/>
          </p:cNvSpPr>
          <p:nvPr>
            <p:ph type="body" sz="half" idx="4294967295"/>
          </p:nvPr>
        </p:nvSpPr>
        <p:spPr>
          <a:xfrm>
            <a:off x="564774" y="207964"/>
            <a:ext cx="11402436" cy="636587"/>
          </a:xfrm>
        </p:spPr>
        <p:txBody>
          <a:bodyPr/>
          <a:lstStyle/>
          <a:p>
            <a:pPr marL="609600" indent="-609600" algn="ctr" eaLnBrk="1" hangingPunct="1">
              <a:buNone/>
            </a:pPr>
            <a:r>
              <a:rPr lang="en-US" altLang="en-US" sz="3600" dirty="0">
                <a:latin typeface="Calibri Light (Headings)"/>
              </a:rPr>
              <a:t>Ocean currents also redistribute heat</a:t>
            </a:r>
          </a:p>
        </p:txBody>
      </p:sp>
      <p:sp>
        <p:nvSpPr>
          <p:cNvPr id="2" name="Slide Number Placeholder 1">
            <a:extLst>
              <a:ext uri="{FF2B5EF4-FFF2-40B4-BE49-F238E27FC236}">
                <a16:creationId xmlns:a16="http://schemas.microsoft.com/office/drawing/2014/main" id="{2FE5F783-C02E-A1B2-350F-5E80051EE383}"/>
              </a:ext>
            </a:extLst>
          </p:cNvPr>
          <p:cNvSpPr>
            <a:spLocks noGrp="1"/>
          </p:cNvSpPr>
          <p:nvPr>
            <p:ph type="sldNum" sz="quarter" idx="12"/>
          </p:nvPr>
        </p:nvSpPr>
        <p:spPr/>
        <p:txBody>
          <a:bodyPr/>
          <a:lstStyle/>
          <a:p>
            <a:fld id="{779DC8B8-2509-4163-AD96-E39B2FF13D7D}" type="slidenum">
              <a:rPr lang="en-US" altLang="en-US" smtClean="0"/>
              <a:pPr/>
              <a:t>34</a:t>
            </a:fld>
            <a:endParaRPr lang="en-US" altLang="en-US" dirty="0"/>
          </a:p>
        </p:txBody>
      </p:sp>
      <p:pic>
        <p:nvPicPr>
          <p:cNvPr id="4100" name="Picture 4" descr="undefined">
            <a:extLst>
              <a:ext uri="{FF2B5EF4-FFF2-40B4-BE49-F238E27FC236}">
                <a16:creationId xmlns:a16="http://schemas.microsoft.com/office/drawing/2014/main" id="{CA48ECED-F9A0-618D-6D7B-14D000AF33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273175"/>
            <a:ext cx="9525000" cy="497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1744</TotalTime>
  <Words>1684</Words>
  <Application>Microsoft Office PowerPoint</Application>
  <PresentationFormat>Widescreen</PresentationFormat>
  <Paragraphs>152</Paragraphs>
  <Slides>34</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 Light</vt:lpstr>
      <vt:lpstr>Calibri Light (Headings)</vt:lpstr>
      <vt:lpstr>Times New Roman</vt:lpstr>
      <vt:lpstr>1_Default Design</vt:lpstr>
      <vt:lpstr>PowerPoint Presentation</vt:lpstr>
      <vt:lpstr>PowerPoint Presentation</vt:lpstr>
      <vt:lpstr>…and with the Earth’s revolution around the sun comes  the march of the seasons</vt:lpstr>
      <vt:lpstr>Does Earth-Sun geometry and how it shapes the broad shifting distribution of global radiation and temperatures on Earth explain all weather patterns?</vt:lpstr>
      <vt:lpstr>PowerPoint Presentation</vt:lpstr>
      <vt:lpstr>In this unit on radiation and heat:</vt:lpstr>
      <vt:lpstr>Radiation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Albedo</vt:lpstr>
      <vt:lpstr>PowerPoint Presentation</vt:lpstr>
      <vt:lpstr>PowerPoint Presentation</vt:lpstr>
      <vt:lpstr>PowerPoint Presentation</vt:lpstr>
      <vt:lpstr>The Earth’s radiation budget</vt:lpstr>
      <vt:lpstr>PowerPoint Presentation</vt:lpstr>
      <vt:lpstr>Rules for heat transfer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Radiation balance</dc:title>
  <dc:creator>J. Anthony Stallins</dc:creator>
  <cp:lastModifiedBy>Stallins, Jon A.</cp:lastModifiedBy>
  <cp:revision>113</cp:revision>
  <dcterms:created xsi:type="dcterms:W3CDTF">2005-05-11T22:07:31Z</dcterms:created>
  <dcterms:modified xsi:type="dcterms:W3CDTF">2026-02-01T16:26:29Z</dcterms:modified>
</cp:coreProperties>
</file>