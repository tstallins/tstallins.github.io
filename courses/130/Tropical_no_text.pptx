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303" r:id="rId2"/>
    <p:sldId id="322" r:id="rId3"/>
    <p:sldId id="440" r:id="rId4"/>
    <p:sldId id="261" r:id="rId5"/>
    <p:sldId id="407" r:id="rId6"/>
    <p:sldId id="416" r:id="rId7"/>
    <p:sldId id="445" r:id="rId8"/>
    <p:sldId id="316" r:id="rId9"/>
    <p:sldId id="277" r:id="rId10"/>
    <p:sldId id="281" r:id="rId11"/>
    <p:sldId id="286" r:id="rId12"/>
    <p:sldId id="326" r:id="rId13"/>
    <p:sldId id="349" r:id="rId14"/>
    <p:sldId id="444" r:id="rId15"/>
    <p:sldId id="341" r:id="rId16"/>
    <p:sldId id="452" r:id="rId17"/>
    <p:sldId id="362" r:id="rId18"/>
    <p:sldId id="436" r:id="rId19"/>
    <p:sldId id="406" r:id="rId20"/>
    <p:sldId id="437" r:id="rId21"/>
    <p:sldId id="414" r:id="rId22"/>
    <p:sldId id="399" r:id="rId23"/>
    <p:sldId id="350" r:id="rId24"/>
    <p:sldId id="358" r:id="rId25"/>
    <p:sldId id="378" r:id="rId26"/>
    <p:sldId id="418" r:id="rId27"/>
    <p:sldId id="388" r:id="rId28"/>
    <p:sldId id="387" r:id="rId29"/>
    <p:sldId id="433" r:id="rId30"/>
    <p:sldId id="405" r:id="rId31"/>
    <p:sldId id="417" r:id="rId32"/>
    <p:sldId id="432" r:id="rId33"/>
    <p:sldId id="446" r:id="rId34"/>
    <p:sldId id="346" r:id="rId35"/>
    <p:sldId id="429" r:id="rId36"/>
    <p:sldId id="448" r:id="rId37"/>
    <p:sldId id="451" r:id="rId38"/>
    <p:sldId id="435" r:id="rId39"/>
    <p:sldId id="450" r:id="rId40"/>
    <p:sldId id="347" r:id="rId41"/>
    <p:sldId id="449" r:id="rId42"/>
    <p:sldId id="434" r:id="rId43"/>
    <p:sldId id="423" r:id="rId44"/>
    <p:sldId id="421" r:id="rId45"/>
    <p:sldId id="380" r:id="rId46"/>
    <p:sldId id="408" r:id="rId47"/>
    <p:sldId id="403" r:id="rId48"/>
  </p:sldIdLst>
  <p:sldSz cx="12192000" cy="6858000"/>
  <p:notesSz cx="6881813" cy="92964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EAEAEA"/>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88" autoAdjust="0"/>
    <p:restoredTop sz="84837" autoAdjust="0"/>
  </p:normalViewPr>
  <p:slideViewPr>
    <p:cSldViewPr>
      <p:cViewPr varScale="1">
        <p:scale>
          <a:sx n="70" d="100"/>
          <a:sy n="70" d="100"/>
        </p:scale>
        <p:origin x="1282" y="48"/>
      </p:cViewPr>
      <p:guideLst>
        <p:guide orient="horz" pos="2160"/>
        <p:guide pos="3840"/>
      </p:guideLst>
    </p:cSldViewPr>
  </p:slideViewPr>
  <p:outlineViewPr>
    <p:cViewPr>
      <p:scale>
        <a:sx n="66" d="100"/>
        <a:sy n="66" d="100"/>
      </p:scale>
      <p:origin x="0" y="0"/>
    </p:cViewPr>
  </p:outlineViewPr>
  <p:notesTextViewPr>
    <p:cViewPr>
      <p:scale>
        <a:sx n="100" d="100"/>
        <a:sy n="100" d="100"/>
      </p:scale>
      <p:origin x="0" y="0"/>
    </p:cViewPr>
  </p:notesTextViewPr>
  <p:sorterViewPr>
    <p:cViewPr varScale="1">
      <p:scale>
        <a:sx n="1" d="1"/>
        <a:sy n="1" d="1"/>
      </p:scale>
      <p:origin x="0" y="-2069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2BD77D-A154-98EA-1EB2-75A48211A33C}"/>
              </a:ext>
            </a:extLst>
          </p:cNvPr>
          <p:cNvSpPr>
            <a:spLocks noGrp="1"/>
          </p:cNvSpPr>
          <p:nvPr>
            <p:ph type="hdr" sz="quarter"/>
          </p:nvPr>
        </p:nvSpPr>
        <p:spPr>
          <a:xfrm>
            <a:off x="0" y="0"/>
            <a:ext cx="2982913" cy="465138"/>
          </a:xfrm>
          <a:prstGeom prst="rect">
            <a:avLst/>
          </a:prstGeom>
        </p:spPr>
        <p:txBody>
          <a:bodyPr vert="horz" lIns="92446" tIns="46223" rIns="92446" bIns="46223" rtlCol="0"/>
          <a:lstStyle>
            <a:lvl1pPr algn="l" eaLnBrk="1" hangingPunct="1">
              <a:defRPr sz="1200" dirty="0">
                <a:latin typeface="Arial" charset="0"/>
              </a:defRPr>
            </a:lvl1pPr>
          </a:lstStyle>
          <a:p>
            <a:pPr>
              <a:defRPr/>
            </a:pPr>
            <a:endParaRPr lang="en-US" dirty="0"/>
          </a:p>
        </p:txBody>
      </p:sp>
      <p:sp>
        <p:nvSpPr>
          <p:cNvPr id="3" name="Date Placeholder 2">
            <a:extLst>
              <a:ext uri="{FF2B5EF4-FFF2-40B4-BE49-F238E27FC236}">
                <a16:creationId xmlns:a16="http://schemas.microsoft.com/office/drawing/2014/main" id="{7152C375-C4A0-BE7E-5BE8-0E80F458F396}"/>
              </a:ext>
            </a:extLst>
          </p:cNvPr>
          <p:cNvSpPr>
            <a:spLocks noGrp="1"/>
          </p:cNvSpPr>
          <p:nvPr>
            <p:ph type="dt" sz="quarter" idx="1"/>
          </p:nvPr>
        </p:nvSpPr>
        <p:spPr>
          <a:xfrm>
            <a:off x="3897313" y="0"/>
            <a:ext cx="2982912" cy="465138"/>
          </a:xfrm>
          <a:prstGeom prst="rect">
            <a:avLst/>
          </a:prstGeom>
        </p:spPr>
        <p:txBody>
          <a:bodyPr vert="horz" lIns="92446" tIns="46223" rIns="92446" bIns="46223" rtlCol="0"/>
          <a:lstStyle>
            <a:lvl1pPr algn="r" eaLnBrk="1" hangingPunct="1">
              <a:defRPr sz="1200">
                <a:latin typeface="Arial" charset="0"/>
              </a:defRPr>
            </a:lvl1pPr>
          </a:lstStyle>
          <a:p>
            <a:pPr>
              <a:defRPr/>
            </a:pPr>
            <a:fld id="{D382AE69-DF5D-46B2-97B5-0BB35589284A}" type="datetimeFigureOut">
              <a:rPr lang="en-US"/>
              <a:pPr>
                <a:defRPr/>
              </a:pPr>
              <a:t>3/12/2026</a:t>
            </a:fld>
            <a:endParaRPr lang="en-US" dirty="0"/>
          </a:p>
        </p:txBody>
      </p:sp>
      <p:sp>
        <p:nvSpPr>
          <p:cNvPr id="4" name="Footer Placeholder 3">
            <a:extLst>
              <a:ext uri="{FF2B5EF4-FFF2-40B4-BE49-F238E27FC236}">
                <a16:creationId xmlns:a16="http://schemas.microsoft.com/office/drawing/2014/main" id="{CAEC0B7B-F4B4-F11D-8C7E-2D889F1B3815}"/>
              </a:ext>
            </a:extLst>
          </p:cNvPr>
          <p:cNvSpPr>
            <a:spLocks noGrp="1"/>
          </p:cNvSpPr>
          <p:nvPr>
            <p:ph type="ftr" sz="quarter" idx="2"/>
          </p:nvPr>
        </p:nvSpPr>
        <p:spPr>
          <a:xfrm>
            <a:off x="0" y="8829675"/>
            <a:ext cx="2982913" cy="465138"/>
          </a:xfrm>
          <a:prstGeom prst="rect">
            <a:avLst/>
          </a:prstGeom>
        </p:spPr>
        <p:txBody>
          <a:bodyPr vert="horz" lIns="92446" tIns="46223" rIns="92446" bIns="46223" rtlCol="0" anchor="b"/>
          <a:lstStyle>
            <a:lvl1pPr algn="l" eaLnBrk="1" hangingPunct="1">
              <a:defRPr sz="1200" dirty="0">
                <a:latin typeface="Arial" charset="0"/>
              </a:defRPr>
            </a:lvl1pPr>
          </a:lstStyle>
          <a:p>
            <a:pPr>
              <a:defRPr/>
            </a:pPr>
            <a:endParaRPr lang="en-US" dirty="0"/>
          </a:p>
        </p:txBody>
      </p:sp>
      <p:sp>
        <p:nvSpPr>
          <p:cNvPr id="5" name="Slide Number Placeholder 4">
            <a:extLst>
              <a:ext uri="{FF2B5EF4-FFF2-40B4-BE49-F238E27FC236}">
                <a16:creationId xmlns:a16="http://schemas.microsoft.com/office/drawing/2014/main" id="{0FA5C325-9F91-E130-E40B-9B74804729AA}"/>
              </a:ext>
            </a:extLst>
          </p:cNvPr>
          <p:cNvSpPr>
            <a:spLocks noGrp="1"/>
          </p:cNvSpPr>
          <p:nvPr>
            <p:ph type="sldNum" sz="quarter" idx="3"/>
          </p:nvPr>
        </p:nvSpPr>
        <p:spPr>
          <a:xfrm>
            <a:off x="3897313" y="8829675"/>
            <a:ext cx="2982912" cy="465138"/>
          </a:xfrm>
          <a:prstGeom prst="rect">
            <a:avLst/>
          </a:prstGeom>
        </p:spPr>
        <p:txBody>
          <a:bodyPr vert="horz" wrap="square" lIns="92446" tIns="46223" rIns="92446" bIns="46223" numCol="1" anchor="b" anchorCtr="0" compatLnSpc="1">
            <a:prstTxWarp prst="textNoShape">
              <a:avLst/>
            </a:prstTxWarp>
          </a:bodyPr>
          <a:lstStyle>
            <a:lvl1pPr algn="r" eaLnBrk="1" hangingPunct="1">
              <a:defRPr sz="1200"/>
            </a:lvl1pPr>
          </a:lstStyle>
          <a:p>
            <a:fld id="{9B81932B-E6B3-44B4-B23D-20A2F2C19572}" type="slidenum">
              <a:rPr lang="en-US" altLang="en-US"/>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19BE802-B3F3-F335-CDE9-0EA8E950D541}"/>
              </a:ext>
            </a:extLst>
          </p:cNvPr>
          <p:cNvSpPr>
            <a:spLocks noGrp="1" noChangeArrowheads="1"/>
          </p:cNvSpPr>
          <p:nvPr>
            <p:ph type="hdr" sz="quarter"/>
          </p:nvPr>
        </p:nvSpPr>
        <p:spPr bwMode="auto">
          <a:xfrm>
            <a:off x="0" y="0"/>
            <a:ext cx="29829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eaLnBrk="1" hangingPunct="1">
              <a:defRPr sz="1200" dirty="0">
                <a:latin typeface="Arial" charset="0"/>
              </a:defRPr>
            </a:lvl1pPr>
          </a:lstStyle>
          <a:p>
            <a:pPr>
              <a:defRPr/>
            </a:pPr>
            <a:endParaRPr lang="en-US" dirty="0"/>
          </a:p>
        </p:txBody>
      </p:sp>
      <p:sp>
        <p:nvSpPr>
          <p:cNvPr id="22531" name="Rectangle 3">
            <a:extLst>
              <a:ext uri="{FF2B5EF4-FFF2-40B4-BE49-F238E27FC236}">
                <a16:creationId xmlns:a16="http://schemas.microsoft.com/office/drawing/2014/main" id="{333624C7-500B-8B9B-D523-E8B1E6EA006F}"/>
              </a:ext>
            </a:extLst>
          </p:cNvPr>
          <p:cNvSpPr>
            <a:spLocks noGrp="1" noChangeArrowheads="1"/>
          </p:cNvSpPr>
          <p:nvPr>
            <p:ph type="dt" idx="1"/>
          </p:nvPr>
        </p:nvSpPr>
        <p:spPr bwMode="auto">
          <a:xfrm>
            <a:off x="3900488" y="0"/>
            <a:ext cx="2981325"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eaLnBrk="1" hangingPunct="1">
              <a:defRPr sz="1200" dirty="0">
                <a:latin typeface="Arial" charset="0"/>
              </a:defRPr>
            </a:lvl1pPr>
          </a:lstStyle>
          <a:p>
            <a:pPr>
              <a:defRPr/>
            </a:pPr>
            <a:endParaRPr lang="en-US" dirty="0"/>
          </a:p>
        </p:txBody>
      </p:sp>
      <p:sp>
        <p:nvSpPr>
          <p:cNvPr id="2052" name="Rectangle 4">
            <a:extLst>
              <a:ext uri="{FF2B5EF4-FFF2-40B4-BE49-F238E27FC236}">
                <a16:creationId xmlns:a16="http://schemas.microsoft.com/office/drawing/2014/main" id="{6829DEA8-1AB7-7B78-C099-976675CB88FB}"/>
              </a:ext>
            </a:extLst>
          </p:cNvPr>
          <p:cNvSpPr>
            <a:spLocks noGrp="1" noRot="1" noChangeAspect="1" noChangeArrowheads="1" noTextEdit="1"/>
          </p:cNvSpPr>
          <p:nvPr>
            <p:ph type="sldImg" idx="2"/>
          </p:nvPr>
        </p:nvSpPr>
        <p:spPr bwMode="auto">
          <a:xfrm>
            <a:off x="342900" y="696913"/>
            <a:ext cx="61976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a:extLst>
              <a:ext uri="{FF2B5EF4-FFF2-40B4-BE49-F238E27FC236}">
                <a16:creationId xmlns:a16="http://schemas.microsoft.com/office/drawing/2014/main" id="{F14FDC10-30D7-0CEF-C3CE-D9996DE8BB47}"/>
              </a:ext>
            </a:extLst>
          </p:cNvPr>
          <p:cNvSpPr>
            <a:spLocks noGrp="1" noChangeArrowheads="1"/>
          </p:cNvSpPr>
          <p:nvPr>
            <p:ph type="body" sz="quarter" idx="3"/>
          </p:nvPr>
        </p:nvSpPr>
        <p:spPr bwMode="auto">
          <a:xfrm>
            <a:off x="917575" y="4416425"/>
            <a:ext cx="5046663" cy="4183063"/>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2534" name="Rectangle 6">
            <a:extLst>
              <a:ext uri="{FF2B5EF4-FFF2-40B4-BE49-F238E27FC236}">
                <a16:creationId xmlns:a16="http://schemas.microsoft.com/office/drawing/2014/main" id="{FAF0EF52-83E3-8D75-1583-88B482A38BE5}"/>
              </a:ext>
            </a:extLst>
          </p:cNvPr>
          <p:cNvSpPr>
            <a:spLocks noGrp="1" noChangeArrowheads="1"/>
          </p:cNvSpPr>
          <p:nvPr>
            <p:ph type="ftr" sz="quarter" idx="4"/>
          </p:nvPr>
        </p:nvSpPr>
        <p:spPr bwMode="auto">
          <a:xfrm>
            <a:off x="0" y="8831263"/>
            <a:ext cx="2982913" cy="465137"/>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eaLnBrk="1" hangingPunct="1">
              <a:defRPr sz="1200" dirty="0">
                <a:latin typeface="Arial" charset="0"/>
              </a:defRPr>
            </a:lvl1pPr>
          </a:lstStyle>
          <a:p>
            <a:pPr>
              <a:defRPr/>
            </a:pPr>
            <a:endParaRPr lang="en-US" dirty="0"/>
          </a:p>
        </p:txBody>
      </p:sp>
      <p:sp>
        <p:nvSpPr>
          <p:cNvPr id="22535" name="Rectangle 7">
            <a:extLst>
              <a:ext uri="{FF2B5EF4-FFF2-40B4-BE49-F238E27FC236}">
                <a16:creationId xmlns:a16="http://schemas.microsoft.com/office/drawing/2014/main" id="{3F3B6459-9225-BD05-2F64-62F3D8F43F19}"/>
              </a:ext>
            </a:extLst>
          </p:cNvPr>
          <p:cNvSpPr>
            <a:spLocks noGrp="1" noChangeArrowheads="1"/>
          </p:cNvSpPr>
          <p:nvPr>
            <p:ph type="sldNum" sz="quarter" idx="5"/>
          </p:nvPr>
        </p:nvSpPr>
        <p:spPr bwMode="auto">
          <a:xfrm>
            <a:off x="3900488" y="8831263"/>
            <a:ext cx="2981325" cy="465137"/>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eaLnBrk="1" hangingPunct="1">
              <a:defRPr sz="1200"/>
            </a:lvl1pPr>
          </a:lstStyle>
          <a:p>
            <a:fld id="{33DDAB87-6616-4EBC-B32F-E606386D1D95}"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D94388F5-F490-E1B1-C7DD-5F6422A2C0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0C5F628-075E-476A-94B1-11FDF9C76DC4}" type="slidenum">
              <a:rPr lang="en-US" altLang="en-US">
                <a:latin typeface="Arial" panose="020B0604020202020204" pitchFamily="34" charset="0"/>
              </a:rPr>
              <a:pPr>
                <a:spcBef>
                  <a:spcPct val="0"/>
                </a:spcBef>
              </a:pPr>
              <a:t>1</a:t>
            </a:fld>
            <a:endParaRPr lang="en-US" altLang="en-US" dirty="0">
              <a:latin typeface="Arial" panose="020B0604020202020204" pitchFamily="34" charset="0"/>
            </a:endParaRPr>
          </a:p>
        </p:txBody>
      </p:sp>
      <p:sp>
        <p:nvSpPr>
          <p:cNvPr id="7171" name="Rectangle 2">
            <a:extLst>
              <a:ext uri="{FF2B5EF4-FFF2-40B4-BE49-F238E27FC236}">
                <a16:creationId xmlns:a16="http://schemas.microsoft.com/office/drawing/2014/main" id="{3D7B7CBB-6A73-2246-7494-0C37951D7C53}"/>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EB092A6F-3FB6-FBEB-6CC4-1FE760B473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buFontTx/>
              <a:buNone/>
            </a:pPr>
            <a:r>
              <a:rPr lang="en-US" altLang="en-US" sz="1200" dirty="0">
                <a:latin typeface="Arial" panose="020B0604020202020204" pitchFamily="34" charset="0"/>
              </a:rPr>
              <a:t>Mid-latitude cyclones  (MLC) are extratropical cyclones (ETC). There structure takes a comma shape, shown below.</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87A05E54-13AC-3074-0671-87F913CCC75E}"/>
              </a:ext>
            </a:extLst>
          </p:cNvPr>
          <p:cNvSpPr>
            <a:spLocks noGrp="1" noRot="1" noChangeAspect="1" noTextEdit="1"/>
          </p:cNvSpPr>
          <p:nvPr>
            <p:ph type="sldImg"/>
          </p:nvPr>
        </p:nvSpPr>
        <p:spPr>
          <a:xfrm>
            <a:off x="342900" y="696913"/>
            <a:ext cx="6197600" cy="3486150"/>
          </a:xfrm>
          <a:ln/>
        </p:spPr>
      </p:sp>
      <p:sp>
        <p:nvSpPr>
          <p:cNvPr id="9219" name="Notes Placeholder 2">
            <a:extLst>
              <a:ext uri="{FF2B5EF4-FFF2-40B4-BE49-F238E27FC236}">
                <a16:creationId xmlns:a16="http://schemas.microsoft.com/office/drawing/2014/main" id="{71B22991-0277-9BC2-E3EC-F33DD1DEC8B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latin typeface="Arial" panose="020B0604020202020204" pitchFamily="34" charset="0"/>
              </a:rPr>
              <a:t>Hurricanes are tropical cyclones (TC). Note the circular appearance and the presence of the central “eye”.</a:t>
            </a:r>
          </a:p>
          <a:p>
            <a:br>
              <a:rPr lang="en-US" altLang="en-US" dirty="0"/>
            </a:br>
            <a:r>
              <a:rPr lang="en-US" altLang="en-US" dirty="0"/>
              <a:t>Pacific typhoons can reach 800-1000 km across.  Atlantic hurricanes range from 100-600 miles across.  For both, most of the strong sustained winds are in a small area around the eye.</a:t>
            </a:r>
          </a:p>
        </p:txBody>
      </p:sp>
      <p:sp>
        <p:nvSpPr>
          <p:cNvPr id="9220" name="Slide Number Placeholder 3">
            <a:extLst>
              <a:ext uri="{FF2B5EF4-FFF2-40B4-BE49-F238E27FC236}">
                <a16:creationId xmlns:a16="http://schemas.microsoft.com/office/drawing/2014/main" id="{8D0FC981-F04B-613E-7904-BF9AAE632C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DDC56CA-F8E3-4C12-B393-8DE191A9964E}" type="slidenum">
              <a:rPr lang="en-US" altLang="en-US">
                <a:latin typeface="Arial" panose="020B0604020202020204" pitchFamily="34" charset="0"/>
              </a:rPr>
              <a:pPr>
                <a:spcBef>
                  <a:spcPct val="0"/>
                </a:spcBef>
              </a:pPr>
              <a:t>2</a:t>
            </a:fld>
            <a:endParaRPr lang="en-US" altLang="en-US"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4517E284-B90C-535F-84E1-8C4A649C71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DEC4985-DE54-48D8-8FE7-ADE72E02AD60}" type="slidenum">
              <a:rPr lang="en-US" altLang="en-US">
                <a:latin typeface="Arial" panose="020B0604020202020204" pitchFamily="34" charset="0"/>
              </a:rPr>
              <a:pPr>
                <a:spcBef>
                  <a:spcPct val="0"/>
                </a:spcBef>
              </a:pPr>
              <a:t>4</a:t>
            </a:fld>
            <a:endParaRPr lang="en-US" altLang="en-US" dirty="0">
              <a:latin typeface="Arial" panose="020B0604020202020204" pitchFamily="34" charset="0"/>
            </a:endParaRPr>
          </a:p>
        </p:txBody>
      </p:sp>
      <p:sp>
        <p:nvSpPr>
          <p:cNvPr id="5123" name="Rectangle 2">
            <a:extLst>
              <a:ext uri="{FF2B5EF4-FFF2-40B4-BE49-F238E27FC236}">
                <a16:creationId xmlns:a16="http://schemas.microsoft.com/office/drawing/2014/main" id="{5EA5A940-61D6-A483-1708-A25B5C1B1A8F}"/>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CB733C5B-EF9D-78C2-55E8-3978D6FC85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7F72B9DC-7608-D00C-4E0E-06E6273825B5}"/>
              </a:ext>
            </a:extLst>
          </p:cNvPr>
          <p:cNvSpPr>
            <a:spLocks noGrp="1" noRot="1" noChangeAspect="1" noTextEdit="1"/>
          </p:cNvSpPr>
          <p:nvPr>
            <p:ph type="sldImg"/>
          </p:nvPr>
        </p:nvSpPr>
        <p:spPr>
          <a:xfrm>
            <a:off x="342900" y="696913"/>
            <a:ext cx="6197600" cy="3486150"/>
          </a:xfrm>
          <a:ln/>
        </p:spPr>
      </p:sp>
      <p:sp>
        <p:nvSpPr>
          <p:cNvPr id="3" name="Notes Placeholder 2">
            <a:extLst>
              <a:ext uri="{FF2B5EF4-FFF2-40B4-BE49-F238E27FC236}">
                <a16:creationId xmlns:a16="http://schemas.microsoft.com/office/drawing/2014/main" id="{8A354A33-98DB-6872-296B-A9C27ABB1A9D}"/>
              </a:ext>
            </a:extLst>
          </p:cNvPr>
          <p:cNvSpPr>
            <a:spLocks noGrp="1"/>
          </p:cNvSpPr>
          <p:nvPr>
            <p:ph type="body" idx="1"/>
          </p:nvPr>
        </p:nvSpPr>
        <p:spPr/>
        <p:txBody>
          <a:bodyPr/>
          <a:lstStyle/>
          <a:p>
            <a:pPr>
              <a:defRPr/>
            </a:pPr>
            <a:r>
              <a:rPr lang="en-US" dirty="0">
                <a:effectLst>
                  <a:outerShdw blurRad="38100" dist="38100" dir="2700000" algn="tl">
                    <a:srgbClr val="FFFFFF"/>
                  </a:outerShdw>
                </a:effectLst>
              </a:rPr>
              <a:t>Centrifugal force in eye keeps clouds out and dry upper air descends and warms adiabatically. The eye is 20-40 miles across.</a:t>
            </a:r>
          </a:p>
          <a:p>
            <a:pPr>
              <a:defRPr/>
            </a:pPr>
            <a:endParaRPr lang="en-US" dirty="0">
              <a:effectLst>
                <a:outerShdw blurRad="38100" dist="38100" dir="2700000" algn="tl">
                  <a:srgbClr val="FFFFFF"/>
                </a:outerShdw>
              </a:effectLst>
            </a:endParaRPr>
          </a:p>
        </p:txBody>
      </p:sp>
      <p:sp>
        <p:nvSpPr>
          <p:cNvPr id="25604" name="Slide Number Placeholder 3">
            <a:extLst>
              <a:ext uri="{FF2B5EF4-FFF2-40B4-BE49-F238E27FC236}">
                <a16:creationId xmlns:a16="http://schemas.microsoft.com/office/drawing/2014/main" id="{13C380B7-B28F-F23F-AFBB-239732E7B1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3614474-C0AF-448D-8B6D-D8894ACE6C02}" type="slidenum">
              <a:rPr lang="en-US" altLang="en-US" sz="1200"/>
              <a:pPr/>
              <a:t>5</a:t>
            </a:fld>
            <a:endParaRPr lang="en-US" altLang="en-US" sz="1200" dirty="0"/>
          </a:p>
        </p:txBody>
      </p:sp>
    </p:spTree>
    <p:extLst>
      <p:ext uri="{BB962C8B-B14F-4D97-AF65-F5344CB8AC3E}">
        <p14:creationId xmlns:p14="http://schemas.microsoft.com/office/powerpoint/2010/main" val="1240652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Note that tropical storms go by different names in different areas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https://coast.noaa.gov/hurricanes/#map=4/32/-80</a:t>
            </a:r>
          </a:p>
        </p:txBody>
      </p:sp>
      <p:sp>
        <p:nvSpPr>
          <p:cNvPr id="4" name="Slide Number Placeholder 3"/>
          <p:cNvSpPr>
            <a:spLocks noGrp="1"/>
          </p:cNvSpPr>
          <p:nvPr>
            <p:ph type="sldNum" sz="quarter" idx="5"/>
          </p:nvPr>
        </p:nvSpPr>
        <p:spPr/>
        <p:txBody>
          <a:bodyPr/>
          <a:lstStyle/>
          <a:p>
            <a:fld id="{33DDAB87-6616-4EBC-B32F-E606386D1D95}" type="slidenum">
              <a:rPr lang="en-US" altLang="en-US" smtClean="0"/>
              <a:pPr/>
              <a:t>6</a:t>
            </a:fld>
            <a:endParaRPr lang="en-US" altLang="en-US" dirty="0"/>
          </a:p>
        </p:txBody>
      </p:sp>
    </p:spTree>
    <p:extLst>
      <p:ext uri="{BB962C8B-B14F-4D97-AF65-F5344CB8AC3E}">
        <p14:creationId xmlns:p14="http://schemas.microsoft.com/office/powerpoint/2010/main" val="737115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881B93C4-4CE5-E7FA-B5D2-FBA4BCFC896B}"/>
              </a:ext>
            </a:extLst>
          </p:cNvPr>
          <p:cNvSpPr>
            <a:spLocks noGrp="1" noRot="1" noChangeAspect="1" noTextEdit="1"/>
          </p:cNvSpPr>
          <p:nvPr>
            <p:ph type="sldImg"/>
          </p:nvPr>
        </p:nvSpPr>
        <p:spPr>
          <a:xfrm>
            <a:off x="342900" y="696913"/>
            <a:ext cx="6197600" cy="3486150"/>
          </a:xfrm>
          <a:ln/>
        </p:spPr>
      </p:sp>
      <p:sp>
        <p:nvSpPr>
          <p:cNvPr id="19459" name="Notes Placeholder 2">
            <a:extLst>
              <a:ext uri="{FF2B5EF4-FFF2-40B4-BE49-F238E27FC236}">
                <a16:creationId xmlns:a16="http://schemas.microsoft.com/office/drawing/2014/main" id="{979430B2-EAC5-F292-8324-070190E649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A3F4BE3B-9A9A-C4F9-1057-E1D7FF36E68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913ACE9-BAB5-47C3-8C4A-93CE587D318A}" type="slidenum">
              <a:rPr lang="en-US" altLang="en-US">
                <a:latin typeface="Arial" panose="020B0604020202020204" pitchFamily="34" charset="0"/>
              </a:rPr>
              <a:pPr>
                <a:spcBef>
                  <a:spcPct val="0"/>
                </a:spcBef>
              </a:pPr>
              <a:t>8</a:t>
            </a:fld>
            <a:endParaRPr lang="en-US" altLang="en-US"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A00E7CB7-00FE-AD15-5119-617AF033D7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35E069A-564B-40D1-ADCE-B804900D029B}" type="slidenum">
              <a:rPr lang="en-US" altLang="en-US">
                <a:latin typeface="Arial" panose="020B0604020202020204" pitchFamily="34" charset="0"/>
              </a:rPr>
              <a:pPr>
                <a:spcBef>
                  <a:spcPct val="0"/>
                </a:spcBef>
              </a:pPr>
              <a:t>9</a:t>
            </a:fld>
            <a:endParaRPr lang="en-US" altLang="en-US" dirty="0">
              <a:latin typeface="Arial" panose="020B0604020202020204" pitchFamily="34" charset="0"/>
            </a:endParaRPr>
          </a:p>
        </p:txBody>
      </p:sp>
      <p:sp>
        <p:nvSpPr>
          <p:cNvPr id="21507" name="Rectangle 2">
            <a:extLst>
              <a:ext uri="{FF2B5EF4-FFF2-40B4-BE49-F238E27FC236}">
                <a16:creationId xmlns:a16="http://schemas.microsoft.com/office/drawing/2014/main" id="{840340E9-DB02-99D3-E2D0-8470307EA20D}"/>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7C79195D-1960-DDEE-0780-C848911086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sz="1200" dirty="0">
                <a:latin typeface="Arial" panose="020B0604020202020204" pitchFamily="34" charset="0"/>
              </a:rPr>
              <a:t>Tropical waves off African coast. These disturbances are collections of showers and thunderstorms that can lead to a hurricane.</a:t>
            </a:r>
          </a:p>
          <a:p>
            <a:pPr eaLnBrk="1" hangingPunct="1"/>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B55DF3D3-ABA4-C85B-3F03-18FA47F59F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A95460A-DFF1-40CB-B71A-A2C7326FE6E2}" type="slidenum">
              <a:rPr lang="en-US" altLang="en-US">
                <a:latin typeface="Arial" panose="020B0604020202020204" pitchFamily="34" charset="0"/>
              </a:rPr>
              <a:pPr>
                <a:spcBef>
                  <a:spcPct val="0"/>
                </a:spcBef>
              </a:pPr>
              <a:t>10</a:t>
            </a:fld>
            <a:endParaRPr lang="en-US" altLang="en-US" dirty="0">
              <a:latin typeface="Arial" panose="020B0604020202020204" pitchFamily="34" charset="0"/>
            </a:endParaRPr>
          </a:p>
        </p:txBody>
      </p:sp>
      <p:sp>
        <p:nvSpPr>
          <p:cNvPr id="23555" name="Rectangle 2">
            <a:extLst>
              <a:ext uri="{FF2B5EF4-FFF2-40B4-BE49-F238E27FC236}">
                <a16:creationId xmlns:a16="http://schemas.microsoft.com/office/drawing/2014/main" id="{AFFFE61E-CECA-1E6F-774B-B58F2373419C}"/>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5E4D945D-D53E-2D6C-8622-8C38A3C4EC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3A7DACAA-1C1E-7C59-0C74-F29FDB1448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C81EDFF-8270-4341-9292-00FF5639D1B4}" type="slidenum">
              <a:rPr lang="en-US" altLang="en-US">
                <a:latin typeface="Arial" panose="020B0604020202020204" pitchFamily="34" charset="0"/>
              </a:rPr>
              <a:pPr>
                <a:spcBef>
                  <a:spcPct val="0"/>
                </a:spcBef>
              </a:pPr>
              <a:t>11</a:t>
            </a:fld>
            <a:endParaRPr lang="en-US" altLang="en-US" dirty="0">
              <a:latin typeface="Arial" panose="020B0604020202020204" pitchFamily="34" charset="0"/>
            </a:endParaRPr>
          </a:p>
        </p:txBody>
      </p:sp>
      <p:sp>
        <p:nvSpPr>
          <p:cNvPr id="29699" name="Rectangle 2">
            <a:extLst>
              <a:ext uri="{FF2B5EF4-FFF2-40B4-BE49-F238E27FC236}">
                <a16:creationId xmlns:a16="http://schemas.microsoft.com/office/drawing/2014/main" id="{A1FAA521-5568-11CA-64D3-84A968FA5876}"/>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C48FB9FA-B89F-EF27-029A-1A02940CD6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C6096A8B-2A2D-52AE-4701-F7C0F2475B2B}"/>
              </a:ext>
            </a:extLst>
          </p:cNvPr>
          <p:cNvSpPr>
            <a:spLocks noGrp="1" noRot="1" noChangeAspect="1" noTextEdit="1"/>
          </p:cNvSpPr>
          <p:nvPr>
            <p:ph type="sldImg"/>
          </p:nvPr>
        </p:nvSpPr>
        <p:spPr>
          <a:xfrm>
            <a:off x="342900" y="696913"/>
            <a:ext cx="6197600" cy="3486150"/>
          </a:xfrm>
          <a:ln/>
        </p:spPr>
      </p:sp>
      <p:sp>
        <p:nvSpPr>
          <p:cNvPr id="32771" name="Notes Placeholder 2">
            <a:extLst>
              <a:ext uri="{FF2B5EF4-FFF2-40B4-BE49-F238E27FC236}">
                <a16:creationId xmlns:a16="http://schemas.microsoft.com/office/drawing/2014/main" id="{65743C82-6151-49F5-90D9-5AA3CF51EDB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https://coast.noaa.gov/hurricanes/#map=4/32/-80</a:t>
            </a:r>
          </a:p>
        </p:txBody>
      </p:sp>
      <p:sp>
        <p:nvSpPr>
          <p:cNvPr id="32772" name="Slide Number Placeholder 3">
            <a:extLst>
              <a:ext uri="{FF2B5EF4-FFF2-40B4-BE49-F238E27FC236}">
                <a16:creationId xmlns:a16="http://schemas.microsoft.com/office/drawing/2014/main" id="{AD42A23E-AEBC-353D-3B66-C0A489435B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0A94790-9F23-4489-A3DD-446731562C6D}" type="slidenum">
              <a:rPr lang="en-US" altLang="en-US">
                <a:latin typeface="Arial" panose="020B0604020202020204" pitchFamily="34" charset="0"/>
              </a:rPr>
              <a:pPr>
                <a:spcBef>
                  <a:spcPct val="0"/>
                </a:spcBef>
              </a:pPr>
              <a:t>12</a:t>
            </a:fld>
            <a:endParaRPr lang="en-US" altLang="en-US"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002238C9-C8C7-87D2-5FBE-4B6C4A8559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0ADA4A4-1688-4714-B576-5D6C82A02839}" type="slidenum">
              <a:rPr lang="en-US" altLang="en-US">
                <a:latin typeface="Arial" panose="020B0604020202020204" pitchFamily="34" charset="0"/>
              </a:rPr>
              <a:pPr>
                <a:spcBef>
                  <a:spcPct val="0"/>
                </a:spcBef>
              </a:pPr>
              <a:t>13</a:t>
            </a:fld>
            <a:endParaRPr lang="en-US" altLang="en-US" dirty="0">
              <a:latin typeface="Arial" panose="020B0604020202020204" pitchFamily="34" charset="0"/>
            </a:endParaRPr>
          </a:p>
        </p:txBody>
      </p:sp>
      <p:sp>
        <p:nvSpPr>
          <p:cNvPr id="34819" name="Rectangle 2">
            <a:extLst>
              <a:ext uri="{FF2B5EF4-FFF2-40B4-BE49-F238E27FC236}">
                <a16:creationId xmlns:a16="http://schemas.microsoft.com/office/drawing/2014/main" id="{9C3AD082-F588-2177-54B6-E35C9A4DB7D0}"/>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BF0B0B74-D9E3-4DD7-81B6-CF3C72D5DC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96E16FF2-55FE-6DDB-A79C-99B751131813}"/>
              </a:ext>
            </a:extLst>
          </p:cNvPr>
          <p:cNvSpPr>
            <a:spLocks noGrp="1" noRot="1" noChangeAspect="1" noTextEdit="1"/>
          </p:cNvSpPr>
          <p:nvPr>
            <p:ph type="sldImg"/>
          </p:nvPr>
        </p:nvSpPr>
        <p:spPr>
          <a:xfrm>
            <a:off x="342900" y="696913"/>
            <a:ext cx="6197600" cy="3486150"/>
          </a:xfrm>
          <a:ln/>
        </p:spPr>
      </p:sp>
      <p:sp>
        <p:nvSpPr>
          <p:cNvPr id="43011" name="Notes Placeholder 2">
            <a:extLst>
              <a:ext uri="{FF2B5EF4-FFF2-40B4-BE49-F238E27FC236}">
                <a16:creationId xmlns:a16="http://schemas.microsoft.com/office/drawing/2014/main" id="{D9804A94-3C5E-0812-CAB3-1CFAFD2EC1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3012" name="Slide Number Placeholder 3">
            <a:extLst>
              <a:ext uri="{FF2B5EF4-FFF2-40B4-BE49-F238E27FC236}">
                <a16:creationId xmlns:a16="http://schemas.microsoft.com/office/drawing/2014/main" id="{EB05CA5B-7D5E-0DB5-7260-561F74161DC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E1179BE-B245-4A9C-8F61-2CFE906EA1BA}" type="slidenum">
              <a:rPr lang="en-US" altLang="en-US">
                <a:latin typeface="Arial" panose="020B0604020202020204" pitchFamily="34" charset="0"/>
              </a:rPr>
              <a:pPr>
                <a:spcBef>
                  <a:spcPct val="0"/>
                </a:spcBef>
              </a:pPr>
              <a:t>15</a:t>
            </a:fld>
            <a:endParaRPr lang="en-US" altLang="en-US"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Niño usually alters the Pacific jet stream, stretching it eastward, making it more persistent, and bringing wetter conditions to the western U.S. and Mexico.</a:t>
            </a:r>
          </a:p>
        </p:txBody>
      </p:sp>
      <p:sp>
        <p:nvSpPr>
          <p:cNvPr id="4" name="Slide Number Placeholder 3"/>
          <p:cNvSpPr>
            <a:spLocks noGrp="1"/>
          </p:cNvSpPr>
          <p:nvPr>
            <p:ph type="sldNum" sz="quarter" idx="5"/>
          </p:nvPr>
        </p:nvSpPr>
        <p:spPr/>
        <p:txBody>
          <a:bodyPr/>
          <a:lstStyle/>
          <a:p>
            <a:fld id="{33DDAB87-6616-4EBC-B32F-E606386D1D95}" type="slidenum">
              <a:rPr lang="en-US" altLang="en-US" smtClean="0"/>
              <a:pPr/>
              <a:t>16</a:t>
            </a:fld>
            <a:endParaRPr lang="en-US" altLang="en-US" dirty="0"/>
          </a:p>
        </p:txBody>
      </p:sp>
    </p:spTree>
    <p:extLst>
      <p:ext uri="{BB962C8B-B14F-4D97-AF65-F5344CB8AC3E}">
        <p14:creationId xmlns:p14="http://schemas.microsoft.com/office/powerpoint/2010/main" val="2465193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3DAF2-3A3B-64FB-65BD-C1A5BBC0ADAC}"/>
            </a:ext>
          </a:extLst>
        </p:cNvPr>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FD9A5CB5-B776-E4B9-524A-96536FB88139}"/>
              </a:ext>
            </a:extLst>
          </p:cNvPr>
          <p:cNvSpPr>
            <a:spLocks noGrp="1" noRot="1" noChangeAspect="1" noTextEdit="1"/>
          </p:cNvSpPr>
          <p:nvPr>
            <p:ph type="sldImg"/>
          </p:nvPr>
        </p:nvSpPr>
        <p:spPr>
          <a:xfrm>
            <a:off x="342900" y="696913"/>
            <a:ext cx="6197600" cy="3486150"/>
          </a:xfrm>
          <a:ln/>
        </p:spPr>
      </p:sp>
      <p:sp>
        <p:nvSpPr>
          <p:cNvPr id="43011" name="Notes Placeholder 2">
            <a:extLst>
              <a:ext uri="{FF2B5EF4-FFF2-40B4-BE49-F238E27FC236}">
                <a16:creationId xmlns:a16="http://schemas.microsoft.com/office/drawing/2014/main" id="{39AE7325-8AF1-6577-0A74-56D043AB4D8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3012" name="Slide Number Placeholder 3">
            <a:extLst>
              <a:ext uri="{FF2B5EF4-FFF2-40B4-BE49-F238E27FC236}">
                <a16:creationId xmlns:a16="http://schemas.microsoft.com/office/drawing/2014/main" id="{4494F12A-261D-6CA4-CC59-CFC2F00576F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E1179BE-B245-4A9C-8F61-2CFE906EA1BA}" type="slidenum">
              <a:rPr lang="en-US" altLang="en-US">
                <a:latin typeface="Arial" panose="020B0604020202020204" pitchFamily="34" charset="0"/>
              </a:rPr>
              <a:pPr>
                <a:spcBef>
                  <a:spcPct val="0"/>
                </a:spcBef>
              </a:pPr>
              <a:t>18</a:t>
            </a:fld>
            <a:endParaRPr lang="en-US" altLang="en-US" dirty="0">
              <a:latin typeface="Arial" panose="020B0604020202020204" pitchFamily="34" charset="0"/>
            </a:endParaRPr>
          </a:p>
        </p:txBody>
      </p:sp>
    </p:spTree>
    <p:extLst>
      <p:ext uri="{BB962C8B-B14F-4D97-AF65-F5344CB8AC3E}">
        <p14:creationId xmlns:p14="http://schemas.microsoft.com/office/powerpoint/2010/main" val="1152463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806897E7-31DA-2FD2-2E51-722B7F8845AD}"/>
              </a:ext>
            </a:extLst>
          </p:cNvPr>
          <p:cNvSpPr>
            <a:spLocks noGrp="1" noRot="1" noChangeAspect="1" noTextEdit="1"/>
          </p:cNvSpPr>
          <p:nvPr>
            <p:ph type="sldImg"/>
          </p:nvPr>
        </p:nvSpPr>
        <p:spPr>
          <a:xfrm>
            <a:off x="342900" y="696913"/>
            <a:ext cx="6197600" cy="3486150"/>
          </a:xfrm>
          <a:ln/>
        </p:spPr>
      </p:sp>
      <p:sp>
        <p:nvSpPr>
          <p:cNvPr id="84995" name="Notes Placeholder 2">
            <a:extLst>
              <a:ext uri="{FF2B5EF4-FFF2-40B4-BE49-F238E27FC236}">
                <a16:creationId xmlns:a16="http://schemas.microsoft.com/office/drawing/2014/main" id="{0247592A-07CA-F36C-4A00-08BFAD47CA5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endParaRPr lang="en-US" altLang="en-US" dirty="0"/>
          </a:p>
        </p:txBody>
      </p:sp>
      <p:sp>
        <p:nvSpPr>
          <p:cNvPr id="84996" name="Slide Number Placeholder 3">
            <a:extLst>
              <a:ext uri="{FF2B5EF4-FFF2-40B4-BE49-F238E27FC236}">
                <a16:creationId xmlns:a16="http://schemas.microsoft.com/office/drawing/2014/main" id="{C07BDA97-EE66-BD38-5607-C17276CA0D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28D9A26-31AB-466C-99BE-51468BB2F661}" type="slidenum">
              <a:rPr lang="en-US" altLang="en-US" sz="1200"/>
              <a:pPr/>
              <a:t>19</a:t>
            </a:fld>
            <a:endParaRPr lang="en-US"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a16="http://schemas.microsoft.com/office/drawing/2014/main" id="{85E61DE4-1C50-976D-7F86-38A847859B33}"/>
              </a:ext>
            </a:extLst>
          </p:cNvPr>
          <p:cNvSpPr>
            <a:spLocks noGrp="1" noRot="1" noChangeAspect="1" noTextEdit="1"/>
          </p:cNvSpPr>
          <p:nvPr>
            <p:ph type="sldImg"/>
          </p:nvPr>
        </p:nvSpPr>
        <p:spPr>
          <a:xfrm>
            <a:off x="342900" y="696913"/>
            <a:ext cx="6197600" cy="3486150"/>
          </a:xfrm>
          <a:ln/>
        </p:spPr>
      </p:sp>
      <p:sp>
        <p:nvSpPr>
          <p:cNvPr id="92163" name="Notes Placeholder 2">
            <a:extLst>
              <a:ext uri="{FF2B5EF4-FFF2-40B4-BE49-F238E27FC236}">
                <a16:creationId xmlns:a16="http://schemas.microsoft.com/office/drawing/2014/main" id="{65293F09-0566-9A48-6C51-C62C48D598A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http://www.myfoxhurricane.com/custom/models/rtofs/rtofs_current_gulf.html</a:t>
            </a:r>
          </a:p>
        </p:txBody>
      </p:sp>
      <p:sp>
        <p:nvSpPr>
          <p:cNvPr id="92164" name="Slide Number Placeholder 3">
            <a:extLst>
              <a:ext uri="{FF2B5EF4-FFF2-40B4-BE49-F238E27FC236}">
                <a16:creationId xmlns:a16="http://schemas.microsoft.com/office/drawing/2014/main" id="{70B94A96-AF64-1570-0BF1-065A5743C4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E63C3AC-3421-49DC-B515-6D0CD1F6C5AF}" type="slidenum">
              <a:rPr lang="en-US" altLang="en-US" sz="1200"/>
              <a:pPr/>
              <a:t>22</a:t>
            </a:fld>
            <a:endParaRPr lang="en-US" alt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DD9C091E-EE21-106B-292B-CAEABAB90207}"/>
              </a:ext>
            </a:extLst>
          </p:cNvPr>
          <p:cNvSpPr>
            <a:spLocks noGrp="1" noRot="1" noChangeAspect="1" noTextEdit="1"/>
          </p:cNvSpPr>
          <p:nvPr>
            <p:ph type="sldImg"/>
          </p:nvPr>
        </p:nvSpPr>
        <p:spPr>
          <a:xfrm>
            <a:off x="342900" y="696913"/>
            <a:ext cx="6197600" cy="3486150"/>
          </a:xfrm>
          <a:ln/>
        </p:spPr>
      </p:sp>
      <p:sp>
        <p:nvSpPr>
          <p:cNvPr id="94211" name="Notes Placeholder 2">
            <a:extLst>
              <a:ext uri="{FF2B5EF4-FFF2-40B4-BE49-F238E27FC236}">
                <a16:creationId xmlns:a16="http://schemas.microsoft.com/office/drawing/2014/main" id="{17D64347-C06A-4348-9036-BEA8478C85E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Colors indicate temperature of water</a:t>
            </a:r>
          </a:p>
        </p:txBody>
      </p:sp>
      <p:sp>
        <p:nvSpPr>
          <p:cNvPr id="94212" name="Slide Number Placeholder 3">
            <a:extLst>
              <a:ext uri="{FF2B5EF4-FFF2-40B4-BE49-F238E27FC236}">
                <a16:creationId xmlns:a16="http://schemas.microsoft.com/office/drawing/2014/main" id="{9D1CA9AF-8AAB-EA4A-E935-15000819D03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611481-5941-4715-9448-B9DE419815FA}" type="slidenum">
              <a:rPr lang="en-US" altLang="en-US">
                <a:latin typeface="Arial" panose="020B0604020202020204" pitchFamily="34" charset="0"/>
              </a:rPr>
              <a:pPr>
                <a:spcBef>
                  <a:spcPct val="0"/>
                </a:spcBef>
              </a:pPr>
              <a:t>23</a:t>
            </a:fld>
            <a:endParaRPr lang="en-US" altLang="en-US" dirty="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latin typeface="Arial" panose="020B0604020202020204" pitchFamily="34" charset="0"/>
              </a:rPr>
              <a:t>Variable position of ocean currents can lead to unexpected changes in hurricane intensity </a:t>
            </a:r>
          </a:p>
          <a:p>
            <a:endParaRPr lang="en-US" dirty="0"/>
          </a:p>
        </p:txBody>
      </p:sp>
      <p:sp>
        <p:nvSpPr>
          <p:cNvPr id="4" name="Slide Number Placeholder 3"/>
          <p:cNvSpPr>
            <a:spLocks noGrp="1"/>
          </p:cNvSpPr>
          <p:nvPr>
            <p:ph type="sldNum" sz="quarter" idx="5"/>
          </p:nvPr>
        </p:nvSpPr>
        <p:spPr/>
        <p:txBody>
          <a:bodyPr/>
          <a:lstStyle/>
          <a:p>
            <a:fld id="{33DDAB87-6616-4EBC-B32F-E606386D1D95}" type="slidenum">
              <a:rPr lang="en-US" altLang="en-US" smtClean="0"/>
              <a:pPr/>
              <a:t>24</a:t>
            </a:fld>
            <a:endParaRPr lang="en-US" altLang="en-US" dirty="0"/>
          </a:p>
        </p:txBody>
      </p:sp>
    </p:spTree>
    <p:extLst>
      <p:ext uri="{BB962C8B-B14F-4D97-AF65-F5344CB8AC3E}">
        <p14:creationId xmlns:p14="http://schemas.microsoft.com/office/powerpoint/2010/main" val="12273708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28165CE7-2AB6-8D07-9627-2F79BD9F37B2}"/>
              </a:ext>
            </a:extLst>
          </p:cNvPr>
          <p:cNvSpPr>
            <a:spLocks noGrp="1" noRot="1" noChangeAspect="1" noTextEdit="1"/>
          </p:cNvSpPr>
          <p:nvPr>
            <p:ph type="sldImg"/>
          </p:nvPr>
        </p:nvSpPr>
        <p:spPr>
          <a:xfrm>
            <a:off x="342900" y="696913"/>
            <a:ext cx="6197600" cy="3486150"/>
          </a:xfrm>
          <a:ln/>
        </p:spPr>
      </p:sp>
      <p:sp>
        <p:nvSpPr>
          <p:cNvPr id="98307" name="Notes Placeholder 2">
            <a:extLst>
              <a:ext uri="{FF2B5EF4-FFF2-40B4-BE49-F238E27FC236}">
                <a16:creationId xmlns:a16="http://schemas.microsoft.com/office/drawing/2014/main" id="{3889603D-061B-CCE0-8A3D-A0AC43ED37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latin typeface="Arial" panose="020B0604020202020204" pitchFamily="34" charset="0"/>
              </a:rPr>
              <a:t>Depth of warm ocean water is also important – the deeper the warm surface layer, the less cooler water will be pulled up due to mixing driven by hurricane low pressure and winds. So the thicker this warm layer, the stronger and more sustained a hurricane will be</a:t>
            </a:r>
          </a:p>
          <a:p>
            <a:endParaRPr lang="en-US" altLang="en-US" dirty="0"/>
          </a:p>
        </p:txBody>
      </p:sp>
      <p:sp>
        <p:nvSpPr>
          <p:cNvPr id="98308" name="Slide Number Placeholder 3">
            <a:extLst>
              <a:ext uri="{FF2B5EF4-FFF2-40B4-BE49-F238E27FC236}">
                <a16:creationId xmlns:a16="http://schemas.microsoft.com/office/drawing/2014/main" id="{95998E88-2A8C-2007-AA93-0A60D5C3B81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8F79A7D-1B9D-403F-931D-DC480527212E}" type="slidenum">
              <a:rPr lang="en-US" altLang="en-US">
                <a:latin typeface="Arial" panose="020B0604020202020204" pitchFamily="34" charset="0"/>
              </a:rPr>
              <a:pPr>
                <a:spcBef>
                  <a:spcPct val="0"/>
                </a:spcBef>
              </a:pPr>
              <a:t>25</a:t>
            </a:fld>
            <a:endParaRPr lang="en-US" altLang="en-US"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9B195E61-D2F1-0461-617A-70E980A0AAC4}"/>
              </a:ext>
            </a:extLst>
          </p:cNvPr>
          <p:cNvSpPr>
            <a:spLocks noGrp="1" noRot="1" noChangeAspect="1" noTextEdit="1"/>
          </p:cNvSpPr>
          <p:nvPr>
            <p:ph type="sldImg"/>
          </p:nvPr>
        </p:nvSpPr>
        <p:spPr>
          <a:xfrm>
            <a:off x="342900" y="696913"/>
            <a:ext cx="6197600" cy="3486150"/>
          </a:xfrm>
          <a:ln/>
        </p:spPr>
      </p:sp>
      <p:sp>
        <p:nvSpPr>
          <p:cNvPr id="101379" name="Notes Placeholder 2">
            <a:extLst>
              <a:ext uri="{FF2B5EF4-FFF2-40B4-BE49-F238E27FC236}">
                <a16:creationId xmlns:a16="http://schemas.microsoft.com/office/drawing/2014/main" id="{EAD930BB-0B39-7A3A-5690-E3DDDC447F7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blue Y axis represents the potential increase in a hurricane’s strength due to warmer water.</a:t>
            </a:r>
            <a:br>
              <a:rPr lang="en-US" altLang="en-US" dirty="0"/>
            </a:br>
            <a:br>
              <a:rPr lang="en-US" altLang="en-US" dirty="0"/>
            </a:br>
            <a:r>
              <a:rPr lang="en-US" altLang="en-US" dirty="0"/>
              <a:t>78.8 degrees F</a:t>
            </a:r>
          </a:p>
        </p:txBody>
      </p:sp>
      <p:sp>
        <p:nvSpPr>
          <p:cNvPr id="101380" name="Slide Number Placeholder 3">
            <a:extLst>
              <a:ext uri="{FF2B5EF4-FFF2-40B4-BE49-F238E27FC236}">
                <a16:creationId xmlns:a16="http://schemas.microsoft.com/office/drawing/2014/main" id="{3E1384F7-EE7B-6E77-FA3C-541A8C4C76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801B0FF-8F40-4375-AD77-D62A0734DA40}" type="slidenum">
              <a:rPr lang="en-US" altLang="en-US" sz="1200"/>
              <a:pPr/>
              <a:t>28</a:t>
            </a:fld>
            <a:endParaRPr lang="en-US" alt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https://youtu.be/8UJW84Fqhgw?si=m8UWKcQ6b_LpPUpe</a:t>
            </a:r>
          </a:p>
        </p:txBody>
      </p:sp>
      <p:sp>
        <p:nvSpPr>
          <p:cNvPr id="4" name="Slide Number Placeholder 3"/>
          <p:cNvSpPr>
            <a:spLocks noGrp="1"/>
          </p:cNvSpPr>
          <p:nvPr>
            <p:ph type="sldNum" sz="quarter" idx="5"/>
          </p:nvPr>
        </p:nvSpPr>
        <p:spPr/>
        <p:txBody>
          <a:bodyPr/>
          <a:lstStyle/>
          <a:p>
            <a:fld id="{33DDAB87-6616-4EBC-B32F-E606386D1D95}" type="slidenum">
              <a:rPr lang="en-US" altLang="en-US" smtClean="0"/>
              <a:pPr/>
              <a:t>29</a:t>
            </a:fld>
            <a:endParaRPr lang="en-US" altLang="en-US" dirty="0"/>
          </a:p>
        </p:txBody>
      </p:sp>
    </p:spTree>
    <p:extLst>
      <p:ext uri="{BB962C8B-B14F-4D97-AF65-F5344CB8AC3E}">
        <p14:creationId xmlns:p14="http://schemas.microsoft.com/office/powerpoint/2010/main" val="1143632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Hurricane wind regime</a:t>
            </a:r>
          </a:p>
        </p:txBody>
      </p:sp>
      <p:sp>
        <p:nvSpPr>
          <p:cNvPr id="4" name="Slide Number Placeholder 3"/>
          <p:cNvSpPr>
            <a:spLocks noGrp="1"/>
          </p:cNvSpPr>
          <p:nvPr>
            <p:ph type="sldNum" sz="quarter" idx="5"/>
          </p:nvPr>
        </p:nvSpPr>
        <p:spPr/>
        <p:txBody>
          <a:bodyPr/>
          <a:lstStyle/>
          <a:p>
            <a:fld id="{33DDAB87-6616-4EBC-B32F-E606386D1D95}" type="slidenum">
              <a:rPr lang="en-US" altLang="en-US" smtClean="0"/>
              <a:pPr/>
              <a:t>31</a:t>
            </a:fld>
            <a:endParaRPr lang="en-US" altLang="en-US" dirty="0"/>
          </a:p>
        </p:txBody>
      </p:sp>
    </p:spTree>
    <p:extLst>
      <p:ext uri="{BB962C8B-B14F-4D97-AF65-F5344CB8AC3E}">
        <p14:creationId xmlns:p14="http://schemas.microsoft.com/office/powerpoint/2010/main" val="14492647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https://youtu.be/zIornya6eII?si=KWXOODsv-WCWSBy3</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33DDAB87-6616-4EBC-B32F-E606386D1D95}" type="slidenum">
              <a:rPr lang="en-US" altLang="en-US" smtClean="0"/>
              <a:pPr/>
              <a:t>32</a:t>
            </a:fld>
            <a:endParaRPr lang="en-US" altLang="en-US" dirty="0"/>
          </a:p>
        </p:txBody>
      </p:sp>
    </p:spTree>
    <p:extLst>
      <p:ext uri="{BB962C8B-B14F-4D97-AF65-F5344CB8AC3E}">
        <p14:creationId xmlns:p14="http://schemas.microsoft.com/office/powerpoint/2010/main" val="8575760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62256D83-43BE-523D-8079-E67E599E63D4}"/>
              </a:ext>
            </a:extLst>
          </p:cNvPr>
          <p:cNvSpPr>
            <a:spLocks noGrp="1" noRot="1" noChangeAspect="1" noTextEdit="1"/>
          </p:cNvSpPr>
          <p:nvPr>
            <p:ph type="sldImg"/>
          </p:nvPr>
        </p:nvSpPr>
        <p:spPr>
          <a:xfrm>
            <a:off x="342900" y="696913"/>
            <a:ext cx="6197600" cy="3486150"/>
          </a:xfrm>
          <a:ln/>
        </p:spPr>
      </p:sp>
      <p:sp>
        <p:nvSpPr>
          <p:cNvPr id="58371" name="Notes Placeholder 2">
            <a:extLst>
              <a:ext uri="{FF2B5EF4-FFF2-40B4-BE49-F238E27FC236}">
                <a16:creationId xmlns:a16="http://schemas.microsoft.com/office/drawing/2014/main" id="{53E3EDC6-0423-36D2-EE90-8370FBC3757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8372" name="Slide Number Placeholder 3">
            <a:extLst>
              <a:ext uri="{FF2B5EF4-FFF2-40B4-BE49-F238E27FC236}">
                <a16:creationId xmlns:a16="http://schemas.microsoft.com/office/drawing/2014/main" id="{FE409578-5645-896A-0630-5E068316677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196F1A-236E-4AB2-83CF-CF3020CC7F7A}" type="slidenum">
              <a:rPr lang="en-US" altLang="en-US">
                <a:latin typeface="Arial" panose="020B0604020202020204" pitchFamily="34" charset="0"/>
              </a:rPr>
              <a:pPr>
                <a:spcBef>
                  <a:spcPct val="0"/>
                </a:spcBef>
              </a:pPr>
              <a:t>34</a:t>
            </a:fld>
            <a:endParaRPr lang="en-US" altLang="en-US"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https://www.nytimes.com/interactive/2017/08/24/us/hurricane-harvey-texas.html</a:t>
            </a:r>
          </a:p>
          <a:p>
            <a:endParaRPr lang="en-US" dirty="0"/>
          </a:p>
        </p:txBody>
      </p:sp>
      <p:sp>
        <p:nvSpPr>
          <p:cNvPr id="4" name="Slide Number Placeholder 3"/>
          <p:cNvSpPr>
            <a:spLocks noGrp="1"/>
          </p:cNvSpPr>
          <p:nvPr>
            <p:ph type="sldNum" sz="quarter" idx="5"/>
          </p:nvPr>
        </p:nvSpPr>
        <p:spPr/>
        <p:txBody>
          <a:bodyPr/>
          <a:lstStyle/>
          <a:p>
            <a:fld id="{33DDAB87-6616-4EBC-B32F-E606386D1D95}" type="slidenum">
              <a:rPr lang="en-US" altLang="en-US" smtClean="0"/>
              <a:pPr/>
              <a:t>35</a:t>
            </a:fld>
            <a:endParaRPr lang="en-US" altLang="en-US" dirty="0"/>
          </a:p>
        </p:txBody>
      </p:sp>
    </p:spTree>
    <p:extLst>
      <p:ext uri="{BB962C8B-B14F-4D97-AF65-F5344CB8AC3E}">
        <p14:creationId xmlns:p14="http://schemas.microsoft.com/office/powerpoint/2010/main" val="7194725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63D98BCA-7298-1E59-D747-3E552F9C4F09}"/>
              </a:ext>
            </a:extLst>
          </p:cNvPr>
          <p:cNvSpPr>
            <a:spLocks noGrp="1" noRot="1" noChangeAspect="1" noTextEdit="1"/>
          </p:cNvSpPr>
          <p:nvPr>
            <p:ph type="sldImg"/>
          </p:nvPr>
        </p:nvSpPr>
        <p:spPr>
          <a:xfrm>
            <a:off x="342900" y="696913"/>
            <a:ext cx="6197600" cy="3486150"/>
          </a:xfrm>
          <a:ln/>
        </p:spPr>
      </p:sp>
      <p:sp>
        <p:nvSpPr>
          <p:cNvPr id="56323" name="Notes Placeholder 2">
            <a:extLst>
              <a:ext uri="{FF2B5EF4-FFF2-40B4-BE49-F238E27FC236}">
                <a16:creationId xmlns:a16="http://schemas.microsoft.com/office/drawing/2014/main" id="{16C3BC1D-E55D-E270-5016-DDBFDD23630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6324" name="Slide Number Placeholder 3">
            <a:extLst>
              <a:ext uri="{FF2B5EF4-FFF2-40B4-BE49-F238E27FC236}">
                <a16:creationId xmlns:a16="http://schemas.microsoft.com/office/drawing/2014/main" id="{A1164DA3-6F4C-CBDE-9516-0BEF67A9A70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B27FE5-7832-4B36-ADF7-B96912538771}" type="slidenum">
              <a:rPr lang="en-US" altLang="en-US">
                <a:latin typeface="Arial" panose="020B0604020202020204" pitchFamily="34" charset="0"/>
              </a:rPr>
              <a:pPr>
                <a:spcBef>
                  <a:spcPct val="0"/>
                </a:spcBef>
              </a:pPr>
              <a:t>40</a:t>
            </a:fld>
            <a:endParaRPr lang="en-US" altLang="en-US" dirty="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https://youtu.be/xCq6mcLwBDI?si=JPgG35PMs0F4OZBA</a:t>
            </a:r>
          </a:p>
        </p:txBody>
      </p:sp>
      <p:sp>
        <p:nvSpPr>
          <p:cNvPr id="4" name="Slide Number Placeholder 3"/>
          <p:cNvSpPr>
            <a:spLocks noGrp="1"/>
          </p:cNvSpPr>
          <p:nvPr>
            <p:ph type="sldNum" sz="quarter" idx="5"/>
          </p:nvPr>
        </p:nvSpPr>
        <p:spPr/>
        <p:txBody>
          <a:bodyPr/>
          <a:lstStyle/>
          <a:p>
            <a:fld id="{33DDAB87-6616-4EBC-B32F-E606386D1D95}" type="slidenum">
              <a:rPr lang="en-US" altLang="en-US" smtClean="0"/>
              <a:pPr/>
              <a:t>42</a:t>
            </a:fld>
            <a:endParaRPr lang="en-US" altLang="en-US" dirty="0"/>
          </a:p>
        </p:txBody>
      </p:sp>
    </p:spTree>
    <p:extLst>
      <p:ext uri="{BB962C8B-B14F-4D97-AF65-F5344CB8AC3E}">
        <p14:creationId xmlns:p14="http://schemas.microsoft.com/office/powerpoint/2010/main" val="24940818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3961DBD4-A48D-2299-CA55-BB6ED35939FB}"/>
              </a:ext>
            </a:extLst>
          </p:cNvPr>
          <p:cNvSpPr>
            <a:spLocks noGrp="1" noRot="1" noChangeAspect="1" noTextEdit="1"/>
          </p:cNvSpPr>
          <p:nvPr>
            <p:ph type="sldImg"/>
          </p:nvPr>
        </p:nvSpPr>
        <p:spPr>
          <a:xfrm>
            <a:off x="342900" y="696913"/>
            <a:ext cx="6197600" cy="3486150"/>
          </a:xfrm>
          <a:ln/>
        </p:spPr>
      </p:sp>
      <p:sp>
        <p:nvSpPr>
          <p:cNvPr id="62467" name="Notes Placeholder 2">
            <a:extLst>
              <a:ext uri="{FF2B5EF4-FFF2-40B4-BE49-F238E27FC236}">
                <a16:creationId xmlns:a16="http://schemas.microsoft.com/office/drawing/2014/main" id="{DD7C63B8-53C4-2DA0-5007-913667817D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2468" name="Slide Number Placeholder 3">
            <a:extLst>
              <a:ext uri="{FF2B5EF4-FFF2-40B4-BE49-F238E27FC236}">
                <a16:creationId xmlns:a16="http://schemas.microsoft.com/office/drawing/2014/main" id="{4400FABA-4863-2006-58FA-EE8ACA34526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39CD0F4-480A-4E9F-8038-40BD3F7FFD70}" type="slidenum">
              <a:rPr lang="en-US" altLang="en-US">
                <a:latin typeface="Arial" panose="020B0604020202020204" pitchFamily="34" charset="0"/>
              </a:rPr>
              <a:pPr>
                <a:spcBef>
                  <a:spcPct val="0"/>
                </a:spcBef>
              </a:pPr>
              <a:t>44</a:t>
            </a:fld>
            <a:endParaRPr lang="en-US" altLang="en-US" dirty="0">
              <a:latin typeface="Arial" panose="020B0604020202020204" pitchFamily="34" charset="0"/>
            </a:endParaRPr>
          </a:p>
        </p:txBody>
      </p:sp>
    </p:spTree>
    <p:extLst>
      <p:ext uri="{BB962C8B-B14F-4D97-AF65-F5344CB8AC3E}">
        <p14:creationId xmlns:p14="http://schemas.microsoft.com/office/powerpoint/2010/main" val="125224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E5A86B30-9F45-2BEE-9546-01C04595348A}"/>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76BF5CE3-2D7D-A5B5-EEF9-6AB0364A3AB2}"/>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D855221D-0FC8-9F77-4B9E-203F7FC3223F}"/>
              </a:ext>
            </a:extLst>
          </p:cNvPr>
          <p:cNvSpPr>
            <a:spLocks noGrp="1" noChangeArrowheads="1"/>
          </p:cNvSpPr>
          <p:nvPr>
            <p:ph type="sldNum" sz="quarter" idx="12"/>
          </p:nvPr>
        </p:nvSpPr>
        <p:spPr>
          <a:ln/>
        </p:spPr>
        <p:txBody>
          <a:bodyPr/>
          <a:lstStyle>
            <a:lvl1pPr>
              <a:defRPr/>
            </a:lvl1pPr>
          </a:lstStyle>
          <a:p>
            <a:fld id="{262D249C-85DE-401F-B88B-F9295A8336A3}" type="slidenum">
              <a:rPr lang="en-US" altLang="en-US"/>
              <a:pPr/>
              <a:t>‹#›</a:t>
            </a:fld>
            <a:endParaRPr lang="en-US" altLang="en-US" dirty="0"/>
          </a:p>
        </p:txBody>
      </p:sp>
    </p:spTree>
    <p:extLst>
      <p:ext uri="{BB962C8B-B14F-4D97-AF65-F5344CB8AC3E}">
        <p14:creationId xmlns:p14="http://schemas.microsoft.com/office/powerpoint/2010/main" val="38835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64C92CA-CCB2-4FCA-6BC8-356CAD5C1A8A}"/>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FBB51247-3C08-FE97-B62C-AEC20DA77518}"/>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216DED6D-F9C2-FC34-C694-5F64FAA813A3}"/>
              </a:ext>
            </a:extLst>
          </p:cNvPr>
          <p:cNvSpPr>
            <a:spLocks noGrp="1" noChangeArrowheads="1"/>
          </p:cNvSpPr>
          <p:nvPr>
            <p:ph type="sldNum" sz="quarter" idx="12"/>
          </p:nvPr>
        </p:nvSpPr>
        <p:spPr>
          <a:ln/>
        </p:spPr>
        <p:txBody>
          <a:bodyPr/>
          <a:lstStyle>
            <a:lvl1pPr>
              <a:defRPr/>
            </a:lvl1pPr>
          </a:lstStyle>
          <a:p>
            <a:fld id="{6425E824-8BF7-42D1-A7D1-BE5CBA54CC07}" type="slidenum">
              <a:rPr lang="en-US" altLang="en-US"/>
              <a:pPr/>
              <a:t>‹#›</a:t>
            </a:fld>
            <a:endParaRPr lang="en-US" altLang="en-US" dirty="0"/>
          </a:p>
        </p:txBody>
      </p:sp>
    </p:spTree>
    <p:extLst>
      <p:ext uri="{BB962C8B-B14F-4D97-AF65-F5344CB8AC3E}">
        <p14:creationId xmlns:p14="http://schemas.microsoft.com/office/powerpoint/2010/main" val="3476401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E16AF8C-B2A7-0F60-9321-6A3965AA69A9}"/>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D158AE14-D42F-F67D-A753-18A5491023C7}"/>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2387D2DC-57A2-B04A-595E-BD5AC3302735}"/>
              </a:ext>
            </a:extLst>
          </p:cNvPr>
          <p:cNvSpPr>
            <a:spLocks noGrp="1" noChangeArrowheads="1"/>
          </p:cNvSpPr>
          <p:nvPr>
            <p:ph type="sldNum" sz="quarter" idx="12"/>
          </p:nvPr>
        </p:nvSpPr>
        <p:spPr>
          <a:ln/>
        </p:spPr>
        <p:txBody>
          <a:bodyPr/>
          <a:lstStyle>
            <a:lvl1pPr>
              <a:defRPr/>
            </a:lvl1pPr>
          </a:lstStyle>
          <a:p>
            <a:fld id="{5FCEC21E-8A53-41C2-B777-69B5B7A5C809}" type="slidenum">
              <a:rPr lang="en-US" altLang="en-US"/>
              <a:pPr/>
              <a:t>‹#›</a:t>
            </a:fld>
            <a:endParaRPr lang="en-US" altLang="en-US" dirty="0"/>
          </a:p>
        </p:txBody>
      </p:sp>
    </p:spTree>
    <p:extLst>
      <p:ext uri="{BB962C8B-B14F-4D97-AF65-F5344CB8AC3E}">
        <p14:creationId xmlns:p14="http://schemas.microsoft.com/office/powerpoint/2010/main" val="1990452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30E23FD-1FFB-6339-0546-CB95C00842BE}"/>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2A566528-485C-BB6D-DB37-A72ABF1AA054}"/>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33217818-EC90-BF33-ADDA-463E62D0871E}"/>
              </a:ext>
            </a:extLst>
          </p:cNvPr>
          <p:cNvSpPr>
            <a:spLocks noGrp="1" noChangeArrowheads="1"/>
          </p:cNvSpPr>
          <p:nvPr>
            <p:ph type="sldNum" sz="quarter" idx="12"/>
          </p:nvPr>
        </p:nvSpPr>
        <p:spPr>
          <a:ln/>
        </p:spPr>
        <p:txBody>
          <a:bodyPr/>
          <a:lstStyle>
            <a:lvl1pPr>
              <a:defRPr/>
            </a:lvl1pPr>
          </a:lstStyle>
          <a:p>
            <a:fld id="{D50C936F-8D73-46C6-9AB4-011D4F2CB670}" type="slidenum">
              <a:rPr lang="en-US" altLang="en-US"/>
              <a:pPr/>
              <a:t>‹#›</a:t>
            </a:fld>
            <a:endParaRPr lang="en-US" altLang="en-US" dirty="0"/>
          </a:p>
        </p:txBody>
      </p:sp>
    </p:spTree>
    <p:extLst>
      <p:ext uri="{BB962C8B-B14F-4D97-AF65-F5344CB8AC3E}">
        <p14:creationId xmlns:p14="http://schemas.microsoft.com/office/powerpoint/2010/main" val="1865370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ACD072E0-CAF2-CCFF-E82D-EEE62663AAB5}"/>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a:extLst>
              <a:ext uri="{FF2B5EF4-FFF2-40B4-BE49-F238E27FC236}">
                <a16:creationId xmlns:a16="http://schemas.microsoft.com/office/drawing/2014/main" id="{3AF21D44-21A1-5FB1-A764-769E78AC285A}"/>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a:extLst>
              <a:ext uri="{FF2B5EF4-FFF2-40B4-BE49-F238E27FC236}">
                <a16:creationId xmlns:a16="http://schemas.microsoft.com/office/drawing/2014/main" id="{D30D400A-6242-22F6-7917-388DEB1BB056}"/>
              </a:ext>
            </a:extLst>
          </p:cNvPr>
          <p:cNvSpPr>
            <a:spLocks noGrp="1" noChangeArrowheads="1"/>
          </p:cNvSpPr>
          <p:nvPr>
            <p:ph type="sldNum" sz="quarter" idx="12"/>
          </p:nvPr>
        </p:nvSpPr>
        <p:spPr>
          <a:ln/>
        </p:spPr>
        <p:txBody>
          <a:bodyPr/>
          <a:lstStyle>
            <a:lvl1pPr>
              <a:defRPr/>
            </a:lvl1pPr>
          </a:lstStyle>
          <a:p>
            <a:fld id="{A7BB6899-2889-4A47-80F9-B81A188B3F67}" type="slidenum">
              <a:rPr lang="en-US" altLang="en-US"/>
              <a:pPr/>
              <a:t>‹#›</a:t>
            </a:fld>
            <a:endParaRPr lang="en-US" altLang="en-US" dirty="0"/>
          </a:p>
        </p:txBody>
      </p:sp>
    </p:spTree>
    <p:extLst>
      <p:ext uri="{BB962C8B-B14F-4D97-AF65-F5344CB8AC3E}">
        <p14:creationId xmlns:p14="http://schemas.microsoft.com/office/powerpoint/2010/main" val="151557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91D6712-2B5A-6695-6F5C-04DAE00C4F3A}"/>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a:extLst>
              <a:ext uri="{FF2B5EF4-FFF2-40B4-BE49-F238E27FC236}">
                <a16:creationId xmlns:a16="http://schemas.microsoft.com/office/drawing/2014/main" id="{1AAD6A75-149A-4764-9E00-D3782B75E21B}"/>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a:extLst>
              <a:ext uri="{FF2B5EF4-FFF2-40B4-BE49-F238E27FC236}">
                <a16:creationId xmlns:a16="http://schemas.microsoft.com/office/drawing/2014/main" id="{3068E06F-675B-05AF-0471-64714C207265}"/>
              </a:ext>
            </a:extLst>
          </p:cNvPr>
          <p:cNvSpPr>
            <a:spLocks noGrp="1" noChangeArrowheads="1"/>
          </p:cNvSpPr>
          <p:nvPr>
            <p:ph type="sldNum" sz="quarter" idx="12"/>
          </p:nvPr>
        </p:nvSpPr>
        <p:spPr>
          <a:ln/>
        </p:spPr>
        <p:txBody>
          <a:bodyPr/>
          <a:lstStyle>
            <a:lvl1pPr>
              <a:defRPr/>
            </a:lvl1pPr>
          </a:lstStyle>
          <a:p>
            <a:fld id="{7D5238C4-ACD7-4B82-A607-89766D91B2E4}" type="slidenum">
              <a:rPr lang="en-US" altLang="en-US"/>
              <a:pPr/>
              <a:t>‹#›</a:t>
            </a:fld>
            <a:endParaRPr lang="en-US" altLang="en-US" dirty="0"/>
          </a:p>
        </p:txBody>
      </p:sp>
    </p:spTree>
    <p:extLst>
      <p:ext uri="{BB962C8B-B14F-4D97-AF65-F5344CB8AC3E}">
        <p14:creationId xmlns:p14="http://schemas.microsoft.com/office/powerpoint/2010/main" val="2044070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B6AC904-06B4-C95B-2462-7D387748A70D}"/>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a:extLst>
              <a:ext uri="{FF2B5EF4-FFF2-40B4-BE49-F238E27FC236}">
                <a16:creationId xmlns:a16="http://schemas.microsoft.com/office/drawing/2014/main" id="{B4ACAA42-AE48-38CF-038D-D11EDB624551}"/>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a:extLst>
              <a:ext uri="{FF2B5EF4-FFF2-40B4-BE49-F238E27FC236}">
                <a16:creationId xmlns:a16="http://schemas.microsoft.com/office/drawing/2014/main" id="{7FA6F499-C165-F196-23CA-EB56425739DF}"/>
              </a:ext>
            </a:extLst>
          </p:cNvPr>
          <p:cNvSpPr>
            <a:spLocks noGrp="1" noChangeArrowheads="1"/>
          </p:cNvSpPr>
          <p:nvPr>
            <p:ph type="sldNum" sz="quarter" idx="12"/>
          </p:nvPr>
        </p:nvSpPr>
        <p:spPr>
          <a:ln/>
        </p:spPr>
        <p:txBody>
          <a:bodyPr/>
          <a:lstStyle>
            <a:lvl1pPr>
              <a:defRPr/>
            </a:lvl1pPr>
          </a:lstStyle>
          <a:p>
            <a:fld id="{5CFCDF07-C78D-4A4F-ADE8-EDCCE6E9D72A}" type="slidenum">
              <a:rPr lang="en-US" altLang="en-US"/>
              <a:pPr/>
              <a:t>‹#›</a:t>
            </a:fld>
            <a:endParaRPr lang="en-US" altLang="en-US" dirty="0"/>
          </a:p>
        </p:txBody>
      </p:sp>
    </p:spTree>
    <p:extLst>
      <p:ext uri="{BB962C8B-B14F-4D97-AF65-F5344CB8AC3E}">
        <p14:creationId xmlns:p14="http://schemas.microsoft.com/office/powerpoint/2010/main" val="772787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C3E972F-1A31-29DC-CE69-9299EB0CDF41}"/>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380CDC33-F4EF-E51A-3500-4A5D5FE72CA4}"/>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ECD1194D-9289-0BC5-097F-F7B968D40341}"/>
              </a:ext>
            </a:extLst>
          </p:cNvPr>
          <p:cNvSpPr>
            <a:spLocks noGrp="1" noChangeArrowheads="1"/>
          </p:cNvSpPr>
          <p:nvPr>
            <p:ph type="sldNum" sz="quarter" idx="12"/>
          </p:nvPr>
        </p:nvSpPr>
        <p:spPr>
          <a:ln/>
        </p:spPr>
        <p:txBody>
          <a:bodyPr/>
          <a:lstStyle>
            <a:lvl1pPr>
              <a:defRPr/>
            </a:lvl1pPr>
          </a:lstStyle>
          <a:p>
            <a:fld id="{A7B0CE44-B93B-48EE-830A-7A6E00817517}" type="slidenum">
              <a:rPr lang="en-US" altLang="en-US"/>
              <a:pPr/>
              <a:t>‹#›</a:t>
            </a:fld>
            <a:endParaRPr lang="en-US" altLang="en-US" dirty="0"/>
          </a:p>
        </p:txBody>
      </p:sp>
    </p:spTree>
    <p:extLst>
      <p:ext uri="{BB962C8B-B14F-4D97-AF65-F5344CB8AC3E}">
        <p14:creationId xmlns:p14="http://schemas.microsoft.com/office/powerpoint/2010/main" val="270921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227EC48-4FE9-7282-B6BC-54E5C10E9D00}"/>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9699DCBB-31AC-6473-4DFA-5A200884225F}"/>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678B9262-7354-E04D-08AF-5EE866BA78DC}"/>
              </a:ext>
            </a:extLst>
          </p:cNvPr>
          <p:cNvSpPr>
            <a:spLocks noGrp="1" noChangeArrowheads="1"/>
          </p:cNvSpPr>
          <p:nvPr>
            <p:ph type="sldNum" sz="quarter" idx="12"/>
          </p:nvPr>
        </p:nvSpPr>
        <p:spPr>
          <a:ln/>
        </p:spPr>
        <p:txBody>
          <a:bodyPr/>
          <a:lstStyle>
            <a:lvl1pPr>
              <a:defRPr/>
            </a:lvl1pPr>
          </a:lstStyle>
          <a:p>
            <a:fld id="{D4CB9127-9F4A-496D-B900-8E5868A825ED}" type="slidenum">
              <a:rPr lang="en-US" altLang="en-US"/>
              <a:pPr/>
              <a:t>‹#›</a:t>
            </a:fld>
            <a:endParaRPr lang="en-US" altLang="en-US" dirty="0"/>
          </a:p>
        </p:txBody>
      </p:sp>
    </p:spTree>
    <p:extLst>
      <p:ext uri="{BB962C8B-B14F-4D97-AF65-F5344CB8AC3E}">
        <p14:creationId xmlns:p14="http://schemas.microsoft.com/office/powerpoint/2010/main" val="3103431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48E5021-6D0C-E4DA-4ACE-0EF05E2BDE33}"/>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D83FE879-2DF1-59B1-5B35-99967BE9D3E6}"/>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F494BF33-3A64-40F9-4D63-221279CC9AE4}"/>
              </a:ext>
            </a:extLst>
          </p:cNvPr>
          <p:cNvSpPr>
            <a:spLocks noGrp="1" noChangeArrowheads="1"/>
          </p:cNvSpPr>
          <p:nvPr>
            <p:ph type="sldNum" sz="quarter" idx="12"/>
          </p:nvPr>
        </p:nvSpPr>
        <p:spPr>
          <a:ln/>
        </p:spPr>
        <p:txBody>
          <a:bodyPr/>
          <a:lstStyle>
            <a:lvl1pPr>
              <a:defRPr/>
            </a:lvl1pPr>
          </a:lstStyle>
          <a:p>
            <a:fld id="{1BE7B93C-666A-46F4-AEE8-F4C68F2A8F6C}" type="slidenum">
              <a:rPr lang="en-US" altLang="en-US"/>
              <a:pPr/>
              <a:t>‹#›</a:t>
            </a:fld>
            <a:endParaRPr lang="en-US" altLang="en-US" dirty="0"/>
          </a:p>
        </p:txBody>
      </p:sp>
    </p:spTree>
    <p:extLst>
      <p:ext uri="{BB962C8B-B14F-4D97-AF65-F5344CB8AC3E}">
        <p14:creationId xmlns:p14="http://schemas.microsoft.com/office/powerpoint/2010/main" val="3962110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6B58060-7D30-7D0D-AC67-DC91D05B9F32}"/>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A8EF5A69-E7A5-10FB-2D94-1B6E574A1B5A}"/>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7AB56DF5-F38D-CEA0-4D4B-3F4E7B8431AB}"/>
              </a:ext>
            </a:extLst>
          </p:cNvPr>
          <p:cNvSpPr>
            <a:spLocks noGrp="1" noChangeArrowheads="1"/>
          </p:cNvSpPr>
          <p:nvPr>
            <p:ph type="sldNum" sz="quarter" idx="12"/>
          </p:nvPr>
        </p:nvSpPr>
        <p:spPr>
          <a:ln/>
        </p:spPr>
        <p:txBody>
          <a:bodyPr/>
          <a:lstStyle>
            <a:lvl1pPr>
              <a:defRPr/>
            </a:lvl1pPr>
          </a:lstStyle>
          <a:p>
            <a:fld id="{62F1BECF-6AEA-46E9-924F-74860FAB83C7}" type="slidenum">
              <a:rPr lang="en-US" altLang="en-US"/>
              <a:pPr/>
              <a:t>‹#›</a:t>
            </a:fld>
            <a:endParaRPr lang="en-US" altLang="en-US" dirty="0"/>
          </a:p>
        </p:txBody>
      </p:sp>
    </p:spTree>
    <p:extLst>
      <p:ext uri="{BB962C8B-B14F-4D97-AF65-F5344CB8AC3E}">
        <p14:creationId xmlns:p14="http://schemas.microsoft.com/office/powerpoint/2010/main" val="849420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609600"/>
            <a:ext cx="103632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a:extLst>
              <a:ext uri="{FF2B5EF4-FFF2-40B4-BE49-F238E27FC236}">
                <a16:creationId xmlns:a16="http://schemas.microsoft.com/office/drawing/2014/main" id="{D3F19CD3-9DBD-2514-7E87-4DB2E76C667A}"/>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a:extLst>
              <a:ext uri="{FF2B5EF4-FFF2-40B4-BE49-F238E27FC236}">
                <a16:creationId xmlns:a16="http://schemas.microsoft.com/office/drawing/2014/main" id="{4A443B40-6176-13A0-E848-7D58C1068EEE}"/>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a:extLst>
              <a:ext uri="{FF2B5EF4-FFF2-40B4-BE49-F238E27FC236}">
                <a16:creationId xmlns:a16="http://schemas.microsoft.com/office/drawing/2014/main" id="{39E1D0F4-FCEB-1694-8591-6A21B8FA88AF}"/>
              </a:ext>
            </a:extLst>
          </p:cNvPr>
          <p:cNvSpPr>
            <a:spLocks noGrp="1" noChangeArrowheads="1"/>
          </p:cNvSpPr>
          <p:nvPr>
            <p:ph type="sldNum" sz="quarter" idx="12"/>
          </p:nvPr>
        </p:nvSpPr>
        <p:spPr>
          <a:ln/>
        </p:spPr>
        <p:txBody>
          <a:bodyPr/>
          <a:lstStyle>
            <a:lvl1pPr>
              <a:defRPr/>
            </a:lvl1pPr>
          </a:lstStyle>
          <a:p>
            <a:fld id="{96151712-AEEC-44FB-BAD1-22EA6632F488}" type="slidenum">
              <a:rPr lang="en-US" altLang="en-US"/>
              <a:pPr/>
              <a:t>‹#›</a:t>
            </a:fld>
            <a:endParaRPr lang="en-US" altLang="en-US" dirty="0"/>
          </a:p>
        </p:txBody>
      </p:sp>
    </p:spTree>
    <p:extLst>
      <p:ext uri="{BB962C8B-B14F-4D97-AF65-F5344CB8AC3E}">
        <p14:creationId xmlns:p14="http://schemas.microsoft.com/office/powerpoint/2010/main" val="603008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1"/>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1"/>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16EB5F2-39FE-C7ED-21C0-E5704ADBA319}"/>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9321CBF1-B79C-A37B-24BC-18D011C4A4F9}"/>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2D0B68C9-C502-2B93-B0BF-36B6D6C2580C}"/>
              </a:ext>
            </a:extLst>
          </p:cNvPr>
          <p:cNvSpPr>
            <a:spLocks noGrp="1" noChangeArrowheads="1"/>
          </p:cNvSpPr>
          <p:nvPr>
            <p:ph type="sldNum" sz="quarter" idx="12"/>
          </p:nvPr>
        </p:nvSpPr>
        <p:spPr>
          <a:ln/>
        </p:spPr>
        <p:txBody>
          <a:bodyPr/>
          <a:lstStyle>
            <a:lvl1pPr>
              <a:defRPr/>
            </a:lvl1pPr>
          </a:lstStyle>
          <a:p>
            <a:fld id="{BF3CA819-F5D9-4234-8B4D-EADEB0B8786D}" type="slidenum">
              <a:rPr lang="en-US" altLang="en-US"/>
              <a:pPr/>
              <a:t>‹#›</a:t>
            </a:fld>
            <a:endParaRPr lang="en-US" altLang="en-US" dirty="0"/>
          </a:p>
        </p:txBody>
      </p:sp>
    </p:spTree>
    <p:extLst>
      <p:ext uri="{BB962C8B-B14F-4D97-AF65-F5344CB8AC3E}">
        <p14:creationId xmlns:p14="http://schemas.microsoft.com/office/powerpoint/2010/main" val="4035049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07D985D-ED98-D182-25B0-6B743DEDA3CB}"/>
              </a:ext>
            </a:extLst>
          </p:cNvPr>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635034D-4EFC-324F-740A-A96A484E3647}"/>
              </a:ext>
            </a:extLst>
          </p:cNvPr>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63A82AC6-71E6-A38E-6D4B-F6AAD3584E76}"/>
              </a:ext>
            </a:extLst>
          </p:cNvPr>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dirty="0">
                <a:latin typeface="+mn-lt"/>
              </a:defRPr>
            </a:lvl1pPr>
          </a:lstStyle>
          <a:p>
            <a:pPr>
              <a:defRPr/>
            </a:pPr>
            <a:endParaRPr lang="en-US" dirty="0"/>
          </a:p>
        </p:txBody>
      </p:sp>
      <p:sp>
        <p:nvSpPr>
          <p:cNvPr id="1029" name="Rectangle 5">
            <a:extLst>
              <a:ext uri="{FF2B5EF4-FFF2-40B4-BE49-F238E27FC236}">
                <a16:creationId xmlns:a16="http://schemas.microsoft.com/office/drawing/2014/main" id="{0C381D7E-F40B-6B06-EDC5-5E921AB7F22E}"/>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a:latin typeface="+mn-lt"/>
              </a:defRPr>
            </a:lvl1pPr>
          </a:lstStyle>
          <a:p>
            <a:pPr>
              <a:defRPr/>
            </a:pPr>
            <a:endParaRPr lang="en-US" dirty="0"/>
          </a:p>
        </p:txBody>
      </p:sp>
      <p:sp>
        <p:nvSpPr>
          <p:cNvPr id="1030" name="Rectangle 6">
            <a:extLst>
              <a:ext uri="{FF2B5EF4-FFF2-40B4-BE49-F238E27FC236}">
                <a16:creationId xmlns:a16="http://schemas.microsoft.com/office/drawing/2014/main" id="{2755F980-50C8-8947-7A76-FD423A532E12}"/>
              </a:ext>
            </a:extLst>
          </p:cNvPr>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Times New Roman" panose="02020603050405020304" pitchFamily="18" charset="0"/>
              </a:defRPr>
            </a:lvl1pPr>
          </a:lstStyle>
          <a:p>
            <a:fld id="{DB85452E-D695-4728-AB29-4E414F17F101}"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coast.noaa.gov/hurricanes/#map=4/32/-80"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2.png"/><Relationship Id="rId4"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ideo" Target="https://www.youtube.com/embed/8UJW84Fqhgw?feature=oembed" TargetMode="External"/><Relationship Id="rId4" Type="http://schemas.openxmlformats.org/officeDocument/2006/relationships/image" Target="../media/image36.jpeg"/></Relationships>
</file>

<file path=ppt/slides/_rels/slide3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ideo" Target="https://www.youtube.com/embed/zIornya6eII?feature=oembed" TargetMode="External"/><Relationship Id="rId4" Type="http://schemas.openxmlformats.org/officeDocument/2006/relationships/image" Target="../media/image39.jpeg"/></Relationships>
</file>

<file path=ppt/slides/_rels/slide3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slideLayout" Target="../slideLayouts/slideLayout2.xml"/><Relationship Id="rId1" Type="http://schemas.openxmlformats.org/officeDocument/2006/relationships/video" Target="https://www.youtube.com/embed/cn4zfpne8_4?feature=oembed"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nytimes.com/interactive/2017/08/24/us/hurricane-harvey-texas.html"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2.xml"/><Relationship Id="rId1" Type="http://schemas.openxmlformats.org/officeDocument/2006/relationships/video" Target="https://www.youtube.com/embed/YzQGgyrxXiI?feature=oembed"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slideLayout" Target="../slideLayouts/slideLayout2.xml"/><Relationship Id="rId1" Type="http://schemas.openxmlformats.org/officeDocument/2006/relationships/video" Target="https://www.youtube.com/embed/VIQojllAJIQ?feature=oembed" TargetMode="Externa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slideLayout" Target="../slideLayouts/slideLayout2.xml"/><Relationship Id="rId1" Type="http://schemas.openxmlformats.org/officeDocument/2006/relationships/video" Target="https://www.youtube.com/embed/VgQy8psIquY?feature=oembed"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slideLayout" Target="../slideLayouts/slideLayout2.xml"/><Relationship Id="rId1" Type="http://schemas.openxmlformats.org/officeDocument/2006/relationships/video" Target="https://www.youtube.com/embed/al8yTiCVfro?feature=oembed" TargetMode="Externa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ideo" Target="https://www.youtube.com/embed/xCq6mcLwBDI?feature=oembed" TargetMode="External"/><Relationship Id="rId4" Type="http://schemas.openxmlformats.org/officeDocument/2006/relationships/image" Target="../media/image50.jpeg"/></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3.jpg"/></Relationships>
</file>

<file path=ppt/slides/_rels/slide45.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93storm of the century">
            <a:extLst>
              <a:ext uri="{FF2B5EF4-FFF2-40B4-BE49-F238E27FC236}">
                <a16:creationId xmlns:a16="http://schemas.microsoft.com/office/drawing/2014/main" id="{F73D0427-4AE5-04B1-9A8A-5239A16C99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326" y="69008"/>
            <a:ext cx="6681536" cy="678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5" descr="C:\Documents and Settings\Tony Stallins\Desktop\f8_19f.gif">
            <a:extLst>
              <a:ext uri="{FF2B5EF4-FFF2-40B4-BE49-F238E27FC236}">
                <a16:creationId xmlns:a16="http://schemas.microsoft.com/office/drawing/2014/main" id="{5240596A-C739-4315-3508-3E7E544624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9030"/>
          <a:stretch>
            <a:fillRect/>
          </a:stretch>
        </p:blipFill>
        <p:spPr bwMode="auto">
          <a:xfrm>
            <a:off x="35168" y="0"/>
            <a:ext cx="5697295" cy="678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4" descr="C:\Documents and Settings\Tony Stallins\Desktop\39035502_df78cbe32a.jpg">
            <a:extLst>
              <a:ext uri="{FF2B5EF4-FFF2-40B4-BE49-F238E27FC236}">
                <a16:creationId xmlns:a16="http://schemas.microsoft.com/office/drawing/2014/main" id="{93E591BB-CBB3-9729-E44C-6921ACDA39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0138"/>
          <a:stretch>
            <a:fillRect/>
          </a:stretch>
        </p:blipFill>
        <p:spPr bwMode="auto">
          <a:xfrm>
            <a:off x="0" y="-25457"/>
            <a:ext cx="5943600" cy="6883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A satellite view of a hurricane&#10;&#10;AI-generated content may be incorrect.">
            <a:extLst>
              <a:ext uri="{FF2B5EF4-FFF2-40B4-BE49-F238E27FC236}">
                <a16:creationId xmlns:a16="http://schemas.microsoft.com/office/drawing/2014/main" id="{3906242B-74CD-BA59-B0C4-0FED23973C26}"/>
              </a:ext>
            </a:extLst>
          </p:cNvPr>
          <p:cNvPicPr>
            <a:picLocks noChangeAspect="1"/>
          </p:cNvPicPr>
          <p:nvPr/>
        </p:nvPicPr>
        <p:blipFill>
          <a:blip r:embed="rId4">
            <a:extLst>
              <a:ext uri="{28A0092B-C50C-407E-A947-70E740481C1C}">
                <a14:useLocalDpi xmlns:a14="http://schemas.microsoft.com/office/drawing/2010/main" val="0"/>
              </a:ext>
            </a:extLst>
          </a:blip>
          <a:srcRect r="36659"/>
          <a:stretch/>
        </p:blipFill>
        <p:spPr>
          <a:xfrm>
            <a:off x="5679924" y="-32084"/>
            <a:ext cx="6512076"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of a hurricane&#10;&#10;AI-generated content may be incorrect.">
            <a:extLst>
              <a:ext uri="{FF2B5EF4-FFF2-40B4-BE49-F238E27FC236}">
                <a16:creationId xmlns:a16="http://schemas.microsoft.com/office/drawing/2014/main" id="{D9EB8BEC-6CED-38FE-8AA6-62CF210A99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95" y="925022"/>
            <a:ext cx="5998290" cy="5323377"/>
          </a:xfrm>
        </p:spPr>
      </p:pic>
      <p:pic>
        <p:nvPicPr>
          <p:cNvPr id="9" name="Picture 8" descr="A map of a hurricane&#10;&#10;AI-generated content may be incorrect.">
            <a:extLst>
              <a:ext uri="{FF2B5EF4-FFF2-40B4-BE49-F238E27FC236}">
                <a16:creationId xmlns:a16="http://schemas.microsoft.com/office/drawing/2014/main" id="{E9392E41-BD25-F10C-25E6-F564FBB08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51637" y="912991"/>
            <a:ext cx="6140363" cy="5335408"/>
          </a:xfrm>
          <a:prstGeom prst="rect">
            <a:avLst/>
          </a:prstGeom>
        </p:spPr>
      </p:pic>
    </p:spTree>
    <p:extLst>
      <p:ext uri="{BB962C8B-B14F-4D97-AF65-F5344CB8AC3E}">
        <p14:creationId xmlns:p14="http://schemas.microsoft.com/office/powerpoint/2010/main" val="351103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1" name="Picture1" descr="15-09">
            <a:extLst>
              <a:ext uri="{FF2B5EF4-FFF2-40B4-BE49-F238E27FC236}">
                <a16:creationId xmlns:a16="http://schemas.microsoft.com/office/drawing/2014/main" id="{B1D28467-6A31-8423-AEE4-20DDE07BB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3248"/>
            <a:ext cx="10668000" cy="6944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9254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Documents and Settings\Tony Stallins\Desktop\7regions.jpg">
            <a:extLst>
              <a:ext uri="{FF2B5EF4-FFF2-40B4-BE49-F238E27FC236}">
                <a16:creationId xmlns:a16="http://schemas.microsoft.com/office/drawing/2014/main" id="{CC74F30C-DD81-C995-3EAC-4DA135297D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1275" y="3368674"/>
            <a:ext cx="6858000" cy="350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C:\Documents and Settings\Jon Anthony Stallins\Desktop\midlatitudecyclonepaths.gif">
            <a:extLst>
              <a:ext uri="{FF2B5EF4-FFF2-40B4-BE49-F238E27FC236}">
                <a16:creationId xmlns:a16="http://schemas.microsoft.com/office/drawing/2014/main" id="{42F4FCAB-DD3C-9452-14E5-6D1880460D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33337"/>
            <a:ext cx="6248400" cy="339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5514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wind shears&#10;&#10;AI-generated content may be incorrect.">
            <a:extLst>
              <a:ext uri="{FF2B5EF4-FFF2-40B4-BE49-F238E27FC236}">
                <a16:creationId xmlns:a16="http://schemas.microsoft.com/office/drawing/2014/main" id="{9430F37C-6F1B-B217-F86E-4A0443933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929" y="158005"/>
            <a:ext cx="9400142" cy="6541990"/>
          </a:xfrm>
          <a:prstGeom prst="rect">
            <a:avLst/>
          </a:prstGeom>
        </p:spPr>
      </p:pic>
    </p:spTree>
    <p:extLst>
      <p:ext uri="{BB962C8B-B14F-4D97-AF65-F5344CB8AC3E}">
        <p14:creationId xmlns:p14="http://schemas.microsoft.com/office/powerpoint/2010/main" val="4224524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36C52-8B32-C3D4-51F1-C321F7243094}"/>
              </a:ext>
            </a:extLst>
          </p:cNvPr>
          <p:cNvSpPr>
            <a:spLocks noGrp="1"/>
          </p:cNvSpPr>
          <p:nvPr>
            <p:ph type="title"/>
          </p:nvPr>
        </p:nvSpPr>
        <p:spPr>
          <a:xfrm>
            <a:off x="2209800" y="381000"/>
            <a:ext cx="7772400" cy="1143000"/>
          </a:xfrm>
        </p:spPr>
        <p:txBody>
          <a:bodyPr/>
          <a:lstStyle/>
          <a:p>
            <a:pPr>
              <a:defRPr/>
            </a:pPr>
            <a:r>
              <a:rPr lang="en-US" sz="4000" dirty="0">
                <a:solidFill>
                  <a:schemeClr val="tx1"/>
                </a:solidFill>
                <a:ea typeface="+mn-ea"/>
                <a:cs typeface="Arial" pitchFamily="34" charset="0"/>
              </a:rPr>
              <a:t>Stages of development of hurricane</a:t>
            </a:r>
            <a:endParaRPr lang="en-US" sz="3600" dirty="0"/>
          </a:p>
        </p:txBody>
      </p:sp>
      <p:sp>
        <p:nvSpPr>
          <p:cNvPr id="18435" name="Content Placeholder 2">
            <a:extLst>
              <a:ext uri="{FF2B5EF4-FFF2-40B4-BE49-F238E27FC236}">
                <a16:creationId xmlns:a16="http://schemas.microsoft.com/office/drawing/2014/main" id="{7A658DEB-9961-B206-CC61-8E0B50F9748F}"/>
              </a:ext>
            </a:extLst>
          </p:cNvPr>
          <p:cNvSpPr>
            <a:spLocks noGrp="1"/>
          </p:cNvSpPr>
          <p:nvPr>
            <p:ph idx="1"/>
          </p:nvPr>
        </p:nvSpPr>
        <p:spPr/>
        <p:txBody>
          <a:bodyPr/>
          <a:lstStyle/>
          <a:p>
            <a:r>
              <a:rPr lang="en-US" altLang="en-US" dirty="0">
                <a:latin typeface="+mj-lt"/>
                <a:cs typeface="Arial" panose="020B0604020202020204" pitchFamily="34" charset="0"/>
              </a:rPr>
              <a:t>Each level represents increase in windspeed and central air pressure </a:t>
            </a:r>
          </a:p>
          <a:p>
            <a:pPr lvl="1"/>
            <a:r>
              <a:rPr lang="en-US" altLang="en-US" dirty="0">
                <a:latin typeface="+mj-lt"/>
                <a:cs typeface="Arial" panose="020B0604020202020204" pitchFamily="34" charset="0"/>
              </a:rPr>
              <a:t>Tropical wave</a:t>
            </a:r>
          </a:p>
          <a:p>
            <a:pPr lvl="1"/>
            <a:r>
              <a:rPr lang="en-US" altLang="en-US" dirty="0">
                <a:latin typeface="+mj-lt"/>
                <a:cs typeface="Arial" panose="020B0604020202020204" pitchFamily="34" charset="0"/>
              </a:rPr>
              <a:t>Tropical depression</a:t>
            </a:r>
          </a:p>
          <a:p>
            <a:pPr lvl="1"/>
            <a:r>
              <a:rPr lang="en-US" altLang="en-US" dirty="0">
                <a:latin typeface="+mj-lt"/>
                <a:cs typeface="Arial" panose="020B0604020202020204" pitchFamily="34" charset="0"/>
              </a:rPr>
              <a:t>Tropical storm</a:t>
            </a:r>
          </a:p>
          <a:p>
            <a:pPr lvl="1"/>
            <a:r>
              <a:rPr lang="en-US" altLang="en-US" dirty="0">
                <a:latin typeface="+mj-lt"/>
                <a:cs typeface="Arial" panose="020B0604020202020204" pitchFamily="34" charset="0"/>
              </a:rPr>
              <a:t>Hurricane (winds in excess of 74 mph)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3" descr="C:\Documents and Settings\tony\Desktop\GMIR.JPG">
            <a:extLst>
              <a:ext uri="{FF2B5EF4-FFF2-40B4-BE49-F238E27FC236}">
                <a16:creationId xmlns:a16="http://schemas.microsoft.com/office/drawing/2014/main" id="{48C46FC2-6ABD-95F3-71DD-E6F9C2693E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Picture 5" descr="C:\Documents and Settings\tony\Desktop\carribean_wave.gif">
            <a:extLst>
              <a:ext uri="{FF2B5EF4-FFF2-40B4-BE49-F238E27FC236}">
                <a16:creationId xmlns:a16="http://schemas.microsoft.com/office/drawing/2014/main" id="{3D6D4D44-C97A-96BE-91AB-CAC2FB2F59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152401"/>
            <a:ext cx="3333750"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5" descr="C:\Users\JAS\Desktop\Lectures\Tropical\hurricane tracks.jpg">
            <a:extLst>
              <a:ext uri="{FF2B5EF4-FFF2-40B4-BE49-F238E27FC236}">
                <a16:creationId xmlns:a16="http://schemas.microsoft.com/office/drawing/2014/main" id="{9781E096-2C72-503C-F27E-F41717B2D0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31667" b="16667"/>
          <a:stretch>
            <a:fillRect/>
          </a:stretch>
        </p:blipFill>
        <p:spPr bwMode="auto">
          <a:xfrm>
            <a:off x="1524000" y="4495800"/>
            <a:ext cx="60960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Box 3">
            <a:extLst>
              <a:ext uri="{FF2B5EF4-FFF2-40B4-BE49-F238E27FC236}">
                <a16:creationId xmlns:a16="http://schemas.microsoft.com/office/drawing/2014/main" id="{B2C2B248-766C-1A37-8279-6A8BF167DC0B}"/>
              </a:ext>
            </a:extLst>
          </p:cNvPr>
          <p:cNvSpPr txBox="1">
            <a:spLocks noChangeArrowheads="1"/>
          </p:cNvSpPr>
          <p:nvPr/>
        </p:nvSpPr>
        <p:spPr bwMode="auto">
          <a:xfrm>
            <a:off x="342900" y="184246"/>
            <a:ext cx="4076700" cy="461963"/>
          </a:xfrm>
          <a:prstGeom prst="rect">
            <a:avLst/>
          </a:prstGeom>
          <a:solidFill>
            <a:schemeClr val="bg1"/>
          </a:solidFill>
          <a:ln w="9525">
            <a:solidFill>
              <a:schemeClr val="tx1"/>
            </a:solidFill>
            <a:miter lim="800000"/>
            <a:headEnd/>
            <a:tailEnd/>
          </a:ln>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dirty="0">
                <a:latin typeface="+mj-lt"/>
              </a:rPr>
              <a:t>Tropical waves off African coast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09F0C4C-8DC8-90D2-352E-4628F64FF499}"/>
              </a:ext>
            </a:extLst>
          </p:cNvPr>
          <p:cNvSpPr>
            <a:spLocks noGrp="1" noChangeArrowheads="1"/>
          </p:cNvSpPr>
          <p:nvPr>
            <p:ph type="title"/>
          </p:nvPr>
        </p:nvSpPr>
        <p:spPr>
          <a:xfrm>
            <a:off x="1828800" y="381000"/>
            <a:ext cx="8610600" cy="1143000"/>
          </a:xfrm>
        </p:spPr>
        <p:txBody>
          <a:bodyPr/>
          <a:lstStyle/>
          <a:p>
            <a:pPr eaLnBrk="1" hangingPunct="1"/>
            <a:r>
              <a:rPr lang="en-US" altLang="en-US" sz="3600" dirty="0"/>
              <a:t>Mechanisms of formation</a:t>
            </a:r>
            <a:endParaRPr lang="en-US" altLang="en-US" dirty="0"/>
          </a:p>
        </p:txBody>
      </p:sp>
      <p:sp>
        <p:nvSpPr>
          <p:cNvPr id="22531" name="Rectangle 3">
            <a:extLst>
              <a:ext uri="{FF2B5EF4-FFF2-40B4-BE49-F238E27FC236}">
                <a16:creationId xmlns:a16="http://schemas.microsoft.com/office/drawing/2014/main" id="{84938564-1B28-8345-0277-02D901C4071D}"/>
              </a:ext>
            </a:extLst>
          </p:cNvPr>
          <p:cNvSpPr>
            <a:spLocks noGrp="1" noChangeArrowheads="1"/>
          </p:cNvSpPr>
          <p:nvPr>
            <p:ph type="body" idx="1"/>
          </p:nvPr>
        </p:nvSpPr>
        <p:spPr>
          <a:xfrm>
            <a:off x="381000" y="1447800"/>
            <a:ext cx="11506200" cy="4953000"/>
          </a:xfrm>
        </p:spPr>
        <p:txBody>
          <a:bodyPr/>
          <a:lstStyle/>
          <a:p>
            <a:pPr marL="609600" indent="-609600" eaLnBrk="1" hangingPunct="1"/>
            <a:r>
              <a:rPr lang="en-US" altLang="en-US" sz="2800" dirty="0">
                <a:latin typeface="+mj-lt"/>
              </a:rPr>
              <a:t>Strong evaporation over warm ocean water</a:t>
            </a:r>
          </a:p>
          <a:p>
            <a:pPr marL="609600" indent="-609600" eaLnBrk="1" hangingPunct="1"/>
            <a:r>
              <a:rPr lang="en-US" altLang="en-US" sz="2800" dirty="0">
                <a:latin typeface="+mj-lt"/>
              </a:rPr>
              <a:t>Latent heat release</a:t>
            </a:r>
          </a:p>
          <a:p>
            <a:pPr marL="609600" indent="-609600" eaLnBrk="1" hangingPunct="1"/>
            <a:r>
              <a:rPr lang="en-US" altLang="en-US" sz="2800" dirty="0">
                <a:latin typeface="+mj-lt"/>
              </a:rPr>
              <a:t>High pressure forms aloft</a:t>
            </a:r>
          </a:p>
          <a:p>
            <a:pPr marL="609600" indent="-609600" eaLnBrk="1" hangingPunct="1"/>
            <a:r>
              <a:rPr lang="en-US" altLang="en-US" sz="2800" dirty="0">
                <a:latin typeface="+mj-lt"/>
              </a:rPr>
              <a:t>Air moves out laterally</a:t>
            </a:r>
          </a:p>
          <a:p>
            <a:pPr marL="609600" indent="-609600" eaLnBrk="1" hangingPunct="1"/>
            <a:r>
              <a:rPr lang="en-US" altLang="en-US" sz="2800" dirty="0">
                <a:latin typeface="+mj-lt"/>
              </a:rPr>
              <a:t>Descending air warms and drawn back into low pressure</a:t>
            </a:r>
          </a:p>
          <a:p>
            <a:pPr marL="609600" indent="-609600" eaLnBrk="1" hangingPunct="1"/>
            <a:r>
              <a:rPr lang="en-US" altLang="en-US" sz="2800" dirty="0">
                <a:latin typeface="+mj-lt"/>
              </a:rPr>
              <a:t>Coriolis force starts rotation</a:t>
            </a:r>
          </a:p>
          <a:p>
            <a:pPr marL="609600" indent="-609600" eaLnBrk="1" hangingPunct="1"/>
            <a:r>
              <a:rPr lang="en-US" altLang="en-US" sz="2800" dirty="0">
                <a:latin typeface="+mj-lt"/>
              </a:rPr>
              <a:t>Winds speed increase toward the center of rotation</a:t>
            </a:r>
          </a:p>
          <a:p>
            <a:pPr marL="609600" indent="-609600" eaLnBrk="1" hangingPunct="1"/>
            <a:r>
              <a:rPr lang="en-US" altLang="en-US" sz="2800" dirty="0">
                <a:latin typeface="+mj-lt"/>
              </a:rPr>
              <a:t>Positive feedbacks develop between air pressure gradient, wind speed, wave height, and evaporation.</a:t>
            </a:r>
          </a:p>
          <a:p>
            <a:pPr marL="609600" indent="-609600" eaLnBrk="1" hangingPunct="1">
              <a:buFontTx/>
              <a:buAutoNum type="arabicPeriod"/>
            </a:pPr>
            <a:endParaRPr lang="en-US" altLang="en-US" sz="2000" dirty="0">
              <a:latin typeface="Arial" panose="020B0604020202020204" pitchFamily="34" charset="0"/>
            </a:endParaRPr>
          </a:p>
          <a:p>
            <a:pPr marL="609600" indent="-609600" eaLnBrk="1" hangingPunct="1">
              <a:buFontTx/>
              <a:buAutoNum type="arabicPeriod"/>
            </a:pPr>
            <a:endParaRPr lang="en-US" altLang="en-US" sz="2000" dirty="0">
              <a:latin typeface="Arial" panose="020B0604020202020204" pitchFamily="34" charset="0"/>
            </a:endParaRPr>
          </a:p>
          <a:p>
            <a:pPr marL="609600" indent="-609600" eaLnBrk="1" hangingPunct="1">
              <a:buNone/>
            </a:pPr>
            <a:r>
              <a:rPr lang="en-US" altLang="en-US" sz="2000" dirty="0">
                <a:latin typeface="Arial" panose="020B0604020202020204" pitchFamily="34" charset="0"/>
              </a:rPr>
              <a:t>	</a:t>
            </a:r>
          </a:p>
          <a:p>
            <a:pPr marL="609600" indent="-609600" eaLnBrk="1" hangingPunct="1">
              <a:buNone/>
            </a:pPr>
            <a:endParaRPr lang="en-US" altLang="en-US" sz="2000" dirty="0">
              <a:latin typeface="Arial" panose="020B0604020202020204" pitchFamily="34" charset="0"/>
            </a:endParaRPr>
          </a:p>
          <a:p>
            <a:pPr marL="609600" indent="-609600" eaLnBrk="1" hangingPunct="1">
              <a:buNone/>
            </a:pPr>
            <a:endParaRPr lang="en-US" altLang="en-US" dirty="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descr="structure1a">
            <a:extLst>
              <a:ext uri="{FF2B5EF4-FFF2-40B4-BE49-F238E27FC236}">
                <a16:creationId xmlns:a16="http://schemas.microsoft.com/office/drawing/2014/main" id="{F632E5E2-74B8-9049-388F-56852F8F38EE}"/>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0" y="381000"/>
            <a:ext cx="12192000" cy="6096000"/>
          </a:xfr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hlinkClick r:id="rId3"/>
            <a:extLst>
              <a:ext uri="{FF2B5EF4-FFF2-40B4-BE49-F238E27FC236}">
                <a16:creationId xmlns:a16="http://schemas.microsoft.com/office/drawing/2014/main" id="{2ED691D9-DCB7-6DEB-A595-E4610228FD88}"/>
              </a:ext>
            </a:extLst>
          </p:cNvPr>
          <p:cNvPicPr>
            <a:picLocks noChangeAspect="1"/>
          </p:cNvPicPr>
          <p:nvPr/>
        </p:nvPicPr>
        <p:blipFill>
          <a:blip r:embed="rId4"/>
          <a:stretch>
            <a:fillRect/>
          </a:stretch>
        </p:blipFill>
        <p:spPr>
          <a:xfrm>
            <a:off x="483383" y="392167"/>
            <a:ext cx="11225233" cy="607366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a:extLst>
              <a:ext uri="{FF2B5EF4-FFF2-40B4-BE49-F238E27FC236}">
                <a16:creationId xmlns:a16="http://schemas.microsoft.com/office/drawing/2014/main" id="{E4897599-DDC5-496A-DF17-7B96C3548F69}"/>
              </a:ext>
            </a:extLst>
          </p:cNvPr>
          <p:cNvSpPr txBox="1">
            <a:spLocks noChangeArrowheads="1"/>
          </p:cNvSpPr>
          <p:nvPr/>
        </p:nvSpPr>
        <p:spPr bwMode="auto">
          <a:xfrm>
            <a:off x="2117725" y="42068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dirty="0">
              <a:latin typeface="Arial" panose="020B0604020202020204" pitchFamily="34" charset="0"/>
            </a:endParaRPr>
          </a:p>
        </p:txBody>
      </p:sp>
      <p:sp>
        <p:nvSpPr>
          <p:cNvPr id="33795" name="Rectangle 6">
            <a:extLst>
              <a:ext uri="{FF2B5EF4-FFF2-40B4-BE49-F238E27FC236}">
                <a16:creationId xmlns:a16="http://schemas.microsoft.com/office/drawing/2014/main" id="{EE26079C-F1C6-2976-E4EF-1FE40BE02860}"/>
              </a:ext>
            </a:extLst>
          </p:cNvPr>
          <p:cNvSpPr>
            <a:spLocks noGrp="1" noChangeArrowheads="1"/>
          </p:cNvSpPr>
          <p:nvPr>
            <p:ph type="title"/>
          </p:nvPr>
        </p:nvSpPr>
        <p:spPr>
          <a:xfrm>
            <a:off x="291646" y="671059"/>
            <a:ext cx="5257800" cy="703664"/>
          </a:xfrm>
        </p:spPr>
        <p:txBody>
          <a:bodyPr/>
          <a:lstStyle/>
          <a:p>
            <a:pPr eaLnBrk="1" hangingPunct="1"/>
            <a:r>
              <a:rPr lang="en-US" altLang="en-US" dirty="0">
                <a:solidFill>
                  <a:schemeClr val="tx1"/>
                </a:solidFill>
              </a:rPr>
              <a:t>Path of US Atlantic TCs steered by: </a:t>
            </a:r>
          </a:p>
        </p:txBody>
      </p:sp>
      <p:sp>
        <p:nvSpPr>
          <p:cNvPr id="12" name="Rectangle 3">
            <a:extLst>
              <a:ext uri="{FF2B5EF4-FFF2-40B4-BE49-F238E27FC236}">
                <a16:creationId xmlns:a16="http://schemas.microsoft.com/office/drawing/2014/main" id="{36BEC0B9-052C-9D3F-0209-4188520DD004}"/>
              </a:ext>
            </a:extLst>
          </p:cNvPr>
          <p:cNvSpPr txBox="1">
            <a:spLocks noChangeArrowheads="1"/>
          </p:cNvSpPr>
          <p:nvPr/>
        </p:nvSpPr>
        <p:spPr>
          <a:xfrm>
            <a:off x="174172" y="1828800"/>
            <a:ext cx="5826125" cy="5104088"/>
          </a:xfrm>
          <a:prstGeom prst="rect">
            <a:avLst/>
          </a:prstGeom>
        </p:spPr>
        <p:txBody>
          <a:bodyPr/>
          <a:lstStyle/>
          <a:p>
            <a:pPr marL="609600" indent="-609600" eaLnBrk="1" hangingPunct="1">
              <a:spcBef>
                <a:spcPct val="20000"/>
              </a:spcBef>
              <a:buFont typeface="Arial" pitchFamily="34" charset="0"/>
              <a:buChar char="•"/>
              <a:defRPr/>
            </a:pPr>
            <a:r>
              <a:rPr lang="en-US" sz="3200" kern="0" dirty="0">
                <a:latin typeface="+mj-lt"/>
              </a:rPr>
              <a:t>Atlantic </a:t>
            </a:r>
            <a:r>
              <a:rPr lang="en-US" sz="3200" kern="0" dirty="0" err="1">
                <a:latin typeface="+mj-lt"/>
              </a:rPr>
              <a:t>STHP</a:t>
            </a:r>
            <a:r>
              <a:rPr lang="en-US" sz="3200" kern="0" dirty="0">
                <a:latin typeface="+mj-lt"/>
              </a:rPr>
              <a:t> (also called the Bermuda High)</a:t>
            </a:r>
          </a:p>
          <a:p>
            <a:pPr marL="609600" indent="-609600" eaLnBrk="1" hangingPunct="1">
              <a:spcBef>
                <a:spcPct val="20000"/>
              </a:spcBef>
              <a:buFont typeface="Arial" pitchFamily="34" charset="0"/>
              <a:buChar char="•"/>
              <a:defRPr/>
            </a:pPr>
            <a:r>
              <a:rPr lang="en-US" sz="3200" kern="0" dirty="0">
                <a:latin typeface="+mj-lt"/>
              </a:rPr>
              <a:t>Tradewinds (southerly winds out of the Atlantic </a:t>
            </a:r>
            <a:r>
              <a:rPr lang="en-US" sz="3200" kern="0" dirty="0" err="1">
                <a:latin typeface="+mj-lt"/>
              </a:rPr>
              <a:t>STHP</a:t>
            </a:r>
            <a:endParaRPr lang="en-US" sz="3200" kern="0" dirty="0">
              <a:latin typeface="+mj-lt"/>
            </a:endParaRPr>
          </a:p>
          <a:p>
            <a:pPr marL="609600" indent="-609600" eaLnBrk="1" hangingPunct="1">
              <a:spcBef>
                <a:spcPct val="20000"/>
              </a:spcBef>
              <a:buFont typeface="Arial" pitchFamily="34" charset="0"/>
              <a:buChar char="•"/>
              <a:defRPr/>
            </a:pPr>
            <a:r>
              <a:rPr lang="en-US" sz="3200" kern="0" dirty="0">
                <a:latin typeface="+mj-lt"/>
              </a:rPr>
              <a:t>Westerlies</a:t>
            </a:r>
          </a:p>
          <a:p>
            <a:pPr marL="609600" indent="-609600" eaLnBrk="1" hangingPunct="1">
              <a:spcBef>
                <a:spcPct val="20000"/>
              </a:spcBef>
              <a:buFont typeface="Arial" pitchFamily="34" charset="0"/>
              <a:buChar char="•"/>
              <a:defRPr/>
            </a:pPr>
            <a:r>
              <a:rPr lang="en-US" sz="3200" kern="0" dirty="0">
                <a:latin typeface="+mj-lt"/>
              </a:rPr>
              <a:t>Transient low and high pressure systems (for example)</a:t>
            </a:r>
          </a:p>
          <a:p>
            <a:pPr marL="609600" indent="-609600" eaLnBrk="1" hangingPunct="1">
              <a:spcBef>
                <a:spcPct val="20000"/>
              </a:spcBef>
              <a:buFont typeface="Arial" pitchFamily="34" charset="0"/>
              <a:buChar char="•"/>
              <a:defRPr/>
            </a:pPr>
            <a:endParaRPr lang="en-US" kern="0" dirty="0">
              <a:latin typeface="Arial" charset="0"/>
            </a:endParaRPr>
          </a:p>
        </p:txBody>
      </p:sp>
      <p:pic>
        <p:nvPicPr>
          <p:cNvPr id="3" name="Picture 2" descr="A map of the united states with a map of the united states and a map of the united states with a map of the united states and a map of the united states with a map of the&#10;&#10;Description automatically generated">
            <a:extLst>
              <a:ext uri="{FF2B5EF4-FFF2-40B4-BE49-F238E27FC236}">
                <a16:creationId xmlns:a16="http://schemas.microsoft.com/office/drawing/2014/main" id="{D6F48866-C92C-185D-14A1-597D54F5171F}"/>
              </a:ext>
            </a:extLst>
          </p:cNvPr>
          <p:cNvPicPr>
            <a:picLocks noChangeAspect="1"/>
          </p:cNvPicPr>
          <p:nvPr/>
        </p:nvPicPr>
        <p:blipFill rotWithShape="1">
          <a:blip r:embed="rId3">
            <a:extLst>
              <a:ext uri="{28A0092B-C50C-407E-A947-70E740481C1C}">
                <a14:useLocalDpi xmlns:a14="http://schemas.microsoft.com/office/drawing/2010/main" val="0"/>
              </a:ext>
            </a:extLst>
          </a:blip>
          <a:srcRect b="54938"/>
          <a:stretch/>
        </p:blipFill>
        <p:spPr>
          <a:xfrm>
            <a:off x="6096000" y="304800"/>
            <a:ext cx="5826125" cy="2892976"/>
          </a:xfrm>
          <a:prstGeom prst="rect">
            <a:avLst/>
          </a:prstGeom>
        </p:spPr>
      </p:pic>
      <p:pic>
        <p:nvPicPr>
          <p:cNvPr id="4" name="Picture 3" descr="A map of the united states with a map of the united states and a map of the united states with a map of the united states and a map of the united states with a map of the&#10;&#10;Description automatically generated">
            <a:extLst>
              <a:ext uri="{FF2B5EF4-FFF2-40B4-BE49-F238E27FC236}">
                <a16:creationId xmlns:a16="http://schemas.microsoft.com/office/drawing/2014/main" id="{25298514-FC38-0981-8F2E-62DF4A2FB932}"/>
              </a:ext>
            </a:extLst>
          </p:cNvPr>
          <p:cNvPicPr>
            <a:picLocks noChangeAspect="1"/>
          </p:cNvPicPr>
          <p:nvPr/>
        </p:nvPicPr>
        <p:blipFill rotWithShape="1">
          <a:blip r:embed="rId3">
            <a:extLst>
              <a:ext uri="{28A0092B-C50C-407E-A947-70E740481C1C}">
                <a14:useLocalDpi xmlns:a14="http://schemas.microsoft.com/office/drawing/2010/main" val="0"/>
              </a:ext>
            </a:extLst>
          </a:blip>
          <a:srcRect t="54938"/>
          <a:stretch/>
        </p:blipFill>
        <p:spPr>
          <a:xfrm>
            <a:off x="6209257" y="3502576"/>
            <a:ext cx="5826125" cy="28929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map of the earth with a few directions&#10;&#10;AI-generated content may be incorrect.">
            <a:extLst>
              <a:ext uri="{FF2B5EF4-FFF2-40B4-BE49-F238E27FC236}">
                <a16:creationId xmlns:a16="http://schemas.microsoft.com/office/drawing/2014/main" id="{3A29E7AD-FA1C-8EC9-7D1B-85E7435065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2718" y="0"/>
            <a:ext cx="6086563" cy="6858000"/>
          </a:xfrm>
          <a:prstGeom prst="rect">
            <a:avLst/>
          </a:prstGeom>
        </p:spPr>
      </p:pic>
    </p:spTree>
    <p:extLst>
      <p:ext uri="{BB962C8B-B14F-4D97-AF65-F5344CB8AC3E}">
        <p14:creationId xmlns:p14="http://schemas.microsoft.com/office/powerpoint/2010/main" val="3462073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map of the world&#10;&#10;Description automatically generated">
            <a:extLst>
              <a:ext uri="{FF2B5EF4-FFF2-40B4-BE49-F238E27FC236}">
                <a16:creationId xmlns:a16="http://schemas.microsoft.com/office/drawing/2014/main" id="{7D7C544C-AA4B-8214-7363-A5E1C1B644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342900"/>
            <a:ext cx="5534132" cy="6172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1B18-5CD4-811A-DF0A-1708B533F733}"/>
              </a:ext>
            </a:extLst>
          </p:cNvPr>
          <p:cNvSpPr>
            <a:spLocks noGrp="1"/>
          </p:cNvSpPr>
          <p:nvPr>
            <p:ph type="title"/>
          </p:nvPr>
        </p:nvSpPr>
        <p:spPr/>
        <p:txBody>
          <a:bodyPr/>
          <a:lstStyle/>
          <a:p>
            <a:endParaRPr lang="en-US"/>
          </a:p>
        </p:txBody>
      </p:sp>
      <p:pic>
        <p:nvPicPr>
          <p:cNvPr id="1026" name="Picture 2" descr="El Niño usually alters the Pacific jet stream, stretching it eastward, making it more persistent, and bringing wetter conditions to the western U.S. and Mexico.">
            <a:extLst>
              <a:ext uri="{FF2B5EF4-FFF2-40B4-BE49-F238E27FC236}">
                <a16:creationId xmlns:a16="http://schemas.microsoft.com/office/drawing/2014/main" id="{6ABBE827-48D5-22C9-4FF0-2727D48D1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388" y="0"/>
            <a:ext cx="110712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909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Picture 4" descr="http://www.tbo.com/storyimage/TB/20131022/ARTICLE/131029783/AR/0/AR-131029783.jpg">
            <a:extLst>
              <a:ext uri="{FF2B5EF4-FFF2-40B4-BE49-F238E27FC236}">
                <a16:creationId xmlns:a16="http://schemas.microsoft.com/office/drawing/2014/main" id="{B0C51BA0-926C-3AA5-846D-E2A35BA5B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152400"/>
            <a:ext cx="11905631"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24A71-FDB8-036B-CBFB-360F1ADBFC04}"/>
            </a:ext>
          </a:extLst>
        </p:cNvPr>
        <p:cNvGrpSpPr/>
        <p:nvPr/>
      </p:nvGrpSpPr>
      <p:grpSpPr>
        <a:xfrm>
          <a:off x="0" y="0"/>
          <a:ext cx="0" cy="0"/>
          <a:chOff x="0" y="0"/>
          <a:chExt cx="0" cy="0"/>
        </a:xfrm>
      </p:grpSpPr>
      <p:pic>
        <p:nvPicPr>
          <p:cNvPr id="2" name="20250310-1820-38.1383460">
            <a:hlinkClick r:id="" action="ppaction://media"/>
            <a:extLst>
              <a:ext uri="{FF2B5EF4-FFF2-40B4-BE49-F238E27FC236}">
                <a16:creationId xmlns:a16="http://schemas.microsoft.com/office/drawing/2014/main" id="{6591DE74-1E83-499E-7CE6-A438BB60A2C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66800" y="304800"/>
            <a:ext cx="9589061" cy="5486400"/>
          </a:xfrm>
          <a:prstGeom prst="rect">
            <a:avLst/>
          </a:prstGeom>
        </p:spPr>
      </p:pic>
    </p:spTree>
    <p:extLst>
      <p:ext uri="{BB962C8B-B14F-4D97-AF65-F5344CB8AC3E}">
        <p14:creationId xmlns:p14="http://schemas.microsoft.com/office/powerpoint/2010/main" val="365870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2" name="Picture1" descr="15-16">
            <a:extLst>
              <a:ext uri="{FF2B5EF4-FFF2-40B4-BE49-F238E27FC236}">
                <a16:creationId xmlns:a16="http://schemas.microsoft.com/office/drawing/2014/main" id="{E67EFC48-11E3-15FE-6FF4-274E17A098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270" y="3810000"/>
            <a:ext cx="8543461" cy="2579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3973" name="Picture 2">
            <a:extLst>
              <a:ext uri="{FF2B5EF4-FFF2-40B4-BE49-F238E27FC236}">
                <a16:creationId xmlns:a16="http://schemas.microsoft.com/office/drawing/2014/main" id="{63F5061D-3907-D4DE-54BF-34F1529CED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0" y="0"/>
            <a:ext cx="2899087" cy="6729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a:extLst>
              <a:ext uri="{FF2B5EF4-FFF2-40B4-BE49-F238E27FC236}">
                <a16:creationId xmlns:a16="http://schemas.microsoft.com/office/drawing/2014/main" id="{8582E617-66D9-3941-66C6-77C94B308364}"/>
              </a:ext>
            </a:extLst>
          </p:cNvPr>
          <p:cNvPicPr>
            <a:picLocks noChangeAspect="1"/>
          </p:cNvPicPr>
          <p:nvPr/>
        </p:nvPicPr>
        <p:blipFill>
          <a:blip r:embed="rId2"/>
          <a:stretch>
            <a:fillRect/>
          </a:stretch>
        </p:blipFill>
        <p:spPr bwMode="auto">
          <a:xfrm>
            <a:off x="1219200" y="381000"/>
            <a:ext cx="9788922"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3731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showing the temperature of a north atlantic&#10;&#10;AI-generated content may be incorrect.">
            <a:extLst>
              <a:ext uri="{FF2B5EF4-FFF2-40B4-BE49-F238E27FC236}">
                <a16:creationId xmlns:a16="http://schemas.microsoft.com/office/drawing/2014/main" id="{4C7B3BF0-2BAA-16A1-77A6-9417253187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1544"/>
            <a:ext cx="12192000" cy="6534912"/>
          </a:xfrm>
          <a:prstGeom prst="rect">
            <a:avLst/>
          </a:prstGeom>
        </p:spPr>
      </p:pic>
    </p:spTree>
    <p:extLst>
      <p:ext uri="{BB962C8B-B14F-4D97-AF65-F5344CB8AC3E}">
        <p14:creationId xmlns:p14="http://schemas.microsoft.com/office/powerpoint/2010/main" val="865119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descr="http://www.myfoxhurricane.com/custom/models/rtofs/current_gulf_1.png">
            <a:extLst>
              <a:ext uri="{FF2B5EF4-FFF2-40B4-BE49-F238E27FC236}">
                <a16:creationId xmlns:a16="http://schemas.microsoft.com/office/drawing/2014/main" id="{5EA48244-6844-31CD-83CB-01C1E23FC4A7}"/>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4412" r="5589"/>
          <a:stretch/>
        </p:blipFill>
        <p:spPr>
          <a:xfrm>
            <a:off x="1600200" y="0"/>
            <a:ext cx="8153400" cy="6794500"/>
          </a:xfr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C:\Documents and Settings\Tony Stallins\Desktop\Physical Geography\Lectures\Tropical\loopcurrent_aug24.png">
            <a:extLst>
              <a:ext uri="{FF2B5EF4-FFF2-40B4-BE49-F238E27FC236}">
                <a16:creationId xmlns:a16="http://schemas.microsoft.com/office/drawing/2014/main" id="{4108E5DF-789A-9E72-722A-B5C7F10388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35" t="6410"/>
          <a:stretch/>
        </p:blipFill>
        <p:spPr bwMode="auto">
          <a:xfrm>
            <a:off x="138382" y="1181100"/>
            <a:ext cx="86169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4" descr="http://www.wunderground.com/hurricane/loopcurrent.gif">
            <a:extLst>
              <a:ext uri="{FF2B5EF4-FFF2-40B4-BE49-F238E27FC236}">
                <a16:creationId xmlns:a16="http://schemas.microsoft.com/office/drawing/2014/main" id="{CBAAE3C3-01FF-5DB3-682D-8168213EE7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1447800"/>
            <a:ext cx="4865056"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1">
            <a:extLst>
              <a:ext uri="{FF2B5EF4-FFF2-40B4-BE49-F238E27FC236}">
                <a16:creationId xmlns:a16="http://schemas.microsoft.com/office/drawing/2014/main" id="{25D5B66C-D25D-6E9B-B525-E4A2C5302ABC}"/>
              </a:ext>
            </a:extLst>
          </p:cNvPr>
          <p:cNvSpPr>
            <a:spLocks noGrp="1"/>
          </p:cNvSpPr>
          <p:nvPr>
            <p:ph type="title"/>
          </p:nvPr>
        </p:nvSpPr>
        <p:spPr>
          <a:xfrm>
            <a:off x="914400" y="0"/>
            <a:ext cx="10363200" cy="1143000"/>
          </a:xfrm>
        </p:spPr>
        <p:txBody>
          <a:bodyPr/>
          <a:lstStyle/>
          <a:p>
            <a:r>
              <a:rPr lang="en-US" dirty="0"/>
              <a:t>Loop currents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4" descr="C:\Documents and Settings\tony\Desktop\loop.jpg">
            <a:extLst>
              <a:ext uri="{FF2B5EF4-FFF2-40B4-BE49-F238E27FC236}">
                <a16:creationId xmlns:a16="http://schemas.microsoft.com/office/drawing/2014/main" id="{B65A94A8-6573-6569-59E4-65AA8A38BD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992"/>
          <a:stretch>
            <a:fillRect/>
          </a:stretch>
        </p:blipFill>
        <p:spPr bwMode="auto">
          <a:xfrm>
            <a:off x="1745783" y="116006"/>
            <a:ext cx="8700434"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descr="http://www.hurricanescience.org/images/hss/GOMandCarribSeaOceanicMixedLayer.jpg">
            <a:extLst>
              <a:ext uri="{FF2B5EF4-FFF2-40B4-BE49-F238E27FC236}">
                <a16:creationId xmlns:a16="http://schemas.microsoft.com/office/drawing/2014/main" id="{F8101083-97DD-5086-9A1B-6D91B70E36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28600"/>
            <a:ext cx="8559499"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Change in Earth's Total Heat Content">
            <a:extLst>
              <a:ext uri="{FF2B5EF4-FFF2-40B4-BE49-F238E27FC236}">
                <a16:creationId xmlns:a16="http://schemas.microsoft.com/office/drawing/2014/main" id="{24AD84DD-D2C4-382D-DB54-53A5DF38A54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0653B97E-ADC9-CCEF-C3F0-AD20496309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304800"/>
            <a:ext cx="9860114" cy="6172200"/>
          </a:xfrm>
          <a:prstGeom prst="rect">
            <a:avLst/>
          </a:prstGeom>
        </p:spPr>
      </p:pic>
    </p:spTree>
    <p:extLst>
      <p:ext uri="{BB962C8B-B14F-4D97-AF65-F5344CB8AC3E}">
        <p14:creationId xmlns:p14="http://schemas.microsoft.com/office/powerpoint/2010/main" val="2774130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1" name="Picture 2">
            <a:extLst>
              <a:ext uri="{FF2B5EF4-FFF2-40B4-BE49-F238E27FC236}">
                <a16:creationId xmlns:a16="http://schemas.microsoft.com/office/drawing/2014/main" id="{EC744411-872B-C0B6-FF5D-F4694AF7EF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0" y="1329773"/>
            <a:ext cx="8066088" cy="4847507"/>
          </a:xfrm>
          <a:noFill/>
        </p:spPr>
      </p:pic>
      <p:pic>
        <p:nvPicPr>
          <p:cNvPr id="99332" name="Picture 3">
            <a:extLst>
              <a:ext uri="{FF2B5EF4-FFF2-40B4-BE49-F238E27FC236}">
                <a16:creationId xmlns:a16="http://schemas.microsoft.com/office/drawing/2014/main" id="{6D8EBE7D-0140-DA25-3FB4-09A93CF921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1806"/>
          <a:stretch/>
        </p:blipFill>
        <p:spPr bwMode="auto">
          <a:xfrm>
            <a:off x="5334000" y="1218012"/>
            <a:ext cx="6623285" cy="5071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a:extLst>
              <a:ext uri="{FF2B5EF4-FFF2-40B4-BE49-F238E27FC236}">
                <a16:creationId xmlns:a16="http://schemas.microsoft.com/office/drawing/2014/main" id="{731E4ABA-3676-6EF7-C366-564B852011C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28800" y="304800"/>
            <a:ext cx="8305800" cy="6127750"/>
          </a:xfr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Typhoon Haiyan stronger than Katrina and Sandy combined">
            <a:hlinkClick r:id="" action="ppaction://media"/>
            <a:extLst>
              <a:ext uri="{FF2B5EF4-FFF2-40B4-BE49-F238E27FC236}">
                <a16:creationId xmlns:a16="http://schemas.microsoft.com/office/drawing/2014/main" id="{A27A5511-3722-70AC-D445-0AF3E57B2B16}"/>
              </a:ext>
            </a:extLst>
          </p:cNvPr>
          <p:cNvPicPr>
            <a:picLocks noGrp="1" noRot="1" noChangeAspect="1"/>
          </p:cNvPicPr>
          <p:nvPr>
            <p:ph idx="1"/>
            <a:videoFile r:link="rId1"/>
          </p:nvPr>
        </p:nvPicPr>
        <p:blipFill>
          <a:blip r:embed="rId4"/>
          <a:stretch>
            <a:fillRect/>
          </a:stretch>
        </p:blipFill>
        <p:spPr>
          <a:xfrm>
            <a:off x="10886" y="32657"/>
            <a:ext cx="12104914" cy="6834227"/>
          </a:xfrm>
          <a:prstGeom prst="rect">
            <a:avLst/>
          </a:prstGeom>
        </p:spPr>
      </p:pic>
    </p:spTree>
    <p:extLst>
      <p:ext uri="{BB962C8B-B14F-4D97-AF65-F5344CB8AC3E}">
        <p14:creationId xmlns:p14="http://schemas.microsoft.com/office/powerpoint/2010/main" val="2373731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road with piles of sand&#10;&#10;AI-generated content may be incorrect.">
            <a:extLst>
              <a:ext uri="{FF2B5EF4-FFF2-40B4-BE49-F238E27FC236}">
                <a16:creationId xmlns:a16="http://schemas.microsoft.com/office/drawing/2014/main" id="{91982065-D064-ED93-CF4F-E0A8866C6A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0"/>
            <a:ext cx="8839200" cy="6629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73EF303-719C-964C-4032-A5F2FB58B708}"/>
              </a:ext>
            </a:extLst>
          </p:cNvPr>
          <p:cNvPicPr>
            <a:picLocks noGrp="1" noChangeAspect="1"/>
          </p:cNvPicPr>
          <p:nvPr>
            <p:ph idx="1"/>
          </p:nvPr>
        </p:nvPicPr>
        <p:blipFill rotWithShape="1">
          <a:blip r:embed="rId3"/>
          <a:srcRect l="3696"/>
          <a:stretch/>
        </p:blipFill>
        <p:spPr>
          <a:xfrm>
            <a:off x="1676400" y="381000"/>
            <a:ext cx="8332812" cy="6477000"/>
          </a:xfrm>
          <a:prstGeom prst="rect">
            <a:avLst/>
          </a:prstGeom>
        </p:spPr>
      </p:pic>
    </p:spTree>
    <p:extLst>
      <p:ext uri="{BB962C8B-B14F-4D97-AF65-F5344CB8AC3E}">
        <p14:creationId xmlns:p14="http://schemas.microsoft.com/office/powerpoint/2010/main" val="3841686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Car blown away by Taiwan typhoon caught on video">
            <a:hlinkClick r:id="" action="ppaction://media"/>
            <a:extLst>
              <a:ext uri="{FF2B5EF4-FFF2-40B4-BE49-F238E27FC236}">
                <a16:creationId xmlns:a16="http://schemas.microsoft.com/office/drawing/2014/main" id="{9380C48A-4020-5A5E-84BC-317B6EEDD4BC}"/>
              </a:ext>
            </a:extLst>
          </p:cNvPr>
          <p:cNvPicPr>
            <a:picLocks noRot="1" noChangeAspect="1"/>
          </p:cNvPicPr>
          <p:nvPr>
            <a:videoFile r:link="rId1"/>
          </p:nvPr>
        </p:nvPicPr>
        <p:blipFill>
          <a:blip r:embed="rId4"/>
          <a:stretch>
            <a:fillRect/>
          </a:stretch>
        </p:blipFill>
        <p:spPr>
          <a:xfrm>
            <a:off x="66221" y="76200"/>
            <a:ext cx="12147550" cy="6858000"/>
          </a:xfrm>
          <a:prstGeom prst="rect">
            <a:avLst/>
          </a:prstGeom>
        </p:spPr>
      </p:pic>
    </p:spTree>
    <p:extLst>
      <p:ext uri="{BB962C8B-B14F-4D97-AF65-F5344CB8AC3E}">
        <p14:creationId xmlns:p14="http://schemas.microsoft.com/office/powerpoint/2010/main" val="2646778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quot;Oh my god!&quot; | Watch the moment a tornado rips through a Florida backyard during Hurricane Milton">
            <a:hlinkClick r:id="" action="ppaction://media"/>
            <a:extLst>
              <a:ext uri="{FF2B5EF4-FFF2-40B4-BE49-F238E27FC236}">
                <a16:creationId xmlns:a16="http://schemas.microsoft.com/office/drawing/2014/main" id="{D4EBF4E8-663B-B994-331F-B26A379339FD}"/>
              </a:ext>
            </a:extLst>
          </p:cNvPr>
          <p:cNvPicPr>
            <a:picLocks noGrp="1" noRot="1" noChangeAspect="1"/>
          </p:cNvPicPr>
          <p:nvPr>
            <p:ph idx="1"/>
            <a:videoFile r:link="rId1"/>
          </p:nvPr>
        </p:nvPicPr>
        <p:blipFill>
          <a:blip r:embed="rId3"/>
          <a:stretch>
            <a:fillRect/>
          </a:stretch>
        </p:blipFill>
        <p:spPr>
          <a:xfrm>
            <a:off x="4011" y="76200"/>
            <a:ext cx="12004205" cy="6781800"/>
          </a:xfrm>
          <a:prstGeom prst="rect">
            <a:avLst/>
          </a:prstGeom>
        </p:spPr>
      </p:pic>
    </p:spTree>
    <p:extLst>
      <p:ext uri="{BB962C8B-B14F-4D97-AF65-F5344CB8AC3E}">
        <p14:creationId xmlns:p14="http://schemas.microsoft.com/office/powerpoint/2010/main" val="4267577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a:extLst>
              <a:ext uri="{FF2B5EF4-FFF2-40B4-BE49-F238E27FC236}">
                <a16:creationId xmlns:a16="http://schemas.microsoft.com/office/drawing/2014/main" id="{5E8010CB-DCF3-9157-1D94-6EBBD9759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0"/>
            <a:ext cx="8210550" cy="673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hlinkClick r:id="rId3"/>
            <a:extLst>
              <a:ext uri="{FF2B5EF4-FFF2-40B4-BE49-F238E27FC236}">
                <a16:creationId xmlns:a16="http://schemas.microsoft.com/office/drawing/2014/main" id="{4F3C8467-5FE6-132A-A4BA-0E4A09738732}"/>
              </a:ext>
            </a:extLst>
          </p:cNvPr>
          <p:cNvPicPr>
            <a:picLocks noGrp="1" noChangeAspect="1"/>
          </p:cNvPicPr>
          <p:nvPr>
            <p:ph idx="1"/>
          </p:nvPr>
        </p:nvPicPr>
        <p:blipFill rotWithShape="1">
          <a:blip r:embed="rId4"/>
          <a:srcRect b="15580"/>
          <a:stretch/>
        </p:blipFill>
        <p:spPr>
          <a:xfrm>
            <a:off x="533400" y="0"/>
            <a:ext cx="10821332" cy="6553200"/>
          </a:xfrm>
        </p:spPr>
      </p:pic>
    </p:spTree>
    <p:extLst>
      <p:ext uri="{BB962C8B-B14F-4D97-AF65-F5344CB8AC3E}">
        <p14:creationId xmlns:p14="http://schemas.microsoft.com/office/powerpoint/2010/main" val="42397911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D7DED9F-DB78-CDB1-F951-3C6CBF9895A8}"/>
              </a:ext>
            </a:extLst>
          </p:cNvPr>
          <p:cNvPicPr>
            <a:picLocks noGrp="1" noChangeAspect="1"/>
          </p:cNvPicPr>
          <p:nvPr>
            <p:ph idx="1"/>
          </p:nvPr>
        </p:nvPicPr>
        <p:blipFill>
          <a:blip r:embed="rId2"/>
          <a:stretch>
            <a:fillRect/>
          </a:stretch>
        </p:blipFill>
        <p:spPr>
          <a:xfrm>
            <a:off x="457200" y="152400"/>
            <a:ext cx="11153108" cy="6172200"/>
          </a:xfrm>
        </p:spPr>
      </p:pic>
    </p:spTree>
    <p:extLst>
      <p:ext uri="{BB962C8B-B14F-4D97-AF65-F5344CB8AC3E}">
        <p14:creationId xmlns:p14="http://schemas.microsoft.com/office/powerpoint/2010/main" val="2289118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Houston, Before and After Harvey">
            <a:hlinkClick r:id="" action="ppaction://media"/>
            <a:extLst>
              <a:ext uri="{FF2B5EF4-FFF2-40B4-BE49-F238E27FC236}">
                <a16:creationId xmlns:a16="http://schemas.microsoft.com/office/drawing/2014/main" id="{C4898757-75B7-5215-B7D8-BFF2F7447D33}"/>
              </a:ext>
            </a:extLst>
          </p:cNvPr>
          <p:cNvPicPr>
            <a:picLocks noGrp="1" noRot="1" noChangeAspect="1"/>
          </p:cNvPicPr>
          <p:nvPr>
            <p:ph idx="1"/>
            <a:videoFile r:link="rId1"/>
          </p:nvPr>
        </p:nvPicPr>
        <p:blipFill>
          <a:blip r:embed="rId3"/>
          <a:stretch>
            <a:fillRect/>
          </a:stretch>
        </p:blipFill>
        <p:spPr>
          <a:xfrm>
            <a:off x="76200" y="0"/>
            <a:ext cx="12147022" cy="6858000"/>
          </a:xfrm>
          <a:prstGeom prst="rect">
            <a:avLst/>
          </a:prstGeom>
        </p:spPr>
      </p:pic>
    </p:spTree>
    <p:extLst>
      <p:ext uri="{BB962C8B-B14F-4D97-AF65-F5344CB8AC3E}">
        <p14:creationId xmlns:p14="http://schemas.microsoft.com/office/powerpoint/2010/main" val="2333114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Hurricane Helene Western North Carolina">
            <a:hlinkClick r:id="" action="ppaction://media"/>
            <a:extLst>
              <a:ext uri="{FF2B5EF4-FFF2-40B4-BE49-F238E27FC236}">
                <a16:creationId xmlns:a16="http://schemas.microsoft.com/office/drawing/2014/main" id="{987BBECB-F12E-DE3D-8AEA-217A01979D4A}"/>
              </a:ext>
            </a:extLst>
          </p:cNvPr>
          <p:cNvPicPr>
            <a:picLocks noGrp="1" noRot="1" noChangeAspect="1"/>
          </p:cNvPicPr>
          <p:nvPr>
            <p:ph idx="1"/>
            <a:videoFile r:link="rId1"/>
          </p:nvPr>
        </p:nvPicPr>
        <p:blipFill>
          <a:blip r:embed="rId3"/>
          <a:stretch>
            <a:fillRect/>
          </a:stretch>
        </p:blipFill>
        <p:spPr>
          <a:xfrm>
            <a:off x="5448065" y="2438400"/>
            <a:ext cx="6743935" cy="3810000"/>
          </a:xfrm>
          <a:prstGeom prst="rect">
            <a:avLst/>
          </a:prstGeom>
        </p:spPr>
      </p:pic>
      <p:pic>
        <p:nvPicPr>
          <p:cNvPr id="7" name="Picture 6" descr="A map of the united states&#10;&#10;AI-generated content may be incorrect.">
            <a:extLst>
              <a:ext uri="{FF2B5EF4-FFF2-40B4-BE49-F238E27FC236}">
                <a16:creationId xmlns:a16="http://schemas.microsoft.com/office/drawing/2014/main" id="{9EC798CF-128F-9971-E89F-E7A58685B4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84" y="-76200"/>
            <a:ext cx="5380137" cy="6858000"/>
          </a:xfrm>
          <a:prstGeom prst="rect">
            <a:avLst/>
          </a:prstGeom>
        </p:spPr>
      </p:pic>
      <p:sp>
        <p:nvSpPr>
          <p:cNvPr id="8" name="Title 1">
            <a:extLst>
              <a:ext uri="{FF2B5EF4-FFF2-40B4-BE49-F238E27FC236}">
                <a16:creationId xmlns:a16="http://schemas.microsoft.com/office/drawing/2014/main" id="{8B292D38-CA45-9C8D-F5C8-26C95C9F2D46}"/>
              </a:ext>
            </a:extLst>
          </p:cNvPr>
          <p:cNvSpPr>
            <a:spLocks noGrp="1"/>
          </p:cNvSpPr>
          <p:nvPr>
            <p:ph type="title"/>
          </p:nvPr>
        </p:nvSpPr>
        <p:spPr>
          <a:xfrm>
            <a:off x="6419732" y="609600"/>
            <a:ext cx="4800600" cy="1143000"/>
          </a:xfrm>
        </p:spPr>
        <p:txBody>
          <a:bodyPr/>
          <a:lstStyle/>
          <a:p>
            <a:r>
              <a:rPr lang="en-US" dirty="0"/>
              <a:t>Hurricane Helene (2024)</a:t>
            </a:r>
          </a:p>
        </p:txBody>
      </p:sp>
    </p:spTree>
    <p:extLst>
      <p:ext uri="{BB962C8B-B14F-4D97-AF65-F5344CB8AC3E}">
        <p14:creationId xmlns:p14="http://schemas.microsoft.com/office/powerpoint/2010/main" val="352075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Why Hurricane Helene’s Flash Floods Were So Deadly in Asheville | NOVA | PBS">
            <a:hlinkClick r:id="" action="ppaction://media"/>
            <a:extLst>
              <a:ext uri="{FF2B5EF4-FFF2-40B4-BE49-F238E27FC236}">
                <a16:creationId xmlns:a16="http://schemas.microsoft.com/office/drawing/2014/main" id="{1CBF8EC1-40C5-6DC6-91EA-E461B556B1E5}"/>
              </a:ext>
            </a:extLst>
          </p:cNvPr>
          <p:cNvPicPr>
            <a:picLocks noGrp="1" noRot="1" noChangeAspect="1"/>
          </p:cNvPicPr>
          <p:nvPr>
            <p:ph idx="1"/>
            <a:videoFile r:link="rId1"/>
          </p:nvPr>
        </p:nvPicPr>
        <p:blipFill>
          <a:blip r:embed="rId3"/>
          <a:stretch>
            <a:fillRect/>
          </a:stretch>
        </p:blipFill>
        <p:spPr>
          <a:xfrm>
            <a:off x="130628" y="122107"/>
            <a:ext cx="11930743" cy="6735893"/>
          </a:xfrm>
          <a:prstGeom prst="rect">
            <a:avLst/>
          </a:prstGeom>
        </p:spPr>
      </p:pic>
    </p:spTree>
    <p:extLst>
      <p:ext uri="{BB962C8B-B14F-4D97-AF65-F5344CB8AC3E}">
        <p14:creationId xmlns:p14="http://schemas.microsoft.com/office/powerpoint/2010/main" val="1140349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94B84E-48D2-B6D6-0DE6-DC336F12D8A6}"/>
              </a:ext>
            </a:extLst>
          </p:cNvPr>
          <p:cNvPicPr>
            <a:picLocks noChangeAspect="1"/>
          </p:cNvPicPr>
          <p:nvPr/>
        </p:nvPicPr>
        <p:blipFill rotWithShape="1">
          <a:blip r:embed="rId3"/>
          <a:srcRect t="11017" r="3316"/>
          <a:stretch/>
        </p:blipFill>
        <p:spPr>
          <a:xfrm>
            <a:off x="304800" y="495300"/>
            <a:ext cx="11210033" cy="58674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15ft Storm Surge Washes Away Homes in Ft. Myers Beach - Hurricane Ian">
            <a:hlinkClick r:id="" action="ppaction://media"/>
            <a:extLst>
              <a:ext uri="{FF2B5EF4-FFF2-40B4-BE49-F238E27FC236}">
                <a16:creationId xmlns:a16="http://schemas.microsoft.com/office/drawing/2014/main" id="{7E340064-5ED6-9749-60C8-803103699FCE}"/>
              </a:ext>
            </a:extLst>
          </p:cNvPr>
          <p:cNvPicPr>
            <a:picLocks noGrp="1" noRot="1" noChangeAspect="1"/>
          </p:cNvPicPr>
          <p:nvPr>
            <p:ph idx="1"/>
            <a:videoFile r:link="rId1"/>
          </p:nvPr>
        </p:nvPicPr>
        <p:blipFill>
          <a:blip r:embed="rId3"/>
          <a:stretch>
            <a:fillRect/>
          </a:stretch>
        </p:blipFill>
        <p:spPr>
          <a:xfrm>
            <a:off x="304800" y="228600"/>
            <a:ext cx="11464690" cy="6477000"/>
          </a:xfrm>
          <a:prstGeom prst="rect">
            <a:avLst/>
          </a:prstGeom>
        </p:spPr>
      </p:pic>
    </p:spTree>
    <p:extLst>
      <p:ext uri="{BB962C8B-B14F-4D97-AF65-F5344CB8AC3E}">
        <p14:creationId xmlns:p14="http://schemas.microsoft.com/office/powerpoint/2010/main" val="2508444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Dramatic footage: Moment Typhoon Haiyan washes away Philippines house">
            <a:hlinkClick r:id="" action="ppaction://media"/>
            <a:extLst>
              <a:ext uri="{FF2B5EF4-FFF2-40B4-BE49-F238E27FC236}">
                <a16:creationId xmlns:a16="http://schemas.microsoft.com/office/drawing/2014/main" id="{F601FB4A-9881-3F34-F55A-6AFF688BBE6D}"/>
              </a:ext>
            </a:extLst>
          </p:cNvPr>
          <p:cNvPicPr>
            <a:picLocks noGrp="1" noRot="1" noChangeAspect="1"/>
          </p:cNvPicPr>
          <p:nvPr>
            <p:ph idx="1"/>
            <a:videoFile r:link="rId1"/>
          </p:nvPr>
        </p:nvPicPr>
        <p:blipFill>
          <a:blip r:embed="rId4"/>
          <a:stretch>
            <a:fillRect/>
          </a:stretch>
        </p:blipFill>
        <p:spPr>
          <a:xfrm>
            <a:off x="0" y="10886"/>
            <a:ext cx="12039600" cy="6797352"/>
          </a:xfrm>
          <a:prstGeom prst="rect">
            <a:avLst/>
          </a:prstGeom>
        </p:spPr>
      </p:pic>
    </p:spTree>
    <p:extLst>
      <p:ext uri="{BB962C8B-B14F-4D97-AF65-F5344CB8AC3E}">
        <p14:creationId xmlns:p14="http://schemas.microsoft.com/office/powerpoint/2010/main" val="292441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each with waves crashing on the shore&#10;&#10;Description automatically generated">
            <a:extLst>
              <a:ext uri="{FF2B5EF4-FFF2-40B4-BE49-F238E27FC236}">
                <a16:creationId xmlns:a16="http://schemas.microsoft.com/office/drawing/2014/main" id="{2D296220-D812-52F3-9185-2C0ADD2A21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060" y="-140180"/>
            <a:ext cx="11908539" cy="6819985"/>
          </a:xfrm>
        </p:spPr>
      </p:pic>
      <p:sp>
        <p:nvSpPr>
          <p:cNvPr id="2" name="Title 1">
            <a:extLst>
              <a:ext uri="{FF2B5EF4-FFF2-40B4-BE49-F238E27FC236}">
                <a16:creationId xmlns:a16="http://schemas.microsoft.com/office/drawing/2014/main" id="{A5A1DF37-AEAF-DA4A-18AC-69033670EF6A}"/>
              </a:ext>
            </a:extLst>
          </p:cNvPr>
          <p:cNvSpPr>
            <a:spLocks noGrp="1"/>
          </p:cNvSpPr>
          <p:nvPr>
            <p:ph type="title"/>
          </p:nvPr>
        </p:nvSpPr>
        <p:spPr>
          <a:xfrm>
            <a:off x="914399" y="178195"/>
            <a:ext cx="10363200" cy="1143000"/>
          </a:xfrm>
        </p:spPr>
        <p:txBody>
          <a:bodyPr/>
          <a:lstStyle/>
          <a:p>
            <a:r>
              <a:rPr lang="en-US" dirty="0"/>
              <a:t>Coastal erosion</a:t>
            </a:r>
          </a:p>
        </p:txBody>
      </p:sp>
    </p:spTree>
    <p:extLst>
      <p:ext uri="{BB962C8B-B14F-4D97-AF65-F5344CB8AC3E}">
        <p14:creationId xmlns:p14="http://schemas.microsoft.com/office/powerpoint/2010/main" val="17471349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4" name="Picture 2" descr="C:\Documents and Settings\Tony Stallins\Desktop\Physical Geography\Lectures\Coastal\barrier island xsection.jpg">
            <a:extLst>
              <a:ext uri="{FF2B5EF4-FFF2-40B4-BE49-F238E27FC236}">
                <a16:creationId xmlns:a16="http://schemas.microsoft.com/office/drawing/2014/main" id="{0E468E48-F7AA-7A18-B21B-68518DBE7B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4460" y="381000"/>
            <a:ext cx="4227540" cy="5971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A road that has been destroyed&#10;&#10;Description automatically generated">
            <a:extLst>
              <a:ext uri="{FF2B5EF4-FFF2-40B4-BE49-F238E27FC236}">
                <a16:creationId xmlns:a16="http://schemas.microsoft.com/office/drawing/2014/main" id="{0C5ECDEB-F132-DE3A-C441-C02B4A6DB1B1}"/>
              </a:ext>
            </a:extLst>
          </p:cNvPr>
          <p:cNvPicPr>
            <a:picLocks noChangeAspect="1"/>
          </p:cNvPicPr>
          <p:nvPr/>
        </p:nvPicPr>
        <p:blipFill rotWithShape="1">
          <a:blip r:embed="rId4">
            <a:extLst>
              <a:ext uri="{28A0092B-C50C-407E-A947-70E740481C1C}">
                <a14:useLocalDpi xmlns:a14="http://schemas.microsoft.com/office/drawing/2010/main" val="0"/>
              </a:ext>
            </a:extLst>
          </a:blip>
          <a:srcRect t="15873" r="12572" b="12699"/>
          <a:stretch/>
        </p:blipFill>
        <p:spPr>
          <a:xfrm>
            <a:off x="207283" y="1905000"/>
            <a:ext cx="7724520" cy="4291400"/>
          </a:xfrm>
          <a:prstGeom prst="rect">
            <a:avLst/>
          </a:prstGeom>
        </p:spPr>
      </p:pic>
    </p:spTree>
    <p:extLst>
      <p:ext uri="{BB962C8B-B14F-4D97-AF65-F5344CB8AC3E}">
        <p14:creationId xmlns:p14="http://schemas.microsoft.com/office/powerpoint/2010/main" val="40517630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descr="C:\Users\JAS\Desktop\Lectures\Tropical\Overwash in house.JPG">
            <a:extLst>
              <a:ext uri="{FF2B5EF4-FFF2-40B4-BE49-F238E27FC236}">
                <a16:creationId xmlns:a16="http://schemas.microsoft.com/office/drawing/2014/main" id="{5F2AE347-89E5-B537-8406-B8ADD853FB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7531"/>
            <a:ext cx="10972800" cy="695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BB6D6CD0-35EF-74A9-0912-92897337BEE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9800" y="-309828"/>
            <a:ext cx="8839200" cy="7167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68165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3">
            <a:extLst>
              <a:ext uri="{FF2B5EF4-FFF2-40B4-BE49-F238E27FC236}">
                <a16:creationId xmlns:a16="http://schemas.microsoft.com/office/drawing/2014/main" id="{4F7139FF-0FE0-9577-B284-A3B1206B50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52399"/>
            <a:ext cx="8077200" cy="6547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efault Design">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Custom 10">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1985</TotalTime>
  <Words>530</Words>
  <Application>Microsoft Office PowerPoint</Application>
  <PresentationFormat>Widescreen</PresentationFormat>
  <Paragraphs>75</Paragraphs>
  <Slides>47</Slides>
  <Notes>28</Notes>
  <HiddenSlides>0</HiddenSlides>
  <MMClips>9</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Calibri</vt:lpstr>
      <vt:lpstr>Calibri Light</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Stages of development of hurricane</vt:lpstr>
      <vt:lpstr>PowerPoint Presentation</vt:lpstr>
      <vt:lpstr>Mechanisms of formation</vt:lpstr>
      <vt:lpstr>PowerPoint Presentation</vt:lpstr>
      <vt:lpstr>PowerPoint Presentation</vt:lpstr>
      <vt:lpstr>Path of US Atlantic TCs steered by: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Loop currents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Hurricane Helene (2024)</vt:lpstr>
      <vt:lpstr>PowerPoint Presentation</vt:lpstr>
      <vt:lpstr>PowerPoint Presentation</vt:lpstr>
      <vt:lpstr>PowerPoint Presentation</vt:lpstr>
      <vt:lpstr>PowerPoint Presentation</vt:lpstr>
      <vt:lpstr>Coastal erosion</vt:lpstr>
      <vt:lpstr>PowerPoint Presentation</vt:lpstr>
      <vt:lpstr>PowerPoint Presentation</vt:lpstr>
      <vt:lpstr>PowerPoint Presentation</vt:lpstr>
      <vt:lpstr>PowerPoint Presentation</vt:lpstr>
    </vt:vector>
  </TitlesOfParts>
  <Company>FSU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 Anthony Stallins</dc:creator>
  <cp:lastModifiedBy>Stallins, Jon A.</cp:lastModifiedBy>
  <cp:revision>212</cp:revision>
  <dcterms:created xsi:type="dcterms:W3CDTF">2005-05-26T22:11:46Z</dcterms:created>
  <dcterms:modified xsi:type="dcterms:W3CDTF">2026-03-12T17:26:17Z</dcterms:modified>
</cp:coreProperties>
</file>