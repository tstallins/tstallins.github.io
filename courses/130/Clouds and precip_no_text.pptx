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4"/>
  </p:notesMasterIdLst>
  <p:sldIdLst>
    <p:sldId id="348" r:id="rId2"/>
    <p:sldId id="287" r:id="rId3"/>
    <p:sldId id="358" r:id="rId4"/>
    <p:sldId id="283" r:id="rId5"/>
    <p:sldId id="295" r:id="rId6"/>
    <p:sldId id="257" r:id="rId7"/>
    <p:sldId id="258" r:id="rId8"/>
    <p:sldId id="259" r:id="rId9"/>
    <p:sldId id="280" r:id="rId10"/>
    <p:sldId id="261" r:id="rId11"/>
    <p:sldId id="262" r:id="rId12"/>
    <p:sldId id="260" r:id="rId13"/>
    <p:sldId id="263" r:id="rId14"/>
    <p:sldId id="264" r:id="rId15"/>
    <p:sldId id="265" r:id="rId16"/>
    <p:sldId id="266" r:id="rId17"/>
    <p:sldId id="267" r:id="rId18"/>
    <p:sldId id="268" r:id="rId19"/>
    <p:sldId id="277" r:id="rId20"/>
    <p:sldId id="322" r:id="rId21"/>
    <p:sldId id="315" r:id="rId22"/>
    <p:sldId id="325" r:id="rId23"/>
    <p:sldId id="269" r:id="rId24"/>
    <p:sldId id="357" r:id="rId25"/>
    <p:sldId id="272" r:id="rId26"/>
    <p:sldId id="273" r:id="rId27"/>
    <p:sldId id="300" r:id="rId28"/>
    <p:sldId id="270" r:id="rId29"/>
    <p:sldId id="271" r:id="rId30"/>
    <p:sldId id="361" r:id="rId31"/>
    <p:sldId id="356" r:id="rId32"/>
    <p:sldId id="362" r:id="rId33"/>
    <p:sldId id="359" r:id="rId34"/>
    <p:sldId id="284" r:id="rId35"/>
    <p:sldId id="351" r:id="rId36"/>
    <p:sldId id="289" r:id="rId37"/>
    <p:sldId id="364" r:id="rId38"/>
    <p:sldId id="360" r:id="rId39"/>
    <p:sldId id="298" r:id="rId40"/>
    <p:sldId id="314" r:id="rId41"/>
    <p:sldId id="290" r:id="rId42"/>
    <p:sldId id="365" r:id="rId43"/>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521415D9-36F7-43E2-AB2F-B90AF26B5E84}">
      <p14:sectionLst xmlns:p14="http://schemas.microsoft.com/office/powerpoint/2010/main">
        <p14:section name="Default Section" id="{C449A6E5-7A34-4866-948C-27B61DFEE26C}">
          <p14:sldIdLst>
            <p14:sldId id="348"/>
            <p14:sldId id="287"/>
            <p14:sldId id="358"/>
            <p14:sldId id="283"/>
          </p14:sldIdLst>
        </p14:section>
        <p14:section name="Cloud identification" id="{11560539-1246-4B89-9C0C-87B6191C7F89}">
          <p14:sldIdLst>
            <p14:sldId id="295"/>
            <p14:sldId id="257"/>
            <p14:sldId id="258"/>
            <p14:sldId id="259"/>
            <p14:sldId id="280"/>
            <p14:sldId id="261"/>
            <p14:sldId id="262"/>
            <p14:sldId id="260"/>
            <p14:sldId id="263"/>
            <p14:sldId id="264"/>
            <p14:sldId id="265"/>
            <p14:sldId id="266"/>
            <p14:sldId id="267"/>
            <p14:sldId id="268"/>
            <p14:sldId id="277"/>
            <p14:sldId id="322"/>
            <p14:sldId id="315"/>
          </p14:sldIdLst>
        </p14:section>
        <p14:section name="Fogs" id="{C1AD6840-9FC3-4B19-8119-F0A3B321BFEE}">
          <p14:sldIdLst>
            <p14:sldId id="325"/>
            <p14:sldId id="269"/>
            <p14:sldId id="357"/>
            <p14:sldId id="272"/>
            <p14:sldId id="273"/>
            <p14:sldId id="300"/>
            <p14:sldId id="270"/>
            <p14:sldId id="271"/>
            <p14:sldId id="361"/>
            <p14:sldId id="356"/>
            <p14:sldId id="362"/>
          </p14:sldIdLst>
        </p14:section>
        <p14:section name="Raindrops" id="{2CB87BB4-7F98-483F-9BE2-D1E61ECE5E13}">
          <p14:sldIdLst>
            <p14:sldId id="359"/>
            <p14:sldId id="284"/>
          </p14:sldIdLst>
        </p14:section>
        <p14:section name="Rain sleet snow freezing rain" id="{AA9D89D9-5F5C-462D-904A-654FE6A7A19D}">
          <p14:sldIdLst>
            <p14:sldId id="351"/>
            <p14:sldId id="289"/>
            <p14:sldId id="364"/>
            <p14:sldId id="360"/>
            <p14:sldId id="298"/>
            <p14:sldId id="314"/>
            <p14:sldId id="290"/>
            <p14:sldId id="365"/>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571" autoAdjust="0"/>
    <p:restoredTop sz="79608" autoAdjust="0"/>
  </p:normalViewPr>
  <p:slideViewPr>
    <p:cSldViewPr>
      <p:cViewPr varScale="1">
        <p:scale>
          <a:sx n="45" d="100"/>
          <a:sy n="45" d="100"/>
        </p:scale>
        <p:origin x="72" y="160"/>
      </p:cViewPr>
      <p:guideLst>
        <p:guide orient="horz" pos="2160"/>
        <p:guide pos="3840"/>
      </p:guideLst>
    </p:cSldViewPr>
  </p:slideViewPr>
  <p:outlineViewPr>
    <p:cViewPr>
      <p:scale>
        <a:sx n="33" d="100"/>
        <a:sy n="33" d="100"/>
      </p:scale>
      <p:origin x="0" y="-5918"/>
    </p:cViewPr>
  </p:outlineViewPr>
  <p:notesTextViewPr>
    <p:cViewPr>
      <p:scale>
        <a:sx n="100" d="100"/>
        <a:sy n="100" d="100"/>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ABDFC66E-051B-7CEA-BFAB-3CD63B6133A1}"/>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defRPr>
            </a:lvl1pPr>
          </a:lstStyle>
          <a:p>
            <a:pPr>
              <a:defRPr/>
            </a:pPr>
            <a:endParaRPr lang="en-US"/>
          </a:p>
        </p:txBody>
      </p:sp>
      <p:sp>
        <p:nvSpPr>
          <p:cNvPr id="4099" name="Rectangle 3">
            <a:extLst>
              <a:ext uri="{FF2B5EF4-FFF2-40B4-BE49-F238E27FC236}">
                <a16:creationId xmlns:a16="http://schemas.microsoft.com/office/drawing/2014/main" id="{50218282-ADDD-0F20-A623-1A72EE8AEDFA}"/>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endParaRPr lang="en-US"/>
          </a:p>
        </p:txBody>
      </p:sp>
      <p:sp>
        <p:nvSpPr>
          <p:cNvPr id="44036" name="Rectangle 4">
            <a:extLst>
              <a:ext uri="{FF2B5EF4-FFF2-40B4-BE49-F238E27FC236}">
                <a16:creationId xmlns:a16="http://schemas.microsoft.com/office/drawing/2014/main" id="{F5AAE974-F61C-39FC-E92E-9AD82366B7E1}"/>
              </a:ext>
            </a:extLst>
          </p:cNvPr>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1" name="Rectangle 5">
            <a:extLst>
              <a:ext uri="{FF2B5EF4-FFF2-40B4-BE49-F238E27FC236}">
                <a16:creationId xmlns:a16="http://schemas.microsoft.com/office/drawing/2014/main" id="{D28CDCF1-05D2-F04A-EBBA-AA34F0DAF42B}"/>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102" name="Rectangle 6">
            <a:extLst>
              <a:ext uri="{FF2B5EF4-FFF2-40B4-BE49-F238E27FC236}">
                <a16:creationId xmlns:a16="http://schemas.microsoft.com/office/drawing/2014/main" id="{3AE8B17F-96D2-C4A5-CF86-4B5B52638A95}"/>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pPr>
              <a:defRPr/>
            </a:pPr>
            <a:endParaRPr lang="en-US"/>
          </a:p>
        </p:txBody>
      </p:sp>
      <p:sp>
        <p:nvSpPr>
          <p:cNvPr id="4103" name="Rectangle 7">
            <a:extLst>
              <a:ext uri="{FF2B5EF4-FFF2-40B4-BE49-F238E27FC236}">
                <a16:creationId xmlns:a16="http://schemas.microsoft.com/office/drawing/2014/main" id="{45B6BA07-FA30-7B68-9FCB-01A796D70BCC}"/>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fld id="{576412EB-C0EF-482B-A7DD-D6E44E41A460}"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Image Placeholder 1">
            <a:extLst>
              <a:ext uri="{FF2B5EF4-FFF2-40B4-BE49-F238E27FC236}">
                <a16:creationId xmlns:a16="http://schemas.microsoft.com/office/drawing/2014/main" id="{62B0ADDC-942B-CD72-35EC-D8A5F36C51B5}"/>
              </a:ext>
            </a:extLst>
          </p:cNvPr>
          <p:cNvSpPr>
            <a:spLocks noGrp="1" noRot="1" noChangeAspect="1" noChangeArrowheads="1" noTextEdit="1"/>
          </p:cNvSpPr>
          <p:nvPr>
            <p:ph type="sldImg"/>
          </p:nvPr>
        </p:nvSpPr>
        <p:spPr>
          <a:ln/>
        </p:spPr>
      </p:sp>
      <p:sp>
        <p:nvSpPr>
          <p:cNvPr id="53251" name="Notes Placeholder 2">
            <a:extLst>
              <a:ext uri="{FF2B5EF4-FFF2-40B4-BE49-F238E27FC236}">
                <a16:creationId xmlns:a16="http://schemas.microsoft.com/office/drawing/2014/main" id="{9ABEFC61-77C1-5448-0F91-07BCDA450D5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Arial" panose="020B0604020202020204" pitchFamily="34" charset="0"/>
            </a:endParaRPr>
          </a:p>
        </p:txBody>
      </p:sp>
      <p:sp>
        <p:nvSpPr>
          <p:cNvPr id="53252" name="Slide Number Placeholder 3">
            <a:extLst>
              <a:ext uri="{FF2B5EF4-FFF2-40B4-BE49-F238E27FC236}">
                <a16:creationId xmlns:a16="http://schemas.microsoft.com/office/drawing/2014/main" id="{1212E64B-74CF-F103-C7A6-D82CD79292A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AE1D2FD-F832-4CD4-B8DE-E559F14B8739}" type="slidenum">
              <a:rPr lang="en-US" altLang="en-US" smtClean="0"/>
              <a:pPr/>
              <a:t>1</a:t>
            </a:fld>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a:extLst>
              <a:ext uri="{FF2B5EF4-FFF2-40B4-BE49-F238E27FC236}">
                <a16:creationId xmlns:a16="http://schemas.microsoft.com/office/drawing/2014/main" id="{6227783B-D640-5595-775D-CE89201E277E}"/>
              </a:ext>
            </a:extLst>
          </p:cNvPr>
          <p:cNvSpPr>
            <a:spLocks noGrp="1" noRot="1" noChangeAspect="1" noTextEdit="1"/>
          </p:cNvSpPr>
          <p:nvPr>
            <p:ph type="sldImg"/>
          </p:nvPr>
        </p:nvSpPr>
        <p:spPr>
          <a:xfrm>
            <a:off x="381000" y="685800"/>
            <a:ext cx="6096000" cy="3429000"/>
          </a:xfrm>
          <a:ln/>
        </p:spPr>
      </p:sp>
      <p:sp>
        <p:nvSpPr>
          <p:cNvPr id="45059" name="Notes Placeholder 2">
            <a:extLst>
              <a:ext uri="{FF2B5EF4-FFF2-40B4-BE49-F238E27FC236}">
                <a16:creationId xmlns:a16="http://schemas.microsoft.com/office/drawing/2014/main" id="{FD9D8276-42CC-CB9B-A703-CEA8E50C074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
        <p:nvSpPr>
          <p:cNvPr id="45060" name="Slide Number Placeholder 3">
            <a:extLst>
              <a:ext uri="{FF2B5EF4-FFF2-40B4-BE49-F238E27FC236}">
                <a16:creationId xmlns:a16="http://schemas.microsoft.com/office/drawing/2014/main" id="{6747573A-C181-0FAC-1D0D-ED8975F777D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3E0D92CB-77F5-404F-B887-CCF33C6F28CE}" type="slidenum">
              <a:rPr lang="en-US" altLang="en-US"/>
              <a:pPr/>
              <a:t>5</a:t>
            </a:fld>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a:extLst>
              <a:ext uri="{FF2B5EF4-FFF2-40B4-BE49-F238E27FC236}">
                <a16:creationId xmlns:a16="http://schemas.microsoft.com/office/drawing/2014/main" id="{C9C45F46-7816-0CED-B5F6-CB2FF2F220B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352019E1-1475-4C55-8446-053DDFB82B93}" type="slidenum">
              <a:rPr lang="en-US" altLang="en-US"/>
              <a:pPr/>
              <a:t>6</a:t>
            </a:fld>
            <a:endParaRPr lang="en-US" altLang="en-US"/>
          </a:p>
        </p:txBody>
      </p:sp>
      <p:sp>
        <p:nvSpPr>
          <p:cNvPr id="46083" name="Rectangle 2">
            <a:extLst>
              <a:ext uri="{FF2B5EF4-FFF2-40B4-BE49-F238E27FC236}">
                <a16:creationId xmlns:a16="http://schemas.microsoft.com/office/drawing/2014/main" id="{307F7833-CCA8-7642-E1C3-821FCF463C6A}"/>
              </a:ext>
            </a:extLst>
          </p:cNvPr>
          <p:cNvSpPr>
            <a:spLocks noGrp="1" noRot="1" noChangeAspect="1" noChangeArrowheads="1" noTextEdit="1"/>
          </p:cNvSpPr>
          <p:nvPr>
            <p:ph type="sldImg"/>
          </p:nvPr>
        </p:nvSpPr>
        <p:spPr>
          <a:ln/>
        </p:spPr>
      </p:sp>
      <p:sp>
        <p:nvSpPr>
          <p:cNvPr id="46084" name="Rectangle 3">
            <a:extLst>
              <a:ext uri="{FF2B5EF4-FFF2-40B4-BE49-F238E27FC236}">
                <a16:creationId xmlns:a16="http://schemas.microsoft.com/office/drawing/2014/main" id="{97521B67-85D1-D2C0-058E-67A6542774BA}"/>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rPr>
              <a:t>Stratus</a:t>
            </a:r>
            <a:endParaRPr lang="en-US" altLang="en-US" dirty="0">
              <a:latin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290A6A87-3A2F-B5F1-9EB6-556FDDEC56B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F4C4AA56-224D-447D-AA68-F63486401751}" type="slidenum">
              <a:rPr lang="en-US" altLang="en-US"/>
              <a:pPr/>
              <a:t>7</a:t>
            </a:fld>
            <a:endParaRPr lang="en-US" altLang="en-US"/>
          </a:p>
        </p:txBody>
      </p:sp>
      <p:sp>
        <p:nvSpPr>
          <p:cNvPr id="47107" name="Rectangle 2">
            <a:extLst>
              <a:ext uri="{FF2B5EF4-FFF2-40B4-BE49-F238E27FC236}">
                <a16:creationId xmlns:a16="http://schemas.microsoft.com/office/drawing/2014/main" id="{4219932E-D721-BE0C-32EF-F2119A86F6FA}"/>
              </a:ext>
            </a:extLst>
          </p:cNvPr>
          <p:cNvSpPr>
            <a:spLocks noGrp="1" noRot="1" noChangeAspect="1" noChangeArrowheads="1" noTextEdit="1"/>
          </p:cNvSpPr>
          <p:nvPr>
            <p:ph type="sldImg"/>
          </p:nvPr>
        </p:nvSpPr>
        <p:spPr>
          <a:ln/>
        </p:spPr>
      </p:sp>
      <p:sp>
        <p:nvSpPr>
          <p:cNvPr id="47108" name="Rectangle 3">
            <a:extLst>
              <a:ext uri="{FF2B5EF4-FFF2-40B4-BE49-F238E27FC236}">
                <a16:creationId xmlns:a16="http://schemas.microsoft.com/office/drawing/2014/main" id="{2F7ECB3F-2532-0F9F-2E5F-FB07115E2600}"/>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Arial" panose="020B0604020202020204" pitchFamily="34" charset="0"/>
              </a:rPr>
              <a:t>Cumulus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a:extLst>
              <a:ext uri="{FF2B5EF4-FFF2-40B4-BE49-F238E27FC236}">
                <a16:creationId xmlns:a16="http://schemas.microsoft.com/office/drawing/2014/main" id="{9EFB0749-9FDB-3446-59EA-17AA9C6086F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7F7809E0-E3EA-479F-903C-94C82EB934CE}" type="slidenum">
              <a:rPr lang="en-US" altLang="en-US"/>
              <a:pPr/>
              <a:t>8</a:t>
            </a:fld>
            <a:endParaRPr lang="en-US" altLang="en-US"/>
          </a:p>
        </p:txBody>
      </p:sp>
      <p:sp>
        <p:nvSpPr>
          <p:cNvPr id="48131" name="Rectangle 2">
            <a:extLst>
              <a:ext uri="{FF2B5EF4-FFF2-40B4-BE49-F238E27FC236}">
                <a16:creationId xmlns:a16="http://schemas.microsoft.com/office/drawing/2014/main" id="{3E34DE4E-C68D-EFEC-3BED-19B7D7E1D37A}"/>
              </a:ext>
            </a:extLst>
          </p:cNvPr>
          <p:cNvSpPr>
            <a:spLocks noGrp="1" noRot="1" noChangeAspect="1" noChangeArrowheads="1" noTextEdit="1"/>
          </p:cNvSpPr>
          <p:nvPr>
            <p:ph type="sldImg"/>
          </p:nvPr>
        </p:nvSpPr>
        <p:spPr>
          <a:ln/>
        </p:spPr>
      </p:sp>
      <p:sp>
        <p:nvSpPr>
          <p:cNvPr id="48132" name="Rectangle 3">
            <a:extLst>
              <a:ext uri="{FF2B5EF4-FFF2-40B4-BE49-F238E27FC236}">
                <a16:creationId xmlns:a16="http://schemas.microsoft.com/office/drawing/2014/main" id="{CA82A537-2AF8-4F29-2D47-791DB7DB8E3F}"/>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rPr>
              <a:t>Cirrus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Image Placeholder 1">
            <a:extLst>
              <a:ext uri="{FF2B5EF4-FFF2-40B4-BE49-F238E27FC236}">
                <a16:creationId xmlns:a16="http://schemas.microsoft.com/office/drawing/2014/main" id="{63E21BD0-A3C5-5AE5-AB36-3B03A54D6448}"/>
              </a:ext>
            </a:extLst>
          </p:cNvPr>
          <p:cNvSpPr>
            <a:spLocks noGrp="1" noRot="1" noChangeAspect="1" noTextEdit="1"/>
          </p:cNvSpPr>
          <p:nvPr>
            <p:ph type="sldImg"/>
          </p:nvPr>
        </p:nvSpPr>
        <p:spPr>
          <a:xfrm>
            <a:off x="381000" y="685800"/>
            <a:ext cx="6096000" cy="3429000"/>
          </a:xfrm>
          <a:ln/>
        </p:spPr>
      </p:sp>
      <p:sp>
        <p:nvSpPr>
          <p:cNvPr id="49155" name="Notes Placeholder 2">
            <a:extLst>
              <a:ext uri="{FF2B5EF4-FFF2-40B4-BE49-F238E27FC236}">
                <a16:creationId xmlns:a16="http://schemas.microsoft.com/office/drawing/2014/main" id="{B38B73AB-756A-ECCE-05A7-607D077348D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rPr>
              <a:t>Cirrostratus</a:t>
            </a:r>
          </a:p>
        </p:txBody>
      </p:sp>
      <p:sp>
        <p:nvSpPr>
          <p:cNvPr id="49156" name="Slide Number Placeholder 3">
            <a:extLst>
              <a:ext uri="{FF2B5EF4-FFF2-40B4-BE49-F238E27FC236}">
                <a16:creationId xmlns:a16="http://schemas.microsoft.com/office/drawing/2014/main" id="{12421A8B-DFF2-6DDD-E4A0-2B075820655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FE51BBE7-010A-4855-AE40-F52A7CD64E8E}" type="slidenum">
              <a:rPr lang="en-US" altLang="en-US"/>
              <a:pPr/>
              <a:t>9</a:t>
            </a:fld>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a:extLst>
              <a:ext uri="{FF2B5EF4-FFF2-40B4-BE49-F238E27FC236}">
                <a16:creationId xmlns:a16="http://schemas.microsoft.com/office/drawing/2014/main" id="{DFBCAD81-A63A-F454-52C0-7966A87830D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F6E62520-22BE-4D11-B36C-C8C1E28DB4B6}" type="slidenum">
              <a:rPr lang="en-US" altLang="en-US"/>
              <a:pPr/>
              <a:t>10</a:t>
            </a:fld>
            <a:endParaRPr lang="en-US" altLang="en-US"/>
          </a:p>
        </p:txBody>
      </p:sp>
      <p:sp>
        <p:nvSpPr>
          <p:cNvPr id="50179" name="Rectangle 2">
            <a:extLst>
              <a:ext uri="{FF2B5EF4-FFF2-40B4-BE49-F238E27FC236}">
                <a16:creationId xmlns:a16="http://schemas.microsoft.com/office/drawing/2014/main" id="{91FC6E8F-02B2-9FDF-C904-9D3356AF2EDB}"/>
              </a:ext>
            </a:extLst>
          </p:cNvPr>
          <p:cNvSpPr>
            <a:spLocks noGrp="1" noRot="1" noChangeAspect="1" noChangeArrowheads="1" noTextEdit="1"/>
          </p:cNvSpPr>
          <p:nvPr>
            <p:ph type="sldImg"/>
          </p:nvPr>
        </p:nvSpPr>
        <p:spPr>
          <a:ln/>
        </p:spPr>
      </p:sp>
      <p:sp>
        <p:nvSpPr>
          <p:cNvPr id="50180" name="Rectangle 3">
            <a:extLst>
              <a:ext uri="{FF2B5EF4-FFF2-40B4-BE49-F238E27FC236}">
                <a16:creationId xmlns:a16="http://schemas.microsoft.com/office/drawing/2014/main" id="{F0A35078-E5B1-A95A-3A31-603056D49F71}"/>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rPr>
              <a:t>Cirrostratus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a:extLst>
              <a:ext uri="{FF2B5EF4-FFF2-40B4-BE49-F238E27FC236}">
                <a16:creationId xmlns:a16="http://schemas.microsoft.com/office/drawing/2014/main" id="{D17F4365-B815-3A9B-2C5F-02BFB612F73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49F7E62D-1058-4CC8-BB4C-65BD5D33F8C1}" type="slidenum">
              <a:rPr lang="en-US" altLang="en-US"/>
              <a:pPr/>
              <a:t>11</a:t>
            </a:fld>
            <a:endParaRPr lang="en-US" altLang="en-US"/>
          </a:p>
        </p:txBody>
      </p:sp>
      <p:sp>
        <p:nvSpPr>
          <p:cNvPr id="51203" name="Rectangle 2">
            <a:extLst>
              <a:ext uri="{FF2B5EF4-FFF2-40B4-BE49-F238E27FC236}">
                <a16:creationId xmlns:a16="http://schemas.microsoft.com/office/drawing/2014/main" id="{813A4074-8C32-3928-C9E3-77DC97C8322F}"/>
              </a:ext>
            </a:extLst>
          </p:cNvPr>
          <p:cNvSpPr>
            <a:spLocks noGrp="1" noRot="1" noChangeAspect="1" noChangeArrowheads="1" noTextEdit="1"/>
          </p:cNvSpPr>
          <p:nvPr>
            <p:ph type="sldImg"/>
          </p:nvPr>
        </p:nvSpPr>
        <p:spPr>
          <a:ln/>
        </p:spPr>
      </p:sp>
      <p:sp>
        <p:nvSpPr>
          <p:cNvPr id="51204" name="Rectangle 3">
            <a:extLst>
              <a:ext uri="{FF2B5EF4-FFF2-40B4-BE49-F238E27FC236}">
                <a16:creationId xmlns:a16="http://schemas.microsoft.com/office/drawing/2014/main" id="{B4F46FAB-D7A2-0557-1567-0B775D091BE6}"/>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rPr>
              <a:t>Cirrocumulus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a:extLst>
              <a:ext uri="{FF2B5EF4-FFF2-40B4-BE49-F238E27FC236}">
                <a16:creationId xmlns:a16="http://schemas.microsoft.com/office/drawing/2014/main" id="{BADA536D-3802-AC28-363F-39AB7DB46C5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D57817BF-BC02-42E1-B94F-B856BD419687}" type="slidenum">
              <a:rPr lang="en-US" altLang="en-US"/>
              <a:pPr/>
              <a:t>12</a:t>
            </a:fld>
            <a:endParaRPr lang="en-US" altLang="en-US"/>
          </a:p>
        </p:txBody>
      </p:sp>
      <p:sp>
        <p:nvSpPr>
          <p:cNvPr id="52227" name="Rectangle 2">
            <a:extLst>
              <a:ext uri="{FF2B5EF4-FFF2-40B4-BE49-F238E27FC236}">
                <a16:creationId xmlns:a16="http://schemas.microsoft.com/office/drawing/2014/main" id="{57507C62-F0E9-824E-2B1A-81E96583B55A}"/>
              </a:ext>
            </a:extLst>
          </p:cNvPr>
          <p:cNvSpPr>
            <a:spLocks noGrp="1" noRot="1" noChangeAspect="1" noChangeArrowheads="1" noTextEdit="1"/>
          </p:cNvSpPr>
          <p:nvPr>
            <p:ph type="sldImg"/>
          </p:nvPr>
        </p:nvSpPr>
        <p:spPr>
          <a:ln/>
        </p:spPr>
      </p:sp>
      <p:sp>
        <p:nvSpPr>
          <p:cNvPr id="52228" name="Rectangle 3">
            <a:extLst>
              <a:ext uri="{FF2B5EF4-FFF2-40B4-BE49-F238E27FC236}">
                <a16:creationId xmlns:a16="http://schemas.microsoft.com/office/drawing/2014/main" id="{81620BA6-56A7-869B-BF79-EE02C41A2CE1}"/>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rPr>
              <a:t>Altostratus (and cirrus, higher)</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a:extLst>
              <a:ext uri="{FF2B5EF4-FFF2-40B4-BE49-F238E27FC236}">
                <a16:creationId xmlns:a16="http://schemas.microsoft.com/office/drawing/2014/main" id="{9DF2335C-0C41-3FDC-B7BD-5EF2D5271CB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00A045C7-112A-435D-B1D0-3958991C35FF}" type="slidenum">
              <a:rPr lang="en-US" altLang="en-US"/>
              <a:pPr/>
              <a:t>13</a:t>
            </a:fld>
            <a:endParaRPr lang="en-US" altLang="en-US"/>
          </a:p>
        </p:txBody>
      </p:sp>
      <p:sp>
        <p:nvSpPr>
          <p:cNvPr id="53251" name="Rectangle 2">
            <a:extLst>
              <a:ext uri="{FF2B5EF4-FFF2-40B4-BE49-F238E27FC236}">
                <a16:creationId xmlns:a16="http://schemas.microsoft.com/office/drawing/2014/main" id="{DE857219-7BF9-92D7-7A26-13E0B7368FF7}"/>
              </a:ext>
            </a:extLst>
          </p:cNvPr>
          <p:cNvSpPr>
            <a:spLocks noGrp="1" noRot="1" noChangeAspect="1" noChangeArrowheads="1" noTextEdit="1"/>
          </p:cNvSpPr>
          <p:nvPr>
            <p:ph type="sldImg"/>
          </p:nvPr>
        </p:nvSpPr>
        <p:spPr>
          <a:ln/>
        </p:spPr>
      </p:sp>
      <p:sp>
        <p:nvSpPr>
          <p:cNvPr id="53252" name="Rectangle 3">
            <a:extLst>
              <a:ext uri="{FF2B5EF4-FFF2-40B4-BE49-F238E27FC236}">
                <a16:creationId xmlns:a16="http://schemas.microsoft.com/office/drawing/2014/main" id="{44396187-E86F-536F-DFF1-AEACDB4E739E}"/>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rPr>
              <a:t>Altostratus</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a:extLst>
              <a:ext uri="{FF2B5EF4-FFF2-40B4-BE49-F238E27FC236}">
                <a16:creationId xmlns:a16="http://schemas.microsoft.com/office/drawing/2014/main" id="{80F57BA9-4B01-377B-99BD-AED4A85D715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72ED2F06-32A9-49AA-9461-CD4FE4476CDC}" type="slidenum">
              <a:rPr lang="en-US" altLang="en-US"/>
              <a:pPr/>
              <a:t>14</a:t>
            </a:fld>
            <a:endParaRPr lang="en-US" altLang="en-US"/>
          </a:p>
        </p:txBody>
      </p:sp>
      <p:sp>
        <p:nvSpPr>
          <p:cNvPr id="54275" name="Rectangle 2">
            <a:extLst>
              <a:ext uri="{FF2B5EF4-FFF2-40B4-BE49-F238E27FC236}">
                <a16:creationId xmlns:a16="http://schemas.microsoft.com/office/drawing/2014/main" id="{12102A6A-0611-D82E-FFDB-543BF8F6DF8F}"/>
              </a:ext>
            </a:extLst>
          </p:cNvPr>
          <p:cNvSpPr>
            <a:spLocks noGrp="1" noRot="1" noChangeAspect="1" noChangeArrowheads="1" noTextEdit="1"/>
          </p:cNvSpPr>
          <p:nvPr>
            <p:ph type="sldImg"/>
          </p:nvPr>
        </p:nvSpPr>
        <p:spPr>
          <a:ln/>
        </p:spPr>
      </p:sp>
      <p:sp>
        <p:nvSpPr>
          <p:cNvPr id="54276" name="Rectangle 3">
            <a:extLst>
              <a:ext uri="{FF2B5EF4-FFF2-40B4-BE49-F238E27FC236}">
                <a16:creationId xmlns:a16="http://schemas.microsoft.com/office/drawing/2014/main" id="{C3D8CAF4-99E5-6EFC-FD87-81A135F7C0CD}"/>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rPr>
              <a:t>Altocumulus</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a:extLst>
              <a:ext uri="{FF2B5EF4-FFF2-40B4-BE49-F238E27FC236}">
                <a16:creationId xmlns:a16="http://schemas.microsoft.com/office/drawing/2014/main" id="{1ED0E669-B53D-B6EE-5E59-E07D5BCEEC8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CE1257BE-9E5E-41BE-A7B1-6B5487476B61}" type="slidenum">
              <a:rPr lang="en-US" altLang="en-US"/>
              <a:pPr/>
              <a:t>15</a:t>
            </a:fld>
            <a:endParaRPr lang="en-US" altLang="en-US"/>
          </a:p>
        </p:txBody>
      </p:sp>
      <p:sp>
        <p:nvSpPr>
          <p:cNvPr id="55299" name="Rectangle 2">
            <a:extLst>
              <a:ext uri="{FF2B5EF4-FFF2-40B4-BE49-F238E27FC236}">
                <a16:creationId xmlns:a16="http://schemas.microsoft.com/office/drawing/2014/main" id="{EC41898B-E0A9-4FAF-305C-1D68C5C5E913}"/>
              </a:ext>
            </a:extLst>
          </p:cNvPr>
          <p:cNvSpPr>
            <a:spLocks noGrp="1" noRot="1" noChangeAspect="1" noChangeArrowheads="1" noTextEdit="1"/>
          </p:cNvSpPr>
          <p:nvPr>
            <p:ph type="sldImg"/>
          </p:nvPr>
        </p:nvSpPr>
        <p:spPr>
          <a:ln/>
        </p:spPr>
      </p:sp>
      <p:sp>
        <p:nvSpPr>
          <p:cNvPr id="55300" name="Rectangle 3">
            <a:extLst>
              <a:ext uri="{FF2B5EF4-FFF2-40B4-BE49-F238E27FC236}">
                <a16:creationId xmlns:a16="http://schemas.microsoft.com/office/drawing/2014/main" id="{2C60C2F9-8A41-8663-B64B-9F0A0020C044}"/>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rPr>
              <a:t>Stratocumulus</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a:extLst>
              <a:ext uri="{FF2B5EF4-FFF2-40B4-BE49-F238E27FC236}">
                <a16:creationId xmlns:a16="http://schemas.microsoft.com/office/drawing/2014/main" id="{3367951D-B182-44B3-B63F-0EA1F891A45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7D73F5C-0076-40B2-9372-3B7153FEB6AA}" type="slidenum">
              <a:rPr lang="en-US" altLang="en-US"/>
              <a:pPr/>
              <a:t>16</a:t>
            </a:fld>
            <a:endParaRPr lang="en-US" altLang="en-US"/>
          </a:p>
        </p:txBody>
      </p:sp>
      <p:sp>
        <p:nvSpPr>
          <p:cNvPr id="56323" name="Rectangle 2">
            <a:extLst>
              <a:ext uri="{FF2B5EF4-FFF2-40B4-BE49-F238E27FC236}">
                <a16:creationId xmlns:a16="http://schemas.microsoft.com/office/drawing/2014/main" id="{62ADB697-237F-329E-680C-B3D6B44F53AF}"/>
              </a:ext>
            </a:extLst>
          </p:cNvPr>
          <p:cNvSpPr>
            <a:spLocks noGrp="1" noRot="1" noChangeAspect="1" noChangeArrowheads="1" noTextEdit="1"/>
          </p:cNvSpPr>
          <p:nvPr>
            <p:ph type="sldImg"/>
          </p:nvPr>
        </p:nvSpPr>
        <p:spPr>
          <a:ln/>
        </p:spPr>
      </p:sp>
      <p:sp>
        <p:nvSpPr>
          <p:cNvPr id="56324" name="Rectangle 3">
            <a:extLst>
              <a:ext uri="{FF2B5EF4-FFF2-40B4-BE49-F238E27FC236}">
                <a16:creationId xmlns:a16="http://schemas.microsoft.com/office/drawing/2014/main" id="{B5C8AF1E-8EA1-56FD-98BD-14456CA60619}"/>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rPr>
              <a:t>Nimbostratus</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a:extLst>
              <a:ext uri="{FF2B5EF4-FFF2-40B4-BE49-F238E27FC236}">
                <a16:creationId xmlns:a16="http://schemas.microsoft.com/office/drawing/2014/main" id="{F33316DB-40F3-3F4D-C46E-2E96083489C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FFC2D29F-D884-4608-B3D2-5E0609C324EC}" type="slidenum">
              <a:rPr lang="en-US" altLang="en-US"/>
              <a:pPr/>
              <a:t>17</a:t>
            </a:fld>
            <a:endParaRPr lang="en-US" altLang="en-US"/>
          </a:p>
        </p:txBody>
      </p:sp>
      <p:sp>
        <p:nvSpPr>
          <p:cNvPr id="57347" name="Rectangle 2">
            <a:extLst>
              <a:ext uri="{FF2B5EF4-FFF2-40B4-BE49-F238E27FC236}">
                <a16:creationId xmlns:a16="http://schemas.microsoft.com/office/drawing/2014/main" id="{509BF393-5400-7017-39C6-EA9BA99E8192}"/>
              </a:ext>
            </a:extLst>
          </p:cNvPr>
          <p:cNvSpPr>
            <a:spLocks noGrp="1" noRot="1" noChangeAspect="1" noChangeArrowheads="1" noTextEdit="1"/>
          </p:cNvSpPr>
          <p:nvPr>
            <p:ph type="sldImg"/>
          </p:nvPr>
        </p:nvSpPr>
        <p:spPr>
          <a:ln/>
        </p:spPr>
      </p:sp>
      <p:sp>
        <p:nvSpPr>
          <p:cNvPr id="57348" name="Rectangle 3">
            <a:extLst>
              <a:ext uri="{FF2B5EF4-FFF2-40B4-BE49-F238E27FC236}">
                <a16:creationId xmlns:a16="http://schemas.microsoft.com/office/drawing/2014/main" id="{94ECC0A4-DCDF-2B88-86CB-D405AACFFF14}"/>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rPr>
              <a:t>Cumulonimbus</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a:extLst>
              <a:ext uri="{FF2B5EF4-FFF2-40B4-BE49-F238E27FC236}">
                <a16:creationId xmlns:a16="http://schemas.microsoft.com/office/drawing/2014/main" id="{6284837C-5EAB-8205-F025-CBC03784C53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948AC34-7651-46C8-AC95-A68FB0B2E233}" type="slidenum">
              <a:rPr lang="en-US" altLang="en-US"/>
              <a:pPr/>
              <a:t>18</a:t>
            </a:fld>
            <a:endParaRPr lang="en-US" altLang="en-US"/>
          </a:p>
        </p:txBody>
      </p:sp>
      <p:sp>
        <p:nvSpPr>
          <p:cNvPr id="58371" name="Rectangle 2">
            <a:extLst>
              <a:ext uri="{FF2B5EF4-FFF2-40B4-BE49-F238E27FC236}">
                <a16:creationId xmlns:a16="http://schemas.microsoft.com/office/drawing/2014/main" id="{4026EC62-5CB1-0C13-16F5-2C468CF10DE7}"/>
              </a:ext>
            </a:extLst>
          </p:cNvPr>
          <p:cNvSpPr>
            <a:spLocks noGrp="1" noRot="1" noChangeAspect="1" noChangeArrowheads="1" noTextEdit="1"/>
          </p:cNvSpPr>
          <p:nvPr>
            <p:ph type="sldImg"/>
          </p:nvPr>
        </p:nvSpPr>
        <p:spPr>
          <a:ln/>
        </p:spPr>
      </p:sp>
      <p:sp>
        <p:nvSpPr>
          <p:cNvPr id="58372" name="Rectangle 3">
            <a:extLst>
              <a:ext uri="{FF2B5EF4-FFF2-40B4-BE49-F238E27FC236}">
                <a16:creationId xmlns:a16="http://schemas.microsoft.com/office/drawing/2014/main" id="{B54CEA49-DCA1-CE29-8CDA-F973EB80276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rPr>
              <a:t>Cumulonimbus</a:t>
            </a:r>
          </a:p>
          <a:p>
            <a:pPr eaLnBrk="1" hangingPunct="1"/>
            <a:endParaRPr lang="en-US" altLang="en-US">
              <a:latin typeface="Arial" panose="020B0604020202020204" pitchFamily="3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a:extLst>
              <a:ext uri="{FF2B5EF4-FFF2-40B4-BE49-F238E27FC236}">
                <a16:creationId xmlns:a16="http://schemas.microsoft.com/office/drawing/2014/main" id="{5CCC3CE3-4F31-C2E6-687B-092E4B6560B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5B662B23-74E8-46B7-A7BD-5CD2C96747FF}" type="slidenum">
              <a:rPr lang="en-US" altLang="en-US"/>
              <a:pPr/>
              <a:t>19</a:t>
            </a:fld>
            <a:endParaRPr lang="en-US" altLang="en-US"/>
          </a:p>
        </p:txBody>
      </p:sp>
      <p:sp>
        <p:nvSpPr>
          <p:cNvPr id="67587" name="Rectangle 2">
            <a:extLst>
              <a:ext uri="{FF2B5EF4-FFF2-40B4-BE49-F238E27FC236}">
                <a16:creationId xmlns:a16="http://schemas.microsoft.com/office/drawing/2014/main" id="{5F520FF1-5419-E569-A328-CE4C6F7CA813}"/>
              </a:ext>
            </a:extLst>
          </p:cNvPr>
          <p:cNvSpPr>
            <a:spLocks noGrp="1" noRot="1" noChangeAspect="1" noChangeArrowheads="1" noTextEdit="1"/>
          </p:cNvSpPr>
          <p:nvPr>
            <p:ph type="sldImg"/>
          </p:nvPr>
        </p:nvSpPr>
        <p:spPr>
          <a:ln/>
        </p:spPr>
      </p:sp>
      <p:sp>
        <p:nvSpPr>
          <p:cNvPr id="67588" name="Rectangle 3">
            <a:extLst>
              <a:ext uri="{FF2B5EF4-FFF2-40B4-BE49-F238E27FC236}">
                <a16:creationId xmlns:a16="http://schemas.microsoft.com/office/drawing/2014/main" id="{7BF8682A-83AE-01B6-0D66-790A11BE965C}"/>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rPr>
              <a:t>Virga</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clouds typically appear during thunderstorms and cumulonimbus clouds</a:t>
            </a:r>
          </a:p>
        </p:txBody>
      </p:sp>
      <p:sp>
        <p:nvSpPr>
          <p:cNvPr id="4" name="Slide Number Placeholder 3"/>
          <p:cNvSpPr>
            <a:spLocks noGrp="1"/>
          </p:cNvSpPr>
          <p:nvPr>
            <p:ph type="sldNum" sz="quarter" idx="5"/>
          </p:nvPr>
        </p:nvSpPr>
        <p:spPr/>
        <p:txBody>
          <a:bodyPr/>
          <a:lstStyle/>
          <a:p>
            <a:fld id="{576412EB-C0EF-482B-A7DD-D6E44E41A460}" type="slidenum">
              <a:rPr lang="en-US" altLang="en-US" smtClean="0"/>
              <a:pPr/>
              <a:t>20</a:t>
            </a:fld>
            <a:endParaRPr lang="en-US" altLang="en-US"/>
          </a:p>
        </p:txBody>
      </p:sp>
    </p:spTree>
    <p:extLst>
      <p:ext uri="{BB962C8B-B14F-4D97-AF65-F5344CB8AC3E}">
        <p14:creationId xmlns:p14="http://schemas.microsoft.com/office/powerpoint/2010/main" val="124447382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a:extLst>
              <a:ext uri="{FF2B5EF4-FFF2-40B4-BE49-F238E27FC236}">
                <a16:creationId xmlns:a16="http://schemas.microsoft.com/office/drawing/2014/main" id="{44A748FF-9EF8-05D4-B19C-C02C9FB57C9C}"/>
              </a:ext>
            </a:extLst>
          </p:cNvPr>
          <p:cNvSpPr>
            <a:spLocks noGrp="1" noRot="1" noChangeAspect="1" noTextEdit="1"/>
          </p:cNvSpPr>
          <p:nvPr>
            <p:ph type="sldImg"/>
          </p:nvPr>
        </p:nvSpPr>
        <p:spPr>
          <a:xfrm>
            <a:off x="381000" y="685800"/>
            <a:ext cx="6096000" cy="3429000"/>
          </a:xfrm>
          <a:ln/>
        </p:spPr>
      </p:sp>
      <p:sp>
        <p:nvSpPr>
          <p:cNvPr id="61443" name="Notes Placeholder 2">
            <a:extLst>
              <a:ext uri="{FF2B5EF4-FFF2-40B4-BE49-F238E27FC236}">
                <a16:creationId xmlns:a16="http://schemas.microsoft.com/office/drawing/2014/main" id="{7924DAA9-C4E7-D88D-A112-A0A86869404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rPr>
              <a:t>https://cloudappreciationsociety.org/</a:t>
            </a:r>
          </a:p>
        </p:txBody>
      </p:sp>
      <p:sp>
        <p:nvSpPr>
          <p:cNvPr id="61444" name="Slide Number Placeholder 3">
            <a:extLst>
              <a:ext uri="{FF2B5EF4-FFF2-40B4-BE49-F238E27FC236}">
                <a16:creationId xmlns:a16="http://schemas.microsoft.com/office/drawing/2014/main" id="{DD47DBCB-C665-6740-E58A-A9CA113E371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40316E57-6404-44A3-8C79-E507E7F14602}" type="slidenum">
              <a:rPr lang="en-US" altLang="en-US"/>
              <a:pPr/>
              <a:t>21</a:t>
            </a:fld>
            <a:endParaRPr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a:extLst>
              <a:ext uri="{FF2B5EF4-FFF2-40B4-BE49-F238E27FC236}">
                <a16:creationId xmlns:a16="http://schemas.microsoft.com/office/drawing/2014/main" id="{7797F30B-7D82-06EE-4D5E-25B8744D59E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BF26AFAE-4485-47EA-8BC9-BD979B01FE88}" type="slidenum">
              <a:rPr lang="en-US" altLang="en-US"/>
              <a:pPr/>
              <a:t>23</a:t>
            </a:fld>
            <a:endParaRPr lang="en-US" altLang="en-US"/>
          </a:p>
        </p:txBody>
      </p:sp>
      <p:sp>
        <p:nvSpPr>
          <p:cNvPr id="62467" name="Rectangle 2">
            <a:extLst>
              <a:ext uri="{FF2B5EF4-FFF2-40B4-BE49-F238E27FC236}">
                <a16:creationId xmlns:a16="http://schemas.microsoft.com/office/drawing/2014/main" id="{D8C2B525-B3CB-820F-4875-DF75DF617A0A}"/>
              </a:ext>
            </a:extLst>
          </p:cNvPr>
          <p:cNvSpPr>
            <a:spLocks noGrp="1" noRot="1" noChangeAspect="1" noChangeArrowheads="1" noTextEdit="1"/>
          </p:cNvSpPr>
          <p:nvPr>
            <p:ph type="sldImg"/>
          </p:nvPr>
        </p:nvSpPr>
        <p:spPr>
          <a:ln/>
        </p:spPr>
      </p:sp>
      <p:sp>
        <p:nvSpPr>
          <p:cNvPr id="62468" name="Rectangle 3">
            <a:extLst>
              <a:ext uri="{FF2B5EF4-FFF2-40B4-BE49-F238E27FC236}">
                <a16:creationId xmlns:a16="http://schemas.microsoft.com/office/drawing/2014/main" id="{AAE9DFEF-8174-74CB-A69D-7840E62A109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Arial" panose="020B0604020202020204" pitchFamily="34" charset="0"/>
              </a:rPr>
              <a:t>Inland radiation fog</a:t>
            </a:r>
          </a:p>
          <a:p>
            <a:pPr eaLnBrk="1" hangingPunct="1"/>
            <a:endParaRPr lang="en-US" altLang="en-US" dirty="0">
              <a:latin typeface="Arial" panose="020B0604020202020204" pitchFamily="34"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a:extLst>
              <a:ext uri="{FF2B5EF4-FFF2-40B4-BE49-F238E27FC236}">
                <a16:creationId xmlns:a16="http://schemas.microsoft.com/office/drawing/2014/main" id="{54BD026A-2E69-8D00-C2D0-33A43DE373D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018D1EFD-5D12-4D9D-ABDA-12DF26C27687}" type="slidenum">
              <a:rPr lang="en-US" altLang="en-US"/>
              <a:pPr/>
              <a:t>25</a:t>
            </a:fld>
            <a:endParaRPr lang="en-US" altLang="en-US"/>
          </a:p>
        </p:txBody>
      </p:sp>
      <p:sp>
        <p:nvSpPr>
          <p:cNvPr id="65539" name="Rectangle 2">
            <a:extLst>
              <a:ext uri="{FF2B5EF4-FFF2-40B4-BE49-F238E27FC236}">
                <a16:creationId xmlns:a16="http://schemas.microsoft.com/office/drawing/2014/main" id="{C3A5B10B-5D30-7CA0-7DB5-94F192D97EE1}"/>
              </a:ext>
            </a:extLst>
          </p:cNvPr>
          <p:cNvSpPr>
            <a:spLocks noGrp="1" noRot="1" noChangeAspect="1" noChangeArrowheads="1" noTextEdit="1"/>
          </p:cNvSpPr>
          <p:nvPr>
            <p:ph type="sldImg"/>
          </p:nvPr>
        </p:nvSpPr>
        <p:spPr>
          <a:ln/>
        </p:spPr>
      </p:sp>
      <p:sp>
        <p:nvSpPr>
          <p:cNvPr id="65540" name="Rectangle 3">
            <a:extLst>
              <a:ext uri="{FF2B5EF4-FFF2-40B4-BE49-F238E27FC236}">
                <a16:creationId xmlns:a16="http://schemas.microsoft.com/office/drawing/2014/main" id="{45ABB7D3-F375-5EA5-7E76-300265B7B308}"/>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rPr>
              <a:t>Maine evaporation fog</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a:extLst>
              <a:ext uri="{FF2B5EF4-FFF2-40B4-BE49-F238E27FC236}">
                <a16:creationId xmlns:a16="http://schemas.microsoft.com/office/drawing/2014/main" id="{63D0D663-ABC7-D9DF-6450-5D758C64664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B6E5E277-B475-4EF8-B3DF-DFEAEA06A3D7}" type="slidenum">
              <a:rPr lang="en-US" altLang="en-US"/>
              <a:pPr/>
              <a:t>26</a:t>
            </a:fld>
            <a:endParaRPr lang="en-US" altLang="en-US"/>
          </a:p>
        </p:txBody>
      </p:sp>
      <p:sp>
        <p:nvSpPr>
          <p:cNvPr id="66563" name="Rectangle 2">
            <a:extLst>
              <a:ext uri="{FF2B5EF4-FFF2-40B4-BE49-F238E27FC236}">
                <a16:creationId xmlns:a16="http://schemas.microsoft.com/office/drawing/2014/main" id="{5B232EE3-7D93-0A0E-6E5B-344B492A2DB6}"/>
              </a:ext>
            </a:extLst>
          </p:cNvPr>
          <p:cNvSpPr>
            <a:spLocks noGrp="1" noRot="1" noChangeAspect="1" noChangeArrowheads="1" noTextEdit="1"/>
          </p:cNvSpPr>
          <p:nvPr>
            <p:ph type="sldImg"/>
          </p:nvPr>
        </p:nvSpPr>
        <p:spPr>
          <a:ln/>
        </p:spPr>
      </p:sp>
      <p:sp>
        <p:nvSpPr>
          <p:cNvPr id="66564" name="Rectangle 3">
            <a:extLst>
              <a:ext uri="{FF2B5EF4-FFF2-40B4-BE49-F238E27FC236}">
                <a16:creationId xmlns:a16="http://schemas.microsoft.com/office/drawing/2014/main" id="{91642BA7-AB04-88EA-F736-E64538292EAE}"/>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Kentucky River</a:t>
            </a:r>
          </a:p>
        </p:txBody>
      </p:sp>
      <p:sp>
        <p:nvSpPr>
          <p:cNvPr id="4" name="Slide Number Placeholder 3"/>
          <p:cNvSpPr>
            <a:spLocks noGrp="1"/>
          </p:cNvSpPr>
          <p:nvPr>
            <p:ph type="sldNum" sz="quarter" idx="5"/>
          </p:nvPr>
        </p:nvSpPr>
        <p:spPr/>
        <p:txBody>
          <a:bodyPr/>
          <a:lstStyle/>
          <a:p>
            <a:fld id="{576412EB-C0EF-482B-A7DD-D6E44E41A460}" type="slidenum">
              <a:rPr lang="en-US" altLang="en-US" smtClean="0"/>
              <a:pPr/>
              <a:t>27</a:t>
            </a:fld>
            <a:endParaRPr lang="en-US" altLang="en-US"/>
          </a:p>
        </p:txBody>
      </p:sp>
    </p:spTree>
    <p:extLst>
      <p:ext uri="{BB962C8B-B14F-4D97-AF65-F5344CB8AC3E}">
        <p14:creationId xmlns:p14="http://schemas.microsoft.com/office/powerpoint/2010/main" val="75016035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a:extLst>
              <a:ext uri="{FF2B5EF4-FFF2-40B4-BE49-F238E27FC236}">
                <a16:creationId xmlns:a16="http://schemas.microsoft.com/office/drawing/2014/main" id="{2AD1B692-1EBC-10FE-D2F0-B70E8767F3F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0EABDE2B-E2DE-4049-B0C0-7619B641FC56}" type="slidenum">
              <a:rPr lang="en-US" altLang="en-US"/>
              <a:pPr/>
              <a:t>28</a:t>
            </a:fld>
            <a:endParaRPr lang="en-US" altLang="en-US"/>
          </a:p>
        </p:txBody>
      </p:sp>
      <p:sp>
        <p:nvSpPr>
          <p:cNvPr id="63491" name="Rectangle 2">
            <a:extLst>
              <a:ext uri="{FF2B5EF4-FFF2-40B4-BE49-F238E27FC236}">
                <a16:creationId xmlns:a16="http://schemas.microsoft.com/office/drawing/2014/main" id="{6F3B5525-B525-1BF2-40FB-A218FE7CDF9B}"/>
              </a:ext>
            </a:extLst>
          </p:cNvPr>
          <p:cNvSpPr>
            <a:spLocks noGrp="1" noRot="1" noChangeAspect="1" noChangeArrowheads="1" noTextEdit="1"/>
          </p:cNvSpPr>
          <p:nvPr>
            <p:ph type="sldImg"/>
          </p:nvPr>
        </p:nvSpPr>
        <p:spPr>
          <a:ln/>
        </p:spPr>
      </p:sp>
      <p:sp>
        <p:nvSpPr>
          <p:cNvPr id="63492" name="Rectangle 3">
            <a:extLst>
              <a:ext uri="{FF2B5EF4-FFF2-40B4-BE49-F238E27FC236}">
                <a16:creationId xmlns:a16="http://schemas.microsoft.com/office/drawing/2014/main" id="{E09C3BE8-B022-6E93-B26B-F1DDEE7AFFD8}"/>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rPr>
              <a:t>California; advection fog</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a:extLst>
              <a:ext uri="{FF2B5EF4-FFF2-40B4-BE49-F238E27FC236}">
                <a16:creationId xmlns:a16="http://schemas.microsoft.com/office/drawing/2014/main" id="{C276D7AB-782D-B222-1015-0F0D51917EB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7BC0CCD5-1AFA-4AC0-AB07-2A940A777A0C}" type="slidenum">
              <a:rPr lang="en-US" altLang="en-US"/>
              <a:pPr/>
              <a:t>29</a:t>
            </a:fld>
            <a:endParaRPr lang="en-US" altLang="en-US"/>
          </a:p>
        </p:txBody>
      </p:sp>
      <p:sp>
        <p:nvSpPr>
          <p:cNvPr id="64515" name="Rectangle 2">
            <a:extLst>
              <a:ext uri="{FF2B5EF4-FFF2-40B4-BE49-F238E27FC236}">
                <a16:creationId xmlns:a16="http://schemas.microsoft.com/office/drawing/2014/main" id="{C106BEB4-FF6E-89D7-84DB-1EF31B32CB0E}"/>
              </a:ext>
            </a:extLst>
          </p:cNvPr>
          <p:cNvSpPr>
            <a:spLocks noGrp="1" noRot="1" noChangeAspect="1" noChangeArrowheads="1" noTextEdit="1"/>
          </p:cNvSpPr>
          <p:nvPr>
            <p:ph type="sldImg"/>
          </p:nvPr>
        </p:nvSpPr>
        <p:spPr>
          <a:ln/>
        </p:spPr>
      </p:sp>
      <p:sp>
        <p:nvSpPr>
          <p:cNvPr id="64516" name="Rectangle 3">
            <a:extLst>
              <a:ext uri="{FF2B5EF4-FFF2-40B4-BE49-F238E27FC236}">
                <a16:creationId xmlns:a16="http://schemas.microsoft.com/office/drawing/2014/main" id="{44C75A60-B4BA-022C-28AC-DB1AEE125E44}"/>
              </a:ext>
            </a:extLst>
          </p:cNvPr>
          <p:cNvSpPr>
            <a:spLocks noGrp="1" noChangeArrowheads="1"/>
          </p:cNvSpPr>
          <p:nvPr>
            <p:ph type="body" idx="1"/>
          </p:nvPr>
        </p:nvSpPr>
        <p:spPr>
          <a:xfrm>
            <a:off x="914400" y="4343400"/>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https://fog.today/fogust/</a:t>
            </a:r>
          </a:p>
        </p:txBody>
      </p:sp>
      <p:sp>
        <p:nvSpPr>
          <p:cNvPr id="4" name="Slide Number Placeholder 3"/>
          <p:cNvSpPr>
            <a:spLocks noGrp="1"/>
          </p:cNvSpPr>
          <p:nvPr>
            <p:ph type="sldNum" sz="quarter" idx="5"/>
          </p:nvPr>
        </p:nvSpPr>
        <p:spPr/>
        <p:txBody>
          <a:bodyPr/>
          <a:lstStyle/>
          <a:p>
            <a:fld id="{576412EB-C0EF-482B-A7DD-D6E44E41A460}" type="slidenum">
              <a:rPr lang="en-US" altLang="en-US" smtClean="0"/>
              <a:pPr/>
              <a:t>31</a:t>
            </a:fld>
            <a:endParaRPr lang="en-US" altLang="en-US"/>
          </a:p>
        </p:txBody>
      </p:sp>
    </p:spTree>
    <p:extLst>
      <p:ext uri="{BB962C8B-B14F-4D97-AF65-F5344CB8AC3E}">
        <p14:creationId xmlns:p14="http://schemas.microsoft.com/office/powerpoint/2010/main" val="346277521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47B598-5C93-DF46-B6C3-03602B97527D}"/>
            </a:ext>
          </a:extLst>
        </p:cNvPr>
        <p:cNvGrpSpPr/>
        <p:nvPr/>
      </p:nvGrpSpPr>
      <p:grpSpPr>
        <a:xfrm>
          <a:off x="0" y="0"/>
          <a:ext cx="0" cy="0"/>
          <a:chOff x="0" y="0"/>
          <a:chExt cx="0" cy="0"/>
        </a:xfrm>
      </p:grpSpPr>
      <p:sp>
        <p:nvSpPr>
          <p:cNvPr id="68610" name="Slide Image Placeholder 1">
            <a:extLst>
              <a:ext uri="{FF2B5EF4-FFF2-40B4-BE49-F238E27FC236}">
                <a16:creationId xmlns:a16="http://schemas.microsoft.com/office/drawing/2014/main" id="{6E217FE8-E2AD-9992-96D0-332AA5C75067}"/>
              </a:ext>
            </a:extLst>
          </p:cNvPr>
          <p:cNvSpPr>
            <a:spLocks noGrp="1" noRot="1" noChangeAspect="1" noTextEdit="1"/>
          </p:cNvSpPr>
          <p:nvPr>
            <p:ph type="sldImg"/>
          </p:nvPr>
        </p:nvSpPr>
        <p:spPr>
          <a:xfrm>
            <a:off x="381000" y="685800"/>
            <a:ext cx="6096000" cy="3429000"/>
          </a:xfrm>
          <a:ln/>
        </p:spPr>
      </p:sp>
      <p:sp>
        <p:nvSpPr>
          <p:cNvPr id="68611" name="Notes Placeholder 2">
            <a:extLst>
              <a:ext uri="{FF2B5EF4-FFF2-40B4-BE49-F238E27FC236}">
                <a16:creationId xmlns:a16="http://schemas.microsoft.com/office/drawing/2014/main" id="{AB235FE8-9926-128A-77E1-57FE10D0669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68612" name="Slide Number Placeholder 3">
            <a:extLst>
              <a:ext uri="{FF2B5EF4-FFF2-40B4-BE49-F238E27FC236}">
                <a16:creationId xmlns:a16="http://schemas.microsoft.com/office/drawing/2014/main" id="{6820D688-ADEC-9206-E7A1-CFEF02B444D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D1721373-0E32-446A-98D6-FA49E6EDB7E9}" type="slidenum">
              <a:rPr lang="en-US" altLang="en-US"/>
              <a:pPr/>
              <a:t>37</a:t>
            </a:fld>
            <a:endParaRPr lang="en-US" altLang="en-US"/>
          </a:p>
        </p:txBody>
      </p:sp>
    </p:spTree>
    <p:extLst>
      <p:ext uri="{BB962C8B-B14F-4D97-AF65-F5344CB8AC3E}">
        <p14:creationId xmlns:p14="http://schemas.microsoft.com/office/powerpoint/2010/main" val="191737026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lide Image Placeholder 1">
            <a:extLst>
              <a:ext uri="{FF2B5EF4-FFF2-40B4-BE49-F238E27FC236}">
                <a16:creationId xmlns:a16="http://schemas.microsoft.com/office/drawing/2014/main" id="{6CE399FB-E878-08DF-9762-E33567C4F0D2}"/>
              </a:ext>
            </a:extLst>
          </p:cNvPr>
          <p:cNvSpPr>
            <a:spLocks noGrp="1" noRot="1" noChangeAspect="1" noTextEdit="1"/>
          </p:cNvSpPr>
          <p:nvPr>
            <p:ph type="sldImg"/>
          </p:nvPr>
        </p:nvSpPr>
        <p:spPr>
          <a:xfrm>
            <a:off x="381000" y="685800"/>
            <a:ext cx="6096000" cy="3429000"/>
          </a:xfrm>
          <a:ln/>
        </p:spPr>
      </p:sp>
      <p:sp>
        <p:nvSpPr>
          <p:cNvPr id="69635" name="Notes Placeholder 2">
            <a:extLst>
              <a:ext uri="{FF2B5EF4-FFF2-40B4-BE49-F238E27FC236}">
                <a16:creationId xmlns:a16="http://schemas.microsoft.com/office/drawing/2014/main" id="{A3A0ED01-A876-C198-A413-672FD947F41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Arial" panose="020B0604020202020204" pitchFamily="34" charset="0"/>
            </a:endParaRPr>
          </a:p>
        </p:txBody>
      </p:sp>
      <p:sp>
        <p:nvSpPr>
          <p:cNvPr id="69636" name="Slide Number Placeholder 3">
            <a:extLst>
              <a:ext uri="{FF2B5EF4-FFF2-40B4-BE49-F238E27FC236}">
                <a16:creationId xmlns:a16="http://schemas.microsoft.com/office/drawing/2014/main" id="{C41CFB40-E847-1E38-6141-1940C1C81AE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B98528C5-E7FD-4F08-B03A-74C68CDDB2D5}" type="slidenum">
              <a:rPr lang="en-US" altLang="en-US"/>
              <a:pPr/>
              <a:t>39</a:t>
            </a:fld>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a:extLst>
              <a:ext uri="{FF2B5EF4-FFF2-40B4-BE49-F238E27FC236}">
                <a16:creationId xmlns:a16="http://schemas.microsoft.com/office/drawing/2014/main" id="{AEB0B22C-313B-F660-A8EB-F59B60CA62D5}"/>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238EF5EA-4A34-FCE7-B21D-23B4CF3DC8E5}"/>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05318504-93D5-6098-E012-336590A1C38C}"/>
              </a:ext>
            </a:extLst>
          </p:cNvPr>
          <p:cNvSpPr>
            <a:spLocks noGrp="1" noChangeArrowheads="1"/>
          </p:cNvSpPr>
          <p:nvPr>
            <p:ph type="sldNum" sz="quarter" idx="12"/>
          </p:nvPr>
        </p:nvSpPr>
        <p:spPr>
          <a:ln/>
        </p:spPr>
        <p:txBody>
          <a:bodyPr/>
          <a:lstStyle>
            <a:lvl1pPr>
              <a:defRPr/>
            </a:lvl1pPr>
          </a:lstStyle>
          <a:p>
            <a:fld id="{9328E276-2954-4C12-92EB-81C5E8D6C8FE}" type="slidenum">
              <a:rPr lang="en-US" altLang="en-US"/>
              <a:pPr/>
              <a:t>‹#›</a:t>
            </a:fld>
            <a:endParaRPr lang="en-US" altLang="en-US"/>
          </a:p>
        </p:txBody>
      </p:sp>
    </p:spTree>
    <p:extLst>
      <p:ext uri="{BB962C8B-B14F-4D97-AF65-F5344CB8AC3E}">
        <p14:creationId xmlns:p14="http://schemas.microsoft.com/office/powerpoint/2010/main" val="5839835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F27C0B2D-284F-5C95-C2F8-4CBC50B3E88D}"/>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FA5E50BB-6D8F-6065-ED00-E74E679EDECB}"/>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DE383C2C-8512-61DC-AFBE-E9C9A277866F}"/>
              </a:ext>
            </a:extLst>
          </p:cNvPr>
          <p:cNvSpPr>
            <a:spLocks noGrp="1" noChangeArrowheads="1"/>
          </p:cNvSpPr>
          <p:nvPr>
            <p:ph type="sldNum" sz="quarter" idx="12"/>
          </p:nvPr>
        </p:nvSpPr>
        <p:spPr>
          <a:ln/>
        </p:spPr>
        <p:txBody>
          <a:bodyPr/>
          <a:lstStyle>
            <a:lvl1pPr>
              <a:defRPr/>
            </a:lvl1pPr>
          </a:lstStyle>
          <a:p>
            <a:fld id="{01C2D392-7F9F-4AB7-8703-7012D211C457}" type="slidenum">
              <a:rPr lang="en-US" altLang="en-US"/>
              <a:pPr/>
              <a:t>‹#›</a:t>
            </a:fld>
            <a:endParaRPr lang="en-US" altLang="en-US"/>
          </a:p>
        </p:txBody>
      </p:sp>
    </p:spTree>
    <p:extLst>
      <p:ext uri="{BB962C8B-B14F-4D97-AF65-F5344CB8AC3E}">
        <p14:creationId xmlns:p14="http://schemas.microsoft.com/office/powerpoint/2010/main" val="11687799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868C8DAF-9B0D-4241-F603-789238455CE7}"/>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251D2034-7290-E14C-BD76-2386709099AA}"/>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56804A19-86FF-D579-EA3B-020B9A98D584}"/>
              </a:ext>
            </a:extLst>
          </p:cNvPr>
          <p:cNvSpPr>
            <a:spLocks noGrp="1" noChangeArrowheads="1"/>
          </p:cNvSpPr>
          <p:nvPr>
            <p:ph type="sldNum" sz="quarter" idx="12"/>
          </p:nvPr>
        </p:nvSpPr>
        <p:spPr>
          <a:ln/>
        </p:spPr>
        <p:txBody>
          <a:bodyPr/>
          <a:lstStyle>
            <a:lvl1pPr>
              <a:defRPr/>
            </a:lvl1pPr>
          </a:lstStyle>
          <a:p>
            <a:fld id="{CCB75ABA-CF6F-4790-B270-0A3490239289}" type="slidenum">
              <a:rPr lang="en-US" altLang="en-US"/>
              <a:pPr/>
              <a:t>‹#›</a:t>
            </a:fld>
            <a:endParaRPr lang="en-US" altLang="en-US"/>
          </a:p>
        </p:txBody>
      </p:sp>
    </p:spTree>
    <p:extLst>
      <p:ext uri="{BB962C8B-B14F-4D97-AF65-F5344CB8AC3E}">
        <p14:creationId xmlns:p14="http://schemas.microsoft.com/office/powerpoint/2010/main" val="9363490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8427E290-0F02-3A48-A589-13D8213C7FBD}"/>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0C17902B-35F1-C5B0-E76A-3DB27D0D914A}"/>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5123BEF6-9D5B-7B8D-7F92-0E8850A9341E}"/>
              </a:ext>
            </a:extLst>
          </p:cNvPr>
          <p:cNvSpPr>
            <a:spLocks noGrp="1" noChangeArrowheads="1"/>
          </p:cNvSpPr>
          <p:nvPr>
            <p:ph type="sldNum" sz="quarter" idx="12"/>
          </p:nvPr>
        </p:nvSpPr>
        <p:spPr>
          <a:ln/>
        </p:spPr>
        <p:txBody>
          <a:bodyPr/>
          <a:lstStyle>
            <a:lvl1pPr>
              <a:defRPr/>
            </a:lvl1pPr>
          </a:lstStyle>
          <a:p>
            <a:fld id="{01A34F1A-71DF-42C0-A8F3-7AE3B990C647}" type="slidenum">
              <a:rPr lang="en-US" altLang="en-US"/>
              <a:pPr/>
              <a:t>‹#›</a:t>
            </a:fld>
            <a:endParaRPr lang="en-US" altLang="en-US"/>
          </a:p>
        </p:txBody>
      </p:sp>
    </p:spTree>
    <p:extLst>
      <p:ext uri="{BB962C8B-B14F-4D97-AF65-F5344CB8AC3E}">
        <p14:creationId xmlns:p14="http://schemas.microsoft.com/office/powerpoint/2010/main" val="21942577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27B33F52-794C-2E36-F52D-3DC820FD8B6B}"/>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5">
            <a:extLst>
              <a:ext uri="{FF2B5EF4-FFF2-40B4-BE49-F238E27FC236}">
                <a16:creationId xmlns:a16="http://schemas.microsoft.com/office/drawing/2014/main" id="{D0CF23A4-C6B5-E644-914A-278ED0D8ED94}"/>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6">
            <a:extLst>
              <a:ext uri="{FF2B5EF4-FFF2-40B4-BE49-F238E27FC236}">
                <a16:creationId xmlns:a16="http://schemas.microsoft.com/office/drawing/2014/main" id="{E6C305F1-BDC2-E32D-31F2-D4676B56E54B}"/>
              </a:ext>
            </a:extLst>
          </p:cNvPr>
          <p:cNvSpPr>
            <a:spLocks noGrp="1" noChangeArrowheads="1"/>
          </p:cNvSpPr>
          <p:nvPr>
            <p:ph type="sldNum" sz="quarter" idx="12"/>
          </p:nvPr>
        </p:nvSpPr>
        <p:spPr>
          <a:ln/>
        </p:spPr>
        <p:txBody>
          <a:bodyPr/>
          <a:lstStyle>
            <a:lvl1pPr>
              <a:defRPr/>
            </a:lvl1pPr>
          </a:lstStyle>
          <a:p>
            <a:fld id="{D93DC357-241A-4B44-8B85-72C82AFC3C24}" type="slidenum">
              <a:rPr lang="en-US" altLang="en-US"/>
              <a:pPr/>
              <a:t>‹#›</a:t>
            </a:fld>
            <a:endParaRPr lang="en-US" altLang="en-US"/>
          </a:p>
        </p:txBody>
      </p:sp>
    </p:spTree>
    <p:extLst>
      <p:ext uri="{BB962C8B-B14F-4D97-AF65-F5344CB8AC3E}">
        <p14:creationId xmlns:p14="http://schemas.microsoft.com/office/powerpoint/2010/main" val="15449174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5210923C-1CB8-63BB-28D1-C84E7CE0E77A}"/>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5">
            <a:extLst>
              <a:ext uri="{FF2B5EF4-FFF2-40B4-BE49-F238E27FC236}">
                <a16:creationId xmlns:a16="http://schemas.microsoft.com/office/drawing/2014/main" id="{36383A09-5DA7-C7C3-5626-DBF39E651447}"/>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B369D132-C75E-B081-D234-83D3DB8C486F}"/>
              </a:ext>
            </a:extLst>
          </p:cNvPr>
          <p:cNvSpPr>
            <a:spLocks noGrp="1" noChangeArrowheads="1"/>
          </p:cNvSpPr>
          <p:nvPr>
            <p:ph type="sldNum" sz="quarter" idx="12"/>
          </p:nvPr>
        </p:nvSpPr>
        <p:spPr>
          <a:ln/>
        </p:spPr>
        <p:txBody>
          <a:bodyPr/>
          <a:lstStyle>
            <a:lvl1pPr>
              <a:defRPr/>
            </a:lvl1pPr>
          </a:lstStyle>
          <a:p>
            <a:fld id="{20237E37-3FE3-494D-A852-729170BBD2E2}" type="slidenum">
              <a:rPr lang="en-US" altLang="en-US"/>
              <a:pPr/>
              <a:t>‹#›</a:t>
            </a:fld>
            <a:endParaRPr lang="en-US" altLang="en-US"/>
          </a:p>
        </p:txBody>
      </p:sp>
    </p:spTree>
    <p:extLst>
      <p:ext uri="{BB962C8B-B14F-4D97-AF65-F5344CB8AC3E}">
        <p14:creationId xmlns:p14="http://schemas.microsoft.com/office/powerpoint/2010/main" val="21610305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424F418F-142F-26B6-E1FF-37507492DDA4}"/>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5">
            <a:extLst>
              <a:ext uri="{FF2B5EF4-FFF2-40B4-BE49-F238E27FC236}">
                <a16:creationId xmlns:a16="http://schemas.microsoft.com/office/drawing/2014/main" id="{F15835CB-9452-97F6-8685-976899CDA358}"/>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6">
            <a:extLst>
              <a:ext uri="{FF2B5EF4-FFF2-40B4-BE49-F238E27FC236}">
                <a16:creationId xmlns:a16="http://schemas.microsoft.com/office/drawing/2014/main" id="{7FBAA010-216F-21E1-3A7A-FCADF0E78981}"/>
              </a:ext>
            </a:extLst>
          </p:cNvPr>
          <p:cNvSpPr>
            <a:spLocks noGrp="1" noChangeArrowheads="1"/>
          </p:cNvSpPr>
          <p:nvPr>
            <p:ph type="sldNum" sz="quarter" idx="12"/>
          </p:nvPr>
        </p:nvSpPr>
        <p:spPr>
          <a:ln/>
        </p:spPr>
        <p:txBody>
          <a:bodyPr/>
          <a:lstStyle>
            <a:lvl1pPr>
              <a:defRPr/>
            </a:lvl1pPr>
          </a:lstStyle>
          <a:p>
            <a:fld id="{3A3846E0-58B4-40D6-B5EF-1F1DC568CCDA}" type="slidenum">
              <a:rPr lang="en-US" altLang="en-US"/>
              <a:pPr/>
              <a:t>‹#›</a:t>
            </a:fld>
            <a:endParaRPr lang="en-US" altLang="en-US"/>
          </a:p>
        </p:txBody>
      </p:sp>
    </p:spTree>
    <p:extLst>
      <p:ext uri="{BB962C8B-B14F-4D97-AF65-F5344CB8AC3E}">
        <p14:creationId xmlns:p14="http://schemas.microsoft.com/office/powerpoint/2010/main" val="13702867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D2D17A32-8004-D430-8FE7-ED3C6A64B396}"/>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B79C45B2-BAE2-2E8B-F770-D9A1D3D821A8}"/>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2FA8AEF0-0AD7-07B0-118F-BA9ADF5934A3}"/>
              </a:ext>
            </a:extLst>
          </p:cNvPr>
          <p:cNvSpPr>
            <a:spLocks noGrp="1" noChangeArrowheads="1"/>
          </p:cNvSpPr>
          <p:nvPr>
            <p:ph type="sldNum" sz="quarter" idx="12"/>
          </p:nvPr>
        </p:nvSpPr>
        <p:spPr>
          <a:ln/>
        </p:spPr>
        <p:txBody>
          <a:bodyPr/>
          <a:lstStyle>
            <a:lvl1pPr>
              <a:defRPr/>
            </a:lvl1pPr>
          </a:lstStyle>
          <a:p>
            <a:fld id="{E29E3E4D-0496-4FD5-8E84-0EA73C0809A0}" type="slidenum">
              <a:rPr lang="en-US" altLang="en-US"/>
              <a:pPr/>
              <a:t>‹#›</a:t>
            </a:fld>
            <a:endParaRPr lang="en-US" altLang="en-US"/>
          </a:p>
        </p:txBody>
      </p:sp>
    </p:spTree>
    <p:extLst>
      <p:ext uri="{BB962C8B-B14F-4D97-AF65-F5344CB8AC3E}">
        <p14:creationId xmlns:p14="http://schemas.microsoft.com/office/powerpoint/2010/main" val="31526466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74E1ECE5-E708-B8E6-FD37-6AD0082333CE}"/>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D8D41480-1870-2CE7-C70A-167E4CB9AB89}"/>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43059D8D-2D0E-6793-3B70-63703BD16F2E}"/>
              </a:ext>
            </a:extLst>
          </p:cNvPr>
          <p:cNvSpPr>
            <a:spLocks noGrp="1" noChangeArrowheads="1"/>
          </p:cNvSpPr>
          <p:nvPr>
            <p:ph type="sldNum" sz="quarter" idx="12"/>
          </p:nvPr>
        </p:nvSpPr>
        <p:spPr>
          <a:ln/>
        </p:spPr>
        <p:txBody>
          <a:bodyPr/>
          <a:lstStyle>
            <a:lvl1pPr>
              <a:defRPr/>
            </a:lvl1pPr>
          </a:lstStyle>
          <a:p>
            <a:fld id="{6BE97DCD-34AB-4B07-BA13-D20A010CA488}" type="slidenum">
              <a:rPr lang="en-US" altLang="en-US"/>
              <a:pPr/>
              <a:t>‹#›</a:t>
            </a:fld>
            <a:endParaRPr lang="en-US" altLang="en-US"/>
          </a:p>
        </p:txBody>
      </p:sp>
    </p:spTree>
    <p:extLst>
      <p:ext uri="{BB962C8B-B14F-4D97-AF65-F5344CB8AC3E}">
        <p14:creationId xmlns:p14="http://schemas.microsoft.com/office/powerpoint/2010/main" val="33593388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426F3429-6EEA-36A9-AA71-A1D95D9438EA}"/>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BA6F5D75-143B-90C4-96F6-C1CAD27C9B1B}"/>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0827EA78-4817-15A7-A66F-C987D3C24019}"/>
              </a:ext>
            </a:extLst>
          </p:cNvPr>
          <p:cNvSpPr>
            <a:spLocks noGrp="1" noChangeArrowheads="1"/>
          </p:cNvSpPr>
          <p:nvPr>
            <p:ph type="sldNum" sz="quarter" idx="12"/>
          </p:nvPr>
        </p:nvSpPr>
        <p:spPr>
          <a:ln/>
        </p:spPr>
        <p:txBody>
          <a:bodyPr/>
          <a:lstStyle>
            <a:lvl1pPr>
              <a:defRPr/>
            </a:lvl1pPr>
          </a:lstStyle>
          <a:p>
            <a:fld id="{2B8F2F67-2C3E-4610-9180-4AF2C73C4FB6}" type="slidenum">
              <a:rPr lang="en-US" altLang="en-US"/>
              <a:pPr/>
              <a:t>‹#›</a:t>
            </a:fld>
            <a:endParaRPr lang="en-US" altLang="en-US"/>
          </a:p>
        </p:txBody>
      </p:sp>
    </p:spTree>
    <p:extLst>
      <p:ext uri="{BB962C8B-B14F-4D97-AF65-F5344CB8AC3E}">
        <p14:creationId xmlns:p14="http://schemas.microsoft.com/office/powerpoint/2010/main" val="30370103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01630F9C-3A4D-7421-EF69-ABFAAD2131E7}"/>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1BECB047-97E6-7CBD-0C10-4DAC4B1235AC}"/>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F048FEC6-1890-25F4-55E8-4C5B4799897E}"/>
              </a:ext>
            </a:extLst>
          </p:cNvPr>
          <p:cNvSpPr>
            <a:spLocks noGrp="1" noChangeArrowheads="1"/>
          </p:cNvSpPr>
          <p:nvPr>
            <p:ph type="sldNum" sz="quarter" idx="12"/>
          </p:nvPr>
        </p:nvSpPr>
        <p:spPr>
          <a:ln/>
        </p:spPr>
        <p:txBody>
          <a:bodyPr/>
          <a:lstStyle>
            <a:lvl1pPr>
              <a:defRPr/>
            </a:lvl1pPr>
          </a:lstStyle>
          <a:p>
            <a:fld id="{D0F386E9-78A1-4837-81D9-5830E7CB8F81}" type="slidenum">
              <a:rPr lang="en-US" altLang="en-US"/>
              <a:pPr/>
              <a:t>‹#›</a:t>
            </a:fld>
            <a:endParaRPr lang="en-US" altLang="en-US"/>
          </a:p>
        </p:txBody>
      </p:sp>
    </p:spTree>
    <p:extLst>
      <p:ext uri="{BB962C8B-B14F-4D97-AF65-F5344CB8AC3E}">
        <p14:creationId xmlns:p14="http://schemas.microsoft.com/office/powerpoint/2010/main" val="24340080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CC46410B-0C11-A71D-2E0B-FC2F0809DCE6}"/>
              </a:ext>
            </a:extLst>
          </p:cNvPr>
          <p:cNvSpPr>
            <a:spLocks noGrp="1" noChangeArrowheads="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4E163F77-CB57-9A21-A9E7-9C58C67891E2}"/>
              </a:ext>
            </a:extLst>
          </p:cNvPr>
          <p:cNvSpPr>
            <a:spLocks noGrp="1" noChangeArrowheads="1"/>
          </p:cNvSpPr>
          <p:nvPr>
            <p:ph type="body" idx="1"/>
          </p:nvPr>
        </p:nvSpPr>
        <p:spPr bwMode="auto">
          <a:xfrm>
            <a:off x="609600" y="1600201"/>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a:extLst>
              <a:ext uri="{FF2B5EF4-FFF2-40B4-BE49-F238E27FC236}">
                <a16:creationId xmlns:a16="http://schemas.microsoft.com/office/drawing/2014/main" id="{6CBA512F-F6BB-B0C9-3648-F6C45F018B03}"/>
              </a:ext>
            </a:extLst>
          </p:cNvPr>
          <p:cNvSpPr>
            <a:spLocks noGrp="1" noChangeArrowheads="1"/>
          </p:cNvSpPr>
          <p:nvPr>
            <p:ph type="dt" sz="half" idx="2"/>
          </p:nvPr>
        </p:nvSpPr>
        <p:spPr bwMode="auto">
          <a:xfrm>
            <a:off x="609600" y="6245225"/>
            <a:ext cx="2844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a:latin typeface="Arial" charset="0"/>
              </a:defRPr>
            </a:lvl1pPr>
          </a:lstStyle>
          <a:p>
            <a:pPr>
              <a:defRPr/>
            </a:pPr>
            <a:endParaRPr lang="en-US"/>
          </a:p>
        </p:txBody>
      </p:sp>
      <p:sp>
        <p:nvSpPr>
          <p:cNvPr id="1029" name="Rectangle 5">
            <a:extLst>
              <a:ext uri="{FF2B5EF4-FFF2-40B4-BE49-F238E27FC236}">
                <a16:creationId xmlns:a16="http://schemas.microsoft.com/office/drawing/2014/main" id="{92D0C1EA-3605-D128-B969-600D71089800}"/>
              </a:ext>
            </a:extLst>
          </p:cNvPr>
          <p:cNvSpPr>
            <a:spLocks noGrp="1" noChangeArrowheads="1"/>
          </p:cNvSpPr>
          <p:nvPr>
            <p:ph type="ftr" sz="quarter" idx="3"/>
          </p:nvPr>
        </p:nvSpPr>
        <p:spPr bwMode="auto">
          <a:xfrm>
            <a:off x="4165600" y="6245225"/>
            <a:ext cx="3860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a:latin typeface="Arial" charset="0"/>
              </a:defRPr>
            </a:lvl1pPr>
          </a:lstStyle>
          <a:p>
            <a:pPr>
              <a:defRPr/>
            </a:pPr>
            <a:endParaRPr lang="en-US"/>
          </a:p>
        </p:txBody>
      </p:sp>
      <p:sp>
        <p:nvSpPr>
          <p:cNvPr id="1030" name="Rectangle 6">
            <a:extLst>
              <a:ext uri="{FF2B5EF4-FFF2-40B4-BE49-F238E27FC236}">
                <a16:creationId xmlns:a16="http://schemas.microsoft.com/office/drawing/2014/main" id="{C21B7D74-E019-987A-CE50-BB5E3FAFD334}"/>
              </a:ext>
            </a:extLst>
          </p:cNvPr>
          <p:cNvSpPr>
            <a:spLocks noGrp="1" noChangeArrowheads="1"/>
          </p:cNvSpPr>
          <p:nvPr>
            <p:ph type="sldNum" sz="quarter" idx="4"/>
          </p:nvPr>
        </p:nvSpPr>
        <p:spPr bwMode="auto">
          <a:xfrm>
            <a:off x="8737600" y="6245225"/>
            <a:ext cx="2844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a:lvl1pPr>
          </a:lstStyle>
          <a:p>
            <a:fld id="{A514812B-51EC-4902-A9C0-C687627E1784}"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Layout" Target="../slideLayouts/slideLayout2.xml"/><Relationship Id="rId1" Type="http://schemas.openxmlformats.org/officeDocument/2006/relationships/video" Target="https://www.youtube.com/embed/E8AvfXar9zs?feature=oembed" TargetMode="Externa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6.jpeg"/></Relationships>
</file>

<file path=ppt/slides/_rels/slide1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www.noaa.gov/jetstream/clouds/nws-cloud-chart" TargetMode="External"/><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2.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slideLayout" Target="../slideLayouts/slideLayout2.xml"/><Relationship Id="rId1" Type="http://schemas.openxmlformats.org/officeDocument/2006/relationships/video" Target="https://www.youtube.com/embed/KBT9r6BMyBs?feature=oembed" TargetMode="External"/></Relationships>
</file>

<file path=ppt/slides/_rels/slide23.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xml"/><Relationship Id="rId1" Type="http://schemas.openxmlformats.org/officeDocument/2006/relationships/video" Target="https://www.youtube.com/embed/wZDzzsG_9iw?feature=oembed" TargetMode="External"/><Relationship Id="rId4" Type="http://schemas.openxmlformats.org/officeDocument/2006/relationships/image" Target="../media/image29.jpeg"/></Relationships>
</file>

<file path=ppt/slides/_rels/slide29.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slideLayout" Target="../slideLayouts/slideLayout2.xml"/><Relationship Id="rId1" Type="http://schemas.openxmlformats.org/officeDocument/2006/relationships/video" Target="https://www.youtube.com/embed/7IKrpTAR-QQ?feature=oembed" TargetMode="External"/></Relationships>
</file>

<file path=ppt/slides/_rels/slide31.xml.rels><?xml version="1.0" encoding="UTF-8" standalone="yes"?>
<Relationships xmlns="http://schemas.openxmlformats.org/package/2006/relationships"><Relationship Id="rId3" Type="http://schemas.openxmlformats.org/officeDocument/2006/relationships/hyperlink" Target="https://fog.today/fogust/" TargetMode="External"/><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32.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slideLayout" Target="../slideLayouts/slideLayout2.xml"/><Relationship Id="rId1" Type="http://schemas.openxmlformats.org/officeDocument/2006/relationships/video" Target="https://www.youtube.com/embed/jPttPFSJl_k?feature=oembed" TargetMode="External"/></Relationships>
</file>

<file path=ppt/slides/_rels/slide3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slideLayout" Target="../slideLayouts/slideLayout2.xml"/><Relationship Id="rId1" Type="http://schemas.openxmlformats.org/officeDocument/2006/relationships/video" Target="https://www.youtube.com/embed/pTdiTe3x0Bo?feature=oembed" TargetMode="External"/></Relationships>
</file>

<file path=ppt/slides/_rels/slide36.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9.jp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slideLayout" Target="../slideLayouts/slideLayout2.xml"/><Relationship Id="rId1" Type="http://schemas.openxmlformats.org/officeDocument/2006/relationships/video" Target="https://www.youtube.com/embed/_JeZD0MjQvg?feature=oembed" TargetMode="External"/></Relationships>
</file>

<file path=ppt/slides/_rels/slide39.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 Id="rId5" Type="http://schemas.openxmlformats.org/officeDocument/2006/relationships/image" Target="../media/image46.png"/><Relationship Id="rId4" Type="http://schemas.openxmlformats.org/officeDocument/2006/relationships/image" Target="../media/image45.png"/></Relationships>
</file>

<file path=ppt/slides/_rels/slide42.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slideLayout" Target="../slideLayouts/slideLayout2.xml"/><Relationship Id="rId1" Type="http://schemas.openxmlformats.org/officeDocument/2006/relationships/video" Target="https://www.youtube.com/embed/4QWV37yVFiM?feature=oembed"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226" name="Picture 2" descr="C:\Users\JAS\Desktop\Lectures\Humidity\Plastic_bottle_at_14000_feet,_9000_feet_and_1000_feet,_sealed_at_14000_feet.png">
            <a:extLst>
              <a:ext uri="{FF2B5EF4-FFF2-40B4-BE49-F238E27FC236}">
                <a16:creationId xmlns:a16="http://schemas.microsoft.com/office/drawing/2014/main" id="{9C6321C8-8362-6F8B-1E46-5235C0795A51}"/>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52400" y="533400"/>
            <a:ext cx="11887200" cy="6096000"/>
          </a:xfrm>
          <a:noFill/>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nline Media 1" title="Making Clouds in a Bottle">
            <a:hlinkClick r:id="" action="ppaction://media"/>
            <a:extLst>
              <a:ext uri="{FF2B5EF4-FFF2-40B4-BE49-F238E27FC236}">
                <a16:creationId xmlns:a16="http://schemas.microsoft.com/office/drawing/2014/main" id="{364AB83C-6709-85B0-FBB2-38C858E92757}"/>
              </a:ext>
            </a:extLst>
          </p:cNvPr>
          <p:cNvPicPr>
            <a:picLocks noRot="1" noChangeAspect="1"/>
          </p:cNvPicPr>
          <p:nvPr>
            <a:videoFile r:link="rId1"/>
          </p:nvPr>
        </p:nvPicPr>
        <p:blipFill>
          <a:blip r:embed="rId3"/>
          <a:stretch>
            <a:fillRect/>
          </a:stretch>
        </p:blipFill>
        <p:spPr>
          <a:xfrm>
            <a:off x="1524000" y="0"/>
            <a:ext cx="9144000"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Diagram of water molecule in circle with arrows and blue dots&#10;&#10;AI-generated content may be incorrect.">
            <a:extLst>
              <a:ext uri="{FF2B5EF4-FFF2-40B4-BE49-F238E27FC236}">
                <a16:creationId xmlns:a16="http://schemas.microsoft.com/office/drawing/2014/main" id="{7198DC8E-C9A2-B15D-0CA7-3ECABE269FB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71600" y="152400"/>
            <a:ext cx="8686800" cy="6515100"/>
          </a:xfrm>
        </p:spPr>
      </p:pic>
    </p:spTree>
    <p:extLst>
      <p:ext uri="{BB962C8B-B14F-4D97-AF65-F5344CB8AC3E}">
        <p14:creationId xmlns:p14="http://schemas.microsoft.com/office/powerpoint/2010/main" val="18066302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CBD6BC-3770-B1BB-3483-06A0C1E81EF9}"/>
            </a:ext>
          </a:extLst>
        </p:cNvPr>
        <p:cNvGrpSpPr/>
        <p:nvPr/>
      </p:nvGrpSpPr>
      <p:grpSpPr>
        <a:xfrm>
          <a:off x="0" y="0"/>
          <a:ext cx="0" cy="0"/>
          <a:chOff x="0" y="0"/>
          <a:chExt cx="0" cy="0"/>
        </a:xfrm>
      </p:grpSpPr>
      <p:pic>
        <p:nvPicPr>
          <p:cNvPr id="29699" name="Picture 2">
            <a:extLst>
              <a:ext uri="{FF2B5EF4-FFF2-40B4-BE49-F238E27FC236}">
                <a16:creationId xmlns:a16="http://schemas.microsoft.com/office/drawing/2014/main" id="{81D833EB-A7B8-B460-4268-E1458F8053D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800" y="25400"/>
            <a:ext cx="7410927" cy="675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069311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9" name="Picture 2" descr="C:\Documents and Settings\Tony Stallins\Desktop\new-1.jpg">
            <a:extLst>
              <a:ext uri="{FF2B5EF4-FFF2-40B4-BE49-F238E27FC236}">
                <a16:creationId xmlns:a16="http://schemas.microsoft.com/office/drawing/2014/main" id="{EDF7A4E4-37FC-EFC4-5711-5D4F4300A8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997"/>
          <a:stretch>
            <a:fillRect/>
          </a:stretch>
        </p:blipFill>
        <p:spPr bwMode="auto">
          <a:xfrm>
            <a:off x="75207" y="723900"/>
            <a:ext cx="12116793" cy="541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field with trees in the background&#10;&#10;Description automatically generated">
            <a:extLst>
              <a:ext uri="{FF2B5EF4-FFF2-40B4-BE49-F238E27FC236}">
                <a16:creationId xmlns:a16="http://schemas.microsoft.com/office/drawing/2014/main" id="{74D7BBAA-F018-A444-6DBD-991EA7EBBA4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86" y="55109"/>
            <a:ext cx="12094029" cy="6802891"/>
          </a:xfrm>
          <a:prstGeom prst="rect">
            <a:avLst/>
          </a:prstGeom>
        </p:spPr>
      </p:pic>
      <p:sp>
        <p:nvSpPr>
          <p:cNvPr id="5123" name="Rectangle 2">
            <a:extLst>
              <a:ext uri="{FF2B5EF4-FFF2-40B4-BE49-F238E27FC236}">
                <a16:creationId xmlns:a16="http://schemas.microsoft.com/office/drawing/2014/main" id="{D1DD082C-9752-3716-30FD-EEBA8CEBAE68}"/>
              </a:ext>
            </a:extLst>
          </p:cNvPr>
          <p:cNvSpPr>
            <a:spLocks noChangeArrowheads="1"/>
          </p:cNvSpPr>
          <p:nvPr/>
        </p:nvSpPr>
        <p:spPr bwMode="auto">
          <a:xfrm>
            <a:off x="1752600" y="6248400"/>
            <a:ext cx="915988" cy="3698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Stratus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cumulus">
            <a:extLst>
              <a:ext uri="{FF2B5EF4-FFF2-40B4-BE49-F238E27FC236}">
                <a16:creationId xmlns:a16="http://schemas.microsoft.com/office/drawing/2014/main" id="{364E5F14-20FB-E5F3-7341-0BA11B52BA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47" name="Rectangle 2">
            <a:extLst>
              <a:ext uri="{FF2B5EF4-FFF2-40B4-BE49-F238E27FC236}">
                <a16:creationId xmlns:a16="http://schemas.microsoft.com/office/drawing/2014/main" id="{EDE67A61-D2AA-8C5F-4506-4F1B781E2818}"/>
              </a:ext>
            </a:extLst>
          </p:cNvPr>
          <p:cNvSpPr>
            <a:spLocks noChangeArrowheads="1"/>
          </p:cNvSpPr>
          <p:nvPr/>
        </p:nvSpPr>
        <p:spPr bwMode="auto">
          <a:xfrm>
            <a:off x="1752601" y="6324600"/>
            <a:ext cx="1095375" cy="369888"/>
          </a:xfrm>
          <a:prstGeom prst="rect">
            <a:avLst/>
          </a:prstGeom>
          <a:solidFill>
            <a:schemeClr val="bg1"/>
          </a:solidFill>
          <a:ln w="9525">
            <a:solidFill>
              <a:schemeClr val="tx1"/>
            </a:solidFill>
            <a:miter lim="800000"/>
            <a:headEnd/>
            <a:tailEnd/>
          </a:ln>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Cumulus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cirrus">
            <a:extLst>
              <a:ext uri="{FF2B5EF4-FFF2-40B4-BE49-F238E27FC236}">
                <a16:creationId xmlns:a16="http://schemas.microsoft.com/office/drawing/2014/main" id="{32B564FA-14F1-4831-8A2F-4289BB8097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1" name="Rectangle 2">
            <a:extLst>
              <a:ext uri="{FF2B5EF4-FFF2-40B4-BE49-F238E27FC236}">
                <a16:creationId xmlns:a16="http://schemas.microsoft.com/office/drawing/2014/main" id="{C1D2A9E0-DBB7-0D8B-9FB0-E8AE4E657E99}"/>
              </a:ext>
            </a:extLst>
          </p:cNvPr>
          <p:cNvSpPr>
            <a:spLocks noChangeArrowheads="1"/>
          </p:cNvSpPr>
          <p:nvPr/>
        </p:nvSpPr>
        <p:spPr bwMode="auto">
          <a:xfrm>
            <a:off x="1981200" y="6248400"/>
            <a:ext cx="800100" cy="369888"/>
          </a:xfrm>
          <a:prstGeom prst="rect">
            <a:avLst/>
          </a:prstGeom>
          <a:solidFill>
            <a:schemeClr val="bg1"/>
          </a:solidFill>
          <a:ln w="9525">
            <a:solidFill>
              <a:schemeClr val="tx1"/>
            </a:solidFill>
            <a:miter lim="800000"/>
            <a:headEnd/>
            <a:tailEnd/>
          </a:ln>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Cirrus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C:\Documents and Settings\tony\Desktop\Close_Cirrostratus_stratiformis.JPG">
            <a:extLst>
              <a:ext uri="{FF2B5EF4-FFF2-40B4-BE49-F238E27FC236}">
                <a16:creationId xmlns:a16="http://schemas.microsoft.com/office/drawing/2014/main" id="{C63D3F75-87F8-8BA6-4B81-49885134CA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52576" y="0"/>
            <a:ext cx="9115425"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5" name="Rectangle 2">
            <a:extLst>
              <a:ext uri="{FF2B5EF4-FFF2-40B4-BE49-F238E27FC236}">
                <a16:creationId xmlns:a16="http://schemas.microsoft.com/office/drawing/2014/main" id="{E12CE414-6BAD-5960-12FB-275A7AA5BBDC}"/>
              </a:ext>
            </a:extLst>
          </p:cNvPr>
          <p:cNvSpPr>
            <a:spLocks noChangeArrowheads="1"/>
          </p:cNvSpPr>
          <p:nvPr/>
        </p:nvSpPr>
        <p:spPr bwMode="auto">
          <a:xfrm>
            <a:off x="1752600" y="6324600"/>
            <a:ext cx="1377950" cy="369888"/>
          </a:xfrm>
          <a:prstGeom prst="rect">
            <a:avLst/>
          </a:prstGeom>
          <a:solidFill>
            <a:schemeClr val="bg1"/>
          </a:solidFill>
          <a:ln w="9525">
            <a:solidFill>
              <a:schemeClr val="tx1"/>
            </a:solidFill>
            <a:miter lim="800000"/>
            <a:headEnd/>
            <a:tailEnd/>
          </a:ln>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t>Cirrostratus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descr="cirrostratus">
            <a:extLst>
              <a:ext uri="{FF2B5EF4-FFF2-40B4-BE49-F238E27FC236}">
                <a16:creationId xmlns:a16="http://schemas.microsoft.com/office/drawing/2014/main" id="{4ADEA36D-3852-B6F7-02AB-E08530B8BC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1589"/>
            <a:ext cx="9144000" cy="6854825"/>
          </a:xfrm>
          <a:prstGeom prst="rect">
            <a:avLst/>
          </a:prstGeom>
          <a:solidFill>
            <a:schemeClr val="bg1"/>
          </a:solidFill>
          <a:ln w="9525">
            <a:solidFill>
              <a:schemeClr val="tx1"/>
            </a:solidFill>
            <a:miter lim="800000"/>
            <a:headEnd/>
            <a:tailEnd/>
          </a:ln>
        </p:spPr>
      </p:pic>
      <p:sp>
        <p:nvSpPr>
          <p:cNvPr id="9219" name="Rectangle 2">
            <a:extLst>
              <a:ext uri="{FF2B5EF4-FFF2-40B4-BE49-F238E27FC236}">
                <a16:creationId xmlns:a16="http://schemas.microsoft.com/office/drawing/2014/main" id="{52DCB170-5BFD-909B-1DCF-BE92A60F15CB}"/>
              </a:ext>
            </a:extLst>
          </p:cNvPr>
          <p:cNvSpPr>
            <a:spLocks noChangeArrowheads="1"/>
          </p:cNvSpPr>
          <p:nvPr/>
        </p:nvSpPr>
        <p:spPr bwMode="auto">
          <a:xfrm>
            <a:off x="1828800" y="6172200"/>
            <a:ext cx="1377950" cy="3698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Cirrostratus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descr="cirrocumulus">
            <a:extLst>
              <a:ext uri="{FF2B5EF4-FFF2-40B4-BE49-F238E27FC236}">
                <a16:creationId xmlns:a16="http://schemas.microsoft.com/office/drawing/2014/main" id="{17A5648E-5355-D3D1-082E-BEB9AF35295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1"/>
            <a:ext cx="9144000" cy="683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3" name="Rectangle 2">
            <a:extLst>
              <a:ext uri="{FF2B5EF4-FFF2-40B4-BE49-F238E27FC236}">
                <a16:creationId xmlns:a16="http://schemas.microsoft.com/office/drawing/2014/main" id="{FC5B747A-4682-B73E-0062-C739898AC797}"/>
              </a:ext>
            </a:extLst>
          </p:cNvPr>
          <p:cNvSpPr>
            <a:spLocks noChangeArrowheads="1"/>
          </p:cNvSpPr>
          <p:nvPr/>
        </p:nvSpPr>
        <p:spPr bwMode="auto">
          <a:xfrm>
            <a:off x="1676400" y="6248400"/>
            <a:ext cx="1544638" cy="369888"/>
          </a:xfrm>
          <a:prstGeom prst="rect">
            <a:avLst/>
          </a:prstGeom>
          <a:solidFill>
            <a:schemeClr val="bg1"/>
          </a:solidFill>
          <a:ln w="9525">
            <a:solidFill>
              <a:schemeClr val="tx1"/>
            </a:solidFill>
            <a:miter lim="800000"/>
            <a:headEnd/>
            <a:tailEnd/>
          </a:ln>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Cirrocumulus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3" descr="C:\Documents and Settings\tony\Desktop\Cirrus_and_Altostratus_undulatus.JPG">
            <a:extLst>
              <a:ext uri="{FF2B5EF4-FFF2-40B4-BE49-F238E27FC236}">
                <a16:creationId xmlns:a16="http://schemas.microsoft.com/office/drawing/2014/main" id="{01CAEFCE-AE1B-A164-73B7-24DA01D1C0C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57150"/>
            <a:ext cx="9067800" cy="680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7" name="Rectangle 2">
            <a:extLst>
              <a:ext uri="{FF2B5EF4-FFF2-40B4-BE49-F238E27FC236}">
                <a16:creationId xmlns:a16="http://schemas.microsoft.com/office/drawing/2014/main" id="{1FC16DE6-7A59-097D-EE0D-3C183647E7C7}"/>
              </a:ext>
            </a:extLst>
          </p:cNvPr>
          <p:cNvSpPr>
            <a:spLocks noChangeArrowheads="1"/>
          </p:cNvSpPr>
          <p:nvPr/>
        </p:nvSpPr>
        <p:spPr bwMode="auto">
          <a:xfrm>
            <a:off x="1752601" y="6172200"/>
            <a:ext cx="3275013" cy="369888"/>
          </a:xfrm>
          <a:prstGeom prst="rect">
            <a:avLst/>
          </a:prstGeom>
          <a:solidFill>
            <a:schemeClr val="bg1"/>
          </a:solidFill>
          <a:ln w="9525">
            <a:solidFill>
              <a:schemeClr val="tx1"/>
            </a:solidFill>
            <a:miter lim="800000"/>
            <a:headEnd/>
            <a:tailEnd/>
          </a:ln>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Altostratus (and cirrus, higher)</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descr="altostratus">
            <a:extLst>
              <a:ext uri="{FF2B5EF4-FFF2-40B4-BE49-F238E27FC236}">
                <a16:creationId xmlns:a16="http://schemas.microsoft.com/office/drawing/2014/main" id="{5B799592-861E-B4BF-BD5E-C57E757D36C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24250" y="0"/>
            <a:ext cx="51435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1" name="Rectangle 2">
            <a:extLst>
              <a:ext uri="{FF2B5EF4-FFF2-40B4-BE49-F238E27FC236}">
                <a16:creationId xmlns:a16="http://schemas.microsoft.com/office/drawing/2014/main" id="{2AFF865C-9E39-9168-23D3-CE1D2F7293B9}"/>
              </a:ext>
            </a:extLst>
          </p:cNvPr>
          <p:cNvSpPr>
            <a:spLocks noChangeArrowheads="1"/>
          </p:cNvSpPr>
          <p:nvPr/>
        </p:nvSpPr>
        <p:spPr bwMode="auto">
          <a:xfrm>
            <a:off x="2209801" y="6324600"/>
            <a:ext cx="1274763" cy="36988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Altostratus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descr="altocumulus">
            <a:extLst>
              <a:ext uri="{FF2B5EF4-FFF2-40B4-BE49-F238E27FC236}">
                <a16:creationId xmlns:a16="http://schemas.microsoft.com/office/drawing/2014/main" id="{20F73BB0-A097-4795-8879-AF0E7FCCDE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87776" y="0"/>
            <a:ext cx="5026025" cy="746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5" name="Rectangle 2">
            <a:extLst>
              <a:ext uri="{FF2B5EF4-FFF2-40B4-BE49-F238E27FC236}">
                <a16:creationId xmlns:a16="http://schemas.microsoft.com/office/drawing/2014/main" id="{1BBAA102-C3CF-FA9C-D94F-52E327235181}"/>
              </a:ext>
            </a:extLst>
          </p:cNvPr>
          <p:cNvSpPr>
            <a:spLocks noChangeArrowheads="1"/>
          </p:cNvSpPr>
          <p:nvPr/>
        </p:nvSpPr>
        <p:spPr bwMode="auto">
          <a:xfrm>
            <a:off x="2286000" y="6324600"/>
            <a:ext cx="1441450" cy="36988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Altocumulus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descr="statocumulus">
            <a:extLst>
              <a:ext uri="{FF2B5EF4-FFF2-40B4-BE49-F238E27FC236}">
                <a16:creationId xmlns:a16="http://schemas.microsoft.com/office/drawing/2014/main" id="{BBD3C5C5-1687-D327-F1EF-BCDDB94757E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95900" y="2905125"/>
            <a:ext cx="1600200" cy="1047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39" name="Picture 3" descr="stratocumulus">
            <a:extLst>
              <a:ext uri="{FF2B5EF4-FFF2-40B4-BE49-F238E27FC236}">
                <a16:creationId xmlns:a16="http://schemas.microsoft.com/office/drawing/2014/main" id="{E2606F5C-E1AE-2740-CB0F-8512BCA8C54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40" name="Rectangle 3">
            <a:extLst>
              <a:ext uri="{FF2B5EF4-FFF2-40B4-BE49-F238E27FC236}">
                <a16:creationId xmlns:a16="http://schemas.microsoft.com/office/drawing/2014/main" id="{FAA6DC45-909F-5ADD-FFD7-271416CCB986}"/>
              </a:ext>
            </a:extLst>
          </p:cNvPr>
          <p:cNvSpPr>
            <a:spLocks noChangeArrowheads="1"/>
          </p:cNvSpPr>
          <p:nvPr/>
        </p:nvSpPr>
        <p:spPr bwMode="auto">
          <a:xfrm>
            <a:off x="1752600" y="6172200"/>
            <a:ext cx="1658938" cy="369888"/>
          </a:xfrm>
          <a:prstGeom prst="rect">
            <a:avLst/>
          </a:prstGeom>
          <a:solidFill>
            <a:schemeClr val="bg1"/>
          </a:solidFill>
          <a:ln w="9525">
            <a:solidFill>
              <a:schemeClr val="tx1"/>
            </a:solidFill>
            <a:miter lim="800000"/>
            <a:headEnd/>
            <a:tailEnd/>
          </a:ln>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Stratocumulus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descr="nimbostratus">
            <a:extLst>
              <a:ext uri="{FF2B5EF4-FFF2-40B4-BE49-F238E27FC236}">
                <a16:creationId xmlns:a16="http://schemas.microsoft.com/office/drawing/2014/main" id="{F784FB4C-2C52-55B0-5BA1-5485095788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3" name="Rectangle 2">
            <a:extLst>
              <a:ext uri="{FF2B5EF4-FFF2-40B4-BE49-F238E27FC236}">
                <a16:creationId xmlns:a16="http://schemas.microsoft.com/office/drawing/2014/main" id="{D5F805F6-04F6-CDB2-A4C7-8F98FEA2DE54}"/>
              </a:ext>
            </a:extLst>
          </p:cNvPr>
          <p:cNvSpPr>
            <a:spLocks noChangeArrowheads="1"/>
          </p:cNvSpPr>
          <p:nvPr/>
        </p:nvSpPr>
        <p:spPr bwMode="auto">
          <a:xfrm>
            <a:off x="1676400" y="6096000"/>
            <a:ext cx="1544638" cy="369888"/>
          </a:xfrm>
          <a:prstGeom prst="rect">
            <a:avLst/>
          </a:prstGeom>
          <a:solidFill>
            <a:schemeClr val="bg1"/>
          </a:solidFill>
          <a:ln w="9525">
            <a:solidFill>
              <a:schemeClr val="tx1"/>
            </a:solidFill>
            <a:miter lim="800000"/>
            <a:headEnd/>
            <a:tailEnd/>
          </a:ln>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Nimbostratus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descr="cumulonimbus">
            <a:extLst>
              <a:ext uri="{FF2B5EF4-FFF2-40B4-BE49-F238E27FC236}">
                <a16:creationId xmlns:a16="http://schemas.microsoft.com/office/drawing/2014/main" id="{5C983E5C-6487-A764-F272-35506D7B21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87" name="Rectangle 2">
            <a:extLst>
              <a:ext uri="{FF2B5EF4-FFF2-40B4-BE49-F238E27FC236}">
                <a16:creationId xmlns:a16="http://schemas.microsoft.com/office/drawing/2014/main" id="{85000541-2C73-3408-53F2-7B89CF65CFE4}"/>
              </a:ext>
            </a:extLst>
          </p:cNvPr>
          <p:cNvSpPr>
            <a:spLocks noChangeArrowheads="1"/>
          </p:cNvSpPr>
          <p:nvPr/>
        </p:nvSpPr>
        <p:spPr bwMode="auto">
          <a:xfrm>
            <a:off x="1752601" y="6248400"/>
            <a:ext cx="1724025" cy="369888"/>
          </a:xfrm>
          <a:prstGeom prst="rect">
            <a:avLst/>
          </a:prstGeom>
          <a:solidFill>
            <a:schemeClr val="bg1"/>
          </a:solidFill>
          <a:ln w="9525">
            <a:solidFill>
              <a:schemeClr val="tx1"/>
            </a:solidFill>
            <a:miter lim="800000"/>
            <a:headEnd/>
            <a:tailEnd/>
          </a:ln>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Cumulonimbus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descr="05_cunim_cityb">
            <a:extLst>
              <a:ext uri="{FF2B5EF4-FFF2-40B4-BE49-F238E27FC236}">
                <a16:creationId xmlns:a16="http://schemas.microsoft.com/office/drawing/2014/main" id="{E262D089-B101-4BC1-0FC7-CE9380E42F3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0"/>
            <a:ext cx="10134600" cy="6779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1" name="Rectangle 2">
            <a:extLst>
              <a:ext uri="{FF2B5EF4-FFF2-40B4-BE49-F238E27FC236}">
                <a16:creationId xmlns:a16="http://schemas.microsoft.com/office/drawing/2014/main" id="{4C7AC8C8-E205-D080-B605-2C36CF871705}"/>
              </a:ext>
            </a:extLst>
          </p:cNvPr>
          <p:cNvSpPr>
            <a:spLocks noChangeArrowheads="1"/>
          </p:cNvSpPr>
          <p:nvPr/>
        </p:nvSpPr>
        <p:spPr bwMode="auto">
          <a:xfrm>
            <a:off x="1752601" y="6248400"/>
            <a:ext cx="1724025" cy="369888"/>
          </a:xfrm>
          <a:prstGeom prst="rect">
            <a:avLst/>
          </a:prstGeom>
          <a:solidFill>
            <a:schemeClr val="bg1"/>
          </a:solidFill>
          <a:ln w="9525">
            <a:solidFill>
              <a:schemeClr val="tx1"/>
            </a:solidFill>
            <a:miter lim="800000"/>
            <a:headEnd/>
            <a:tailEnd/>
          </a:ln>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Cumulonimbus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0" name="Picture 2" descr="virga_01_mb">
            <a:extLst>
              <a:ext uri="{FF2B5EF4-FFF2-40B4-BE49-F238E27FC236}">
                <a16:creationId xmlns:a16="http://schemas.microsoft.com/office/drawing/2014/main" id="{54A958A2-B725-CB5C-3D06-71097D1C03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9200" y="36039"/>
            <a:ext cx="9906000" cy="6683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1" name="Rectangle 2">
            <a:extLst>
              <a:ext uri="{FF2B5EF4-FFF2-40B4-BE49-F238E27FC236}">
                <a16:creationId xmlns:a16="http://schemas.microsoft.com/office/drawing/2014/main" id="{B5088B7E-9E22-C5FF-D5E4-7AB28F8597E9}"/>
              </a:ext>
            </a:extLst>
          </p:cNvPr>
          <p:cNvSpPr>
            <a:spLocks noChangeArrowheads="1"/>
          </p:cNvSpPr>
          <p:nvPr/>
        </p:nvSpPr>
        <p:spPr bwMode="auto">
          <a:xfrm>
            <a:off x="1752600" y="5943600"/>
            <a:ext cx="719138" cy="369888"/>
          </a:xfrm>
          <a:prstGeom prst="rect">
            <a:avLst/>
          </a:prstGeom>
          <a:solidFill>
            <a:schemeClr val="bg1"/>
          </a:solidFill>
          <a:ln w="9525">
            <a:solidFill>
              <a:schemeClr val="tx1"/>
            </a:solidFill>
            <a:miter lim="800000"/>
            <a:headEnd/>
            <a:tailEnd/>
          </a:ln>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t>Virga</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A house with a cloudy sky&#10;&#10;Description automatically generated">
            <a:extLst>
              <a:ext uri="{FF2B5EF4-FFF2-40B4-BE49-F238E27FC236}">
                <a16:creationId xmlns:a16="http://schemas.microsoft.com/office/drawing/2014/main" id="{149BB5A3-D0E9-9E80-2EB7-606A9C26EC8A}"/>
              </a:ext>
            </a:extLst>
          </p:cNvPr>
          <p:cNvPicPr>
            <a:picLocks noGrp="1" noChangeAspect="1"/>
          </p:cNvPicPr>
          <p:nvPr>
            <p:ph idx="1"/>
          </p:nvPr>
        </p:nvPicPr>
        <p:blipFill rotWithShape="1">
          <a:blip r:embed="rId3">
            <a:extLst>
              <a:ext uri="{28A0092B-C50C-407E-A947-70E740481C1C}">
                <a14:useLocalDpi xmlns:a14="http://schemas.microsoft.com/office/drawing/2010/main" val="0"/>
              </a:ext>
            </a:extLst>
          </a:blip>
          <a:srcRect l="6716"/>
          <a:stretch/>
        </p:blipFill>
        <p:spPr>
          <a:xfrm>
            <a:off x="1447800" y="44120"/>
            <a:ext cx="9525000" cy="6769760"/>
          </a:xfrm>
        </p:spPr>
      </p:pic>
      <p:sp>
        <p:nvSpPr>
          <p:cNvPr id="4" name="Rectangle 2">
            <a:extLst>
              <a:ext uri="{FF2B5EF4-FFF2-40B4-BE49-F238E27FC236}">
                <a16:creationId xmlns:a16="http://schemas.microsoft.com/office/drawing/2014/main" id="{49E181B8-AF02-2C86-2F63-16E6ABAC2E7B}"/>
              </a:ext>
            </a:extLst>
          </p:cNvPr>
          <p:cNvSpPr>
            <a:spLocks noChangeArrowheads="1"/>
          </p:cNvSpPr>
          <p:nvPr/>
        </p:nvSpPr>
        <p:spPr bwMode="auto">
          <a:xfrm>
            <a:off x="1752600" y="5943600"/>
            <a:ext cx="1326004" cy="369332"/>
          </a:xfrm>
          <a:prstGeom prst="rect">
            <a:avLst/>
          </a:prstGeom>
          <a:solidFill>
            <a:schemeClr val="bg1"/>
          </a:solidFill>
          <a:ln w="9525">
            <a:solidFill>
              <a:schemeClr val="tx1"/>
            </a:solidFill>
            <a:miter lim="800000"/>
            <a:headEnd/>
            <a:tailEnd/>
          </a:ln>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t>Mammatus</a:t>
            </a:r>
          </a:p>
        </p:txBody>
      </p:sp>
    </p:spTree>
    <p:extLst>
      <p:ext uri="{BB962C8B-B14F-4D97-AF65-F5344CB8AC3E}">
        <p14:creationId xmlns:p14="http://schemas.microsoft.com/office/powerpoint/2010/main" val="29368760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3186" name="Picture 2">
            <a:hlinkClick r:id="rId3"/>
            <a:extLst>
              <a:ext uri="{FF2B5EF4-FFF2-40B4-BE49-F238E27FC236}">
                <a16:creationId xmlns:a16="http://schemas.microsoft.com/office/drawing/2014/main" id="{473DFE0A-B015-F6C0-DFA3-37017310BC0B}"/>
              </a:ext>
            </a:extLst>
          </p:cNvPr>
          <p:cNvPicPr>
            <a:picLocks noGrp="1" noChangeAspect="1" noChangeArrowheads="1"/>
          </p:cNvPicPr>
          <p:nvPr>
            <p:ph idx="1"/>
          </p:nvPr>
        </p:nvPicPr>
        <p:blipFill>
          <a:blip r:embed="rId4"/>
          <a:srcRect/>
          <a:stretch>
            <a:fillRect/>
          </a:stretch>
        </p:blipFill>
        <p:spPr>
          <a:xfrm>
            <a:off x="0" y="76200"/>
            <a:ext cx="12115800" cy="5828536"/>
          </a:xfrm>
          <a:ln w="38100">
            <a:solidFill>
              <a:schemeClr val="accent2">
                <a:lumMod val="75000"/>
              </a:schemeClr>
            </a:solidFill>
          </a:ln>
        </p:spPr>
      </p:pic>
      <p:sp>
        <p:nvSpPr>
          <p:cNvPr id="5" name="TextBox 4">
            <a:extLst>
              <a:ext uri="{FF2B5EF4-FFF2-40B4-BE49-F238E27FC236}">
                <a16:creationId xmlns:a16="http://schemas.microsoft.com/office/drawing/2014/main" id="{ECBDAF03-8BAD-A1F2-A2F3-ABCC20F7B953}"/>
              </a:ext>
            </a:extLst>
          </p:cNvPr>
          <p:cNvSpPr txBox="1"/>
          <p:nvPr/>
        </p:nvSpPr>
        <p:spPr>
          <a:xfrm>
            <a:off x="228600" y="6135687"/>
            <a:ext cx="7943328" cy="369332"/>
          </a:xfrm>
          <a:prstGeom prst="rect">
            <a:avLst/>
          </a:prstGeom>
          <a:noFill/>
          <a:ln>
            <a:solidFill>
              <a:schemeClr val="tx1">
                <a:lumMod val="95000"/>
                <a:lumOff val="5000"/>
              </a:schemeClr>
            </a:solidFill>
          </a:ln>
        </p:spPr>
        <p:txBody>
          <a:bodyPr wrap="none">
            <a:spAutoFit/>
          </a:bodyPr>
          <a:lstStyle/>
          <a:p>
            <a:pPr eaLnBrk="1" hangingPunct="1">
              <a:defRPr/>
            </a:pPr>
            <a:r>
              <a:rPr lang="en-US" dirty="0">
                <a:latin typeface="Arial" charset="0"/>
              </a:rPr>
              <a:t>NOAA Cloud Chart:  </a:t>
            </a:r>
            <a:r>
              <a:rPr lang="en-US" dirty="0">
                <a:latin typeface="Arial" charset="0"/>
                <a:hlinkClick r:id="rId3"/>
              </a:rPr>
              <a:t>https://www.noaa.gov/jetstream/clouds/nws-cloud-chart</a:t>
            </a:r>
            <a:endParaRPr lang="en-US" dirty="0">
              <a:latin typeface="Arial"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90017C-AB6F-1CD6-C14D-7B9CE4FE13B2}"/>
            </a:ext>
          </a:extLst>
        </p:cNvPr>
        <p:cNvGrpSpPr/>
        <p:nvPr/>
      </p:nvGrpSpPr>
      <p:grpSpPr>
        <a:xfrm>
          <a:off x="0" y="0"/>
          <a:ext cx="0" cy="0"/>
          <a:chOff x="0" y="0"/>
          <a:chExt cx="0" cy="0"/>
        </a:xfrm>
      </p:grpSpPr>
      <p:pic>
        <p:nvPicPr>
          <p:cNvPr id="2" name="Online Media 1" title="La Cumbre Fog Lifting">
            <a:hlinkClick r:id="" action="ppaction://media"/>
            <a:extLst>
              <a:ext uri="{FF2B5EF4-FFF2-40B4-BE49-F238E27FC236}">
                <a16:creationId xmlns:a16="http://schemas.microsoft.com/office/drawing/2014/main" id="{83A9D9AD-E143-FFDF-F136-E058E1066743}"/>
              </a:ext>
            </a:extLst>
          </p:cNvPr>
          <p:cNvPicPr>
            <a:picLocks noRot="1" noChangeAspect="1"/>
          </p:cNvPicPr>
          <p:nvPr>
            <a:videoFile r:link="rId1"/>
          </p:nvPr>
        </p:nvPicPr>
        <p:blipFill>
          <a:blip r:embed="rId3"/>
          <a:stretch>
            <a:fillRect/>
          </a:stretch>
        </p:blipFill>
        <p:spPr>
          <a:xfrm>
            <a:off x="304800" y="304800"/>
            <a:ext cx="11353800" cy="6409882"/>
          </a:xfrm>
          <a:prstGeom prst="rect">
            <a:avLst/>
          </a:prstGeom>
        </p:spPr>
      </p:pic>
    </p:spTree>
    <p:extLst>
      <p:ext uri="{BB962C8B-B14F-4D97-AF65-F5344CB8AC3E}">
        <p14:creationId xmlns:p14="http://schemas.microsoft.com/office/powerpoint/2010/main" val="36936940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group of horses in a field&#10;&#10;Description automatically generated">
            <a:extLst>
              <a:ext uri="{FF2B5EF4-FFF2-40B4-BE49-F238E27FC236}">
                <a16:creationId xmlns:a16="http://schemas.microsoft.com/office/drawing/2014/main" id="{EDBA5AF1-77AC-3A6F-6A56-AFDFF0CFD42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2531" name="Rectangle 4">
            <a:extLst>
              <a:ext uri="{FF2B5EF4-FFF2-40B4-BE49-F238E27FC236}">
                <a16:creationId xmlns:a16="http://schemas.microsoft.com/office/drawing/2014/main" id="{8D68C7C9-7417-F5B2-F0F9-36B4E4870DFB}"/>
              </a:ext>
            </a:extLst>
          </p:cNvPr>
          <p:cNvSpPr>
            <a:spLocks noChangeArrowheads="1"/>
          </p:cNvSpPr>
          <p:nvPr/>
        </p:nvSpPr>
        <p:spPr bwMode="auto">
          <a:xfrm>
            <a:off x="9525000" y="6248400"/>
            <a:ext cx="21463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t>Inland radiation fog</a:t>
            </a:r>
          </a:p>
        </p:txBody>
      </p:sp>
      <p:sp>
        <p:nvSpPr>
          <p:cNvPr id="4" name="Rectangle 2">
            <a:extLst>
              <a:ext uri="{FF2B5EF4-FFF2-40B4-BE49-F238E27FC236}">
                <a16:creationId xmlns:a16="http://schemas.microsoft.com/office/drawing/2014/main" id="{6EF25EC9-25D0-F13D-9982-B776BE23F300}"/>
              </a:ext>
            </a:extLst>
          </p:cNvPr>
          <p:cNvSpPr>
            <a:spLocks noChangeArrowheads="1"/>
          </p:cNvSpPr>
          <p:nvPr/>
        </p:nvSpPr>
        <p:spPr bwMode="auto">
          <a:xfrm>
            <a:off x="304801" y="228600"/>
            <a:ext cx="11658600" cy="1200329"/>
          </a:xfrm>
          <a:prstGeom prst="rect">
            <a:avLst/>
          </a:prstGeom>
          <a:solidFill>
            <a:schemeClr val="bg1"/>
          </a:solidFill>
          <a:ln w="9525">
            <a:solidFill>
              <a:schemeClr val="tx1"/>
            </a:solidFill>
            <a:miter lim="800000"/>
            <a:headEnd/>
            <a:tailEnd/>
          </a:ln>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400" b="1" dirty="0"/>
              <a:t>Inland radiation fogs </a:t>
            </a:r>
            <a:r>
              <a:rPr lang="en-US" altLang="en-US" sz="2400" dirty="0"/>
              <a:t>(Kentucky) occur </a:t>
            </a:r>
            <a:r>
              <a:rPr lang="en-US" sz="2400" dirty="0"/>
              <a:t>on clear nights when the air at the surface cools to the dew point and if humid air is present it will condense and form tiny droplets that comprise the fog. </a:t>
            </a:r>
            <a:endParaRPr lang="en-US" altLang="en-US" sz="2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map of the earth&#10;&#10;Description automatically generated with medium confidence">
            <a:extLst>
              <a:ext uri="{FF2B5EF4-FFF2-40B4-BE49-F238E27FC236}">
                <a16:creationId xmlns:a16="http://schemas.microsoft.com/office/drawing/2014/main" id="{73F8904E-5DC5-4340-260F-85EC5EED9D6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48373" y="0"/>
            <a:ext cx="7895253" cy="6793967"/>
          </a:xfrm>
        </p:spPr>
      </p:pic>
      <p:sp>
        <p:nvSpPr>
          <p:cNvPr id="6" name="Rectangle 2">
            <a:extLst>
              <a:ext uri="{FF2B5EF4-FFF2-40B4-BE49-F238E27FC236}">
                <a16:creationId xmlns:a16="http://schemas.microsoft.com/office/drawing/2014/main" id="{87D6893D-F270-54FA-6913-6E9FCB6A5070}"/>
              </a:ext>
            </a:extLst>
          </p:cNvPr>
          <p:cNvSpPr>
            <a:spLocks noChangeArrowheads="1"/>
          </p:cNvSpPr>
          <p:nvPr/>
        </p:nvSpPr>
        <p:spPr bwMode="auto">
          <a:xfrm>
            <a:off x="381000" y="6248400"/>
            <a:ext cx="4241867" cy="461665"/>
          </a:xfrm>
          <a:prstGeom prst="rect">
            <a:avLst/>
          </a:prstGeom>
          <a:solidFill>
            <a:schemeClr val="bg1"/>
          </a:solidFill>
          <a:ln w="9525">
            <a:solidFill>
              <a:schemeClr val="tx1"/>
            </a:solidFill>
            <a:miter lim="800000"/>
            <a:headEnd/>
            <a:tailEnd/>
          </a:ln>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400" dirty="0"/>
              <a:t>Inland radiation fog, Kentucky</a:t>
            </a:r>
          </a:p>
        </p:txBody>
      </p:sp>
    </p:spTree>
    <p:extLst>
      <p:ext uri="{BB962C8B-B14F-4D97-AF65-F5344CB8AC3E}">
        <p14:creationId xmlns:p14="http://schemas.microsoft.com/office/powerpoint/2010/main" val="15787250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Picture 2" descr="maine fog">
            <a:extLst>
              <a:ext uri="{FF2B5EF4-FFF2-40B4-BE49-F238E27FC236}">
                <a16:creationId xmlns:a16="http://schemas.microsoft.com/office/drawing/2014/main" id="{F7EB1D9E-DF7C-7B02-D22A-461C469AD63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3" name="Rectangle 2">
            <a:extLst>
              <a:ext uri="{FF2B5EF4-FFF2-40B4-BE49-F238E27FC236}">
                <a16:creationId xmlns:a16="http://schemas.microsoft.com/office/drawing/2014/main" id="{FA752F34-E528-4B04-9E0D-0C731F0623BF}"/>
              </a:ext>
            </a:extLst>
          </p:cNvPr>
          <p:cNvSpPr>
            <a:spLocks noChangeArrowheads="1"/>
          </p:cNvSpPr>
          <p:nvPr/>
        </p:nvSpPr>
        <p:spPr bwMode="auto">
          <a:xfrm>
            <a:off x="1752600" y="4953000"/>
            <a:ext cx="8686800" cy="1569660"/>
          </a:xfrm>
          <a:prstGeom prst="rect">
            <a:avLst/>
          </a:prstGeom>
          <a:solidFill>
            <a:schemeClr val="bg1"/>
          </a:solidFill>
          <a:ln w="9525">
            <a:solidFill>
              <a:schemeClr val="tx1"/>
            </a:solidFill>
            <a:miter lim="800000"/>
            <a:headEnd/>
            <a:tailEnd/>
          </a:ln>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400" b="1" dirty="0"/>
              <a:t>Evaporation fogs </a:t>
            </a:r>
            <a:r>
              <a:rPr lang="en-US" altLang="en-US" sz="2400" dirty="0"/>
              <a:t>(Maine) form when warm water contributes water vapor to cold air above it, which allows the air to cool to its dew point, reach saturation, and condensate as tiny water droplets.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2" descr="Dense_Fog_01">
            <a:extLst>
              <a:ext uri="{FF2B5EF4-FFF2-40B4-BE49-F238E27FC236}">
                <a16:creationId xmlns:a16="http://schemas.microsoft.com/office/drawing/2014/main" id="{CD621406-0E30-1247-5775-742319B33AA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6010"/>
          <a:stretch>
            <a:fillRect/>
          </a:stretch>
        </p:blipFill>
        <p:spPr bwMode="auto">
          <a:xfrm>
            <a:off x="435428" y="32657"/>
            <a:ext cx="11321143" cy="67926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27" name="Rectangle 2">
            <a:extLst>
              <a:ext uri="{FF2B5EF4-FFF2-40B4-BE49-F238E27FC236}">
                <a16:creationId xmlns:a16="http://schemas.microsoft.com/office/drawing/2014/main" id="{5086D1B0-B9FA-ADEA-DC26-4929214FE1F9}"/>
              </a:ext>
            </a:extLst>
          </p:cNvPr>
          <p:cNvSpPr>
            <a:spLocks noChangeArrowheads="1"/>
          </p:cNvSpPr>
          <p:nvPr/>
        </p:nvSpPr>
        <p:spPr bwMode="auto">
          <a:xfrm>
            <a:off x="609600" y="6172200"/>
            <a:ext cx="4293163" cy="461665"/>
          </a:xfrm>
          <a:prstGeom prst="rect">
            <a:avLst/>
          </a:prstGeom>
          <a:solidFill>
            <a:schemeClr val="bg1"/>
          </a:solidFill>
          <a:ln w="9525">
            <a:solidFill>
              <a:schemeClr val="tx1"/>
            </a:solidFill>
            <a:miter lim="800000"/>
            <a:headEnd/>
            <a:tailEnd/>
          </a:ln>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400" dirty="0"/>
              <a:t>Evaporation fog, south Florida</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8" name="Picture 2" descr="C:\Users\JAS\Desktop\Lectures\Clouds and precip\fog-over-the-winding-kentucky-river.jpg">
            <a:extLst>
              <a:ext uri="{FF2B5EF4-FFF2-40B4-BE49-F238E27FC236}">
                <a16:creationId xmlns:a16="http://schemas.microsoft.com/office/drawing/2014/main" id="{AB07BEE3-54A9-CB58-CC9F-98C2D35789E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23164"/>
          <a:stretch>
            <a:fillRect/>
          </a:stretch>
        </p:blipFill>
        <p:spPr bwMode="auto">
          <a:xfrm>
            <a:off x="5862" y="11723"/>
            <a:ext cx="11905475" cy="6846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2">
            <a:extLst>
              <a:ext uri="{FF2B5EF4-FFF2-40B4-BE49-F238E27FC236}">
                <a16:creationId xmlns:a16="http://schemas.microsoft.com/office/drawing/2014/main" id="{D0AEC65A-8B98-CEA0-3F59-3A890EBAAF46}"/>
              </a:ext>
            </a:extLst>
          </p:cNvPr>
          <p:cNvSpPr>
            <a:spLocks noChangeArrowheads="1"/>
          </p:cNvSpPr>
          <p:nvPr/>
        </p:nvSpPr>
        <p:spPr bwMode="auto">
          <a:xfrm>
            <a:off x="609600" y="6172200"/>
            <a:ext cx="3778599" cy="461665"/>
          </a:xfrm>
          <a:prstGeom prst="rect">
            <a:avLst/>
          </a:prstGeom>
          <a:solidFill>
            <a:schemeClr val="bg1"/>
          </a:solidFill>
          <a:ln w="9525">
            <a:solidFill>
              <a:schemeClr val="tx1"/>
            </a:solidFill>
            <a:miter lim="800000"/>
            <a:headEnd/>
            <a:tailEnd/>
          </a:ln>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400" dirty="0"/>
              <a:t>Evaporation fog, Kentucky</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nline Media 1" title="Fog Rolls In At Carlsbad Beach">
            <a:hlinkClick r:id="" action="ppaction://media"/>
            <a:extLst>
              <a:ext uri="{FF2B5EF4-FFF2-40B4-BE49-F238E27FC236}">
                <a16:creationId xmlns:a16="http://schemas.microsoft.com/office/drawing/2014/main" id="{CCE197FD-1C40-2DDD-74C9-B2254AAA8381}"/>
              </a:ext>
            </a:extLst>
          </p:cNvPr>
          <p:cNvPicPr>
            <a:picLocks noRot="1" noChangeAspect="1"/>
          </p:cNvPicPr>
          <p:nvPr>
            <a:videoFile r:link="rId1"/>
          </p:nvPr>
        </p:nvPicPr>
        <p:blipFill>
          <a:blip r:embed="rId4"/>
          <a:stretch>
            <a:fillRect/>
          </a:stretch>
        </p:blipFill>
        <p:spPr>
          <a:xfrm>
            <a:off x="44450" y="-10886"/>
            <a:ext cx="12147550"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2" descr="california_coastalfog">
            <a:extLst>
              <a:ext uri="{FF2B5EF4-FFF2-40B4-BE49-F238E27FC236}">
                <a16:creationId xmlns:a16="http://schemas.microsoft.com/office/drawing/2014/main" id="{F14B4538-4773-D552-B3B6-398045BCDA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29707"/>
            <a:ext cx="5677435" cy="67985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2">
            <a:extLst>
              <a:ext uri="{FF2B5EF4-FFF2-40B4-BE49-F238E27FC236}">
                <a16:creationId xmlns:a16="http://schemas.microsoft.com/office/drawing/2014/main" id="{258878C6-0430-D65B-0D1D-297D4F238713}"/>
              </a:ext>
            </a:extLst>
          </p:cNvPr>
          <p:cNvSpPr>
            <a:spLocks noChangeArrowheads="1"/>
          </p:cNvSpPr>
          <p:nvPr/>
        </p:nvSpPr>
        <p:spPr bwMode="auto">
          <a:xfrm>
            <a:off x="228600" y="304800"/>
            <a:ext cx="5677435" cy="3046988"/>
          </a:xfrm>
          <a:prstGeom prst="rect">
            <a:avLst/>
          </a:prstGeom>
          <a:solidFill>
            <a:schemeClr val="bg1"/>
          </a:solidFill>
          <a:ln w="9525">
            <a:solidFill>
              <a:schemeClr val="tx1"/>
            </a:solidFill>
            <a:miter lim="800000"/>
            <a:headEnd/>
            <a:tailEnd/>
          </a:ln>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400" dirty="0"/>
              <a:t>Advection fogs like those in California form when cold ocean currents cause the air above it to cool and reach its dew point and condensate. When the inland reaches warm up during the day and form a low pressure, a sea breeze blows inland, from the ocean to the land, </a:t>
            </a:r>
            <a:r>
              <a:rPr lang="en-US" altLang="en-US" sz="2400" dirty="0" err="1"/>
              <a:t>advecting</a:t>
            </a:r>
            <a:r>
              <a:rPr lang="en-US" altLang="en-US" sz="2400" dirty="0"/>
              <a:t> (blowing) this fog inland. </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nline Media 3" title="What Causes San Francisco Fog?">
            <a:hlinkClick r:id="" action="ppaction://media"/>
            <a:extLst>
              <a:ext uri="{FF2B5EF4-FFF2-40B4-BE49-F238E27FC236}">
                <a16:creationId xmlns:a16="http://schemas.microsoft.com/office/drawing/2014/main" id="{67E429AD-D216-8AA6-4B51-DB2FC9453E9D}"/>
              </a:ext>
            </a:extLst>
          </p:cNvPr>
          <p:cNvPicPr>
            <a:picLocks noGrp="1" noRot="1" noChangeAspect="1"/>
          </p:cNvPicPr>
          <p:nvPr>
            <p:ph idx="1"/>
            <a:videoFile r:link="rId1"/>
          </p:nvPr>
        </p:nvPicPr>
        <p:blipFill>
          <a:blip r:embed="rId3"/>
          <a:stretch>
            <a:fillRect/>
          </a:stretch>
        </p:blipFill>
        <p:spPr>
          <a:xfrm>
            <a:off x="0" y="19722"/>
            <a:ext cx="12192000" cy="6883049"/>
          </a:xfrm>
          <a:prstGeom prst="rect">
            <a:avLst/>
          </a:prstGeom>
        </p:spPr>
      </p:pic>
    </p:spTree>
    <p:extLst>
      <p:ext uri="{BB962C8B-B14F-4D97-AF65-F5344CB8AC3E}">
        <p14:creationId xmlns:p14="http://schemas.microsoft.com/office/powerpoint/2010/main" val="30873245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hlinkClick r:id="rId3"/>
            <a:extLst>
              <a:ext uri="{FF2B5EF4-FFF2-40B4-BE49-F238E27FC236}">
                <a16:creationId xmlns:a16="http://schemas.microsoft.com/office/drawing/2014/main" id="{010AA32E-F959-3624-EDD6-B2C12339A984}"/>
              </a:ext>
            </a:extLst>
          </p:cNvPr>
          <p:cNvPicPr>
            <a:picLocks noGrp="1" noChangeAspect="1"/>
          </p:cNvPicPr>
          <p:nvPr>
            <p:ph idx="1"/>
          </p:nvPr>
        </p:nvPicPr>
        <p:blipFill>
          <a:blip r:embed="rId4"/>
          <a:stretch>
            <a:fillRect/>
          </a:stretch>
        </p:blipFill>
        <p:spPr>
          <a:xfrm>
            <a:off x="1676400" y="-37320"/>
            <a:ext cx="7963678" cy="6865773"/>
          </a:xfrm>
        </p:spPr>
      </p:pic>
    </p:spTree>
    <p:extLst>
      <p:ext uri="{BB962C8B-B14F-4D97-AF65-F5344CB8AC3E}">
        <p14:creationId xmlns:p14="http://schemas.microsoft.com/office/powerpoint/2010/main" val="358477026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map of a city with different colored areas&#10;&#10;AI-generated content may be incorrect.">
            <a:extLst>
              <a:ext uri="{FF2B5EF4-FFF2-40B4-BE49-F238E27FC236}">
                <a16:creationId xmlns:a16="http://schemas.microsoft.com/office/drawing/2014/main" id="{7F40BE64-764F-F771-9A3F-649AAD8ED74F}"/>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r="3048"/>
          <a:stretch/>
        </p:blipFill>
        <p:spPr>
          <a:xfrm>
            <a:off x="-35415" y="609600"/>
            <a:ext cx="5979015" cy="6011440"/>
          </a:xfrm>
        </p:spPr>
      </p:pic>
      <p:pic>
        <p:nvPicPr>
          <p:cNvPr id="7" name="Picture 6" descr="A road with cars and trees in the middle&#10;&#10;AI-generated content may be incorrect.">
            <a:extLst>
              <a:ext uri="{FF2B5EF4-FFF2-40B4-BE49-F238E27FC236}">
                <a16:creationId xmlns:a16="http://schemas.microsoft.com/office/drawing/2014/main" id="{01526187-A3B6-7319-371F-FBDAF298B25C}"/>
              </a:ext>
            </a:extLst>
          </p:cNvPr>
          <p:cNvPicPr>
            <a:picLocks noChangeAspect="1"/>
          </p:cNvPicPr>
          <p:nvPr/>
        </p:nvPicPr>
        <p:blipFill rotWithShape="1">
          <a:blip r:embed="rId3">
            <a:extLst>
              <a:ext uri="{28A0092B-C50C-407E-A947-70E740481C1C}">
                <a14:useLocalDpi xmlns:a14="http://schemas.microsoft.com/office/drawing/2010/main" val="0"/>
              </a:ext>
            </a:extLst>
          </a:blip>
          <a:srcRect l="13090" r="8366"/>
          <a:stretch/>
        </p:blipFill>
        <p:spPr>
          <a:xfrm>
            <a:off x="5715000" y="711200"/>
            <a:ext cx="6959252" cy="5909840"/>
          </a:xfrm>
          <a:prstGeom prst="rect">
            <a:avLst/>
          </a:prstGeom>
        </p:spPr>
      </p:pic>
    </p:spTree>
    <p:extLst>
      <p:ext uri="{BB962C8B-B14F-4D97-AF65-F5344CB8AC3E}">
        <p14:creationId xmlns:p14="http://schemas.microsoft.com/office/powerpoint/2010/main" val="94636026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nline Media 3" title="How rain droplets are formed by a dirty little secret 🌧️💦 | Weird Weather | ABC News">
            <a:hlinkClick r:id="" action="ppaction://media"/>
            <a:extLst>
              <a:ext uri="{FF2B5EF4-FFF2-40B4-BE49-F238E27FC236}">
                <a16:creationId xmlns:a16="http://schemas.microsoft.com/office/drawing/2014/main" id="{3BC453C4-5A5C-F94F-E8EF-992E91EB0680}"/>
              </a:ext>
            </a:extLst>
          </p:cNvPr>
          <p:cNvPicPr>
            <a:picLocks noGrp="1" noRot="1" noChangeAspect="1"/>
          </p:cNvPicPr>
          <p:nvPr>
            <p:ph idx="1"/>
            <a:videoFile r:link="rId1"/>
          </p:nvPr>
        </p:nvPicPr>
        <p:blipFill>
          <a:blip r:embed="rId3"/>
          <a:stretch>
            <a:fillRect/>
          </a:stretch>
        </p:blipFill>
        <p:spPr>
          <a:xfrm>
            <a:off x="76200" y="22860"/>
            <a:ext cx="11887200" cy="6710972"/>
          </a:xfrm>
          <a:prstGeom prst="rect">
            <a:avLst/>
          </a:prstGeom>
        </p:spPr>
      </p:pic>
    </p:spTree>
    <p:extLst>
      <p:ext uri="{BB962C8B-B14F-4D97-AF65-F5344CB8AC3E}">
        <p14:creationId xmlns:p14="http://schemas.microsoft.com/office/powerpoint/2010/main" val="15813270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4" name="Picture 3" descr="C:\Documents and Settings\jas\Desktop\collision.gif">
            <a:extLst>
              <a:ext uri="{FF2B5EF4-FFF2-40B4-BE49-F238E27FC236}">
                <a16:creationId xmlns:a16="http://schemas.microsoft.com/office/drawing/2014/main" id="{A68B1991-3399-2288-22E1-F8948BD759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33800" y="173831"/>
            <a:ext cx="3630613" cy="651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nline Media 3" title="Supercooled Water Nucleation Experiments">
            <a:hlinkClick r:id="" action="ppaction://media"/>
            <a:extLst>
              <a:ext uri="{FF2B5EF4-FFF2-40B4-BE49-F238E27FC236}">
                <a16:creationId xmlns:a16="http://schemas.microsoft.com/office/drawing/2014/main" id="{B494843C-081E-8C70-E83D-51E7CFBC17A9}"/>
              </a:ext>
            </a:extLst>
          </p:cNvPr>
          <p:cNvPicPr>
            <a:picLocks noGrp="1" noRot="1" noChangeAspect="1"/>
          </p:cNvPicPr>
          <p:nvPr>
            <p:ph idx="1"/>
            <a:videoFile r:link="rId1"/>
          </p:nvPr>
        </p:nvPicPr>
        <p:blipFill>
          <a:blip r:embed="rId3"/>
          <a:stretch>
            <a:fillRect/>
          </a:stretch>
        </p:blipFill>
        <p:spPr>
          <a:xfrm>
            <a:off x="1513114" y="-38703"/>
            <a:ext cx="9165771" cy="6874932"/>
          </a:xfrm>
          <a:prstGeom prst="rect">
            <a:avLst/>
          </a:prstGeom>
        </p:spPr>
      </p:pic>
    </p:spTree>
    <p:extLst>
      <p:ext uri="{BB962C8B-B14F-4D97-AF65-F5344CB8AC3E}">
        <p14:creationId xmlns:p14="http://schemas.microsoft.com/office/powerpoint/2010/main" val="35820349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6" name="Picture 2" descr="C:\Documents and Settings\jas\Desktop\wing-ice-alb.jpg">
            <a:extLst>
              <a:ext uri="{FF2B5EF4-FFF2-40B4-BE49-F238E27FC236}">
                <a16:creationId xmlns:a16="http://schemas.microsoft.com/office/drawing/2014/main" id="{30124CA0-7208-9EFB-1F00-ABC74BEC062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0"/>
            <a:ext cx="9093200" cy="681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F038AC-8FA0-F00B-E978-FA1CF7DFE63E}"/>
            </a:ext>
          </a:extLst>
        </p:cNvPr>
        <p:cNvGrpSpPr/>
        <p:nvPr/>
      </p:nvGrpSpPr>
      <p:grpSpPr>
        <a:xfrm>
          <a:off x="0" y="0"/>
          <a:ext cx="0" cy="0"/>
          <a:chOff x="0" y="0"/>
          <a:chExt cx="0" cy="0"/>
        </a:xfrm>
      </p:grpSpPr>
      <p:pic>
        <p:nvPicPr>
          <p:cNvPr id="3" name="Picture 2" descr="Snowflake formation diagram with snowflakes and snowflakes on blue background with blue text and blue text above and below and below and below and below and below and below and below and below&#10;&#10;Description automatically generated">
            <a:extLst>
              <a:ext uri="{FF2B5EF4-FFF2-40B4-BE49-F238E27FC236}">
                <a16:creationId xmlns:a16="http://schemas.microsoft.com/office/drawing/2014/main" id="{AAF467FA-A6B3-6683-0B19-B92A7D6AB15B}"/>
              </a:ext>
            </a:extLst>
          </p:cNvPr>
          <p:cNvPicPr>
            <a:picLocks noChangeAspect="1"/>
          </p:cNvPicPr>
          <p:nvPr/>
        </p:nvPicPr>
        <p:blipFill rotWithShape="1">
          <a:blip r:embed="rId3">
            <a:extLst>
              <a:ext uri="{28A0092B-C50C-407E-A947-70E740481C1C}">
                <a14:useLocalDpi xmlns:a14="http://schemas.microsoft.com/office/drawing/2010/main" val="0"/>
              </a:ext>
            </a:extLst>
          </a:blip>
          <a:srcRect l="50000" t="19939" b="3591"/>
          <a:stretch/>
        </p:blipFill>
        <p:spPr>
          <a:xfrm>
            <a:off x="3048000" y="107577"/>
            <a:ext cx="5791200" cy="6642846"/>
          </a:xfrm>
          <a:prstGeom prst="rect">
            <a:avLst/>
          </a:prstGeom>
        </p:spPr>
      </p:pic>
    </p:spTree>
    <p:extLst>
      <p:ext uri="{BB962C8B-B14F-4D97-AF65-F5344CB8AC3E}">
        <p14:creationId xmlns:p14="http://schemas.microsoft.com/office/powerpoint/2010/main" val="334918925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nline Media 3" title="Freezing rain vs sleet vs snow">
            <a:hlinkClick r:id="" action="ppaction://media"/>
            <a:extLst>
              <a:ext uri="{FF2B5EF4-FFF2-40B4-BE49-F238E27FC236}">
                <a16:creationId xmlns:a16="http://schemas.microsoft.com/office/drawing/2014/main" id="{B78977F5-CDBE-287E-5990-792592A003B7}"/>
              </a:ext>
            </a:extLst>
          </p:cNvPr>
          <p:cNvPicPr>
            <a:picLocks noGrp="1" noRot="1" noChangeAspect="1"/>
          </p:cNvPicPr>
          <p:nvPr>
            <p:ph idx="1"/>
            <a:videoFile r:link="rId1"/>
          </p:nvPr>
        </p:nvPicPr>
        <p:blipFill>
          <a:blip r:embed="rId3"/>
          <a:stretch>
            <a:fillRect/>
          </a:stretch>
        </p:blipFill>
        <p:spPr>
          <a:xfrm>
            <a:off x="228600" y="152400"/>
            <a:ext cx="11734800" cy="6624934"/>
          </a:xfrm>
          <a:prstGeom prst="rect">
            <a:avLst/>
          </a:prstGeom>
        </p:spPr>
      </p:pic>
    </p:spTree>
    <p:extLst>
      <p:ext uri="{BB962C8B-B14F-4D97-AF65-F5344CB8AC3E}">
        <p14:creationId xmlns:p14="http://schemas.microsoft.com/office/powerpoint/2010/main" val="41228053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18" name="Picture 2" descr="C:\Users\JAS\Desktop\Lectures\Clouds and precip\jan25_2013.png">
            <a:extLst>
              <a:ext uri="{FF2B5EF4-FFF2-40B4-BE49-F238E27FC236}">
                <a16:creationId xmlns:a16="http://schemas.microsoft.com/office/drawing/2014/main" id="{5D8E47F9-A8D3-991D-FB69-CEB352CCCBF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19231"/>
          <a:stretch>
            <a:fillRect/>
          </a:stretch>
        </p:blipFill>
        <p:spPr bwMode="auto">
          <a:xfrm>
            <a:off x="84062" y="228600"/>
            <a:ext cx="12075281" cy="624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2" name="Picture 4" descr="C:\Users\JAS\Desktop\Cross Section(2).png">
            <a:extLst>
              <a:ext uri="{FF2B5EF4-FFF2-40B4-BE49-F238E27FC236}">
                <a16:creationId xmlns:a16="http://schemas.microsoft.com/office/drawing/2014/main" id="{8653856F-76BE-04E2-D0D2-8D373D50045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082"/>
          <a:stretch/>
        </p:blipFill>
        <p:spPr bwMode="auto">
          <a:xfrm>
            <a:off x="2209800" y="1066800"/>
            <a:ext cx="8001000" cy="58180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794" name="Picture 2" descr="C:\Documents and Settings\jas\Desktop\snow2.gif">
            <a:extLst>
              <a:ext uri="{FF2B5EF4-FFF2-40B4-BE49-F238E27FC236}">
                <a16:creationId xmlns:a16="http://schemas.microsoft.com/office/drawing/2014/main" id="{00DAD342-993F-C81A-AF26-033E6573820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00372" y="1384469"/>
            <a:ext cx="4206875" cy="341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795" name="Picture 3" descr="C:\Documents and Settings\jas\Desktop\slt2.gif">
            <a:extLst>
              <a:ext uri="{FF2B5EF4-FFF2-40B4-BE49-F238E27FC236}">
                <a16:creationId xmlns:a16="http://schemas.microsoft.com/office/drawing/2014/main" id="{74CFCA75-FC8D-24BF-BC9C-BFE50701F52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69710" y="489119"/>
            <a:ext cx="3938587" cy="305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796" name="Picture 4" descr="C:\Documents and Settings\jas\Desktop\frz2.gif">
            <a:extLst>
              <a:ext uri="{FF2B5EF4-FFF2-40B4-BE49-F238E27FC236}">
                <a16:creationId xmlns:a16="http://schemas.microsoft.com/office/drawing/2014/main" id="{4AD6E94D-B245-995F-EF0F-80027344E2E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80772" y="3654593"/>
            <a:ext cx="4697413" cy="3170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7" name="TextBox 4">
            <a:extLst>
              <a:ext uri="{FF2B5EF4-FFF2-40B4-BE49-F238E27FC236}">
                <a16:creationId xmlns:a16="http://schemas.microsoft.com/office/drawing/2014/main" id="{6E4DD1F4-04B1-4CE6-E04D-17CA2639DCD6}"/>
              </a:ext>
            </a:extLst>
          </p:cNvPr>
          <p:cNvSpPr txBox="1">
            <a:spLocks noChangeArrowheads="1"/>
          </p:cNvSpPr>
          <p:nvPr/>
        </p:nvSpPr>
        <p:spPr bwMode="auto">
          <a:xfrm>
            <a:off x="9424371" y="1063793"/>
            <a:ext cx="1454244" cy="369332"/>
          </a:xfrm>
          <a:prstGeom prst="rect">
            <a:avLst/>
          </a:prstGeom>
          <a:solidFill>
            <a:schemeClr val="accent1"/>
          </a:solidFill>
          <a:ln w="9525">
            <a:solidFill>
              <a:schemeClr val="tx1"/>
            </a:solidFill>
            <a:miter lim="800000"/>
            <a:headEnd/>
            <a:tailEnd/>
          </a:ln>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t>Snow profile</a:t>
            </a:r>
          </a:p>
        </p:txBody>
      </p:sp>
      <p:sp>
        <p:nvSpPr>
          <p:cNvPr id="33798" name="TextBox 5">
            <a:extLst>
              <a:ext uri="{FF2B5EF4-FFF2-40B4-BE49-F238E27FC236}">
                <a16:creationId xmlns:a16="http://schemas.microsoft.com/office/drawing/2014/main" id="{EF0C9DDF-2422-ED88-C8AB-0B7783D5D389}"/>
              </a:ext>
            </a:extLst>
          </p:cNvPr>
          <p:cNvSpPr txBox="1">
            <a:spLocks noChangeArrowheads="1"/>
          </p:cNvSpPr>
          <p:nvPr/>
        </p:nvSpPr>
        <p:spPr bwMode="auto">
          <a:xfrm>
            <a:off x="4668221" y="58906"/>
            <a:ext cx="1402948" cy="369332"/>
          </a:xfrm>
          <a:prstGeom prst="rect">
            <a:avLst/>
          </a:prstGeom>
          <a:solidFill>
            <a:schemeClr val="accent1"/>
          </a:solidFill>
          <a:ln w="9525">
            <a:solidFill>
              <a:schemeClr val="tx1"/>
            </a:solidFill>
            <a:miter lim="800000"/>
            <a:headEnd/>
            <a:tailEnd/>
          </a:ln>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t>Sleet profile</a:t>
            </a:r>
          </a:p>
        </p:txBody>
      </p:sp>
      <p:sp>
        <p:nvSpPr>
          <p:cNvPr id="33799" name="TextBox 6">
            <a:extLst>
              <a:ext uri="{FF2B5EF4-FFF2-40B4-BE49-F238E27FC236}">
                <a16:creationId xmlns:a16="http://schemas.microsoft.com/office/drawing/2014/main" id="{AE58B116-D81D-AE52-D04D-0EEE095B7B3F}"/>
              </a:ext>
            </a:extLst>
          </p:cNvPr>
          <p:cNvSpPr txBox="1">
            <a:spLocks noChangeArrowheads="1"/>
          </p:cNvSpPr>
          <p:nvPr/>
        </p:nvSpPr>
        <p:spPr bwMode="auto">
          <a:xfrm>
            <a:off x="3404571" y="5711993"/>
            <a:ext cx="2224088" cy="369888"/>
          </a:xfrm>
          <a:prstGeom prst="rect">
            <a:avLst/>
          </a:prstGeom>
          <a:solidFill>
            <a:schemeClr val="accent1"/>
          </a:solidFill>
          <a:ln w="9525">
            <a:solidFill>
              <a:schemeClr val="tx1"/>
            </a:solidFill>
            <a:miter lim="800000"/>
            <a:headEnd/>
            <a:tailEnd/>
          </a:ln>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Freezing rain profile</a:t>
            </a:r>
          </a:p>
        </p:txBody>
      </p:sp>
      <p:pic>
        <p:nvPicPr>
          <p:cNvPr id="3" name="Picture 2">
            <a:extLst>
              <a:ext uri="{FF2B5EF4-FFF2-40B4-BE49-F238E27FC236}">
                <a16:creationId xmlns:a16="http://schemas.microsoft.com/office/drawing/2014/main" id="{16E4D6A7-B8AB-71FA-3333-B70E69773F53}"/>
              </a:ext>
            </a:extLst>
          </p:cNvPr>
          <p:cNvPicPr>
            <a:picLocks noChangeAspect="1"/>
          </p:cNvPicPr>
          <p:nvPr/>
        </p:nvPicPr>
        <p:blipFill>
          <a:blip r:embed="rId5"/>
          <a:stretch>
            <a:fillRect/>
          </a:stretch>
        </p:blipFill>
        <p:spPr>
          <a:xfrm>
            <a:off x="84753" y="840898"/>
            <a:ext cx="3200677" cy="484674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nline Media 3" title="Did you know Freezing Rain is a self-limiting process? What does that mean?">
            <a:hlinkClick r:id="" action="ppaction://media"/>
            <a:extLst>
              <a:ext uri="{FF2B5EF4-FFF2-40B4-BE49-F238E27FC236}">
                <a16:creationId xmlns:a16="http://schemas.microsoft.com/office/drawing/2014/main" id="{A48ADDA2-FF4E-0F8B-061B-DDF350232DBA}"/>
              </a:ext>
            </a:extLst>
          </p:cNvPr>
          <p:cNvPicPr>
            <a:picLocks noGrp="1" noRot="1" noChangeAspect="1"/>
          </p:cNvPicPr>
          <p:nvPr>
            <p:ph idx="1"/>
            <a:videoFile r:link="rId1"/>
          </p:nvPr>
        </p:nvPicPr>
        <p:blipFill>
          <a:blip r:embed="rId3"/>
          <a:stretch>
            <a:fillRect/>
          </a:stretch>
        </p:blipFill>
        <p:spPr>
          <a:xfrm>
            <a:off x="38100" y="19050"/>
            <a:ext cx="12104292" cy="6838950"/>
          </a:xfrm>
          <a:prstGeom prst="rect">
            <a:avLst/>
          </a:prstGeom>
        </p:spPr>
      </p:pic>
    </p:spTree>
    <p:extLst>
      <p:ext uri="{BB962C8B-B14F-4D97-AF65-F5344CB8AC3E}">
        <p14:creationId xmlns:p14="http://schemas.microsoft.com/office/powerpoint/2010/main" val="34633770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theme/theme1.xml><?xml version="1.0" encoding="utf-8"?>
<a:theme xmlns:a="http://schemas.openxmlformats.org/drawingml/2006/main" name="Default Design">
  <a:themeElements>
    <a:clrScheme name="Custom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C00000"/>
      </a:hlink>
      <a:folHlink>
        <a:srgbClr val="C00000"/>
      </a:folHlink>
    </a:clrScheme>
    <a:fontScheme name="Custom 5">
      <a:majorFont>
        <a:latin typeface="Calibri Light"/>
        <a:ea typeface=""/>
        <a:cs typeface=""/>
      </a:majorFont>
      <a:minorFont>
        <a:latin typeface="Calibri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580</TotalTime>
  <Words>284</Words>
  <Application>Microsoft Office PowerPoint</Application>
  <PresentationFormat>Widescreen</PresentationFormat>
  <Paragraphs>74</Paragraphs>
  <Slides>42</Slides>
  <Notes>27</Notes>
  <HiddenSlides>0</HiddenSlides>
  <MMClips>8</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42</vt:i4>
      </vt:variant>
    </vt:vector>
  </HeadingPairs>
  <TitlesOfParts>
    <vt:vector size="45" baseType="lpstr">
      <vt:lpstr>Arial</vt:lpstr>
      <vt:lpstr>Calibri Light</vt:lpstr>
      <vt:lpstr>Default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Florida State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Tony Stallins</dc:creator>
  <cp:lastModifiedBy>Stallins, Jon A.</cp:lastModifiedBy>
  <cp:revision>82</cp:revision>
  <dcterms:created xsi:type="dcterms:W3CDTF">2005-05-20T15:20:39Z</dcterms:created>
  <dcterms:modified xsi:type="dcterms:W3CDTF">2026-02-23T16:51:20Z</dcterms:modified>
</cp:coreProperties>
</file>