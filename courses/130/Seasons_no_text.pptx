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817" r:id="rId2"/>
    <p:sldId id="821" r:id="rId3"/>
    <p:sldId id="320" r:id="rId4"/>
    <p:sldId id="812" r:id="rId5"/>
    <p:sldId id="805" r:id="rId6"/>
    <p:sldId id="810" r:id="rId7"/>
    <p:sldId id="330" r:id="rId8"/>
    <p:sldId id="329" r:id="rId9"/>
    <p:sldId id="815" r:id="rId10"/>
    <p:sldId id="260" r:id="rId11"/>
    <p:sldId id="336" r:id="rId12"/>
    <p:sldId id="808" r:id="rId13"/>
    <p:sldId id="287" r:id="rId14"/>
    <p:sldId id="346" r:id="rId15"/>
    <p:sldId id="299" r:id="rId16"/>
    <p:sldId id="335" r:id="rId17"/>
    <p:sldId id="813" r:id="rId18"/>
    <p:sldId id="258" r:id="rId19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D5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76256" autoAdjust="0"/>
  </p:normalViewPr>
  <p:slideViewPr>
    <p:cSldViewPr>
      <p:cViewPr varScale="1">
        <p:scale>
          <a:sx n="48" d="100"/>
          <a:sy n="48" d="100"/>
        </p:scale>
        <p:origin x="1340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39FE89D5-7F8B-02E6-2617-BF6A7C8FA9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6AD100CB-95A9-3D8C-8019-846CC80F81E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09B8BB36-E022-48D7-8B6B-A6780D1679A4}" type="datetimeFigureOut">
              <a:rPr lang="en-US"/>
              <a:pPr>
                <a:defRPr/>
              </a:pPr>
              <a:t>1/20/2026</a:t>
            </a:fld>
            <a:endParaRPr lang="en-US" dirty="0"/>
          </a:p>
        </p:txBody>
      </p:sp>
      <p:sp>
        <p:nvSpPr>
          <p:cNvPr id="124932" name="Rectangle 4">
            <a:extLst>
              <a:ext uri="{FF2B5EF4-FFF2-40B4-BE49-F238E27FC236}">
                <a16:creationId xmlns:a16="http://schemas.microsoft.com/office/drawing/2014/main" id="{0249E56C-CC0D-6770-A751-896B16BF16C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4933" name="Rectangle 5">
            <a:extLst>
              <a:ext uri="{FF2B5EF4-FFF2-40B4-BE49-F238E27FC236}">
                <a16:creationId xmlns:a16="http://schemas.microsoft.com/office/drawing/2014/main" id="{44E4242C-4BB5-B28B-548E-56FE2AC82D5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FBEFF18C-3434-4A96-8656-5C9B707C0D8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C13D066-76A4-247E-2C86-A6CA5E0186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171C2A2-B27D-EB77-2445-A4ED3E7F03C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A21ADFD-D288-2C65-C6DD-A4A7E5E546D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2DB6F1C7-7336-19C9-26BC-1954F00B7E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46AF1894-3BF7-15E3-E58A-32C12AD323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B5E247CF-56FC-1E10-E431-3FB19CE96A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B6998B8A-DC31-48DA-BD29-2ED408626D7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98B8A-DC31-48DA-BD29-2ED408626D7A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5793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FE6005D1-2FCC-750C-220D-CC3A0C7ECC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B0DB3B69-5A26-8A62-BC8C-C6B81AE26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BE3DC84A-663F-5AB7-641C-F40FFFAA0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FDA1F5-8AF5-4813-B3EC-BDF5FB293086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75CA7C00-D0FD-3F3A-C9D3-F31E1FA612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C04B3DA0-D495-21D6-9028-EED6C557F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87CE7A09-CF9A-FFDA-471C-7024901FB2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8384E3-4A2E-4239-8C06-551DAEC49363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12E8E9E8-35BE-E903-D66B-83F2C2EBD4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CD832737-094B-F0BB-B14D-975A3FF6B8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BF549216-CCAA-0D11-F6EB-C165C052F5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A25B9D-984E-4B80-AD04-297312365FC3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698CD903-C2DF-E4D9-1465-60ABA0A834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E1B9D555-D1CF-927D-D4B0-009F02453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00EB4EAB-EA17-DF2D-7C7A-ABA1D6265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0015C3-6D18-493E-948D-83363FFEA27A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2CBF2CE9-49C6-18EC-2243-6287A269E7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36186AA8-1213-F221-55EB-B6E2EE540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E2770EA1-AEBF-2B3A-ACF2-7F2FFEFA0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39E1BA-2832-4BE9-BA34-3C617F7EDF67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98B8A-DC31-48DA-BD29-2ED408626D7A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5757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307DEB0-E4E6-DC54-49EF-6A9C2AE02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B71333DB-8D5E-EF57-FB9F-53C66A6DB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D6E9F25C-1354-3F83-ED63-432920102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9EF8DA-DBBD-4C68-883A-6CA33D2D8EF8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98B8A-DC31-48DA-BD29-2ED408626D7A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8259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01CFCF51-C153-DA4E-F6DB-E67BE68503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3BF8BE00-7118-52A8-B9A6-36CAB173E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FD0669C6-D0CF-D355-9292-71BDC7F61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0784E0-CF75-4533-8B66-363B920AF0EC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98B8A-DC31-48DA-BD29-2ED408626D7A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2726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BC71D75-884E-DF49-1FE0-241962992D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43F6D0E-0ED7-F9D8-4471-5841B3BB7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98B8A-DC31-48DA-BD29-2ED408626D7A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0452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E0044092-74F7-E5E0-9DC7-B53C5B8EF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C7368536-425D-E90E-8E48-C3C905B61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62895FA1-502D-65F3-03AF-E64F56597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3A9A25-7277-4864-A556-10502755B844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9721FA-39E6-6C3D-B3D8-FA71D067E5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D9B426-31A4-4FD8-4E39-02A446C887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7CD483-F160-444B-13CD-63F331F278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6CE1-66A5-4231-82AD-E4C8FE45F3C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095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E77A2DA-9952-7D5C-86F3-92E11EE2E0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94D8D0-5466-533D-DD57-E5047062D5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84BBDD-47B3-7EB6-74F7-0E5FA2E99C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97B22-8D19-4E54-8F54-6A583770F73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527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226F3D-9414-4B08-0014-3E98C63E3F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CC8F22-B268-67E7-6F3A-7533F5F400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32EC15-16A1-CED4-0D8C-19AC04E811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8D28C-362B-4465-9759-CCF17957ABC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9836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904F34-C42F-7D09-5C82-2E2F4522B5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64DA4-AA98-9702-504E-0BFBF288F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BD810-801C-673D-30BA-337FE80B6A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716B2-46F4-4759-997F-891DE16AE25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1121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544607D-9E86-37AF-0F08-B1BD88EBBB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169DDC-F4D8-169C-1428-91595EE0CF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6CF4457-3F72-EF0A-2218-23D2D5325A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98AFC-2F05-43E5-A373-240D7EEDC06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9845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3FCB21B-DD53-3261-8297-006B5CDFA6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2AB857-4594-1013-A429-5FED86F855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F14E2C-C61B-5B78-197A-A60AB408E6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F582E-0227-4EDE-9AD1-B648322FCC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300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A3F050E-221F-97B5-4B95-82DCDC75B8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A8A6B07-CA71-33D5-C8C9-9CB95C9B8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301F0F5-625B-4790-FAC6-C216BF4BE6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9B7CA0-8999-404F-B346-6C38BC82E16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896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5621B7-4660-3819-E472-02E12CBE23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561F0-8801-CB04-D90F-2627986347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A83BF5-B365-3AD3-E8BE-6927A8A99B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F28B1-DBCC-4907-97E1-0517471A5FC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311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0AB377-7FF3-BC71-F5F3-C8652E86C3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04CF0-C838-6193-F21A-B5720B792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870878-C843-565F-044B-FC0BD4FCC9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34DED-57F6-47AF-93EF-179F41336D9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2547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595EEA-0598-7066-AC1D-759A6DE4FC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117E7A-CBB8-C575-A265-42DEB837A1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FD6E3B-757F-98EB-E269-5A64AB687B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2D98B-9D56-487B-A319-BFDB0CF6BB5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911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4C4917-E4AE-80F8-6395-F212337BF8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2B7251-1544-EC06-0CC0-03DE651C9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1D1FA2-B790-670F-FAB1-BE64670FAE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FB4E7-1C6E-4108-BF07-E18D01DDFD7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5830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FEE8B50-BCDD-4264-5408-7310E266FD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AFA6DC6-CEB9-7F10-A40D-099514AA50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820E976-1A22-4CA3-3D54-884070A7F4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B33D0-0BBD-4F37-AA66-8ADA9F4B8D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14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A0B9E6A-8475-2E11-E197-88F7C2CBC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A398D8-EDFB-5860-EC64-CEABD1806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6A1824-BFCA-F129-7626-5BE8FB2E68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0AFD87B-E45F-B5EC-B591-445C66ED27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314F9E6-0168-16EB-FDE8-9CF16AB777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B98FC06-9CFE-42B0-93F5-128456ECAF2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kSNbLYHRrU8?feature=oembed" TargetMode="Externa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65QSLpJHt3Y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meanddate.com/sun/usa/lexington-fayett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astro.unl.edu/naap/motion3/animations/sunmotions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gHmqv_-UbQ?feature=oembe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Tony Stallins\Desktop\new-5.jpg">
            <a:extLst>
              <a:ext uri="{FF2B5EF4-FFF2-40B4-BE49-F238E27FC236}">
                <a16:creationId xmlns:a16="http://schemas.microsoft.com/office/drawing/2014/main" id="{974C5DE7-5B06-6B09-88C2-B6C909B47B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08" b="4661"/>
          <a:stretch>
            <a:fillRect/>
          </a:stretch>
        </p:blipFill>
        <p:spPr bwMode="auto">
          <a:xfrm>
            <a:off x="2514600" y="163947"/>
            <a:ext cx="6629400" cy="653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13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C:\Users\JAS\Desktop\nswrs_web.gif">
            <a:extLst>
              <a:ext uri="{FF2B5EF4-FFF2-40B4-BE49-F238E27FC236}">
                <a16:creationId xmlns:a16="http://schemas.microsoft.com/office/drawing/2014/main" id="{37F4911E-A83B-2C7A-AFF2-9D67AFEE699C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1704"/>
            <a:ext cx="9601200" cy="6514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9581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Earth Breathes as Seasons Change">
            <a:hlinkClick r:id="" action="ppaction://media"/>
            <a:extLst>
              <a:ext uri="{FF2B5EF4-FFF2-40B4-BE49-F238E27FC236}">
                <a16:creationId xmlns:a16="http://schemas.microsoft.com/office/drawing/2014/main" id="{2EFCF779-3393-81C6-1BDE-695243F6235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225" y="0"/>
            <a:ext cx="1214755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A globes with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7E428278-E012-12BC-DB0A-1DCC2CE8D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201"/>
          <a:stretch>
            <a:fillRect/>
          </a:stretch>
        </p:blipFill>
        <p:spPr bwMode="auto">
          <a:xfrm>
            <a:off x="457200" y="152400"/>
            <a:ext cx="115062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8E3FE5-51B7-F62D-BC02-43AF6BB987B4}"/>
              </a:ext>
            </a:extLst>
          </p:cNvPr>
          <p:cNvSpPr/>
          <p:nvPr/>
        </p:nvSpPr>
        <p:spPr>
          <a:xfrm>
            <a:off x="533400" y="5943600"/>
            <a:ext cx="2286000" cy="4572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2" descr="C:\Documents and Settings\Tony Stallins\Desktop\new-4.jpg">
            <a:extLst>
              <a:ext uri="{FF2B5EF4-FFF2-40B4-BE49-F238E27FC236}">
                <a16:creationId xmlns:a16="http://schemas.microsoft.com/office/drawing/2014/main" id="{A0CC5FAB-22C5-3EED-7050-15C3AA82B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69862"/>
            <a:ext cx="4724400" cy="651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Crowds celebrate Christmas on Australia beach | ABS-CBN News">
            <a:hlinkClick r:id="" action="ppaction://media"/>
            <a:extLst>
              <a:ext uri="{FF2B5EF4-FFF2-40B4-BE49-F238E27FC236}">
                <a16:creationId xmlns:a16="http://schemas.microsoft.com/office/drawing/2014/main" id="{3A3891DA-96DA-9863-9E28-A3016C34BC8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26988"/>
            <a:ext cx="12039600" cy="6796087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8">
            <a:extLst>
              <a:ext uri="{FF2B5EF4-FFF2-40B4-BE49-F238E27FC236}">
                <a16:creationId xmlns:a16="http://schemas.microsoft.com/office/drawing/2014/main" id="{C02814F7-E2F0-E3CF-AAE0-36E4CC980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0"/>
            <a:ext cx="85931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5" descr="The image “http://www.uwsp.edu/geO/faculty/ritter/images/atmosphere/energy/elliptical_orbit.jpg” cannot be displayed, because it contains errors.">
            <a:extLst>
              <a:ext uri="{FF2B5EF4-FFF2-40B4-BE49-F238E27FC236}">
                <a16:creationId xmlns:a16="http://schemas.microsoft.com/office/drawing/2014/main" id="{B65208E8-35E7-0AF7-ABFC-78FFEB071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" t="10811" r="742" b="8109"/>
          <a:stretch>
            <a:fillRect/>
          </a:stretch>
        </p:blipFill>
        <p:spPr bwMode="auto">
          <a:xfrm>
            <a:off x="-76200" y="1600200"/>
            <a:ext cx="12141200" cy="433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view of earth from space&#10;&#10;Description automatically generated">
            <a:extLst>
              <a:ext uri="{FF2B5EF4-FFF2-40B4-BE49-F238E27FC236}">
                <a16:creationId xmlns:a16="http://schemas.microsoft.com/office/drawing/2014/main" id="{CFEDE236-08E2-CEE7-66F9-405040339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5" y="228600"/>
            <a:ext cx="12211261" cy="6071616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2D4D65-79DA-D7B0-BBB0-96B4B6A4C953}"/>
              </a:ext>
            </a:extLst>
          </p:cNvPr>
          <p:cNvSpPr/>
          <p:nvPr/>
        </p:nvSpPr>
        <p:spPr>
          <a:xfrm>
            <a:off x="6477000" y="4876800"/>
            <a:ext cx="533400" cy="30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61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Documents and Settings\Tony Stallins\Desktop\new-3.jpg">
            <a:extLst>
              <a:ext uri="{FF2B5EF4-FFF2-40B4-BE49-F238E27FC236}">
                <a16:creationId xmlns:a16="http://schemas.microsoft.com/office/drawing/2014/main" id="{38605A56-D1AF-5F3F-8106-FC113E11A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5"/>
          <a:stretch>
            <a:fillRect/>
          </a:stretch>
        </p:blipFill>
        <p:spPr bwMode="auto">
          <a:xfrm>
            <a:off x="1728788" y="1600200"/>
            <a:ext cx="8863012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5">
            <a:extLst>
              <a:ext uri="{FF2B5EF4-FFF2-40B4-BE49-F238E27FC236}">
                <a16:creationId xmlns:a16="http://schemas.microsoft.com/office/drawing/2014/main" id="{15F1A634-4356-FDC6-9C92-F6E420FDD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5192713"/>
            <a:ext cx="262413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TROPICS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High sun angle: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Larger concentration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of insolation per area </a:t>
            </a:r>
          </a:p>
        </p:txBody>
      </p:sp>
      <p:sp>
        <p:nvSpPr>
          <p:cNvPr id="23556" name="Text Box 6">
            <a:extLst>
              <a:ext uri="{FF2B5EF4-FFF2-40B4-BE49-F238E27FC236}">
                <a16:creationId xmlns:a16="http://schemas.microsoft.com/office/drawing/2014/main" id="{B28DCFF7-0B5E-6E47-12A3-E0AC1CBEF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5192713"/>
            <a:ext cx="2176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  </a:t>
            </a:r>
            <a:r>
              <a:rPr lang="en-US" altLang="en-US" sz="2000" dirty="0"/>
              <a:t>MIDLATITUDES</a:t>
            </a:r>
          </a:p>
        </p:txBody>
      </p:sp>
      <p:sp>
        <p:nvSpPr>
          <p:cNvPr id="23557" name="Text Box 7">
            <a:extLst>
              <a:ext uri="{FF2B5EF4-FFF2-40B4-BE49-F238E27FC236}">
                <a16:creationId xmlns:a16="http://schemas.microsoft.com/office/drawing/2014/main" id="{FDF5CA9E-6631-1C9E-FC8F-C336D7E41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867400"/>
            <a:ext cx="2508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Intermediate sun angle</a:t>
            </a:r>
          </a:p>
        </p:txBody>
      </p:sp>
      <p:sp>
        <p:nvSpPr>
          <p:cNvPr id="23558" name="Text Box 8">
            <a:extLst>
              <a:ext uri="{FF2B5EF4-FFF2-40B4-BE49-F238E27FC236}">
                <a16:creationId xmlns:a16="http://schemas.microsoft.com/office/drawing/2014/main" id="{5BDC6C76-66CA-7B99-DDC6-4BCCB4432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5218113"/>
            <a:ext cx="207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HIGH LATITUDES</a:t>
            </a:r>
          </a:p>
        </p:txBody>
      </p:sp>
      <p:sp>
        <p:nvSpPr>
          <p:cNvPr id="23559" name="Text Box 9">
            <a:extLst>
              <a:ext uri="{FF2B5EF4-FFF2-40B4-BE49-F238E27FC236}">
                <a16:creationId xmlns:a16="http://schemas.microsoft.com/office/drawing/2014/main" id="{1745FE63-CD18-C404-C9DC-5C4C85E7B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5867400"/>
            <a:ext cx="29908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Low sun angle: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Smaller concentration of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insolation per area.</a:t>
            </a:r>
          </a:p>
        </p:txBody>
      </p:sp>
      <p:pic>
        <p:nvPicPr>
          <p:cNvPr id="3" name="Picture 2" descr="A close up of a flashlight&#10;&#10;Description automatically generated">
            <a:extLst>
              <a:ext uri="{FF2B5EF4-FFF2-40B4-BE49-F238E27FC236}">
                <a16:creationId xmlns:a16="http://schemas.microsoft.com/office/drawing/2014/main" id="{224D31A2-F00E-F7E1-C168-75C8D8DC61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29053" r="59375"/>
          <a:stretch/>
        </p:blipFill>
        <p:spPr>
          <a:xfrm>
            <a:off x="0" y="188119"/>
            <a:ext cx="2203471" cy="2462212"/>
          </a:xfrm>
          <a:prstGeom prst="rect">
            <a:avLst/>
          </a:prstGeom>
        </p:spPr>
      </p:pic>
      <p:pic>
        <p:nvPicPr>
          <p:cNvPr id="4" name="Picture 3" descr="A close up of a flashlight&#10;&#10;Description automatically generated">
            <a:extLst>
              <a:ext uri="{FF2B5EF4-FFF2-40B4-BE49-F238E27FC236}">
                <a16:creationId xmlns:a16="http://schemas.microsoft.com/office/drawing/2014/main" id="{6F828478-E323-B07F-ED63-BC23A5D3B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5" t="361" r="625" b="1"/>
          <a:stretch/>
        </p:blipFill>
        <p:spPr>
          <a:xfrm>
            <a:off x="9802419" y="152400"/>
            <a:ext cx="2368245" cy="24334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2" descr="C:\Users\JAS\Desktop\fog_on_the_roads44.jpg">
            <a:extLst>
              <a:ext uri="{FF2B5EF4-FFF2-40B4-BE49-F238E27FC236}">
                <a16:creationId xmlns:a16="http://schemas.microsoft.com/office/drawing/2014/main" id="{D3B7AED1-68DD-59A6-251D-2DF25076E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6400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2" descr="C:\Documents and Settings\Tony Stallins\Desktop\new-2.jpg">
            <a:extLst>
              <a:ext uri="{FF2B5EF4-FFF2-40B4-BE49-F238E27FC236}">
                <a16:creationId xmlns:a16="http://schemas.microsoft.com/office/drawing/2014/main" id="{A2D5B598-0C80-04BF-A93C-12C93B662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" t="4762" r="3166" b="3175"/>
          <a:stretch>
            <a:fillRect/>
          </a:stretch>
        </p:blipFill>
        <p:spPr bwMode="auto">
          <a:xfrm>
            <a:off x="5867400" y="1219200"/>
            <a:ext cx="6172200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6">
            <a:extLst>
              <a:ext uri="{FF2B5EF4-FFF2-40B4-BE49-F238E27FC236}">
                <a16:creationId xmlns:a16="http://schemas.microsoft.com/office/drawing/2014/main" id="{E4680FF2-A710-7CDD-C2F1-1A182E375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5" y="609600"/>
            <a:ext cx="658025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4">
            <a:extLst>
              <a:ext uri="{FF2B5EF4-FFF2-40B4-BE49-F238E27FC236}">
                <a16:creationId xmlns:a16="http://schemas.microsoft.com/office/drawing/2014/main" id="{A2A7B544-A4D5-C59F-F41C-7E60CFD9E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693" y="838200"/>
            <a:ext cx="5506278" cy="550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 descr="C:\Users\JAS\Desktop\EarthSun\daylight by latitude.JPG">
            <a:extLst>
              <a:ext uri="{FF2B5EF4-FFF2-40B4-BE49-F238E27FC236}">
                <a16:creationId xmlns:a16="http://schemas.microsoft.com/office/drawing/2014/main" id="{3AEAA0D1-5476-0091-DCA6-F399534E4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1" b="14713"/>
          <a:stretch>
            <a:fillRect/>
          </a:stretch>
        </p:blipFill>
        <p:spPr bwMode="auto">
          <a:xfrm>
            <a:off x="2057400" y="149225"/>
            <a:ext cx="7086600" cy="655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0F3E302B-7BA5-9903-5139-1F518C138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23900"/>
            <a:ext cx="12220409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>
            <a:hlinkClick r:id="rId3"/>
            <a:extLst>
              <a:ext uri="{FF2B5EF4-FFF2-40B4-BE49-F238E27FC236}">
                <a16:creationId xmlns:a16="http://schemas.microsoft.com/office/drawing/2014/main" id="{026EE343-8324-029A-FE7D-4C436372E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599"/>
            <a:ext cx="9144000" cy="6460787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Documents and Settings\tony\Desktop\solardec.gif">
            <a:extLst>
              <a:ext uri="{FF2B5EF4-FFF2-40B4-BE49-F238E27FC236}">
                <a16:creationId xmlns:a16="http://schemas.microsoft.com/office/drawing/2014/main" id="{CC31869E-46BF-E812-B526-8531467B0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4" t="14285"/>
          <a:stretch>
            <a:fillRect/>
          </a:stretch>
        </p:blipFill>
        <p:spPr bwMode="auto">
          <a:xfrm>
            <a:off x="609600" y="3048"/>
            <a:ext cx="10812334" cy="6854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Why Do We Have Different Seasons? | California Academy of Sciences">
            <a:hlinkClick r:id="" action="ppaction://media"/>
            <a:extLst>
              <a:ext uri="{FF2B5EF4-FFF2-40B4-BE49-F238E27FC236}">
                <a16:creationId xmlns:a16="http://schemas.microsoft.com/office/drawing/2014/main" id="{978C1E09-1C4A-78CB-0F2B-F7C67714086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47550" cy="68580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Documents and Settings\Tony Stallins\Desktop\new-1.jpg">
            <a:extLst>
              <a:ext uri="{FF2B5EF4-FFF2-40B4-BE49-F238E27FC236}">
                <a16:creationId xmlns:a16="http://schemas.microsoft.com/office/drawing/2014/main" id="{36C131B2-2F32-CA69-AE5A-1A8C4ADCC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"/>
            <a:ext cx="8305800" cy="609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42</Words>
  <Application>Microsoft Office PowerPoint</Application>
  <PresentationFormat>Widescreen</PresentationFormat>
  <Paragraphs>24</Paragraphs>
  <Slides>18</Slides>
  <Notes>14</Notes>
  <HiddenSlides>0</HiddenSlides>
  <MMClips>3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JAS</dc:creator>
  <cp:lastModifiedBy>Stallins, Jon A.</cp:lastModifiedBy>
  <cp:revision>119</cp:revision>
  <cp:lastPrinted>2025-01-23T16:08:52Z</cp:lastPrinted>
  <dcterms:created xsi:type="dcterms:W3CDTF">2006-06-28T12:51:27Z</dcterms:created>
  <dcterms:modified xsi:type="dcterms:W3CDTF">2026-01-20T21:54:19Z</dcterms:modified>
</cp:coreProperties>
</file>