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729" r:id="rId2"/>
    <p:sldId id="545" r:id="rId3"/>
    <p:sldId id="727" r:id="rId4"/>
    <p:sldId id="264" r:id="rId5"/>
    <p:sldId id="617" r:id="rId6"/>
    <p:sldId id="735" r:id="rId7"/>
    <p:sldId id="692" r:id="rId8"/>
    <p:sldId id="693" r:id="rId9"/>
    <p:sldId id="694" r:id="rId10"/>
    <p:sldId id="673" r:id="rId11"/>
    <p:sldId id="595" r:id="rId12"/>
    <p:sldId id="663" r:id="rId13"/>
    <p:sldId id="709" r:id="rId14"/>
    <p:sldId id="257" r:id="rId15"/>
    <p:sldId id="576" r:id="rId16"/>
    <p:sldId id="588" r:id="rId17"/>
    <p:sldId id="734" r:id="rId18"/>
    <p:sldId id="72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59" autoAdjust="0"/>
    <p:restoredTop sz="86684" autoAdjust="0"/>
  </p:normalViewPr>
  <p:slideViewPr>
    <p:cSldViewPr snapToGrid="0" showGuides="1">
      <p:cViewPr varScale="1">
        <p:scale>
          <a:sx n="55" d="100"/>
          <a:sy n="55" d="100"/>
        </p:scale>
        <p:origin x="840" y="28"/>
      </p:cViewPr>
      <p:guideLst/>
    </p:cSldViewPr>
  </p:slideViewPr>
  <p:outlineViewPr>
    <p:cViewPr>
      <p:scale>
        <a:sx n="33" d="100"/>
        <a:sy n="33" d="100"/>
      </p:scale>
      <p:origin x="0" y="-28008"/>
    </p:cViewPr>
  </p:outlineViewPr>
  <p:notesTextViewPr>
    <p:cViewPr>
      <p:scale>
        <a:sx n="150" d="100"/>
        <a:sy n="150" d="100"/>
      </p:scale>
      <p:origin x="0" y="0"/>
    </p:cViewPr>
  </p:notesTextViewPr>
  <p:sorterViewPr>
    <p:cViewPr>
      <p:scale>
        <a:sx n="50" d="100"/>
        <a:sy n="50" d="100"/>
      </p:scale>
      <p:origin x="0" y="-5136"/>
    </p:cViewPr>
  </p:sorterViewPr>
  <p:notesViewPr>
    <p:cSldViewPr snapToGrid="0">
      <p:cViewPr varScale="1">
        <p:scale>
          <a:sx n="65" d="100"/>
          <a:sy n="65" d="100"/>
        </p:scale>
        <p:origin x="3154" y="4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487A08-71BD-4802-BA4F-D9BAA04912EF}" type="datetimeFigureOut">
              <a:rPr lang="en-US" smtClean="0"/>
              <a:t>11/13/2025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C9E9FF-7C85-4017-A0E8-7596D2FE69B9}" type="slidenum">
              <a:rPr lang="en-US" smtClean="0"/>
              <a:t>‹#›</a:t>
            </a:fld>
            <a:endParaRPr lang="en-US" dirty="0"/>
          </a:p>
        </p:txBody>
      </p:sp>
    </p:spTree>
    <p:extLst>
      <p:ext uri="{BB962C8B-B14F-4D97-AF65-F5344CB8AC3E}">
        <p14:creationId xmlns:p14="http://schemas.microsoft.com/office/powerpoint/2010/main" val="42319446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a:t>
            </a:fld>
            <a:endParaRPr lang="en-US" dirty="0"/>
          </a:p>
        </p:txBody>
      </p:sp>
    </p:spTree>
    <p:extLst>
      <p:ext uri="{BB962C8B-B14F-4D97-AF65-F5344CB8AC3E}">
        <p14:creationId xmlns:p14="http://schemas.microsoft.com/office/powerpoint/2010/main" val="17215166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latin typeface="Calibri Light" panose="020F0302020204030204" pitchFamily="34" charset="0"/>
                <a:cs typeface="Calibri Light" panose="020F0302020204030204" pitchFamily="34" charset="0"/>
              </a:rPr>
              <a:t>Vaccines ask us to consider social welfare and not just mere self-interest</a:t>
            </a:r>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2</a:t>
            </a:fld>
            <a:endParaRPr lang="en-US" dirty="0"/>
          </a:p>
        </p:txBody>
      </p:sp>
    </p:spTree>
    <p:extLst>
      <p:ext uri="{BB962C8B-B14F-4D97-AF65-F5344CB8AC3E}">
        <p14:creationId xmlns:p14="http://schemas.microsoft.com/office/powerpoint/2010/main" val="39743877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DC9E9FF-7C85-4017-A0E8-7596D2FE69B9}" type="slidenum">
              <a:rPr lang="en-US" smtClean="0"/>
              <a:t>4</a:t>
            </a:fld>
            <a:endParaRPr lang="en-US" dirty="0"/>
          </a:p>
        </p:txBody>
      </p:sp>
    </p:spTree>
    <p:extLst>
      <p:ext uri="{BB962C8B-B14F-4D97-AF65-F5344CB8AC3E}">
        <p14:creationId xmlns:p14="http://schemas.microsoft.com/office/powerpoint/2010/main" val="3045573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https://onlinelibrary.wiley.com/doi/full/10.1002/bies.202000307</a:t>
            </a:r>
            <a:br>
              <a:rPr lang="en-US" dirty="0"/>
            </a:br>
            <a:r>
              <a:rPr lang="en-US" dirty="0"/>
              <a:t>https://journals.plos.org/plosone/article?id=10.1371/journal.pone.0289841</a:t>
            </a:r>
          </a:p>
          <a:p>
            <a:r>
              <a:rPr lang="en-US" dirty="0"/>
              <a:t>https://www.healthychildren.org/English/safety-prevention/immunizations/Pages/Vaccine-Studies-Examine-the-Evidence.aspx</a:t>
            </a:r>
            <a:br>
              <a:rPr lang="en-US" dirty="0"/>
            </a:br>
            <a:br>
              <a:rPr lang="en-US" dirty="0"/>
            </a:br>
            <a:br>
              <a:rPr lang="en-US" dirty="0"/>
            </a:br>
            <a:r>
              <a:rPr lang="en-US" dirty="0"/>
              <a:t>C</a:t>
            </a:r>
            <a:r>
              <a:rPr lang="en-US" b="0" dirty="0"/>
              <a:t>hildren with autism and/or ADHD have a reduced ability to clear out the common plastic additive bisphenol A </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5</a:t>
            </a:fld>
            <a:endParaRPr lang="en-US" dirty="0"/>
          </a:p>
        </p:txBody>
      </p:sp>
    </p:spTree>
    <p:extLst>
      <p:ext uri="{BB962C8B-B14F-4D97-AF65-F5344CB8AC3E}">
        <p14:creationId xmlns:p14="http://schemas.microsoft.com/office/powerpoint/2010/main" val="26978179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Berkley, S. "Vaccination lags behind in middle-income countries." </a:t>
            </a:r>
            <a:r>
              <a:rPr lang="en-US" i="1" dirty="0"/>
              <a:t>Nature</a:t>
            </a:r>
            <a:r>
              <a:rPr lang="en-US" dirty="0"/>
              <a:t> 569.7756 (2019): 309.</a:t>
            </a:r>
            <a:br>
              <a:rPr lang="en-US" dirty="0"/>
            </a:br>
            <a:br>
              <a:rPr lang="en-US" dirty="0"/>
            </a:br>
            <a:r>
              <a:rPr lang="en-US" dirty="0"/>
              <a:t>Global Alliance for Vaccines and Immunization</a:t>
            </a:r>
          </a:p>
          <a:p>
            <a:endParaRPr lang="en-US" dirty="0"/>
          </a:p>
          <a:p>
            <a:r>
              <a:rPr lang="en-US" dirty="0"/>
              <a:t>https://www.gavi.org/</a:t>
            </a:r>
          </a:p>
        </p:txBody>
      </p:sp>
      <p:sp>
        <p:nvSpPr>
          <p:cNvPr id="4" name="Slide Number Placeholder 3"/>
          <p:cNvSpPr>
            <a:spLocks noGrp="1"/>
          </p:cNvSpPr>
          <p:nvPr>
            <p:ph type="sldNum" sz="quarter" idx="10"/>
          </p:nvPr>
        </p:nvSpPr>
        <p:spPr/>
        <p:txBody>
          <a:bodyPr/>
          <a:lstStyle/>
          <a:p>
            <a:fld id="{6DC9E9FF-7C85-4017-A0E8-7596D2FE69B9}" type="slidenum">
              <a:rPr lang="en-US" smtClean="0"/>
              <a:t>7</a:t>
            </a:fld>
            <a:endParaRPr lang="en-US" dirty="0"/>
          </a:p>
        </p:txBody>
      </p:sp>
    </p:spTree>
    <p:extLst>
      <p:ext uri="{BB962C8B-B14F-4D97-AF65-F5344CB8AC3E}">
        <p14:creationId xmlns:p14="http://schemas.microsoft.com/office/powerpoint/2010/main" val="1625033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https://www.cytivalifesciences.com/en/us/shop</a:t>
            </a:r>
          </a:p>
        </p:txBody>
      </p:sp>
      <p:sp>
        <p:nvSpPr>
          <p:cNvPr id="4" name="Slide Number Placeholder 3"/>
          <p:cNvSpPr>
            <a:spLocks noGrp="1"/>
          </p:cNvSpPr>
          <p:nvPr>
            <p:ph type="sldNum" sz="quarter" idx="5"/>
          </p:nvPr>
        </p:nvSpPr>
        <p:spPr/>
        <p:txBody>
          <a:bodyPr/>
          <a:lstStyle/>
          <a:p>
            <a:fld id="{A07A47B8-78DC-4F69-889B-268DA05B03C5}" type="slidenum">
              <a:rPr lang="en-US" smtClean="0"/>
              <a:t>8</a:t>
            </a:fld>
            <a:endParaRPr lang="en-US" dirty="0"/>
          </a:p>
        </p:txBody>
      </p:sp>
    </p:spTree>
    <p:extLst>
      <p:ext uri="{BB962C8B-B14F-4D97-AF65-F5344CB8AC3E}">
        <p14:creationId xmlns:p14="http://schemas.microsoft.com/office/powerpoint/2010/main" val="23069883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Berkley, S. "Vaccination lags behind in middle-income countries." </a:t>
            </a:r>
            <a:r>
              <a:rPr lang="en-US" i="1" dirty="0"/>
              <a:t>Nature</a:t>
            </a:r>
            <a:r>
              <a:rPr lang="en-US" dirty="0"/>
              <a:t> 569.7756 (2019): 309.</a:t>
            </a:r>
            <a:br>
              <a:rPr lang="en-US" dirty="0"/>
            </a:b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Costs for vaccines are thus higher in MICs because they are not subsidized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the middle income effect, children in weakest economies better protected than in some middle income countries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p:sp>
        <p:nvSpPr>
          <p:cNvPr id="4" name="Slide Number Placeholder 3"/>
          <p:cNvSpPr>
            <a:spLocks noGrp="1"/>
          </p:cNvSpPr>
          <p:nvPr>
            <p:ph type="sldNum" sz="quarter" idx="10"/>
          </p:nvPr>
        </p:nvSpPr>
        <p:spPr/>
        <p:txBody>
          <a:bodyPr/>
          <a:lstStyle/>
          <a:p>
            <a:fld id="{6DC9E9FF-7C85-4017-A0E8-7596D2FE69B9}" type="slidenum">
              <a:rPr lang="en-US" smtClean="0"/>
              <a:t>9</a:t>
            </a:fld>
            <a:endParaRPr lang="en-US" dirty="0"/>
          </a:p>
        </p:txBody>
      </p:sp>
    </p:spTree>
    <p:extLst>
      <p:ext uri="{BB962C8B-B14F-4D97-AF65-F5344CB8AC3E}">
        <p14:creationId xmlns:p14="http://schemas.microsoft.com/office/powerpoint/2010/main" val="12074981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https://asia.nikkei.com/Spotlight/Datawatch/China-emerges-as-big-winner-in-vaccine-outreach</a:t>
            </a:r>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10</a:t>
            </a:fld>
            <a:endParaRPr lang="en-US" dirty="0"/>
          </a:p>
        </p:txBody>
      </p:sp>
    </p:spTree>
    <p:extLst>
      <p:ext uri="{BB962C8B-B14F-4D97-AF65-F5344CB8AC3E}">
        <p14:creationId xmlns:p14="http://schemas.microsoft.com/office/powerpoint/2010/main" val="23654225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https://www.gavi.org/vaccineswork/gavi-ceo-dr-seth-berkley-explains-covax-pillar</a:t>
            </a:r>
          </a:p>
        </p:txBody>
      </p:sp>
      <p:sp>
        <p:nvSpPr>
          <p:cNvPr id="4" name="Slide Number Placeholder 3"/>
          <p:cNvSpPr>
            <a:spLocks noGrp="1"/>
          </p:cNvSpPr>
          <p:nvPr>
            <p:ph type="sldNum" sz="quarter" idx="5"/>
          </p:nvPr>
        </p:nvSpPr>
        <p:spPr/>
        <p:txBody>
          <a:bodyPr/>
          <a:lstStyle/>
          <a:p>
            <a:fld id="{6DC9E9FF-7C85-4017-A0E8-7596D2FE69B9}" type="slidenum">
              <a:rPr lang="en-US" smtClean="0"/>
              <a:t>11</a:t>
            </a:fld>
            <a:endParaRPr lang="en-US" dirty="0"/>
          </a:p>
        </p:txBody>
      </p:sp>
    </p:spTree>
    <p:extLst>
      <p:ext uri="{BB962C8B-B14F-4D97-AF65-F5344CB8AC3E}">
        <p14:creationId xmlns:p14="http://schemas.microsoft.com/office/powerpoint/2010/main" val="2357194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https://www.nytimes.com/reuters/2020/09/03/world/asia/03reuters-health-coronavirus-vaccines-covax-exclusive.html</a:t>
            </a:r>
          </a:p>
        </p:txBody>
      </p:sp>
      <p:sp>
        <p:nvSpPr>
          <p:cNvPr id="4" name="Slide Number Placeholder 3"/>
          <p:cNvSpPr>
            <a:spLocks noGrp="1"/>
          </p:cNvSpPr>
          <p:nvPr>
            <p:ph type="sldNum" sz="quarter" idx="5"/>
          </p:nvPr>
        </p:nvSpPr>
        <p:spPr/>
        <p:txBody>
          <a:bodyPr/>
          <a:lstStyle/>
          <a:p>
            <a:fld id="{A81E3B35-B373-4AA8-94EE-B3E16EF9EF81}" type="slidenum">
              <a:rPr lang="en-US" smtClean="0"/>
              <a:pPr/>
              <a:t>12</a:t>
            </a:fld>
            <a:endParaRPr lang="en-US" dirty="0"/>
          </a:p>
        </p:txBody>
      </p:sp>
    </p:spTree>
    <p:extLst>
      <p:ext uri="{BB962C8B-B14F-4D97-AF65-F5344CB8AC3E}">
        <p14:creationId xmlns:p14="http://schemas.microsoft.com/office/powerpoint/2010/main" val="27615703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and middle-income nations would have had lower death rates if vaccines had been shared more equitably. </a:t>
            </a:r>
            <a:br>
              <a:rPr lang="en-US" dirty="0"/>
            </a:br>
            <a:br>
              <a:rPr lang="en-US" dirty="0"/>
            </a:br>
            <a:r>
              <a:rPr lang="en-US" dirty="0"/>
              <a:t>Equitable vaccine coverage could have prevented 1.3 million deaths worldwide. More than twice that many deaths would have been avoided if higher-income countries had also stuck with other measures to reduce transmission.</a:t>
            </a:r>
            <a:br>
              <a:rPr lang="en-US" dirty="0"/>
            </a:br>
            <a:br>
              <a:rPr lang="en-US" dirty="0"/>
            </a:br>
            <a:r>
              <a:rPr lang="en-US" dirty="0"/>
              <a:t>https://www.nature.com/articles/d41586-022-03529-3</a:t>
            </a:r>
          </a:p>
        </p:txBody>
      </p:sp>
      <p:sp>
        <p:nvSpPr>
          <p:cNvPr id="4" name="Slide Number Placeholder 3"/>
          <p:cNvSpPr>
            <a:spLocks noGrp="1"/>
          </p:cNvSpPr>
          <p:nvPr>
            <p:ph type="sldNum" sz="quarter" idx="5"/>
          </p:nvPr>
        </p:nvSpPr>
        <p:spPr/>
        <p:txBody>
          <a:bodyPr/>
          <a:lstStyle/>
          <a:p>
            <a:fld id="{6DC9E9FF-7C85-4017-A0E8-7596D2FE69B9}" type="slidenum">
              <a:rPr lang="en-US" smtClean="0"/>
              <a:t>13</a:t>
            </a:fld>
            <a:endParaRPr lang="en-US" dirty="0"/>
          </a:p>
        </p:txBody>
      </p:sp>
    </p:spTree>
    <p:extLst>
      <p:ext uri="{BB962C8B-B14F-4D97-AF65-F5344CB8AC3E}">
        <p14:creationId xmlns:p14="http://schemas.microsoft.com/office/powerpoint/2010/main" val="1742813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baseline="0" dirty="0">
                <a:solidFill>
                  <a:srgbClr val="000000"/>
                </a:solidFill>
                <a:latin typeface="Shaker 2 Lancet"/>
              </a:rPr>
              <a:t>One such approach that is to waive patent protections so that new mRNA vaccines can be manufactured in other countries, lessening the dependence upon wealthier nations to provide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baseline="0" dirty="0">
              <a:solidFill>
                <a:srgbClr val="000000"/>
              </a:solidFill>
              <a:latin typeface="Shaker 2 Lance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Releasing patents on COVID vaccines would likely have increased global vaccination rates, especially in low- and middle-income countries, by enabling local production, lowering costs, and reducing dependence on international supply chains. Patent restrictions limited vaccine availability by concentrating production in a few countries, making doses less accessible and more costly for many nations. Local manufacturing could have met demand faster and reduced logistical challenges associated with vaccine distribution. While concerns about quality control and innovation incentives exist, many argue that, given the public health stakes and public funding in vaccine development, global access should have been prioritized.</a:t>
            </a:r>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14</a:t>
            </a:fld>
            <a:endParaRPr lang="en-US" dirty="0"/>
          </a:p>
        </p:txBody>
      </p:sp>
    </p:spTree>
    <p:extLst>
      <p:ext uri="{BB962C8B-B14F-4D97-AF65-F5344CB8AC3E}">
        <p14:creationId xmlns:p14="http://schemas.microsoft.com/office/powerpoint/2010/main" val="39934856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https://www.washingtonpost.com/graphics/2020/health/covid-vaccine-update-coronavirus/</a:t>
            </a:r>
          </a:p>
        </p:txBody>
      </p:sp>
      <p:sp>
        <p:nvSpPr>
          <p:cNvPr id="4" name="Slide Number Placeholder 3"/>
          <p:cNvSpPr>
            <a:spLocks noGrp="1"/>
          </p:cNvSpPr>
          <p:nvPr>
            <p:ph type="sldNum" sz="quarter" idx="5"/>
          </p:nvPr>
        </p:nvSpPr>
        <p:spPr/>
        <p:txBody>
          <a:bodyPr/>
          <a:lstStyle/>
          <a:p>
            <a:fld id="{6DC9E9FF-7C85-4017-A0E8-7596D2FE69B9}" type="slidenum">
              <a:rPr lang="en-US" smtClean="0"/>
              <a:t>15</a:t>
            </a:fld>
            <a:endParaRPr lang="en-US" dirty="0"/>
          </a:p>
        </p:txBody>
      </p:sp>
    </p:spTree>
    <p:extLst>
      <p:ext uri="{BB962C8B-B14F-4D97-AF65-F5344CB8AC3E}">
        <p14:creationId xmlns:p14="http://schemas.microsoft.com/office/powerpoint/2010/main" val="1025731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https://www.nytimes.com/2020/11/10/business/biontech-covid-vaccine.html</a:t>
            </a:r>
            <a:br>
              <a:rPr lang="en-US" dirty="0"/>
            </a:br>
            <a:br>
              <a:rPr lang="en-US" dirty="0"/>
            </a:br>
            <a:r>
              <a:rPr lang="en-US" dirty="0"/>
              <a:t>BioNTech coordinated the development of their mRNA vaccine with Pfizer, an American company</a:t>
            </a:r>
          </a:p>
          <a:p>
            <a:endParaRPr lang="en-US" dirty="0"/>
          </a:p>
          <a:p>
            <a:r>
              <a:rPr lang="en-US" dirty="0"/>
              <a:t>BioNTech was co-founded by Dr. Uğur Şahin and Dr. Özlem Türeci, a married couple of Turkish descent. Dr. Şahin was born in İskenderun, Turkey, and moved to Germany at the age of four to join his father, who worked at a Ford factory in Cologne. Dr. Türeci was born in Germany to a Turkish physician who had immigrated from Istanbul. Together, they established BioNTech in 2008, focusing on individualized cancer immunotherapy and later developing one of the first COVID-19 vaccines. </a:t>
            </a:r>
          </a:p>
        </p:txBody>
      </p:sp>
      <p:sp>
        <p:nvSpPr>
          <p:cNvPr id="4" name="Slide Number Placeholder 3"/>
          <p:cNvSpPr>
            <a:spLocks noGrp="1"/>
          </p:cNvSpPr>
          <p:nvPr>
            <p:ph type="sldNum" sz="quarter" idx="5"/>
          </p:nvPr>
        </p:nvSpPr>
        <p:spPr/>
        <p:txBody>
          <a:bodyPr/>
          <a:lstStyle/>
          <a:p>
            <a:fld id="{6DC9E9FF-7C85-4017-A0E8-7596D2FE69B9}" type="slidenum">
              <a:rPr lang="en-US" smtClean="0"/>
              <a:t>16</a:t>
            </a:fld>
            <a:endParaRPr lang="en-US" dirty="0"/>
          </a:p>
        </p:txBody>
      </p:sp>
    </p:spTree>
    <p:extLst>
      <p:ext uri="{BB962C8B-B14F-4D97-AF65-F5344CB8AC3E}">
        <p14:creationId xmlns:p14="http://schemas.microsoft.com/office/powerpoint/2010/main" val="2179837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17</a:t>
            </a:fld>
            <a:endParaRPr lang="en-US" dirty="0"/>
          </a:p>
        </p:txBody>
      </p:sp>
    </p:spTree>
    <p:extLst>
      <p:ext uri="{BB962C8B-B14F-4D97-AF65-F5344CB8AC3E}">
        <p14:creationId xmlns:p14="http://schemas.microsoft.com/office/powerpoint/2010/main" val="633844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https://www.nytimes.com/2025/08/05/health/rfk-jr-vaccine-funding.html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mRNA shots instruct the body to produce a fragment of a virus, which then sets off the body’s immune response</a:t>
            </a:r>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18</a:t>
            </a:fld>
            <a:endParaRPr lang="en-US" dirty="0"/>
          </a:p>
        </p:txBody>
      </p:sp>
    </p:spTree>
    <p:extLst>
      <p:ext uri="{BB962C8B-B14F-4D97-AF65-F5344CB8AC3E}">
        <p14:creationId xmlns:p14="http://schemas.microsoft.com/office/powerpoint/2010/main" val="1688406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353749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14001932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223026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117844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8780358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2948896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436145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2108468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1791629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511676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0366653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E198F2-9BB6-425A-9FF9-F2F148E1B301}" type="datetimeFigureOut">
              <a:rPr lang="en-US" smtClean="0"/>
              <a:t>11/13/2025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761798-5724-4800-B174-11BF959E3627}" type="slidenum">
              <a:rPr lang="en-US" smtClean="0"/>
              <a:t>‹#›</a:t>
            </a:fld>
            <a:endParaRPr lang="en-US" dirty="0"/>
          </a:p>
        </p:txBody>
      </p:sp>
    </p:spTree>
    <p:extLst>
      <p:ext uri="{BB962C8B-B14F-4D97-AF65-F5344CB8AC3E}">
        <p14:creationId xmlns:p14="http://schemas.microsoft.com/office/powerpoint/2010/main" val="20127642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cytivalifesciences.com/en/us/shop"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www.nytimes.com/2020/11/10/business/biontech-covid-vaccine.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biontech.de/"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video" Target="https://www.youtube.com/embed/qCf_oTBXpvk?feature=oembed" TargetMode="External"/><Relationship Id="rId4" Type="http://schemas.openxmlformats.org/officeDocument/2006/relationships/image" Target="../media/image13.jpe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53FDD-6874-DF6E-30F3-0E4D68237268}"/>
              </a:ext>
            </a:extLst>
          </p:cNvPr>
          <p:cNvSpPr>
            <a:spLocks noGrp="1"/>
          </p:cNvSpPr>
          <p:nvPr>
            <p:ph type="title"/>
          </p:nvPr>
        </p:nvSpPr>
        <p:spPr/>
        <p:txBody>
          <a:bodyPr/>
          <a:lstStyle/>
          <a:p>
            <a:r>
              <a:rPr lang="en-US" dirty="0"/>
              <a:t>If you aren’t coming to lecture on Monday and Wednesday mornings…</a:t>
            </a:r>
          </a:p>
        </p:txBody>
      </p:sp>
      <p:sp>
        <p:nvSpPr>
          <p:cNvPr id="3" name="Content Placeholder 2">
            <a:extLst>
              <a:ext uri="{FF2B5EF4-FFF2-40B4-BE49-F238E27FC236}">
                <a16:creationId xmlns:a16="http://schemas.microsoft.com/office/drawing/2014/main" id="{07AA488F-75A1-FC01-2EAB-4634BA370D24}"/>
              </a:ext>
            </a:extLst>
          </p:cNvPr>
          <p:cNvSpPr>
            <a:spLocks noGrp="1"/>
          </p:cNvSpPr>
          <p:nvPr>
            <p:ph idx="1"/>
          </p:nvPr>
        </p:nvSpPr>
        <p:spPr>
          <a:xfrm>
            <a:off x="729204" y="1800225"/>
            <a:ext cx="10515600" cy="4351338"/>
          </a:xfrm>
        </p:spPr>
        <p:txBody>
          <a:bodyPr/>
          <a:lstStyle/>
          <a:p>
            <a:pPr marL="0" indent="0">
              <a:buNone/>
            </a:pPr>
            <a:r>
              <a:rPr lang="en-US" dirty="0"/>
              <a:t>…you didn’t have the full content for the midterm and you won’t get the full content for the final exam. For this week’s lectures on vaccines you are missing around 70 slides of content available only in class:</a:t>
            </a:r>
          </a:p>
        </p:txBody>
      </p:sp>
      <p:pic>
        <p:nvPicPr>
          <p:cNvPr id="5" name="Picture 4">
            <a:extLst>
              <a:ext uri="{FF2B5EF4-FFF2-40B4-BE49-F238E27FC236}">
                <a16:creationId xmlns:a16="http://schemas.microsoft.com/office/drawing/2014/main" id="{1079ABE9-A31B-67CE-CF52-5C8263F9CD4E}"/>
              </a:ext>
            </a:extLst>
          </p:cNvPr>
          <p:cNvPicPr>
            <a:picLocks noChangeAspect="1"/>
          </p:cNvPicPr>
          <p:nvPr/>
        </p:nvPicPr>
        <p:blipFill>
          <a:blip r:embed="rId3"/>
          <a:stretch>
            <a:fillRect/>
          </a:stretch>
        </p:blipFill>
        <p:spPr>
          <a:xfrm>
            <a:off x="214557" y="3154718"/>
            <a:ext cx="11544893" cy="4153113"/>
          </a:xfrm>
          <a:prstGeom prst="rect">
            <a:avLst/>
          </a:prstGeom>
        </p:spPr>
      </p:pic>
    </p:spTree>
    <p:extLst>
      <p:ext uri="{BB962C8B-B14F-4D97-AF65-F5344CB8AC3E}">
        <p14:creationId xmlns:p14="http://schemas.microsoft.com/office/powerpoint/2010/main" val="28180057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161EF-1383-4259-A9BC-8C95885C8DAF}"/>
              </a:ext>
            </a:extLst>
          </p:cNvPr>
          <p:cNvSpPr>
            <a:spLocks noGrp="1"/>
          </p:cNvSpPr>
          <p:nvPr>
            <p:ph type="title"/>
          </p:nvPr>
        </p:nvSpPr>
        <p:spPr/>
        <p:txBody>
          <a:bodyPr>
            <a:normAutofit/>
          </a:bodyPr>
          <a:lstStyle/>
          <a:p>
            <a:pPr algn="ctr"/>
            <a:r>
              <a:rPr lang="en-US" dirty="0"/>
              <a:t>Vaccines pit collective societal good versus individual interests</a:t>
            </a:r>
          </a:p>
        </p:txBody>
      </p:sp>
      <p:sp>
        <p:nvSpPr>
          <p:cNvPr id="3" name="Content Placeholder 2">
            <a:extLst>
              <a:ext uri="{FF2B5EF4-FFF2-40B4-BE49-F238E27FC236}">
                <a16:creationId xmlns:a16="http://schemas.microsoft.com/office/drawing/2014/main" id="{A1317D67-EA40-433D-8DA0-16BE26953177}"/>
              </a:ext>
            </a:extLst>
          </p:cNvPr>
          <p:cNvSpPr>
            <a:spLocks noGrp="1"/>
          </p:cNvSpPr>
          <p:nvPr>
            <p:ph idx="1"/>
          </p:nvPr>
        </p:nvSpPr>
        <p:spPr>
          <a:xfrm>
            <a:off x="838199" y="1825625"/>
            <a:ext cx="10515600" cy="4667250"/>
          </a:xfrm>
        </p:spPr>
        <p:txBody>
          <a:bodyPr>
            <a:normAutofit/>
          </a:bodyPr>
          <a:lstStyle/>
          <a:p>
            <a:pPr algn="l"/>
            <a:r>
              <a:rPr lang="en-US" sz="3200" b="0" i="0" u="none" strike="noStrike" baseline="0" dirty="0">
                <a:latin typeface="Calibri Light" panose="020F0302020204030204" pitchFamily="34" charset="0"/>
                <a:cs typeface="Calibri Light" panose="020F0302020204030204" pitchFamily="34" charset="0"/>
              </a:rPr>
              <a:t> As vaccines reduce disease transmission, they indirectly protect the community</a:t>
            </a:r>
            <a:r>
              <a:rPr lang="en-US" sz="3200" dirty="0">
                <a:latin typeface="Calibri Light" panose="020F0302020204030204" pitchFamily="34" charset="0"/>
                <a:cs typeface="Calibri Light" panose="020F0302020204030204" pitchFamily="34" charset="0"/>
              </a:rPr>
              <a:t>, including </a:t>
            </a:r>
            <a:r>
              <a:rPr lang="en-US" sz="3200" b="0" i="0" u="none" strike="noStrike" baseline="0" dirty="0">
                <a:latin typeface="Calibri Light" panose="020F0302020204030204" pitchFamily="34" charset="0"/>
                <a:cs typeface="Calibri Light" panose="020F0302020204030204" pitchFamily="34" charset="0"/>
              </a:rPr>
              <a:t>individuals who are too young to get vaccinated, and the immunocompromised</a:t>
            </a:r>
          </a:p>
          <a:p>
            <a:r>
              <a:rPr lang="en-US" sz="3200" dirty="0">
                <a:latin typeface="Calibri Light" panose="020F0302020204030204" pitchFamily="34" charset="0"/>
                <a:cs typeface="Calibri Light" panose="020F0302020204030204" pitchFamily="34" charset="0"/>
              </a:rPr>
              <a:t>Yet individuals have incentives to refrain from vaccination, to act in their self-interest. They can free ride and profit from indirect protection of others who vaccinated.</a:t>
            </a:r>
          </a:p>
          <a:p>
            <a:r>
              <a:rPr lang="en-US" sz="3200" dirty="0">
                <a:latin typeface="Calibri Light" panose="020F0302020204030204" pitchFamily="34" charset="0"/>
                <a:cs typeface="Calibri Light" panose="020F0302020204030204" pitchFamily="34" charset="0"/>
              </a:rPr>
              <a:t>When more people decide to refrain from vaccination, their individual choices can create scenario for disease to emerge, persist, and cause harm</a:t>
            </a:r>
          </a:p>
        </p:txBody>
      </p:sp>
    </p:spTree>
    <p:extLst>
      <p:ext uri="{BB962C8B-B14F-4D97-AF65-F5344CB8AC3E}">
        <p14:creationId xmlns:p14="http://schemas.microsoft.com/office/powerpoint/2010/main" val="20363604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D96DF-957E-BD32-39B5-EE10E77ACC4C}"/>
              </a:ext>
            </a:extLst>
          </p:cNvPr>
          <p:cNvSpPr>
            <a:spLocks noGrp="1"/>
          </p:cNvSpPr>
          <p:nvPr>
            <p:ph type="title"/>
          </p:nvPr>
        </p:nvSpPr>
        <p:spPr/>
        <p:txBody>
          <a:bodyPr/>
          <a:lstStyle/>
          <a:p>
            <a:pPr algn="ctr"/>
            <a:r>
              <a:rPr lang="en-US" dirty="0"/>
              <a:t>Anti-vaxx sentiment is not new</a:t>
            </a:r>
          </a:p>
        </p:txBody>
      </p:sp>
      <p:sp>
        <p:nvSpPr>
          <p:cNvPr id="3" name="Content Placeholder 2">
            <a:extLst>
              <a:ext uri="{FF2B5EF4-FFF2-40B4-BE49-F238E27FC236}">
                <a16:creationId xmlns:a16="http://schemas.microsoft.com/office/drawing/2014/main" id="{011D96F2-A16B-E4F0-75EF-8E95B23E502E}"/>
              </a:ext>
            </a:extLst>
          </p:cNvPr>
          <p:cNvSpPr>
            <a:spLocks noGrp="1"/>
          </p:cNvSpPr>
          <p:nvPr>
            <p:ph idx="1"/>
          </p:nvPr>
        </p:nvSpPr>
        <p:spPr>
          <a:xfrm>
            <a:off x="838200" y="1825625"/>
            <a:ext cx="10270524" cy="4351338"/>
          </a:xfrm>
        </p:spPr>
        <p:txBody>
          <a:bodyPr>
            <a:normAutofit/>
          </a:bodyPr>
          <a:lstStyle/>
          <a:p>
            <a:r>
              <a:rPr lang="en-US" dirty="0"/>
              <a:t>In 1902, Swedish-American pastor Henning Jacobson refused the smallpox vaccine, arguing the mandate violated personal liberty.</a:t>
            </a:r>
          </a:p>
          <a:p>
            <a:r>
              <a:rPr lang="en-US" dirty="0"/>
              <a:t>In Jacobson v. Massachusetts (1905), the Supreme Court ruled against Jacobson and upheld the state’s authority to require vaccination to protect public health.</a:t>
            </a:r>
          </a:p>
          <a:p>
            <a:r>
              <a:rPr lang="en-US" dirty="0"/>
              <a:t>In Zucht v. King (1922), Rosalyn Zucht, a Texas schoolgirl, challenged her exclusion from school for lacking required vaccinations.</a:t>
            </a:r>
          </a:p>
          <a:p>
            <a:r>
              <a:rPr lang="en-US" dirty="0"/>
              <a:t>The Supreme Court ruled against Zucht, affirming that states and cities may require vaccination—such as for school attendance—even when no outbreak is occurring.</a:t>
            </a:r>
          </a:p>
        </p:txBody>
      </p:sp>
    </p:spTree>
    <p:extLst>
      <p:ext uri="{BB962C8B-B14F-4D97-AF65-F5344CB8AC3E}">
        <p14:creationId xmlns:p14="http://schemas.microsoft.com/office/powerpoint/2010/main" val="1744922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dirty="0"/>
              <a:t>Reasons for hesitancy and anti-vaxxer attitudes </a:t>
            </a:r>
          </a:p>
        </p:txBody>
      </p:sp>
      <p:sp>
        <p:nvSpPr>
          <p:cNvPr id="3" name="Content Placeholder 2"/>
          <p:cNvSpPr>
            <a:spLocks noGrp="1"/>
          </p:cNvSpPr>
          <p:nvPr>
            <p:ph idx="1"/>
          </p:nvPr>
        </p:nvSpPr>
        <p:spPr>
          <a:xfrm>
            <a:off x="641387" y="1951945"/>
            <a:ext cx="10515600" cy="4351338"/>
          </a:xfrm>
        </p:spPr>
        <p:txBody>
          <a:bodyPr>
            <a:normAutofit/>
          </a:bodyPr>
          <a:lstStyle/>
          <a:p>
            <a:r>
              <a:rPr lang="en-US" dirty="0"/>
              <a:t>People who believe strongly in all-natural foods and medicines for them or their children</a:t>
            </a:r>
          </a:p>
          <a:p>
            <a:r>
              <a:rPr lang="en-US" dirty="0"/>
              <a:t>Religions that oppose vaccines</a:t>
            </a:r>
          </a:p>
          <a:p>
            <a:r>
              <a:rPr lang="en-US" dirty="0"/>
              <a:t>Mistrust in the authority of science and institutions affiliated with it</a:t>
            </a:r>
          </a:p>
          <a:p>
            <a:r>
              <a:rPr lang="en-US" dirty="0"/>
              <a:t>Cultural amnesia: when there is little cultural memory of diseases and their negative effects then vaccines may seem unnecessary</a:t>
            </a:r>
          </a:p>
          <a:p>
            <a:r>
              <a:rPr lang="en-US" dirty="0"/>
              <a:t>Political views that put individual choice above societal concerns</a:t>
            </a:r>
          </a:p>
          <a:p>
            <a:r>
              <a:rPr lang="en-US" dirty="0"/>
              <a:t>Distrust of power and events of history like colonialism or racism that make people unwilling to vaccinate</a:t>
            </a:r>
          </a:p>
          <a:p>
            <a:pPr marL="0" indent="0">
              <a:buNone/>
            </a:pPr>
            <a:endParaRPr lang="en-US" dirty="0"/>
          </a:p>
        </p:txBody>
      </p:sp>
    </p:spTree>
    <p:extLst>
      <p:ext uri="{BB962C8B-B14F-4D97-AF65-F5344CB8AC3E}">
        <p14:creationId xmlns:p14="http://schemas.microsoft.com/office/powerpoint/2010/main" val="1553750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54F05-BC22-4B5B-9A29-6F017B5BDB90}"/>
              </a:ext>
            </a:extLst>
          </p:cNvPr>
          <p:cNvSpPr>
            <a:spLocks noGrp="1"/>
          </p:cNvSpPr>
          <p:nvPr>
            <p:ph type="title"/>
          </p:nvPr>
        </p:nvSpPr>
        <p:spPr>
          <a:xfrm>
            <a:off x="838200" y="365125"/>
            <a:ext cx="10961914" cy="1325563"/>
          </a:xfrm>
        </p:spPr>
        <p:txBody>
          <a:bodyPr/>
          <a:lstStyle/>
          <a:p>
            <a:r>
              <a:rPr lang="en-US" dirty="0"/>
              <a:t>There is no link between vaccines and autism</a:t>
            </a:r>
          </a:p>
        </p:txBody>
      </p:sp>
      <p:sp>
        <p:nvSpPr>
          <p:cNvPr id="3" name="Content Placeholder 2">
            <a:extLst>
              <a:ext uri="{FF2B5EF4-FFF2-40B4-BE49-F238E27FC236}">
                <a16:creationId xmlns:a16="http://schemas.microsoft.com/office/drawing/2014/main" id="{B28CEACF-1E29-4295-B946-F23662BB54E9}"/>
              </a:ext>
            </a:extLst>
          </p:cNvPr>
          <p:cNvSpPr>
            <a:spLocks noGrp="1"/>
          </p:cNvSpPr>
          <p:nvPr>
            <p:ph idx="1"/>
          </p:nvPr>
        </p:nvSpPr>
        <p:spPr>
          <a:xfrm>
            <a:off x="838200" y="1825625"/>
            <a:ext cx="10961914" cy="4667250"/>
          </a:xfrm>
        </p:spPr>
        <p:txBody>
          <a:bodyPr>
            <a:normAutofit/>
          </a:bodyPr>
          <a:lstStyle/>
          <a:p>
            <a:r>
              <a:rPr lang="en-US" sz="3200" dirty="0"/>
              <a:t>Autism spectrum disorder (ASD) affects 2% of children in US. Since monitoring started 20 years ago, prevalence has increased </a:t>
            </a:r>
          </a:p>
          <a:p>
            <a:r>
              <a:rPr lang="en-US" sz="3200" dirty="0"/>
              <a:t>Recent studies have suggested that ASD most likely arises from interactions among genetic and prenatal environmental factors:</a:t>
            </a:r>
          </a:p>
          <a:p>
            <a:pPr lvl="1"/>
            <a:r>
              <a:rPr lang="en-US" sz="2800" dirty="0"/>
              <a:t>Mutations in genes may be inherited or arise spontaneously</a:t>
            </a:r>
          </a:p>
          <a:p>
            <a:pPr lvl="1"/>
            <a:r>
              <a:rPr lang="en-US" sz="2800" dirty="0"/>
              <a:t>Prenatal environmental exposures span infections, medications, complications during pregnancy, and exposure to air pollutants and other toxins, as well as maternal health conditions like obesity and diabetes during pregnancy</a:t>
            </a:r>
          </a:p>
          <a:p>
            <a:endParaRPr lang="en-US" dirty="0"/>
          </a:p>
        </p:txBody>
      </p:sp>
    </p:spTree>
    <p:extLst>
      <p:ext uri="{BB962C8B-B14F-4D97-AF65-F5344CB8AC3E}">
        <p14:creationId xmlns:p14="http://schemas.microsoft.com/office/powerpoint/2010/main" val="277065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82F25-E825-5ED7-8135-5F0066FB03C3}"/>
              </a:ext>
            </a:extLst>
          </p:cNvPr>
          <p:cNvSpPr>
            <a:spLocks noGrp="1"/>
          </p:cNvSpPr>
          <p:nvPr>
            <p:ph type="title"/>
          </p:nvPr>
        </p:nvSpPr>
        <p:spPr/>
        <p:txBody>
          <a:bodyPr/>
          <a:lstStyle/>
          <a:p>
            <a:r>
              <a:rPr lang="en-US" dirty="0"/>
              <a:t>Full global components of the Pfizer BioNTech mRNA Covid vaccine</a:t>
            </a:r>
          </a:p>
        </p:txBody>
      </p:sp>
      <p:sp>
        <p:nvSpPr>
          <p:cNvPr id="3" name="Content Placeholder 2">
            <a:extLst>
              <a:ext uri="{FF2B5EF4-FFF2-40B4-BE49-F238E27FC236}">
                <a16:creationId xmlns:a16="http://schemas.microsoft.com/office/drawing/2014/main" id="{C301FBCC-191E-5645-BF6C-FDEC00D01F8C}"/>
              </a:ext>
            </a:extLst>
          </p:cNvPr>
          <p:cNvSpPr>
            <a:spLocks noGrp="1"/>
          </p:cNvSpPr>
          <p:nvPr>
            <p:ph idx="1"/>
          </p:nvPr>
        </p:nvSpPr>
        <p:spPr/>
        <p:txBody>
          <a:bodyPr>
            <a:normAutofit/>
          </a:bodyPr>
          <a:lstStyle/>
          <a:p>
            <a:r>
              <a:rPr lang="en-US" dirty="0"/>
              <a:t>Genome sequencing of virus and its public release (China)</a:t>
            </a:r>
          </a:p>
          <a:p>
            <a:r>
              <a:rPr lang="en-US" dirty="0"/>
              <a:t>Refinement and verification of genomic sequence (Australia, US, Europe, Asia)</a:t>
            </a:r>
          </a:p>
          <a:p>
            <a:r>
              <a:rPr lang="en-US" dirty="0"/>
              <a:t>Initial research on mRNA vaccines conducted the National Institute of Health (US)</a:t>
            </a:r>
          </a:p>
          <a:p>
            <a:r>
              <a:rPr lang="en-US" dirty="0"/>
              <a:t>Clinical trials (US, Germany, Turkey, Argentina, Brazil, and South Africa)</a:t>
            </a:r>
          </a:p>
          <a:p>
            <a:r>
              <a:rPr lang="en-US" dirty="0"/>
              <a:t>Manufacturing (Belgium, Germany, US-Michigan):</a:t>
            </a:r>
          </a:p>
          <a:p>
            <a:r>
              <a:rPr lang="en-US" dirty="0"/>
              <a:t>Regulatory Approvals (Worldwide): Rapid, coordinated review by UK, EU, U.S., Canada, WHO, and many others enabled global rollout.</a:t>
            </a:r>
          </a:p>
        </p:txBody>
      </p:sp>
    </p:spTree>
    <p:extLst>
      <p:ext uri="{BB962C8B-B14F-4D97-AF65-F5344CB8AC3E}">
        <p14:creationId xmlns:p14="http://schemas.microsoft.com/office/powerpoint/2010/main" val="820572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02968" y="365125"/>
            <a:ext cx="7450831" cy="1325563"/>
          </a:xfrm>
        </p:spPr>
        <p:txBody>
          <a:bodyPr>
            <a:normAutofit/>
          </a:bodyPr>
          <a:lstStyle/>
          <a:p>
            <a:pPr algn="ctr"/>
            <a:r>
              <a:rPr lang="en-US" dirty="0"/>
              <a:t>The middle income effect</a:t>
            </a:r>
          </a:p>
        </p:txBody>
      </p:sp>
      <p:sp>
        <p:nvSpPr>
          <p:cNvPr id="3" name="Content Placeholder 2"/>
          <p:cNvSpPr>
            <a:spLocks noGrp="1"/>
          </p:cNvSpPr>
          <p:nvPr>
            <p:ph idx="1"/>
          </p:nvPr>
        </p:nvSpPr>
        <p:spPr>
          <a:xfrm>
            <a:off x="163286" y="497711"/>
            <a:ext cx="3739682" cy="6401132"/>
          </a:xfrm>
        </p:spPr>
        <p:txBody>
          <a:bodyPr>
            <a:normAutofit/>
          </a:bodyPr>
          <a:lstStyle/>
          <a:p>
            <a:r>
              <a:rPr lang="en-US" sz="3200" dirty="0"/>
              <a:t>Focus of childhood immunization has been on the world’s poorest people. </a:t>
            </a:r>
          </a:p>
          <a:p>
            <a:r>
              <a:rPr lang="en-US" sz="3200" dirty="0"/>
              <a:t>GAVI is an international non-governmental association that has provided billions of low-cost vaccines to the world’s poorer countries</a:t>
            </a:r>
          </a:p>
        </p:txBody>
      </p:sp>
      <p:pic>
        <p:nvPicPr>
          <p:cNvPr id="6" name="Picture 5">
            <a:extLst>
              <a:ext uri="{FF2B5EF4-FFF2-40B4-BE49-F238E27FC236}">
                <a16:creationId xmlns:a16="http://schemas.microsoft.com/office/drawing/2014/main" id="{BB5503BC-4E23-0A62-A9D2-B89C7B839399}"/>
              </a:ext>
            </a:extLst>
          </p:cNvPr>
          <p:cNvPicPr>
            <a:picLocks noChangeAspect="1"/>
          </p:cNvPicPr>
          <p:nvPr/>
        </p:nvPicPr>
        <p:blipFill>
          <a:blip r:embed="rId3"/>
          <a:srcRect r="4401"/>
          <a:stretch>
            <a:fillRect/>
          </a:stretch>
        </p:blipFill>
        <p:spPr>
          <a:xfrm>
            <a:off x="4146037" y="1690688"/>
            <a:ext cx="7799037" cy="3779874"/>
          </a:xfrm>
          <a:prstGeom prst="rect">
            <a:avLst/>
          </a:prstGeom>
        </p:spPr>
      </p:pic>
    </p:spTree>
    <p:extLst>
      <p:ext uri="{BB962C8B-B14F-4D97-AF65-F5344CB8AC3E}">
        <p14:creationId xmlns:p14="http://schemas.microsoft.com/office/powerpoint/2010/main" val="3463692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4224A871-F1D3-F9F2-C4E2-FF97A763CD1C}"/>
              </a:ext>
            </a:extLst>
          </p:cNvPr>
          <p:cNvPicPr>
            <a:picLocks noGrp="1" noChangeAspect="1"/>
          </p:cNvPicPr>
          <p:nvPr>
            <p:ph idx="1"/>
          </p:nvPr>
        </p:nvPicPr>
        <p:blipFill>
          <a:blip r:embed="rId4"/>
          <a:srcRect r="12273"/>
          <a:stretch/>
        </p:blipFill>
        <p:spPr>
          <a:xfrm>
            <a:off x="4287148" y="1053592"/>
            <a:ext cx="7625588" cy="3759985"/>
          </a:xfrm>
          <a:noFill/>
          <a:ln w="41275">
            <a:solidFill>
              <a:schemeClr val="accent1"/>
            </a:solidFill>
          </a:ln>
        </p:spPr>
      </p:pic>
      <p:sp>
        <p:nvSpPr>
          <p:cNvPr id="2" name="Content Placeholder 2">
            <a:extLst>
              <a:ext uri="{FF2B5EF4-FFF2-40B4-BE49-F238E27FC236}">
                <a16:creationId xmlns:a16="http://schemas.microsoft.com/office/drawing/2014/main" id="{910E8058-7FD1-1114-0748-DF725198F97B}"/>
              </a:ext>
            </a:extLst>
          </p:cNvPr>
          <p:cNvSpPr txBox="1">
            <a:spLocks/>
          </p:cNvSpPr>
          <p:nvPr/>
        </p:nvSpPr>
        <p:spPr>
          <a:xfrm>
            <a:off x="386025" y="752354"/>
            <a:ext cx="3532414" cy="58391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Manufacturing vaccines is a complex and expensive process</a:t>
            </a:r>
          </a:p>
          <a:p>
            <a:r>
              <a:rPr lang="en-US" sz="3200" dirty="0"/>
              <a:t>GAVI coordinates the availability of vaccines for countries that do not have the capacity to manufacture them</a:t>
            </a:r>
          </a:p>
        </p:txBody>
      </p:sp>
    </p:spTree>
    <p:extLst>
      <p:ext uri="{BB962C8B-B14F-4D97-AF65-F5344CB8AC3E}">
        <p14:creationId xmlns:p14="http://schemas.microsoft.com/office/powerpoint/2010/main" val="2961638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5352" y="370390"/>
            <a:ext cx="3086582" cy="5921808"/>
          </a:xfrm>
        </p:spPr>
        <p:txBody>
          <a:bodyPr>
            <a:normAutofit lnSpcReduction="10000"/>
          </a:bodyPr>
          <a:lstStyle/>
          <a:p>
            <a:r>
              <a:rPr lang="en-US" sz="3200" dirty="0"/>
              <a:t>Routine immunization levels have stagnated in many middle income countries (MICs) because they are </a:t>
            </a:r>
            <a:r>
              <a:rPr lang="en-US" sz="3200" b="1" dirty="0"/>
              <a:t>too prosperous to qualify </a:t>
            </a:r>
            <a:r>
              <a:rPr lang="en-US" sz="3200" dirty="0"/>
              <a:t>for international support from GAVI</a:t>
            </a:r>
          </a:p>
        </p:txBody>
      </p:sp>
      <p:sp>
        <p:nvSpPr>
          <p:cNvPr id="2" name="Title 1">
            <a:extLst>
              <a:ext uri="{FF2B5EF4-FFF2-40B4-BE49-F238E27FC236}">
                <a16:creationId xmlns:a16="http://schemas.microsoft.com/office/drawing/2014/main" id="{C6F95B53-6ADD-9BBC-4673-BAA960718482}"/>
              </a:ext>
            </a:extLst>
          </p:cNvPr>
          <p:cNvSpPr>
            <a:spLocks noGrp="1"/>
          </p:cNvSpPr>
          <p:nvPr>
            <p:ph type="title"/>
          </p:nvPr>
        </p:nvSpPr>
        <p:spPr>
          <a:xfrm>
            <a:off x="4261084" y="254693"/>
            <a:ext cx="7450831" cy="1325563"/>
          </a:xfrm>
        </p:spPr>
        <p:txBody>
          <a:bodyPr>
            <a:normAutofit/>
          </a:bodyPr>
          <a:lstStyle/>
          <a:p>
            <a:pPr algn="ctr"/>
            <a:r>
              <a:rPr lang="en-US" dirty="0"/>
              <a:t>The middle income effect</a:t>
            </a:r>
          </a:p>
        </p:txBody>
      </p:sp>
      <p:pic>
        <p:nvPicPr>
          <p:cNvPr id="7" name="Picture 6">
            <a:extLst>
              <a:ext uri="{FF2B5EF4-FFF2-40B4-BE49-F238E27FC236}">
                <a16:creationId xmlns:a16="http://schemas.microsoft.com/office/drawing/2014/main" id="{D4D088C3-563A-6B59-8ADB-BADE2471B075}"/>
              </a:ext>
            </a:extLst>
          </p:cNvPr>
          <p:cNvPicPr>
            <a:picLocks noChangeAspect="1"/>
          </p:cNvPicPr>
          <p:nvPr/>
        </p:nvPicPr>
        <p:blipFill>
          <a:blip r:embed="rId3"/>
          <a:srcRect l="3516" r="3030"/>
          <a:stretch>
            <a:fillRect/>
          </a:stretch>
        </p:blipFill>
        <p:spPr>
          <a:xfrm>
            <a:off x="3657599" y="1580256"/>
            <a:ext cx="8160153" cy="4711942"/>
          </a:xfrm>
          <a:prstGeom prst="rect">
            <a:avLst/>
          </a:prstGeom>
        </p:spPr>
      </p:pic>
    </p:spTree>
    <p:extLst>
      <p:ext uri="{BB962C8B-B14F-4D97-AF65-F5344CB8AC3E}">
        <p14:creationId xmlns:p14="http://schemas.microsoft.com/office/powerpoint/2010/main" val="41158858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E12FD-069F-44C5-A4D1-A4734B677365}"/>
              </a:ext>
            </a:extLst>
          </p:cNvPr>
          <p:cNvSpPr>
            <a:spLocks noGrp="1"/>
          </p:cNvSpPr>
          <p:nvPr>
            <p:ph type="title"/>
          </p:nvPr>
        </p:nvSpPr>
        <p:spPr>
          <a:xfrm>
            <a:off x="6096000" y="51974"/>
            <a:ext cx="4440364" cy="1325563"/>
          </a:xfrm>
        </p:spPr>
        <p:txBody>
          <a:bodyPr/>
          <a:lstStyle/>
          <a:p>
            <a:r>
              <a:rPr lang="en-US" dirty="0"/>
              <a:t>Vaccine diplomacy</a:t>
            </a:r>
          </a:p>
        </p:txBody>
      </p:sp>
      <p:sp>
        <p:nvSpPr>
          <p:cNvPr id="3" name="Content Placeholder 2">
            <a:extLst>
              <a:ext uri="{FF2B5EF4-FFF2-40B4-BE49-F238E27FC236}">
                <a16:creationId xmlns:a16="http://schemas.microsoft.com/office/drawing/2014/main" id="{9152DD19-3AD5-4C11-A0B0-E3C1E63F3F6B}"/>
              </a:ext>
            </a:extLst>
          </p:cNvPr>
          <p:cNvSpPr>
            <a:spLocks noGrp="1"/>
          </p:cNvSpPr>
          <p:nvPr>
            <p:ph idx="1"/>
          </p:nvPr>
        </p:nvSpPr>
        <p:spPr>
          <a:xfrm>
            <a:off x="474906" y="325678"/>
            <a:ext cx="4349280" cy="6167198"/>
          </a:xfrm>
        </p:spPr>
        <p:txBody>
          <a:bodyPr>
            <a:normAutofit/>
          </a:bodyPr>
          <a:lstStyle/>
          <a:p>
            <a:r>
              <a:rPr lang="en-US" sz="2400" dirty="0">
                <a:latin typeface="+mj-lt"/>
              </a:rPr>
              <a:t>Encompasses the politics that go into the coordination of vaccine development, manufacturing, and distribution.</a:t>
            </a:r>
          </a:p>
          <a:p>
            <a:r>
              <a:rPr lang="en-US" sz="2400" dirty="0">
                <a:latin typeface="+mj-lt"/>
              </a:rPr>
              <a:t>Involves national governments, multinational corporations, universities, and global entities like the WHO</a:t>
            </a:r>
          </a:p>
          <a:p>
            <a:r>
              <a:rPr lang="en-US" sz="2400" dirty="0">
                <a:latin typeface="+mj-lt"/>
              </a:rPr>
              <a:t>Vaccines can reinforce existing power relationships or be used to realign them</a:t>
            </a:r>
          </a:p>
          <a:p>
            <a:r>
              <a:rPr lang="en-US" sz="2400" dirty="0">
                <a:latin typeface="+mj-lt"/>
              </a:rPr>
              <a:t>For example, China has provided its vaccines as a way of exerting economic influence – the Chinese ‘health Silk Road’</a:t>
            </a:r>
            <a:endParaRPr lang="en-US" sz="2000" dirty="0"/>
          </a:p>
        </p:txBody>
      </p:sp>
      <p:pic>
        <p:nvPicPr>
          <p:cNvPr id="4" name="Content Placeholder 4" descr="Map&#10;&#10;Description automatically generated">
            <a:extLst>
              <a:ext uri="{FF2B5EF4-FFF2-40B4-BE49-F238E27FC236}">
                <a16:creationId xmlns:a16="http://schemas.microsoft.com/office/drawing/2014/main" id="{EEF08066-9D12-74AE-842A-601DF89EC1DA}"/>
              </a:ext>
            </a:extLst>
          </p:cNvPr>
          <p:cNvPicPr>
            <a:picLocks noChangeAspect="1"/>
          </p:cNvPicPr>
          <p:nvPr/>
        </p:nvPicPr>
        <p:blipFill rotWithShape="1">
          <a:blip r:embed="rId3">
            <a:extLst>
              <a:ext uri="{28A0092B-C50C-407E-A947-70E740481C1C}">
                <a14:useLocalDpi xmlns:a14="http://schemas.microsoft.com/office/drawing/2010/main" val="0"/>
              </a:ext>
            </a:extLst>
          </a:blip>
          <a:srcRect r="1493"/>
          <a:stretch/>
        </p:blipFill>
        <p:spPr>
          <a:xfrm>
            <a:off x="4915270" y="1374147"/>
            <a:ext cx="6984456" cy="5237102"/>
          </a:xfrm>
          <a:prstGeom prst="rect">
            <a:avLst/>
          </a:prstGeom>
        </p:spPr>
      </p:pic>
    </p:spTree>
    <p:extLst>
      <p:ext uri="{BB962C8B-B14F-4D97-AF65-F5344CB8AC3E}">
        <p14:creationId xmlns:p14="http://schemas.microsoft.com/office/powerpoint/2010/main" val="13676521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9C6D41-13F6-4610-AE47-112427E45E07}"/>
              </a:ext>
            </a:extLst>
          </p:cNvPr>
          <p:cNvSpPr>
            <a:spLocks noGrp="1"/>
          </p:cNvSpPr>
          <p:nvPr>
            <p:ph idx="1"/>
          </p:nvPr>
        </p:nvSpPr>
        <p:spPr>
          <a:xfrm>
            <a:off x="431800" y="532434"/>
            <a:ext cx="4059178" cy="6109665"/>
          </a:xfrm>
        </p:spPr>
        <p:txBody>
          <a:bodyPr>
            <a:normAutofit/>
          </a:bodyPr>
          <a:lstStyle/>
          <a:p>
            <a:r>
              <a:rPr lang="en-US" dirty="0"/>
              <a:t>COVAX is an example of vaccine diplomacy</a:t>
            </a:r>
          </a:p>
          <a:p>
            <a:r>
              <a:rPr lang="en-US" dirty="0"/>
              <a:t>COVAX pooled resources of many countries to promote cooperation in the development and deployment of Covid vaccines to all people of the world</a:t>
            </a:r>
          </a:p>
          <a:p>
            <a:r>
              <a:rPr lang="en-US" sz="2800" dirty="0">
                <a:latin typeface="Calibri Light" panose="020F0302020204030204" pitchFamily="34" charset="0"/>
                <a:cs typeface="Calibri Light" panose="020F0302020204030204" pitchFamily="34" charset="0"/>
              </a:rPr>
              <a:t>Aim was lower vaccine costs for everyone and a swifter end to the pandemic</a:t>
            </a:r>
          </a:p>
          <a:p>
            <a:pPr marL="0" indent="0">
              <a:buNone/>
            </a:pPr>
            <a:endParaRPr lang="en-US" dirty="0"/>
          </a:p>
          <a:p>
            <a:endParaRPr lang="en-US" dirty="0"/>
          </a:p>
          <a:p>
            <a:endParaRPr lang="en-US" dirty="0"/>
          </a:p>
        </p:txBody>
      </p:sp>
      <p:pic>
        <p:nvPicPr>
          <p:cNvPr id="5" name="Content Placeholder 4">
            <a:extLst>
              <a:ext uri="{FF2B5EF4-FFF2-40B4-BE49-F238E27FC236}">
                <a16:creationId xmlns:a16="http://schemas.microsoft.com/office/drawing/2014/main" id="{DF9228DA-9EAE-4535-92A6-3E691BD5195F}"/>
              </a:ext>
            </a:extLst>
          </p:cNvPr>
          <p:cNvPicPr>
            <a:picLocks noChangeAspect="1"/>
          </p:cNvPicPr>
          <p:nvPr/>
        </p:nvPicPr>
        <p:blipFill rotWithShape="1">
          <a:blip r:embed="rId3"/>
          <a:srcRect b="15299"/>
          <a:stretch/>
        </p:blipFill>
        <p:spPr>
          <a:xfrm>
            <a:off x="5098465" y="1690687"/>
            <a:ext cx="6820337" cy="3749413"/>
          </a:xfrm>
          <a:prstGeom prst="rect">
            <a:avLst/>
          </a:prstGeom>
        </p:spPr>
      </p:pic>
      <p:sp>
        <p:nvSpPr>
          <p:cNvPr id="8" name="Title 1">
            <a:extLst>
              <a:ext uri="{FF2B5EF4-FFF2-40B4-BE49-F238E27FC236}">
                <a16:creationId xmlns:a16="http://schemas.microsoft.com/office/drawing/2014/main" id="{23356601-711D-42F3-B0AC-934E45A0A2CE}"/>
              </a:ext>
            </a:extLst>
          </p:cNvPr>
          <p:cNvSpPr>
            <a:spLocks noGrp="1"/>
          </p:cNvSpPr>
          <p:nvPr>
            <p:ph type="title"/>
          </p:nvPr>
        </p:nvSpPr>
        <p:spPr>
          <a:xfrm>
            <a:off x="5343646" y="365124"/>
            <a:ext cx="5664200" cy="1325563"/>
          </a:xfrm>
        </p:spPr>
        <p:txBody>
          <a:bodyPr/>
          <a:lstStyle/>
          <a:p>
            <a:pPr algn="ctr"/>
            <a:r>
              <a:rPr lang="en-US" dirty="0"/>
              <a:t>COVAX</a:t>
            </a:r>
          </a:p>
        </p:txBody>
      </p:sp>
    </p:spTree>
    <p:extLst>
      <p:ext uri="{BB962C8B-B14F-4D97-AF65-F5344CB8AC3E}">
        <p14:creationId xmlns:p14="http://schemas.microsoft.com/office/powerpoint/2010/main" val="21526239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3615EE-CA01-4F77-8CC1-47A42222B491}"/>
              </a:ext>
            </a:extLst>
          </p:cNvPr>
          <p:cNvSpPr>
            <a:spLocks noGrp="1"/>
          </p:cNvSpPr>
          <p:nvPr>
            <p:ph idx="1"/>
          </p:nvPr>
        </p:nvSpPr>
        <p:spPr>
          <a:xfrm>
            <a:off x="601884" y="350520"/>
            <a:ext cx="5134549" cy="6156959"/>
          </a:xfrm>
        </p:spPr>
        <p:txBody>
          <a:bodyPr>
            <a:normAutofit/>
          </a:bodyPr>
          <a:lstStyle/>
          <a:p>
            <a:r>
              <a:rPr lang="en-US" dirty="0">
                <a:latin typeface="Calibri Light" panose="020F0302020204030204" pitchFamily="34" charset="0"/>
                <a:cs typeface="Calibri Light" panose="020F0302020204030204" pitchFamily="34" charset="0"/>
              </a:rPr>
              <a:t>However, COVAX fell short of its goals</a:t>
            </a:r>
          </a:p>
          <a:p>
            <a:r>
              <a:rPr lang="en-US" dirty="0">
                <a:latin typeface="Calibri Light" panose="020F0302020204030204" pitchFamily="34" charset="0"/>
                <a:cs typeface="Calibri Light" panose="020F0302020204030204" pitchFamily="34" charset="0"/>
              </a:rPr>
              <a:t>Powerful countries prioritized vaccines for their own citizens</a:t>
            </a:r>
          </a:p>
          <a:p>
            <a:r>
              <a:rPr lang="en-US" dirty="0">
                <a:latin typeface="Calibri Light" panose="020F0302020204030204" pitchFamily="34" charset="0"/>
                <a:cs typeface="Calibri Light" panose="020F0302020204030204" pitchFamily="34" charset="0"/>
              </a:rPr>
              <a:t>By end of 2021, more people had been vaccinated in high-income countries than in more populous low-income countries</a:t>
            </a:r>
          </a:p>
          <a:p>
            <a:r>
              <a:rPr lang="en-US" dirty="0"/>
              <a:t>Vaccination rates were 75% in high-income countries, but less than 2% in some low-income countries. </a:t>
            </a:r>
          </a:p>
          <a:p>
            <a:endParaRPr lang="en-US" sz="1900" dirty="0">
              <a:latin typeface="Calibri Light" panose="020F0302020204030204" pitchFamily="34" charset="0"/>
              <a:cs typeface="Calibri Light" panose="020F0302020204030204" pitchFamily="34" charset="0"/>
            </a:endParaRPr>
          </a:p>
          <a:p>
            <a:endParaRPr lang="en-US" sz="2600" dirty="0">
              <a:latin typeface="Calibri Light" panose="020F0302020204030204" pitchFamily="34" charset="0"/>
              <a:cs typeface="Calibri Light" panose="020F0302020204030204" pitchFamily="34" charset="0"/>
            </a:endParaRPr>
          </a:p>
          <a:p>
            <a:endParaRPr lang="en-US" sz="2600" dirty="0">
              <a:latin typeface="Calibri Light" panose="020F0302020204030204" pitchFamily="34" charset="0"/>
              <a:cs typeface="Calibri Light" panose="020F0302020204030204" pitchFamily="34" charset="0"/>
            </a:endParaRPr>
          </a:p>
          <a:p>
            <a:endParaRPr lang="en-US" sz="2600" dirty="0">
              <a:latin typeface="Calibri Light" panose="020F0302020204030204" pitchFamily="34" charset="0"/>
              <a:cs typeface="Calibri Light" panose="020F0302020204030204" pitchFamily="34" charset="0"/>
            </a:endParaRPr>
          </a:p>
        </p:txBody>
      </p:sp>
      <p:pic>
        <p:nvPicPr>
          <p:cNvPr id="8" name="Picture 7" descr="A picture containing text, group, several&#10;&#10;Description automatically generated">
            <a:extLst>
              <a:ext uri="{FF2B5EF4-FFF2-40B4-BE49-F238E27FC236}">
                <a16:creationId xmlns:a16="http://schemas.microsoft.com/office/drawing/2014/main" id="{D5A961BD-5213-8DDD-3925-6321B8B13C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0"/>
            <a:ext cx="5134550" cy="6858000"/>
          </a:xfrm>
          <a:prstGeom prst="rect">
            <a:avLst/>
          </a:prstGeom>
        </p:spPr>
      </p:pic>
    </p:spTree>
    <p:extLst>
      <p:ext uri="{BB962C8B-B14F-4D97-AF65-F5344CB8AC3E}">
        <p14:creationId xmlns:p14="http://schemas.microsoft.com/office/powerpoint/2010/main" val="32710634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 graph of a number of people with different colored bars&#10;&#10;Description automatically generated with medium confidence">
            <a:extLst>
              <a:ext uri="{FF2B5EF4-FFF2-40B4-BE49-F238E27FC236}">
                <a16:creationId xmlns:a16="http://schemas.microsoft.com/office/drawing/2014/main" id="{62D06841-AE43-672E-7F74-2FC409306BF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56240"/>
          <a:stretch>
            <a:fillRect/>
          </a:stretch>
        </p:blipFill>
        <p:spPr>
          <a:xfrm>
            <a:off x="4567177" y="2951543"/>
            <a:ext cx="7429978" cy="2917987"/>
          </a:xfrm>
          <a:prstGeom prst="rect">
            <a:avLst/>
          </a:prstGeom>
        </p:spPr>
      </p:pic>
      <p:sp>
        <p:nvSpPr>
          <p:cNvPr id="5" name="Content Placeholder 2">
            <a:extLst>
              <a:ext uri="{FF2B5EF4-FFF2-40B4-BE49-F238E27FC236}">
                <a16:creationId xmlns:a16="http://schemas.microsoft.com/office/drawing/2014/main" id="{06CD1050-8417-2741-BDD3-85D8C24ADDA9}"/>
              </a:ext>
            </a:extLst>
          </p:cNvPr>
          <p:cNvSpPr txBox="1">
            <a:spLocks/>
          </p:cNvSpPr>
          <p:nvPr/>
        </p:nvSpPr>
        <p:spPr>
          <a:xfrm>
            <a:off x="113822" y="536086"/>
            <a:ext cx="4261408" cy="61320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Wealthy countries had vaccine surpluses and vaccinated young children, who are at relatively low risk of serious disease. </a:t>
            </a:r>
          </a:p>
          <a:p>
            <a:r>
              <a:rPr lang="en-US" sz="3200" dirty="0"/>
              <a:t>Meanwhile, many poorer countries still did not have enough supply to vaccinate the people at highest risk of death from COVID-19</a:t>
            </a:r>
            <a:r>
              <a:rPr lang="en-US" dirty="0"/>
              <a:t>.</a:t>
            </a:r>
          </a:p>
        </p:txBody>
      </p:sp>
      <p:pic>
        <p:nvPicPr>
          <p:cNvPr id="2" name="Content Placeholder 3" descr="A graph of a number of people with different colored bars&#10;&#10;Description automatically generated with medium confidence">
            <a:extLst>
              <a:ext uri="{FF2B5EF4-FFF2-40B4-BE49-F238E27FC236}">
                <a16:creationId xmlns:a16="http://schemas.microsoft.com/office/drawing/2014/main" id="{468BDADE-7BE1-E698-F9AB-0C59EBDE901F}"/>
              </a:ext>
            </a:extLst>
          </p:cNvPr>
          <p:cNvPicPr>
            <a:picLocks noChangeAspect="1"/>
          </p:cNvPicPr>
          <p:nvPr/>
        </p:nvPicPr>
        <p:blipFill>
          <a:blip r:embed="rId3">
            <a:extLst>
              <a:ext uri="{28A0092B-C50C-407E-A947-70E740481C1C}">
                <a14:useLocalDpi xmlns:a14="http://schemas.microsoft.com/office/drawing/2010/main" val="0"/>
              </a:ext>
            </a:extLst>
          </a:blip>
          <a:srcRect b="68125"/>
          <a:stretch>
            <a:fillRect/>
          </a:stretch>
        </p:blipFill>
        <p:spPr>
          <a:xfrm>
            <a:off x="4567177" y="933102"/>
            <a:ext cx="7429978" cy="2125508"/>
          </a:xfrm>
          <a:prstGeom prst="rect">
            <a:avLst/>
          </a:prstGeom>
        </p:spPr>
      </p:pic>
    </p:spTree>
    <p:extLst>
      <p:ext uri="{BB962C8B-B14F-4D97-AF65-F5344CB8AC3E}">
        <p14:creationId xmlns:p14="http://schemas.microsoft.com/office/powerpoint/2010/main" val="19623614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A5BFCD-5262-E44C-A79E-33C3A18FF87C}"/>
              </a:ext>
            </a:extLst>
          </p:cNvPr>
          <p:cNvSpPr>
            <a:spLocks noGrp="1"/>
          </p:cNvSpPr>
          <p:nvPr>
            <p:ph idx="1"/>
          </p:nvPr>
        </p:nvSpPr>
        <p:spPr>
          <a:xfrm>
            <a:off x="142240" y="294640"/>
            <a:ext cx="4638104" cy="6410960"/>
          </a:xfrm>
        </p:spPr>
        <p:txBody>
          <a:bodyPr>
            <a:normAutofit/>
          </a:bodyPr>
          <a:lstStyle/>
          <a:p>
            <a:r>
              <a:rPr lang="en-US" sz="3200" b="0" i="0" u="none" strike="noStrike" baseline="0" dirty="0">
                <a:solidFill>
                  <a:srgbClr val="221E1F"/>
                </a:solidFill>
                <a:latin typeface="+mj-lt"/>
              </a:rPr>
              <a:t>Approach of COVAX </a:t>
            </a:r>
            <a:r>
              <a:rPr lang="en-US" sz="3200" dirty="0">
                <a:solidFill>
                  <a:srgbClr val="221E1F"/>
                </a:solidFill>
                <a:latin typeface="+mj-lt"/>
              </a:rPr>
              <a:t>criticized as </a:t>
            </a:r>
            <a:r>
              <a:rPr lang="en-US" sz="3200" b="0" i="0" u="none" strike="noStrike" baseline="0" dirty="0">
                <a:solidFill>
                  <a:srgbClr val="221E1F"/>
                </a:solidFill>
                <a:latin typeface="+mj-lt"/>
              </a:rPr>
              <a:t>short-term fix rather than long-term solution</a:t>
            </a:r>
          </a:p>
          <a:p>
            <a:r>
              <a:rPr lang="en-US" sz="3200" dirty="0">
                <a:solidFill>
                  <a:srgbClr val="221E1F"/>
                </a:solidFill>
                <a:latin typeface="+mj-lt"/>
              </a:rPr>
              <a:t>COVAX had good aims but addressed symptom of deeper problem instead of underlying cause</a:t>
            </a:r>
          </a:p>
          <a:p>
            <a:r>
              <a:rPr lang="en-US" sz="3200" dirty="0">
                <a:solidFill>
                  <a:srgbClr val="221E1F"/>
                </a:solidFill>
                <a:latin typeface="+mj-lt"/>
              </a:rPr>
              <a:t>Releasing patents so that other countries could make the mRNA vaccine would have helped</a:t>
            </a:r>
          </a:p>
        </p:txBody>
      </p:sp>
      <p:pic>
        <p:nvPicPr>
          <p:cNvPr id="4" name="Picture 3">
            <a:extLst>
              <a:ext uri="{FF2B5EF4-FFF2-40B4-BE49-F238E27FC236}">
                <a16:creationId xmlns:a16="http://schemas.microsoft.com/office/drawing/2014/main" id="{DB0E1637-9D50-C242-8E8B-78ABC7B1CADC}"/>
              </a:ext>
            </a:extLst>
          </p:cNvPr>
          <p:cNvPicPr>
            <a:picLocks noChangeAspect="1"/>
          </p:cNvPicPr>
          <p:nvPr/>
        </p:nvPicPr>
        <p:blipFill>
          <a:blip r:embed="rId3"/>
          <a:stretch>
            <a:fillRect/>
          </a:stretch>
        </p:blipFill>
        <p:spPr>
          <a:xfrm>
            <a:off x="5234907" y="294640"/>
            <a:ext cx="6814853" cy="1510714"/>
          </a:xfrm>
          <a:prstGeom prst="rect">
            <a:avLst/>
          </a:prstGeom>
        </p:spPr>
      </p:pic>
      <p:pic>
        <p:nvPicPr>
          <p:cNvPr id="9" name="Picture 8" descr="A group of people holding signs&#10;&#10;Description automatically generated with medium confidence">
            <a:extLst>
              <a:ext uri="{FF2B5EF4-FFF2-40B4-BE49-F238E27FC236}">
                <a16:creationId xmlns:a16="http://schemas.microsoft.com/office/drawing/2014/main" id="{B07AA799-A908-C8F3-3657-F288DAAEDE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5983" y="2036618"/>
            <a:ext cx="6320247" cy="4211348"/>
          </a:xfrm>
          <a:prstGeom prst="rect">
            <a:avLst/>
          </a:prstGeom>
        </p:spPr>
      </p:pic>
    </p:spTree>
    <p:extLst>
      <p:ext uri="{BB962C8B-B14F-4D97-AF65-F5344CB8AC3E}">
        <p14:creationId xmlns:p14="http://schemas.microsoft.com/office/powerpoint/2010/main" val="3655346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A85DC-4293-47A2-A7F7-7276CBE921B4}"/>
              </a:ext>
            </a:extLst>
          </p:cNvPr>
          <p:cNvSpPr>
            <a:spLocks noGrp="1"/>
          </p:cNvSpPr>
          <p:nvPr>
            <p:ph type="title"/>
          </p:nvPr>
        </p:nvSpPr>
        <p:spPr>
          <a:xfrm>
            <a:off x="459956" y="365125"/>
            <a:ext cx="11010900" cy="1325563"/>
          </a:xfrm>
        </p:spPr>
        <p:txBody>
          <a:bodyPr>
            <a:normAutofit/>
          </a:bodyPr>
          <a:lstStyle/>
          <a:p>
            <a:pPr algn="ctr"/>
            <a:r>
              <a:rPr lang="en-US" dirty="0"/>
              <a:t>Global cooperation aided the design and manufacture of mRNA Covid vaccines</a:t>
            </a:r>
          </a:p>
        </p:txBody>
      </p:sp>
      <p:pic>
        <p:nvPicPr>
          <p:cNvPr id="5" name="Content Placeholder 4">
            <a:extLst>
              <a:ext uri="{FF2B5EF4-FFF2-40B4-BE49-F238E27FC236}">
                <a16:creationId xmlns:a16="http://schemas.microsoft.com/office/drawing/2014/main" id="{5C202F22-5FCE-4041-B1F6-6B5D11F991AF}"/>
              </a:ext>
            </a:extLst>
          </p:cNvPr>
          <p:cNvPicPr>
            <a:picLocks noGrp="1" noChangeAspect="1"/>
          </p:cNvPicPr>
          <p:nvPr>
            <p:ph idx="1"/>
          </p:nvPr>
        </p:nvPicPr>
        <p:blipFill>
          <a:blip r:embed="rId3"/>
          <a:stretch>
            <a:fillRect/>
          </a:stretch>
        </p:blipFill>
        <p:spPr>
          <a:xfrm>
            <a:off x="3783208" y="1865578"/>
            <a:ext cx="8677310" cy="4627297"/>
          </a:xfrm>
        </p:spPr>
      </p:pic>
      <p:sp>
        <p:nvSpPr>
          <p:cNvPr id="3" name="Rectangle 2">
            <a:extLst>
              <a:ext uri="{FF2B5EF4-FFF2-40B4-BE49-F238E27FC236}">
                <a16:creationId xmlns:a16="http://schemas.microsoft.com/office/drawing/2014/main" id="{9E18D254-E7C1-488A-BDF3-8D237EDC2A50}"/>
              </a:ext>
            </a:extLst>
          </p:cNvPr>
          <p:cNvSpPr/>
          <p:nvPr/>
        </p:nvSpPr>
        <p:spPr>
          <a:xfrm>
            <a:off x="3548743" y="5606143"/>
            <a:ext cx="1001486" cy="4898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Content Placeholder 2">
            <a:extLst>
              <a:ext uri="{FF2B5EF4-FFF2-40B4-BE49-F238E27FC236}">
                <a16:creationId xmlns:a16="http://schemas.microsoft.com/office/drawing/2014/main" id="{C61972A7-B2E2-4845-84A3-9A6890F62F8F}"/>
              </a:ext>
            </a:extLst>
          </p:cNvPr>
          <p:cNvSpPr txBox="1">
            <a:spLocks/>
          </p:cNvSpPr>
          <p:nvPr/>
        </p:nvSpPr>
        <p:spPr>
          <a:xfrm>
            <a:off x="171321" y="1865578"/>
            <a:ext cx="3509428" cy="462729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Pfizer (US) mRNA vaccine took less than a year to bring to market.</a:t>
            </a:r>
          </a:p>
          <a:p>
            <a:r>
              <a:rPr lang="en-US" dirty="0"/>
              <a:t>Prior, fastest development of a vaccine was for mumps, which took four years</a:t>
            </a:r>
          </a:p>
          <a:p>
            <a:r>
              <a:rPr lang="en-US" dirty="0"/>
              <a:t>Ties across countries around the world were necessary to do this</a:t>
            </a:r>
          </a:p>
        </p:txBody>
      </p:sp>
    </p:spTree>
    <p:extLst>
      <p:ext uri="{BB962C8B-B14F-4D97-AF65-F5344CB8AC3E}">
        <p14:creationId xmlns:p14="http://schemas.microsoft.com/office/powerpoint/2010/main" val="923221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hlinkClick r:id="rId3"/>
            <a:extLst>
              <a:ext uri="{FF2B5EF4-FFF2-40B4-BE49-F238E27FC236}">
                <a16:creationId xmlns:a16="http://schemas.microsoft.com/office/drawing/2014/main" id="{12E94A94-BAEE-49BE-9459-C27901B864AC}"/>
              </a:ext>
            </a:extLst>
          </p:cNvPr>
          <p:cNvPicPr>
            <a:picLocks noGrp="1" noChangeAspect="1"/>
          </p:cNvPicPr>
          <p:nvPr>
            <p:ph idx="1"/>
          </p:nvPr>
        </p:nvPicPr>
        <p:blipFill>
          <a:blip r:embed="rId4"/>
          <a:stretch>
            <a:fillRect/>
          </a:stretch>
        </p:blipFill>
        <p:spPr>
          <a:xfrm>
            <a:off x="1034144" y="1910812"/>
            <a:ext cx="10308771" cy="4747389"/>
          </a:xfrm>
          <a:ln w="69850">
            <a:solidFill>
              <a:schemeClr val="accent1"/>
            </a:solidFill>
          </a:ln>
        </p:spPr>
      </p:pic>
      <p:sp>
        <p:nvSpPr>
          <p:cNvPr id="4" name="Title 1">
            <a:extLst>
              <a:ext uri="{FF2B5EF4-FFF2-40B4-BE49-F238E27FC236}">
                <a16:creationId xmlns:a16="http://schemas.microsoft.com/office/drawing/2014/main" id="{696071C3-CB7D-4681-B92C-EFB836F0F3E3}"/>
              </a:ext>
            </a:extLst>
          </p:cNvPr>
          <p:cNvSpPr>
            <a:spLocks noGrp="1"/>
          </p:cNvSpPr>
          <p:nvPr>
            <p:ph type="title"/>
          </p:nvPr>
        </p:nvSpPr>
        <p:spPr>
          <a:xfrm>
            <a:off x="413657" y="365125"/>
            <a:ext cx="11010900" cy="1325563"/>
          </a:xfrm>
        </p:spPr>
        <p:txBody>
          <a:bodyPr>
            <a:normAutofit fontScale="90000"/>
          </a:bodyPr>
          <a:lstStyle/>
          <a:p>
            <a:pPr algn="ctr"/>
            <a:r>
              <a:rPr lang="en-US" dirty="0"/>
              <a:t>Pfizer mRNA vaccine invented by German company </a:t>
            </a:r>
            <a:r>
              <a:rPr lang="en-US" dirty="0">
                <a:hlinkClick r:id="rId5"/>
              </a:rPr>
              <a:t>BioNTech</a:t>
            </a:r>
            <a:r>
              <a:rPr lang="en-US" dirty="0"/>
              <a:t> started by Turkish immigrants </a:t>
            </a:r>
          </a:p>
        </p:txBody>
      </p:sp>
    </p:spTree>
    <p:extLst>
      <p:ext uri="{BB962C8B-B14F-4D97-AF65-F5344CB8AC3E}">
        <p14:creationId xmlns:p14="http://schemas.microsoft.com/office/powerpoint/2010/main" val="33135876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04BFD-01F3-7CCC-9017-26F5924ABCEE}"/>
              </a:ext>
            </a:extLst>
          </p:cNvPr>
          <p:cNvSpPr>
            <a:spLocks noGrp="1"/>
          </p:cNvSpPr>
          <p:nvPr>
            <p:ph type="title"/>
          </p:nvPr>
        </p:nvSpPr>
        <p:spPr>
          <a:xfrm>
            <a:off x="6324598" y="365125"/>
            <a:ext cx="5354256" cy="1325563"/>
          </a:xfrm>
        </p:spPr>
        <p:txBody>
          <a:bodyPr/>
          <a:lstStyle/>
          <a:p>
            <a:pPr algn="ctr"/>
            <a:r>
              <a:rPr lang="en-US" dirty="0"/>
              <a:t>Advantages of mRNA vaccines</a:t>
            </a:r>
          </a:p>
        </p:txBody>
      </p:sp>
      <p:sp>
        <p:nvSpPr>
          <p:cNvPr id="3" name="Content Placeholder 2">
            <a:extLst>
              <a:ext uri="{FF2B5EF4-FFF2-40B4-BE49-F238E27FC236}">
                <a16:creationId xmlns:a16="http://schemas.microsoft.com/office/drawing/2014/main" id="{B4516308-992E-CF39-E5A3-C5C5728FD52E}"/>
              </a:ext>
            </a:extLst>
          </p:cNvPr>
          <p:cNvSpPr>
            <a:spLocks noGrp="1"/>
          </p:cNvSpPr>
          <p:nvPr>
            <p:ph idx="1"/>
          </p:nvPr>
        </p:nvSpPr>
        <p:spPr>
          <a:xfrm>
            <a:off x="513145" y="365125"/>
            <a:ext cx="5354257" cy="5811838"/>
          </a:xfrm>
        </p:spPr>
        <p:txBody>
          <a:bodyPr>
            <a:normAutofit/>
          </a:bodyPr>
          <a:lstStyle/>
          <a:p>
            <a:r>
              <a:rPr lang="en-US" dirty="0"/>
              <a:t>Can be designed and manufactured faster than traditional methods (they require mammalian cell cultures or chicken eggs)</a:t>
            </a:r>
          </a:p>
          <a:p>
            <a:r>
              <a:rPr lang="en-US" dirty="0"/>
              <a:t>Fewer impurities</a:t>
            </a:r>
          </a:p>
          <a:p>
            <a:r>
              <a:rPr lang="en-US" dirty="0"/>
              <a:t>Allows for faster response to  disease outbreak</a:t>
            </a:r>
          </a:p>
          <a:p>
            <a:r>
              <a:rPr lang="en-US" dirty="0"/>
              <a:t>Do not contain any live or weakened virus</a:t>
            </a:r>
          </a:p>
          <a:p>
            <a:r>
              <a:rPr lang="en-US" dirty="0"/>
              <a:t>Induces strong immune response</a:t>
            </a:r>
          </a:p>
          <a:p>
            <a:r>
              <a:rPr lang="en-US" dirty="0"/>
              <a:t>The technology won a Nobel Prize in Physiology or Medicine in 2023</a:t>
            </a:r>
          </a:p>
          <a:p>
            <a:endParaRPr lang="en-US" dirty="0"/>
          </a:p>
        </p:txBody>
      </p:sp>
      <p:pic>
        <p:nvPicPr>
          <p:cNvPr id="5" name="Online Media 3" title="How mRNA Vaccines Work | Penn Medicine Explains">
            <a:hlinkClick r:id="" action="ppaction://media"/>
            <a:extLst>
              <a:ext uri="{FF2B5EF4-FFF2-40B4-BE49-F238E27FC236}">
                <a16:creationId xmlns:a16="http://schemas.microsoft.com/office/drawing/2014/main" id="{24A1BA63-1C2C-E47C-4016-5F1E9B8D32BD}"/>
              </a:ext>
            </a:extLst>
          </p:cNvPr>
          <p:cNvPicPr>
            <a:picLocks noRot="1" noChangeAspect="1"/>
          </p:cNvPicPr>
          <p:nvPr>
            <a:videoFile r:link="rId1"/>
          </p:nvPr>
        </p:nvPicPr>
        <p:blipFill>
          <a:blip r:embed="rId4"/>
          <a:srcRect l="14575" r="11826"/>
          <a:stretch>
            <a:fillRect/>
          </a:stretch>
        </p:blipFill>
        <p:spPr>
          <a:xfrm>
            <a:off x="6324599" y="1825625"/>
            <a:ext cx="5354256" cy="4107238"/>
          </a:xfrm>
          <a:prstGeom prst="rect">
            <a:avLst/>
          </a:prstGeom>
        </p:spPr>
      </p:pic>
    </p:spTree>
    <p:extLst>
      <p:ext uri="{BB962C8B-B14F-4D97-AF65-F5344CB8AC3E}">
        <p14:creationId xmlns:p14="http://schemas.microsoft.com/office/powerpoint/2010/main" val="1712653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5"/>
                                        </p:tgtEl>
                                      </p:cBhvr>
                                    </p:cmd>
                                  </p:childTnLst>
                                </p:cTn>
                              </p:par>
                            </p:childTnLst>
                          </p:cTn>
                        </p:par>
                      </p:childTnLst>
                    </p:cTn>
                  </p:par>
                </p:childTnLst>
              </p:cTn>
              <p:nextCondLst>
                <p:cond evt="onClick" delay="0">
                  <p:tgtEl>
                    <p:spTgt spid="5"/>
                  </p:tgtEl>
                </p:cond>
              </p:nextCondLst>
            </p:seq>
            <p:video>
              <p:cMediaNode vol="80000">
                <p:cTn id="1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559DA1-A73D-A9B7-5881-1BCE4CA4E3F8}"/>
              </a:ext>
            </a:extLst>
          </p:cNvPr>
          <p:cNvSpPr>
            <a:spLocks noGrp="1"/>
          </p:cNvSpPr>
          <p:nvPr>
            <p:ph idx="1"/>
          </p:nvPr>
        </p:nvSpPr>
        <p:spPr>
          <a:xfrm>
            <a:off x="462987" y="335666"/>
            <a:ext cx="3978384" cy="6342926"/>
          </a:xfrm>
        </p:spPr>
        <p:txBody>
          <a:bodyPr>
            <a:normAutofit/>
          </a:bodyPr>
          <a:lstStyle/>
          <a:p>
            <a:r>
              <a:rPr lang="en-US" dirty="0"/>
              <a:t>In 2025, US Department of Health and Human Services revoked federal research grants on mRNA vaccines including $700 million contract to drugmaker Moderna to develop a vaccine against bird flu.</a:t>
            </a:r>
          </a:p>
          <a:p>
            <a:r>
              <a:rPr lang="en-US" dirty="0"/>
              <a:t>Many scientists regard mRNA shots as best option for protecting Americans in a pandemic.</a:t>
            </a:r>
          </a:p>
        </p:txBody>
      </p:sp>
      <p:pic>
        <p:nvPicPr>
          <p:cNvPr id="8" name="Picture 7">
            <a:extLst>
              <a:ext uri="{FF2B5EF4-FFF2-40B4-BE49-F238E27FC236}">
                <a16:creationId xmlns:a16="http://schemas.microsoft.com/office/drawing/2014/main" id="{E20FEACE-493E-AC2C-BAEC-DEE873BCAA66}"/>
              </a:ext>
            </a:extLst>
          </p:cNvPr>
          <p:cNvPicPr>
            <a:picLocks noChangeAspect="1"/>
          </p:cNvPicPr>
          <p:nvPr/>
        </p:nvPicPr>
        <p:blipFill>
          <a:blip r:embed="rId3"/>
          <a:stretch>
            <a:fillRect/>
          </a:stretch>
        </p:blipFill>
        <p:spPr>
          <a:xfrm>
            <a:off x="4649716" y="598466"/>
            <a:ext cx="7250661" cy="5316196"/>
          </a:xfrm>
          <a:prstGeom prst="rect">
            <a:avLst/>
          </a:prstGeom>
        </p:spPr>
      </p:pic>
    </p:spTree>
    <p:extLst>
      <p:ext uri="{BB962C8B-B14F-4D97-AF65-F5344CB8AC3E}">
        <p14:creationId xmlns:p14="http://schemas.microsoft.com/office/powerpoint/2010/main" val="2085625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6">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7398</TotalTime>
  <Words>1665</Words>
  <Application>Microsoft Office PowerPoint</Application>
  <PresentationFormat>Widescreen</PresentationFormat>
  <Paragraphs>114</Paragraphs>
  <Slides>18</Slides>
  <Notes>16</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Calibri Light</vt:lpstr>
      <vt:lpstr>Shaker 2 Lancet</vt:lpstr>
      <vt:lpstr>Office Theme</vt:lpstr>
      <vt:lpstr>If you aren’t coming to lecture on Monday and Wednesday mornings…</vt:lpstr>
      <vt:lpstr>Vaccines pit collective societal good versus individual interests</vt:lpstr>
      <vt:lpstr>Anti-vaxx sentiment is not new</vt:lpstr>
      <vt:lpstr>Reasons for hesitancy and anti-vaxxer attitudes </vt:lpstr>
      <vt:lpstr>There is no link between vaccines and autism</vt:lpstr>
      <vt:lpstr>Full global components of the Pfizer BioNTech mRNA Covid vaccine</vt:lpstr>
      <vt:lpstr>The middle income effect</vt:lpstr>
      <vt:lpstr>PowerPoint Presentation</vt:lpstr>
      <vt:lpstr>The middle income effect</vt:lpstr>
      <vt:lpstr>Vaccine diplomacy</vt:lpstr>
      <vt:lpstr>COVAX</vt:lpstr>
      <vt:lpstr>PowerPoint Presentation</vt:lpstr>
      <vt:lpstr>PowerPoint Presentation</vt:lpstr>
      <vt:lpstr>PowerPoint Presentation</vt:lpstr>
      <vt:lpstr>Global cooperation aided the design and manufacture of mRNA Covid vaccines</vt:lpstr>
      <vt:lpstr>Pfizer mRNA vaccine invented by German company BioNTech started by Turkish immigrants </vt:lpstr>
      <vt:lpstr>Advantages of mRNA vaccines</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Stallins</dc:creator>
  <cp:lastModifiedBy>Stallins, Jon A.</cp:lastModifiedBy>
  <cp:revision>374</cp:revision>
  <dcterms:created xsi:type="dcterms:W3CDTF">2019-06-04T15:15:14Z</dcterms:created>
  <dcterms:modified xsi:type="dcterms:W3CDTF">2025-11-13T13:37:50Z</dcterms:modified>
</cp:coreProperties>
</file>