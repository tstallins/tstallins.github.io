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729" r:id="rId2"/>
    <p:sldId id="545" r:id="rId3"/>
    <p:sldId id="727" r:id="rId4"/>
    <p:sldId id="264" r:id="rId5"/>
    <p:sldId id="617" r:id="rId6"/>
    <p:sldId id="73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59" autoAdjust="0"/>
    <p:restoredTop sz="86684" autoAdjust="0"/>
  </p:normalViewPr>
  <p:slideViewPr>
    <p:cSldViewPr snapToGrid="0" showGuides="1">
      <p:cViewPr varScale="1">
        <p:scale>
          <a:sx n="55" d="100"/>
          <a:sy n="55" d="100"/>
        </p:scale>
        <p:origin x="840" y="32"/>
      </p:cViewPr>
      <p:guideLst/>
    </p:cSldViewPr>
  </p:slideViewPr>
  <p:outlineViewPr>
    <p:cViewPr>
      <p:scale>
        <a:sx n="33" d="100"/>
        <a:sy n="33" d="100"/>
      </p:scale>
      <p:origin x="0" y="-28008"/>
    </p:cViewPr>
  </p:outlineViewPr>
  <p:notesTextViewPr>
    <p:cViewPr>
      <p:scale>
        <a:sx n="150" d="100"/>
        <a:sy n="150" d="100"/>
      </p:scale>
      <p:origin x="0" y="0"/>
    </p:cViewPr>
  </p:notesTextViewPr>
  <p:sorterViewPr>
    <p:cViewPr>
      <p:scale>
        <a:sx n="50" d="100"/>
        <a:sy n="50" d="100"/>
      </p:scale>
      <p:origin x="0" y="-5136"/>
    </p:cViewPr>
  </p:sorter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87A08-71BD-4802-BA4F-D9BAA04912EF}" type="datetimeFigureOut">
              <a:rPr lang="en-US" smtClean="0"/>
              <a:t>11/12/2025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9E9FF-7C85-4017-A0E8-7596D2FE69B9}" type="slidenum">
              <a:rPr lang="en-US" smtClean="0"/>
              <a:t>‹#›</a:t>
            </a:fld>
            <a:endParaRPr lang="en-US" dirty="0"/>
          </a:p>
        </p:txBody>
      </p:sp>
    </p:spTree>
    <p:extLst>
      <p:ext uri="{BB962C8B-B14F-4D97-AF65-F5344CB8AC3E}">
        <p14:creationId xmlns:p14="http://schemas.microsoft.com/office/powerpoint/2010/main" val="4231944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9E9FF-7C85-4017-A0E8-7596D2FE69B9}" type="slidenum">
              <a:rPr lang="en-US" smtClean="0"/>
              <a:t>1</a:t>
            </a:fld>
            <a:endParaRPr lang="en-US" dirty="0"/>
          </a:p>
        </p:txBody>
      </p:sp>
    </p:spTree>
    <p:extLst>
      <p:ext uri="{BB962C8B-B14F-4D97-AF65-F5344CB8AC3E}">
        <p14:creationId xmlns:p14="http://schemas.microsoft.com/office/powerpoint/2010/main" val="1721516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Calibri Light" panose="020F0302020204030204" pitchFamily="34" charset="0"/>
                <a:cs typeface="Calibri Light" panose="020F0302020204030204" pitchFamily="34" charset="0"/>
              </a:rPr>
              <a:t>Vaccines ask us to consider social welfare and not just mere self-interest</a:t>
            </a:r>
          </a:p>
          <a:p>
            <a:endParaRPr lang="en-US" dirty="0"/>
          </a:p>
        </p:txBody>
      </p:sp>
      <p:sp>
        <p:nvSpPr>
          <p:cNvPr id="4" name="Slide Number Placeholder 3"/>
          <p:cNvSpPr>
            <a:spLocks noGrp="1"/>
          </p:cNvSpPr>
          <p:nvPr>
            <p:ph type="sldNum" sz="quarter" idx="5"/>
          </p:nvPr>
        </p:nvSpPr>
        <p:spPr/>
        <p:txBody>
          <a:bodyPr/>
          <a:lstStyle/>
          <a:p>
            <a:fld id="{6DC9E9FF-7C85-4017-A0E8-7596D2FE69B9}" type="slidenum">
              <a:rPr lang="en-US" smtClean="0"/>
              <a:t>2</a:t>
            </a:fld>
            <a:endParaRPr lang="en-US" dirty="0"/>
          </a:p>
        </p:txBody>
      </p:sp>
    </p:spTree>
    <p:extLst>
      <p:ext uri="{BB962C8B-B14F-4D97-AF65-F5344CB8AC3E}">
        <p14:creationId xmlns:p14="http://schemas.microsoft.com/office/powerpoint/2010/main" val="3974387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C9E9FF-7C85-4017-A0E8-7596D2FE69B9}" type="slidenum">
              <a:rPr lang="en-US" smtClean="0"/>
              <a:t>4</a:t>
            </a:fld>
            <a:endParaRPr lang="en-US" dirty="0"/>
          </a:p>
        </p:txBody>
      </p:sp>
    </p:spTree>
    <p:extLst>
      <p:ext uri="{BB962C8B-B14F-4D97-AF65-F5344CB8AC3E}">
        <p14:creationId xmlns:p14="http://schemas.microsoft.com/office/powerpoint/2010/main" val="3045573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https://onlinelibrary.wiley.com/doi/full/10.1002/bies.202000307</a:t>
            </a:r>
            <a:br>
              <a:rPr lang="en-US" dirty="0"/>
            </a:br>
            <a:r>
              <a:rPr lang="en-US" dirty="0"/>
              <a:t>https://journals.plos.org/plosone/article?id=10.1371/journal.pone.0289841</a:t>
            </a:r>
          </a:p>
          <a:p>
            <a:r>
              <a:rPr lang="en-US" dirty="0"/>
              <a:t>https://www.healthychildren.org/English/safety-prevention/immunizations/Pages/Vaccine-Studies-Examine-the-Evidence.aspx</a:t>
            </a:r>
            <a:br>
              <a:rPr lang="en-US" dirty="0"/>
            </a:br>
            <a:br>
              <a:rPr lang="en-US" dirty="0"/>
            </a:br>
            <a:br>
              <a:rPr lang="en-US" dirty="0"/>
            </a:br>
            <a:r>
              <a:rPr lang="en-US" dirty="0"/>
              <a:t>C</a:t>
            </a:r>
            <a:r>
              <a:rPr lang="en-US" b="0" dirty="0"/>
              <a:t>hildren with autism and/or ADHD have a reduced ability to clear out the common plastic additive bisphenol A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DC9E9FF-7C85-4017-A0E8-7596D2FE69B9}" type="slidenum">
              <a:rPr lang="en-US" smtClean="0"/>
              <a:t>5</a:t>
            </a:fld>
            <a:endParaRPr lang="en-US" dirty="0"/>
          </a:p>
        </p:txBody>
      </p:sp>
    </p:spTree>
    <p:extLst>
      <p:ext uri="{BB962C8B-B14F-4D97-AF65-F5344CB8AC3E}">
        <p14:creationId xmlns:p14="http://schemas.microsoft.com/office/powerpoint/2010/main" val="2697817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3353749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1400193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3223026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3117844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87803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294889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436145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2108468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1791629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3511676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E198F2-9BB6-425A-9FF9-F2F148E1B301}" type="datetimeFigureOut">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B761798-5724-4800-B174-11BF959E3627}" type="slidenum">
              <a:rPr lang="en-US" smtClean="0"/>
              <a:t>‹#›</a:t>
            </a:fld>
            <a:endParaRPr lang="en-US" dirty="0"/>
          </a:p>
        </p:txBody>
      </p:sp>
    </p:spTree>
    <p:extLst>
      <p:ext uri="{BB962C8B-B14F-4D97-AF65-F5344CB8AC3E}">
        <p14:creationId xmlns:p14="http://schemas.microsoft.com/office/powerpoint/2010/main" val="3036665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E198F2-9BB6-425A-9FF9-F2F148E1B301}" type="datetimeFigureOut">
              <a:rPr lang="en-US" smtClean="0"/>
              <a:t>11/12/2025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761798-5724-4800-B174-11BF959E3627}" type="slidenum">
              <a:rPr lang="en-US" smtClean="0"/>
              <a:t>‹#›</a:t>
            </a:fld>
            <a:endParaRPr lang="en-US" dirty="0"/>
          </a:p>
        </p:txBody>
      </p:sp>
    </p:spTree>
    <p:extLst>
      <p:ext uri="{BB962C8B-B14F-4D97-AF65-F5344CB8AC3E}">
        <p14:creationId xmlns:p14="http://schemas.microsoft.com/office/powerpoint/2010/main" val="2012764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53FDD-6874-DF6E-30F3-0E4D68237268}"/>
              </a:ext>
            </a:extLst>
          </p:cNvPr>
          <p:cNvSpPr>
            <a:spLocks noGrp="1"/>
          </p:cNvSpPr>
          <p:nvPr>
            <p:ph type="title"/>
          </p:nvPr>
        </p:nvSpPr>
        <p:spPr/>
        <p:txBody>
          <a:bodyPr/>
          <a:lstStyle/>
          <a:p>
            <a:r>
              <a:rPr lang="en-US" dirty="0"/>
              <a:t>If you aren’t coming to lecture on Monday and Wednesday mornings…</a:t>
            </a:r>
          </a:p>
        </p:txBody>
      </p:sp>
      <p:sp>
        <p:nvSpPr>
          <p:cNvPr id="3" name="Content Placeholder 2">
            <a:extLst>
              <a:ext uri="{FF2B5EF4-FFF2-40B4-BE49-F238E27FC236}">
                <a16:creationId xmlns:a16="http://schemas.microsoft.com/office/drawing/2014/main" id="{07AA488F-75A1-FC01-2EAB-4634BA370D24}"/>
              </a:ext>
            </a:extLst>
          </p:cNvPr>
          <p:cNvSpPr>
            <a:spLocks noGrp="1"/>
          </p:cNvSpPr>
          <p:nvPr>
            <p:ph idx="1"/>
          </p:nvPr>
        </p:nvSpPr>
        <p:spPr>
          <a:xfrm>
            <a:off x="729204" y="1800225"/>
            <a:ext cx="10515600" cy="4351338"/>
          </a:xfrm>
        </p:spPr>
        <p:txBody>
          <a:bodyPr/>
          <a:lstStyle/>
          <a:p>
            <a:pPr marL="0" indent="0">
              <a:buNone/>
            </a:pPr>
            <a:r>
              <a:rPr lang="en-US" dirty="0"/>
              <a:t>…you didn’t have the full content for the midterm and you won’t get the full content for the final exam. For this week’s lectures on vaccines you are missing around 70 slides of content available only in class:</a:t>
            </a:r>
          </a:p>
        </p:txBody>
      </p:sp>
      <p:pic>
        <p:nvPicPr>
          <p:cNvPr id="5" name="Picture 4">
            <a:extLst>
              <a:ext uri="{FF2B5EF4-FFF2-40B4-BE49-F238E27FC236}">
                <a16:creationId xmlns:a16="http://schemas.microsoft.com/office/drawing/2014/main" id="{1079ABE9-A31B-67CE-CF52-5C8263F9CD4E}"/>
              </a:ext>
            </a:extLst>
          </p:cNvPr>
          <p:cNvPicPr>
            <a:picLocks noChangeAspect="1"/>
          </p:cNvPicPr>
          <p:nvPr/>
        </p:nvPicPr>
        <p:blipFill>
          <a:blip r:embed="rId3"/>
          <a:stretch>
            <a:fillRect/>
          </a:stretch>
        </p:blipFill>
        <p:spPr>
          <a:xfrm>
            <a:off x="214557" y="3154718"/>
            <a:ext cx="11544893" cy="4153113"/>
          </a:xfrm>
          <a:prstGeom prst="rect">
            <a:avLst/>
          </a:prstGeom>
        </p:spPr>
      </p:pic>
    </p:spTree>
    <p:extLst>
      <p:ext uri="{BB962C8B-B14F-4D97-AF65-F5344CB8AC3E}">
        <p14:creationId xmlns:p14="http://schemas.microsoft.com/office/powerpoint/2010/main" val="281800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161EF-1383-4259-A9BC-8C95885C8DAF}"/>
              </a:ext>
            </a:extLst>
          </p:cNvPr>
          <p:cNvSpPr>
            <a:spLocks noGrp="1"/>
          </p:cNvSpPr>
          <p:nvPr>
            <p:ph type="title"/>
          </p:nvPr>
        </p:nvSpPr>
        <p:spPr/>
        <p:txBody>
          <a:bodyPr>
            <a:normAutofit/>
          </a:bodyPr>
          <a:lstStyle/>
          <a:p>
            <a:pPr algn="ctr"/>
            <a:r>
              <a:rPr lang="en-US" dirty="0"/>
              <a:t>Vaccines pit collective societal good versus individual interests</a:t>
            </a:r>
          </a:p>
        </p:txBody>
      </p:sp>
      <p:sp>
        <p:nvSpPr>
          <p:cNvPr id="3" name="Content Placeholder 2">
            <a:extLst>
              <a:ext uri="{FF2B5EF4-FFF2-40B4-BE49-F238E27FC236}">
                <a16:creationId xmlns:a16="http://schemas.microsoft.com/office/drawing/2014/main" id="{A1317D67-EA40-433D-8DA0-16BE26953177}"/>
              </a:ext>
            </a:extLst>
          </p:cNvPr>
          <p:cNvSpPr>
            <a:spLocks noGrp="1"/>
          </p:cNvSpPr>
          <p:nvPr>
            <p:ph idx="1"/>
          </p:nvPr>
        </p:nvSpPr>
        <p:spPr>
          <a:xfrm>
            <a:off x="838199" y="1825625"/>
            <a:ext cx="10515600" cy="4667250"/>
          </a:xfrm>
        </p:spPr>
        <p:txBody>
          <a:bodyPr>
            <a:normAutofit/>
          </a:bodyPr>
          <a:lstStyle/>
          <a:p>
            <a:pPr algn="l"/>
            <a:r>
              <a:rPr lang="en-US" sz="3200" b="0" i="0" u="none" strike="noStrike" baseline="0" dirty="0">
                <a:latin typeface="Calibri Light" panose="020F0302020204030204" pitchFamily="34" charset="0"/>
                <a:cs typeface="Calibri Light" panose="020F0302020204030204" pitchFamily="34" charset="0"/>
              </a:rPr>
              <a:t> As vaccines reduce disease transmission, they indirectly protect the community</a:t>
            </a:r>
            <a:r>
              <a:rPr lang="en-US" sz="3200" dirty="0">
                <a:latin typeface="Calibri Light" panose="020F0302020204030204" pitchFamily="34" charset="0"/>
                <a:cs typeface="Calibri Light" panose="020F0302020204030204" pitchFamily="34" charset="0"/>
              </a:rPr>
              <a:t>, including </a:t>
            </a:r>
            <a:r>
              <a:rPr lang="en-US" sz="3200" b="0" i="0" u="none" strike="noStrike" baseline="0" dirty="0">
                <a:latin typeface="Calibri Light" panose="020F0302020204030204" pitchFamily="34" charset="0"/>
                <a:cs typeface="Calibri Light" panose="020F0302020204030204" pitchFamily="34" charset="0"/>
              </a:rPr>
              <a:t>individuals who are too young to get vaccinated, and the immunocompromised</a:t>
            </a:r>
          </a:p>
          <a:p>
            <a:r>
              <a:rPr lang="en-US" sz="3200" dirty="0">
                <a:latin typeface="Calibri Light" panose="020F0302020204030204" pitchFamily="34" charset="0"/>
                <a:cs typeface="Calibri Light" panose="020F0302020204030204" pitchFamily="34" charset="0"/>
              </a:rPr>
              <a:t>Yet individuals have incentives to refrain from vaccination, to act in their self-interest. They can free ride and profit from indirect protection of others who vaccinated.</a:t>
            </a:r>
          </a:p>
          <a:p>
            <a:r>
              <a:rPr lang="en-US" sz="3200" dirty="0">
                <a:latin typeface="Calibri Light" panose="020F0302020204030204" pitchFamily="34" charset="0"/>
                <a:cs typeface="Calibri Light" panose="020F0302020204030204" pitchFamily="34" charset="0"/>
              </a:rPr>
              <a:t>When more people decide to refrain from vaccination, their individual choices can create scenario for disease to emerge, persist, and cause harm</a:t>
            </a:r>
          </a:p>
        </p:txBody>
      </p:sp>
    </p:spTree>
    <p:extLst>
      <p:ext uri="{BB962C8B-B14F-4D97-AF65-F5344CB8AC3E}">
        <p14:creationId xmlns:p14="http://schemas.microsoft.com/office/powerpoint/2010/main" val="2036360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D96DF-957E-BD32-39B5-EE10E77ACC4C}"/>
              </a:ext>
            </a:extLst>
          </p:cNvPr>
          <p:cNvSpPr>
            <a:spLocks noGrp="1"/>
          </p:cNvSpPr>
          <p:nvPr>
            <p:ph type="title"/>
          </p:nvPr>
        </p:nvSpPr>
        <p:spPr/>
        <p:txBody>
          <a:bodyPr/>
          <a:lstStyle/>
          <a:p>
            <a:pPr algn="ctr"/>
            <a:r>
              <a:rPr lang="en-US" dirty="0"/>
              <a:t>Anti-vaxx sentiment is not new</a:t>
            </a:r>
          </a:p>
        </p:txBody>
      </p:sp>
      <p:sp>
        <p:nvSpPr>
          <p:cNvPr id="3" name="Content Placeholder 2">
            <a:extLst>
              <a:ext uri="{FF2B5EF4-FFF2-40B4-BE49-F238E27FC236}">
                <a16:creationId xmlns:a16="http://schemas.microsoft.com/office/drawing/2014/main" id="{011D96F2-A16B-E4F0-75EF-8E95B23E502E}"/>
              </a:ext>
            </a:extLst>
          </p:cNvPr>
          <p:cNvSpPr>
            <a:spLocks noGrp="1"/>
          </p:cNvSpPr>
          <p:nvPr>
            <p:ph idx="1"/>
          </p:nvPr>
        </p:nvSpPr>
        <p:spPr>
          <a:xfrm>
            <a:off x="838200" y="1825625"/>
            <a:ext cx="10270524" cy="4351338"/>
          </a:xfrm>
        </p:spPr>
        <p:txBody>
          <a:bodyPr>
            <a:normAutofit/>
          </a:bodyPr>
          <a:lstStyle/>
          <a:p>
            <a:r>
              <a:rPr lang="en-US" dirty="0"/>
              <a:t>In 1902, Swedish-American pastor Henning Jacobson refused the smallpox vaccine, arguing the mandate violated personal liberty.</a:t>
            </a:r>
          </a:p>
          <a:p>
            <a:r>
              <a:rPr lang="en-US" dirty="0"/>
              <a:t>In Jacobson v. Massachusetts (1905), the Supreme Court ruled against Jacobson and upheld the state’s authority to require vaccination to protect public health.</a:t>
            </a:r>
          </a:p>
          <a:p>
            <a:r>
              <a:rPr lang="en-US" dirty="0"/>
              <a:t>In Zucht v. King (1922), Rosalyn Zucht, a Texas schoolgirl, challenged her exclusion from school for lacking required vaccinations.</a:t>
            </a:r>
          </a:p>
          <a:p>
            <a:r>
              <a:rPr lang="en-US" dirty="0"/>
              <a:t>The Supreme Court ruled against Zucht, affirming that states and cities may require vaccination—such as for school attendance—even when no outbreak is occurring.</a:t>
            </a:r>
          </a:p>
        </p:txBody>
      </p:sp>
    </p:spTree>
    <p:extLst>
      <p:ext uri="{BB962C8B-B14F-4D97-AF65-F5344CB8AC3E}">
        <p14:creationId xmlns:p14="http://schemas.microsoft.com/office/powerpoint/2010/main" val="1744922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Reasons for hesitancy and anti-vaxxer attitudes </a:t>
            </a:r>
          </a:p>
        </p:txBody>
      </p:sp>
      <p:sp>
        <p:nvSpPr>
          <p:cNvPr id="3" name="Content Placeholder 2"/>
          <p:cNvSpPr>
            <a:spLocks noGrp="1"/>
          </p:cNvSpPr>
          <p:nvPr>
            <p:ph idx="1"/>
          </p:nvPr>
        </p:nvSpPr>
        <p:spPr>
          <a:xfrm>
            <a:off x="641387" y="1951945"/>
            <a:ext cx="10515600" cy="4351338"/>
          </a:xfrm>
        </p:spPr>
        <p:txBody>
          <a:bodyPr>
            <a:normAutofit/>
          </a:bodyPr>
          <a:lstStyle/>
          <a:p>
            <a:r>
              <a:rPr lang="en-US" dirty="0"/>
              <a:t>People who believe strongly in all-natural foods and medicines for them or their children</a:t>
            </a:r>
          </a:p>
          <a:p>
            <a:r>
              <a:rPr lang="en-US" dirty="0"/>
              <a:t>Religions that oppose vaccines</a:t>
            </a:r>
          </a:p>
          <a:p>
            <a:r>
              <a:rPr lang="en-US" dirty="0"/>
              <a:t>Mistrust in the authority of science and institutions affiliated with it</a:t>
            </a:r>
          </a:p>
          <a:p>
            <a:r>
              <a:rPr lang="en-US" dirty="0"/>
              <a:t>Cultural amnesia: when there is little cultural memory of diseases and their negative effects then vaccines may seem unnecessary</a:t>
            </a:r>
          </a:p>
          <a:p>
            <a:r>
              <a:rPr lang="en-US" dirty="0"/>
              <a:t>Political views that put individual choice above societal concerns</a:t>
            </a:r>
          </a:p>
          <a:p>
            <a:r>
              <a:rPr lang="en-US" dirty="0"/>
              <a:t>Distrust of power and events of history like colonialism or racism that make people unwilling to vaccinate</a:t>
            </a:r>
          </a:p>
          <a:p>
            <a:pPr marL="0" indent="0">
              <a:buNone/>
            </a:pPr>
            <a:endParaRPr lang="en-US" dirty="0"/>
          </a:p>
        </p:txBody>
      </p:sp>
    </p:spTree>
    <p:extLst>
      <p:ext uri="{BB962C8B-B14F-4D97-AF65-F5344CB8AC3E}">
        <p14:creationId xmlns:p14="http://schemas.microsoft.com/office/powerpoint/2010/main" val="1553750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4F05-BC22-4B5B-9A29-6F017B5BDB90}"/>
              </a:ext>
            </a:extLst>
          </p:cNvPr>
          <p:cNvSpPr>
            <a:spLocks noGrp="1"/>
          </p:cNvSpPr>
          <p:nvPr>
            <p:ph type="title"/>
          </p:nvPr>
        </p:nvSpPr>
        <p:spPr>
          <a:xfrm>
            <a:off x="838200" y="365125"/>
            <a:ext cx="10961914" cy="1325563"/>
          </a:xfrm>
        </p:spPr>
        <p:txBody>
          <a:bodyPr/>
          <a:lstStyle/>
          <a:p>
            <a:r>
              <a:rPr lang="en-US" dirty="0"/>
              <a:t>There is no link between vaccines and autism</a:t>
            </a:r>
          </a:p>
        </p:txBody>
      </p:sp>
      <p:sp>
        <p:nvSpPr>
          <p:cNvPr id="3" name="Content Placeholder 2">
            <a:extLst>
              <a:ext uri="{FF2B5EF4-FFF2-40B4-BE49-F238E27FC236}">
                <a16:creationId xmlns:a16="http://schemas.microsoft.com/office/drawing/2014/main" id="{B28CEACF-1E29-4295-B946-F23662BB54E9}"/>
              </a:ext>
            </a:extLst>
          </p:cNvPr>
          <p:cNvSpPr>
            <a:spLocks noGrp="1"/>
          </p:cNvSpPr>
          <p:nvPr>
            <p:ph idx="1"/>
          </p:nvPr>
        </p:nvSpPr>
        <p:spPr>
          <a:xfrm>
            <a:off x="838200" y="1825625"/>
            <a:ext cx="10961914" cy="4667250"/>
          </a:xfrm>
        </p:spPr>
        <p:txBody>
          <a:bodyPr>
            <a:normAutofit/>
          </a:bodyPr>
          <a:lstStyle/>
          <a:p>
            <a:r>
              <a:rPr lang="en-US" sz="3200" dirty="0"/>
              <a:t>Autism spectrum disorder (ASD) affects 2% of children in US. Since monitoring started 20 years ago, prevalence has increased </a:t>
            </a:r>
          </a:p>
          <a:p>
            <a:r>
              <a:rPr lang="en-US" sz="3200" dirty="0"/>
              <a:t>Recent studies have suggested that ASD most likely arises from interactions among genetic and prenatal environmental factors:</a:t>
            </a:r>
          </a:p>
          <a:p>
            <a:pPr lvl="1"/>
            <a:r>
              <a:rPr lang="en-US" sz="2800" dirty="0"/>
              <a:t>Mutations in genes may be inherited or arise spontaneously</a:t>
            </a:r>
          </a:p>
          <a:p>
            <a:pPr lvl="1"/>
            <a:r>
              <a:rPr lang="en-US" sz="2800" dirty="0"/>
              <a:t>Prenatal environmental exposures span infections, medications, complications during pregnancy, and exposure to air pollutants and other toxins, as well as maternal health conditions like obesity and diabetes during pregnancy</a:t>
            </a:r>
          </a:p>
          <a:p>
            <a:endParaRPr lang="en-US" dirty="0"/>
          </a:p>
        </p:txBody>
      </p:sp>
    </p:spTree>
    <p:extLst>
      <p:ext uri="{BB962C8B-B14F-4D97-AF65-F5344CB8AC3E}">
        <p14:creationId xmlns:p14="http://schemas.microsoft.com/office/powerpoint/2010/main" val="27706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2F25-E825-5ED7-8135-5F0066FB03C3}"/>
              </a:ext>
            </a:extLst>
          </p:cNvPr>
          <p:cNvSpPr>
            <a:spLocks noGrp="1"/>
          </p:cNvSpPr>
          <p:nvPr>
            <p:ph type="title"/>
          </p:nvPr>
        </p:nvSpPr>
        <p:spPr/>
        <p:txBody>
          <a:bodyPr/>
          <a:lstStyle/>
          <a:p>
            <a:r>
              <a:rPr lang="en-US" dirty="0"/>
              <a:t>Full global components of the Pfizer BioNTech mRNA Covid vaccine</a:t>
            </a:r>
          </a:p>
        </p:txBody>
      </p:sp>
      <p:sp>
        <p:nvSpPr>
          <p:cNvPr id="3" name="Content Placeholder 2">
            <a:extLst>
              <a:ext uri="{FF2B5EF4-FFF2-40B4-BE49-F238E27FC236}">
                <a16:creationId xmlns:a16="http://schemas.microsoft.com/office/drawing/2014/main" id="{C301FBCC-191E-5645-BF6C-FDEC00D01F8C}"/>
              </a:ext>
            </a:extLst>
          </p:cNvPr>
          <p:cNvSpPr>
            <a:spLocks noGrp="1"/>
          </p:cNvSpPr>
          <p:nvPr>
            <p:ph idx="1"/>
          </p:nvPr>
        </p:nvSpPr>
        <p:spPr/>
        <p:txBody>
          <a:bodyPr>
            <a:normAutofit/>
          </a:bodyPr>
          <a:lstStyle/>
          <a:p>
            <a:r>
              <a:rPr lang="en-US" dirty="0"/>
              <a:t>Genome sequencing of virus and its public release (China)</a:t>
            </a:r>
          </a:p>
          <a:p>
            <a:r>
              <a:rPr lang="en-US" dirty="0"/>
              <a:t>Refinement and verification of genomic sequence (Australia, US, Europe, Asia)</a:t>
            </a:r>
          </a:p>
          <a:p>
            <a:r>
              <a:rPr lang="en-US" dirty="0"/>
              <a:t>Initial research on mRNA vaccines conducted the National Institute of Health (US)</a:t>
            </a:r>
          </a:p>
          <a:p>
            <a:r>
              <a:rPr lang="en-US" dirty="0"/>
              <a:t>Clinical trials (US, Germany, Turkey, Argentina, Brazil, and South Africa)</a:t>
            </a:r>
          </a:p>
          <a:p>
            <a:r>
              <a:rPr lang="en-US" dirty="0"/>
              <a:t>Manufacturing (Belgium, Germany, US-Michigan):</a:t>
            </a:r>
          </a:p>
          <a:p>
            <a:r>
              <a:rPr lang="en-US" dirty="0"/>
              <a:t>Regulatory Approvals (Worldwide): Rapid, coordinated review by UK, EU, U.S., Canada, WHO, and many others enabled global rollout.</a:t>
            </a:r>
          </a:p>
        </p:txBody>
      </p:sp>
    </p:spTree>
    <p:extLst>
      <p:ext uri="{BB962C8B-B14F-4D97-AF65-F5344CB8AC3E}">
        <p14:creationId xmlns:p14="http://schemas.microsoft.com/office/powerpoint/2010/main" val="820572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6">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7397</TotalTime>
  <Words>620</Words>
  <Application>Microsoft Office PowerPoint</Application>
  <PresentationFormat>Widescreen</PresentationFormat>
  <Paragraphs>38</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If you aren’t coming to lecture on Monday and Wednesday mornings…</vt:lpstr>
      <vt:lpstr>Vaccines pit collective societal good versus individual interests</vt:lpstr>
      <vt:lpstr>Anti-vaxx sentiment is not new</vt:lpstr>
      <vt:lpstr>Reasons for hesitancy and anti-vaxxer attitudes </vt:lpstr>
      <vt:lpstr>There is no link between vaccines and autism</vt:lpstr>
      <vt:lpstr>Full global components of the Pfizer BioNTech mRNA Covid vaccine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Stallins</dc:creator>
  <cp:lastModifiedBy>Stallins, Jon A.</cp:lastModifiedBy>
  <cp:revision>373</cp:revision>
  <dcterms:created xsi:type="dcterms:W3CDTF">2019-06-04T15:15:14Z</dcterms:created>
  <dcterms:modified xsi:type="dcterms:W3CDTF">2025-11-12T11:09:34Z</dcterms:modified>
</cp:coreProperties>
</file>