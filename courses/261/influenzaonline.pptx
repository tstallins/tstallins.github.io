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sldIdLst>
    <p:sldId id="549" r:id="rId2"/>
    <p:sldId id="662" r:id="rId3"/>
    <p:sldId id="694" r:id="rId4"/>
    <p:sldId id="650" r:id="rId5"/>
    <p:sldId id="651" r:id="rId6"/>
    <p:sldId id="652" r:id="rId7"/>
    <p:sldId id="653" r:id="rId8"/>
    <p:sldId id="283" r:id="rId9"/>
    <p:sldId id="532" r:id="rId10"/>
    <p:sldId id="548" r:id="rId11"/>
    <p:sldId id="656" r:id="rId12"/>
    <p:sldId id="657" r:id="rId13"/>
    <p:sldId id="65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luenza intro" id="{D0B9CF4B-7C03-4680-9BD0-F89A2D50039F}">
          <p14:sldIdLst>
            <p14:sldId id="549"/>
            <p14:sldId id="662"/>
            <p14:sldId id="694"/>
          </p14:sldIdLst>
        </p14:section>
        <p14:section name="Cross immunity" id="{E0F4C4B5-47F0-41C3-A437-5640A3B91FE1}">
          <p14:sldIdLst>
            <p14:sldId id="650"/>
            <p14:sldId id="651"/>
            <p14:sldId id="652"/>
            <p14:sldId id="653"/>
          </p14:sldIdLst>
        </p14:section>
        <p14:section name="Influenza vaccines" id="{B7A51AC0-EB1E-4A02-AF24-022B81ACAC78}">
          <p14:sldIdLst>
            <p14:sldId id="283"/>
            <p14:sldId id="532"/>
            <p14:sldId id="548"/>
          </p14:sldIdLst>
        </p14:section>
        <p14:section name="Influenza surveillance and strategies for control" id="{2685447A-6DE4-45C2-A5F0-C34789566092}">
          <p14:sldIdLst>
            <p14:sldId id="656"/>
            <p14:sldId id="657"/>
            <p14:sldId id="65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766" autoAdjust="0"/>
    <p:restoredTop sz="76949" autoAdjust="0"/>
  </p:normalViewPr>
  <p:slideViewPr>
    <p:cSldViewPr snapToGrid="0">
      <p:cViewPr>
        <p:scale>
          <a:sx n="66" d="100"/>
          <a:sy n="66" d="100"/>
        </p:scale>
        <p:origin x="557" y="211"/>
      </p:cViewPr>
      <p:guideLst>
        <p:guide orient="horz" pos="2160"/>
        <p:guide pos="3840"/>
      </p:guideLst>
    </p:cSldViewPr>
  </p:slideViewPr>
  <p:outlineViewPr>
    <p:cViewPr>
      <p:scale>
        <a:sx n="33" d="100"/>
        <a:sy n="33" d="100"/>
      </p:scale>
      <p:origin x="0" y="-2458"/>
    </p:cViewPr>
  </p:outlineViewPr>
  <p:notesTextViewPr>
    <p:cViewPr>
      <p:scale>
        <a:sx n="3" d="2"/>
        <a:sy n="3" d="2"/>
      </p:scale>
      <p:origin x="0" y="0"/>
    </p:cViewPr>
  </p:notesTextViewPr>
  <p:sorterViewPr>
    <p:cViewPr>
      <p:scale>
        <a:sx n="50" d="100"/>
        <a:sy n="50" d="100"/>
      </p:scale>
      <p:origin x="0" y="-5136"/>
    </p:cViewPr>
  </p:sorterViewPr>
  <p:notesViewPr>
    <p:cSldViewPr snapToGrid="0" showGuides="1">
      <p:cViewPr varScale="1">
        <p:scale>
          <a:sx n="65" d="100"/>
          <a:sy n="65" d="100"/>
        </p:scale>
        <p:origin x="2299" y="4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BE3ACF-26CA-49C1-AA45-BB454D195848}" type="datetimeFigureOut">
              <a:rPr lang="en-US" smtClean="0"/>
              <a:pPr/>
              <a:t>9/22/2026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1E3B35-B373-4AA8-94EE-B3E16EF9EF81}" type="slidenum">
              <a:rPr lang="en-US" smtClean="0"/>
              <a:pPr/>
              <a:t>‹#›</a:t>
            </a:fld>
            <a:endParaRPr lang="en-US" dirty="0"/>
          </a:p>
        </p:txBody>
      </p:sp>
    </p:spTree>
    <p:extLst>
      <p:ext uri="{BB962C8B-B14F-4D97-AF65-F5344CB8AC3E}">
        <p14:creationId xmlns:p14="http://schemas.microsoft.com/office/powerpoint/2010/main" val="35944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flu is everywhere. It is in all countries, but at different times and seasons. </a:t>
            </a:r>
          </a:p>
          <a:p>
            <a:br>
              <a:rPr lang="en-US" dirty="0"/>
            </a:br>
            <a:r>
              <a:rPr lang="en-US" dirty="0"/>
              <a:t>Image is a flu virus. Like Covid, the influenza virus is an RNA virus. It has RNA as its genome instead of DNA. Some viruses have RNA, some have DNA.</a:t>
            </a:r>
          </a:p>
        </p:txBody>
      </p:sp>
      <p:sp>
        <p:nvSpPr>
          <p:cNvPr id="4" name="Slide Number Placeholder 3"/>
          <p:cNvSpPr>
            <a:spLocks noGrp="1"/>
          </p:cNvSpPr>
          <p:nvPr>
            <p:ph type="sldNum" sz="quarter" idx="5"/>
          </p:nvPr>
        </p:nvSpPr>
        <p:spPr/>
        <p:txBody>
          <a:bodyPr/>
          <a:lstStyle/>
          <a:p>
            <a:fld id="{A81E3B35-B373-4AA8-94EE-B3E16EF9EF81}" type="slidenum">
              <a:rPr lang="en-US" smtClean="0"/>
              <a:pPr/>
              <a:t>1</a:t>
            </a:fld>
            <a:endParaRPr lang="en-US" dirty="0"/>
          </a:p>
        </p:txBody>
      </p:sp>
    </p:spTree>
    <p:extLst>
      <p:ext uri="{BB962C8B-B14F-4D97-AF65-F5344CB8AC3E}">
        <p14:creationId xmlns:p14="http://schemas.microsoft.com/office/powerpoint/2010/main" val="371896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https://theconversation.com/what-is-the-ace2-receptor-how-is-it-connected-to-coronavirus-and-why-might-it-be-key-to-treating-covid-19-the-experts-explain-136928</a:t>
            </a:r>
            <a:br>
              <a:rPr lang="en-US" dirty="0"/>
            </a:br>
            <a:br>
              <a:rPr lang="en-US" dirty="0"/>
            </a:br>
            <a:r>
              <a:rPr lang="en-US" dirty="0"/>
              <a:t>Coronaviruses are from the family Coronaviridae, influenza viruses are from the family Orthomyxoviridae</a:t>
            </a:r>
            <a:br>
              <a:rPr lang="en-US" dirty="0"/>
            </a:br>
            <a:br>
              <a:rPr lang="en-US" dirty="0"/>
            </a:br>
            <a:r>
              <a:rPr lang="en-US" sz="1200" dirty="0">
                <a:latin typeface="HardingText-Regular"/>
              </a:rPr>
              <a:t>ACE2 is present in all people but the quantity can vary among individuals and in different tissues and cells. Some evidence suggests that ACE2 may be higher in patients with hypertension, diabetes and coronary heart disease</a:t>
            </a:r>
            <a:br>
              <a:rPr lang="en-US" sz="1200" dirty="0">
                <a:latin typeface="HardingText-Regular"/>
              </a:rPr>
            </a:br>
            <a:br>
              <a:rPr lang="en-US" sz="1200" dirty="0">
                <a:latin typeface="HardingText-Regular"/>
              </a:rPr>
            </a:br>
            <a:r>
              <a:rPr lang="en-US" dirty="0"/>
              <a:t>A horseshoe bat (</a:t>
            </a:r>
            <a:r>
              <a:rPr lang="en-US" i="1" dirty="0"/>
              <a:t>Rhinolophus affinis</a:t>
            </a:r>
            <a:r>
              <a:rPr lang="en-US" dirty="0"/>
              <a:t>) exits a cave at dusk, in Perak state in Malaysia, one of the countries where severe acute respiratory syndrome–related viruses may frequently infect people</a:t>
            </a:r>
          </a:p>
          <a:p>
            <a:endParaRPr lang="en-US" dirty="0"/>
          </a:p>
          <a:p>
            <a:r>
              <a:rPr lang="en-US" dirty="0"/>
              <a:t>https://www.science.org/content/article/sars-viruses-may-jump-animals-people-hundreds-thousands-times-year</a:t>
            </a:r>
          </a:p>
          <a:p>
            <a:endParaRPr lang="en-US" sz="1200" dirty="0">
              <a:latin typeface="HardingText-Regular"/>
            </a:endParaRPr>
          </a:p>
          <a:p>
            <a:endParaRPr lang="en-US" dirty="0"/>
          </a:p>
        </p:txBody>
      </p:sp>
      <p:sp>
        <p:nvSpPr>
          <p:cNvPr id="4" name="Slide Number Placeholder 3"/>
          <p:cNvSpPr>
            <a:spLocks noGrp="1"/>
          </p:cNvSpPr>
          <p:nvPr>
            <p:ph type="sldNum" sz="quarter" idx="5"/>
          </p:nvPr>
        </p:nvSpPr>
        <p:spPr/>
        <p:txBody>
          <a:bodyPr/>
          <a:lstStyle/>
          <a:p>
            <a:fld id="{7CE8AA4F-FE83-4E53-B972-CCAF774F6EE9}" type="slidenum">
              <a:rPr lang="en-US" smtClean="0"/>
              <a:t>2</a:t>
            </a:fld>
            <a:endParaRPr lang="en-US" dirty="0"/>
          </a:p>
        </p:txBody>
      </p:sp>
    </p:spTree>
    <p:extLst>
      <p:ext uri="{BB962C8B-B14F-4D97-AF65-F5344CB8AC3E}">
        <p14:creationId xmlns:p14="http://schemas.microsoft.com/office/powerpoint/2010/main" val="1801619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Participants in a morning versus an afternoon flu vaccine program had significantly higher antibody responses to two of three flu strains in the vaccine</a:t>
            </a:r>
          </a:p>
          <a:p>
            <a:endParaRPr lang="en-US" dirty="0"/>
          </a:p>
          <a:p>
            <a:r>
              <a:rPr lang="en-US" dirty="0"/>
              <a:t>There’s evidence of seasonal variation in the actions of human immune genes as well. In a massive analysis of blood and tissue samples from more than 10,000 people in Europe, the United States, Gambia, and Australia, researchers at the University of Cambridge found some 4000 genes related to immune function that had “seasonal expression profiles.” In one German cohort, expression in white blood cells of nearly one in four genes in the entire genome differed by the seasons. Genes in the Northern Hemisphere tended to switch on when they were switched off south of the equator, and vice versa.</a:t>
            </a:r>
          </a:p>
          <a:p>
            <a:endParaRPr lang="en-US" dirty="0"/>
          </a:p>
          <a:p>
            <a:r>
              <a:rPr lang="en-US" dirty="0"/>
              <a:t>https://www.sciencemag.org/news/2020/03/why-do-dozens-diseases-wax-and-wane-seasons-and-will-covid-19</a:t>
            </a:r>
          </a:p>
          <a:p>
            <a:endParaRPr lang="en-US" dirty="0"/>
          </a:p>
          <a:p>
            <a:r>
              <a:rPr lang="en-US" dirty="0"/>
              <a:t>Cohen, Jon. "Sick time." (2020): 1294-1297.</a:t>
            </a:r>
          </a:p>
          <a:p>
            <a:r>
              <a:rPr lang="en-US" dirty="0"/>
              <a:t>https://science.sciencemag.org/content/367/6484/1294.summary</a:t>
            </a:r>
          </a:p>
          <a:p>
            <a:endParaRPr lang="en-US" dirty="0"/>
          </a:p>
        </p:txBody>
      </p:sp>
      <p:sp>
        <p:nvSpPr>
          <p:cNvPr id="4" name="Slide Number Placeholder 3"/>
          <p:cNvSpPr>
            <a:spLocks noGrp="1"/>
          </p:cNvSpPr>
          <p:nvPr>
            <p:ph type="sldNum" sz="quarter" idx="5"/>
          </p:nvPr>
        </p:nvSpPr>
        <p:spPr/>
        <p:txBody>
          <a:bodyPr/>
          <a:lstStyle/>
          <a:p>
            <a:fld id="{A81E3B35-B373-4AA8-94EE-B3E16EF9EF81}" type="slidenum">
              <a:rPr lang="en-US" smtClean="0"/>
              <a:pPr/>
              <a:t>3</a:t>
            </a:fld>
            <a:endParaRPr lang="en-US" dirty="0"/>
          </a:p>
        </p:txBody>
      </p:sp>
    </p:spTree>
    <p:extLst>
      <p:ext uri="{BB962C8B-B14F-4D97-AF65-F5344CB8AC3E}">
        <p14:creationId xmlns:p14="http://schemas.microsoft.com/office/powerpoint/2010/main" val="7956005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All A and B influenza evolved from a common ancestor. </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10.1126/science.aak9816</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As for potential imprinting mechanisms, favored explanation is the role of antibodies directed toward the base of the HA protein called the HA stem</a:t>
            </a:r>
          </a:p>
          <a:p>
            <a:endParaRPr lang="en-US" sz="1200" b="0" i="0" u="none" strike="noStrike" kern="1200" baseline="0" dirty="0">
              <a:solidFill>
                <a:schemeClr val="tx1"/>
              </a:solidFill>
              <a:latin typeface="+mn-lt"/>
              <a:ea typeface="+mn-ea"/>
              <a:cs typeface="+mn-cs"/>
            </a:endParaRPr>
          </a:p>
          <a:p>
            <a:endParaRPr lang="en-US" dirty="0"/>
          </a:p>
          <a:p>
            <a:endParaRPr lang="en-US"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A81E3B35-B373-4AA8-94EE-B3E16EF9EF81}" type="slidenum">
              <a:rPr lang="en-US" smtClean="0"/>
              <a:pPr/>
              <a:t>4</a:t>
            </a:fld>
            <a:endParaRPr lang="en-US" dirty="0"/>
          </a:p>
        </p:txBody>
      </p:sp>
    </p:spTree>
    <p:extLst>
      <p:ext uri="{BB962C8B-B14F-4D97-AF65-F5344CB8AC3E}">
        <p14:creationId xmlns:p14="http://schemas.microsoft.com/office/powerpoint/2010/main" val="2585933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Remember, this is for A viruses only</a:t>
            </a:r>
            <a:br>
              <a:rPr lang="en-US" dirty="0"/>
            </a:br>
            <a:br>
              <a:rPr lang="en-US" dirty="0"/>
            </a:br>
            <a:r>
              <a:rPr lang="en-US" dirty="0"/>
              <a:t>For example, if your first influenza exposure was to H1N1 or H2N2 (Group1) - you may carry some degree of immunity to the H5 viruses (H5N1, H5N6, etc.). If, however, your first exposure was to H3N2 (Group 2), you may carry some protection against H7N9 instead.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A81E3B35-B373-4AA8-94EE-B3E16EF9EF81}" type="slidenum">
              <a:rPr lang="en-US" smtClean="0"/>
              <a:pPr/>
              <a:t>5</a:t>
            </a:fld>
            <a:endParaRPr lang="en-US" dirty="0"/>
          </a:p>
        </p:txBody>
      </p:sp>
    </p:spTree>
    <p:extLst>
      <p:ext uri="{BB962C8B-B14F-4D97-AF65-F5344CB8AC3E}">
        <p14:creationId xmlns:p14="http://schemas.microsoft.com/office/powerpoint/2010/main" val="253718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most seasonal influenza epidemics, children and the elderly are usually the highest risk populations. </a:t>
            </a:r>
            <a:br>
              <a:rPr lang="en-US" dirty="0"/>
            </a:br>
            <a:br>
              <a:rPr lang="en-US" dirty="0"/>
            </a:br>
            <a:r>
              <a:rPr lang="en-US" dirty="0"/>
              <a:t>This was not true</a:t>
            </a:r>
            <a:r>
              <a:rPr lang="en-US" baseline="0" dirty="0"/>
              <a:t> in the 1918 pandemic.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W-shaped plot of mortality – not just due to a lot of young adults engaged in WW1,</a:t>
            </a:r>
            <a:r>
              <a:rPr lang="en-US" baseline="0" dirty="0"/>
              <a:t> </a:t>
            </a:r>
            <a:r>
              <a:rPr lang="en-US" dirty="0"/>
              <a:t>although</a:t>
            </a:r>
            <a:r>
              <a:rPr lang="en-US" baseline="0" dirty="0"/>
              <a:t> the war effort played a role in the dispersal of the virus globally. This age group likely did not have an imprinting on a HA group 1 virus. </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baseline="0" dirty="0"/>
            </a:br>
            <a:endParaRPr lang="en-US" dirty="0"/>
          </a:p>
          <a:p>
            <a:r>
              <a:rPr lang="pt-BR" sz="1200" b="0" i="0" u="none" strike="noStrike" kern="1200" baseline="0" dirty="0">
                <a:solidFill>
                  <a:schemeClr val="tx1"/>
                </a:solidFill>
                <a:latin typeface="+mn-lt"/>
                <a:ea typeface="+mn-ea"/>
                <a:cs typeface="+mn-cs"/>
              </a:rPr>
              <a:t>Antiviral Res 2013;99:417-35. doi: 10.1016/j.antiviral.2013.06.018.</a:t>
            </a:r>
          </a:p>
          <a:p>
            <a:endParaRPr lang="pt-BR" sz="1200" b="0" i="0" u="none" strike="noStrike" kern="1200" baseline="0" dirty="0">
              <a:solidFill>
                <a:schemeClr val="tx1"/>
              </a:solidFill>
              <a:latin typeface="+mn-lt"/>
              <a:ea typeface="+mn-ea"/>
              <a:cs typeface="+mn-cs"/>
            </a:endParaRPr>
          </a:p>
          <a:p>
            <a:endParaRPr lang="pt-BR" sz="1200" b="0" i="0"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A81E3B35-B373-4AA8-94EE-B3E16EF9EF81}" type="slidenum">
              <a:rPr lang="en-US" smtClean="0"/>
              <a:pPr/>
              <a:t>6</a:t>
            </a:fld>
            <a:endParaRPr lang="en-US" dirty="0"/>
          </a:p>
        </p:txBody>
      </p:sp>
    </p:spTree>
    <p:extLst>
      <p:ext uri="{BB962C8B-B14F-4D97-AF65-F5344CB8AC3E}">
        <p14:creationId xmlns:p14="http://schemas.microsoft.com/office/powerpoint/2010/main" val="2746603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A81E3B35-B373-4AA8-94EE-B3E16EF9EF81}" type="slidenum">
              <a:rPr lang="en-US" smtClean="0"/>
              <a:pPr/>
              <a:t>7</a:t>
            </a:fld>
            <a:endParaRPr lang="en-US" dirty="0"/>
          </a:p>
        </p:txBody>
      </p:sp>
    </p:spTree>
    <p:extLst>
      <p:ext uri="{BB962C8B-B14F-4D97-AF65-F5344CB8AC3E}">
        <p14:creationId xmlns:p14="http://schemas.microsoft.com/office/powerpoint/2010/main" val="2864315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https://www.cdc.gov/flu/season/flu-season-2019-2020.htm</a:t>
            </a:r>
          </a:p>
          <a:p>
            <a:endParaRPr lang="en-US" dirty="0"/>
          </a:p>
          <a:p>
            <a:endParaRPr lang="en-US" dirty="0"/>
          </a:p>
        </p:txBody>
      </p:sp>
      <p:sp>
        <p:nvSpPr>
          <p:cNvPr id="4" name="Slide Number Placeholder 3"/>
          <p:cNvSpPr>
            <a:spLocks noGrp="1"/>
          </p:cNvSpPr>
          <p:nvPr>
            <p:ph type="sldNum" sz="quarter" idx="10"/>
          </p:nvPr>
        </p:nvSpPr>
        <p:spPr/>
        <p:txBody>
          <a:bodyPr/>
          <a:lstStyle/>
          <a:p>
            <a:fld id="{A81E3B35-B373-4AA8-94EE-B3E16EF9EF81}" type="slidenum">
              <a:rPr lang="en-US" smtClean="0"/>
              <a:pPr/>
              <a:t>8</a:t>
            </a:fld>
            <a:endParaRPr lang="en-US" dirty="0"/>
          </a:p>
        </p:txBody>
      </p:sp>
    </p:spTree>
    <p:extLst>
      <p:ext uri="{BB962C8B-B14F-4D97-AF65-F5344CB8AC3E}">
        <p14:creationId xmlns:p14="http://schemas.microsoft.com/office/powerpoint/2010/main" val="540420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impressive feat of biologic manufacturing</a:t>
            </a:r>
            <a:r>
              <a:rPr lang="en-US" baseline="0" dirty="0"/>
              <a:t> </a:t>
            </a:r>
            <a:r>
              <a:rPr lang="en-US" dirty="0"/>
              <a:t>something for which Big Pharma gets little credit. </a:t>
            </a:r>
          </a:p>
          <a:p>
            <a:endParaRPr lang="en-US" dirty="0"/>
          </a:p>
          <a:p>
            <a:r>
              <a:rPr lang="en-US" dirty="0"/>
              <a:t>Sanofi Pasteur</a:t>
            </a:r>
            <a:r>
              <a:rPr lang="en-US" baseline="0" dirty="0"/>
              <a:t> is </a:t>
            </a:r>
            <a:r>
              <a:rPr lang="en-US" dirty="0"/>
              <a:t>the world's largest manufacturer of influenza (flu) vaccines</a:t>
            </a:r>
          </a:p>
          <a:p>
            <a:endParaRPr lang="en-US" dirty="0"/>
          </a:p>
          <a:p>
            <a:r>
              <a:rPr lang="en-US" dirty="0"/>
              <a:t>The production and distribution process for a new vaccine takes about six months, however, during which time the circulating strains may shape-shift again. If the vaccines end up matching a given season’s viruses closely, they are up to 60 percent effective at preventing illness, the C.D.C. estimates; when they don’t, their effectiveness has been as low as 10 percent.</a:t>
            </a:r>
          </a:p>
        </p:txBody>
      </p:sp>
      <p:sp>
        <p:nvSpPr>
          <p:cNvPr id="4" name="Slide Number Placeholder 3"/>
          <p:cNvSpPr>
            <a:spLocks noGrp="1"/>
          </p:cNvSpPr>
          <p:nvPr>
            <p:ph type="sldNum" sz="quarter" idx="10"/>
          </p:nvPr>
        </p:nvSpPr>
        <p:spPr/>
        <p:txBody>
          <a:bodyPr/>
          <a:lstStyle/>
          <a:p>
            <a:fld id="{A81E3B35-B373-4AA8-94EE-B3E16EF9EF81}" type="slidenum">
              <a:rPr lang="en-US" smtClean="0"/>
              <a:pPr/>
              <a:t>9</a:t>
            </a:fld>
            <a:endParaRPr lang="en-US" dirty="0"/>
          </a:p>
        </p:txBody>
      </p:sp>
    </p:spTree>
    <p:extLst>
      <p:ext uri="{BB962C8B-B14F-4D97-AF65-F5344CB8AC3E}">
        <p14:creationId xmlns:p14="http://schemas.microsoft.com/office/powerpoint/2010/main" val="28972436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Zheng, Y., Rodewald, L., Yang, J., Qin, Y., Pang, M., Feng, L., &amp; Yu, H. (2018). The landscape of vaccines in China: history, classification, supply, and price. </a:t>
            </a:r>
            <a:r>
              <a:rPr lang="en-US" i="1" dirty="0"/>
              <a:t>BMC Infectious Diseases</a:t>
            </a:r>
            <a:r>
              <a:rPr lang="en-US" dirty="0"/>
              <a:t>, </a:t>
            </a:r>
            <a:r>
              <a:rPr lang="en-US" i="1" dirty="0"/>
              <a:t>18</a:t>
            </a:r>
            <a:r>
              <a:rPr lang="en-US" dirty="0"/>
              <a:t>(1), 1-8.</a:t>
            </a:r>
            <a:br>
              <a:rPr lang="en-US" dirty="0"/>
            </a:br>
            <a:br>
              <a:rPr lang="en-US" dirty="0"/>
            </a:br>
            <a:r>
              <a:rPr lang="en-US" dirty="0"/>
              <a:t>https://doi.org/10.1186/s12879-018-3422-0</a:t>
            </a:r>
          </a:p>
          <a:p>
            <a:endParaRPr lang="en-US" dirty="0"/>
          </a:p>
          <a:p>
            <a:r>
              <a:rPr lang="en-US" dirty="0"/>
              <a:t>Vaccine Preventable Diseases (VPDs) for national immunization program vaccines in China, US, UK, Russia, Brazil, India and South Africa. VPDs indicated with green are EPI vaccines in the respective countries. Gold indicates diseases prevented by national programs in the UK, US, Russia, or Brazil’s NIP but whose vaccines are not included in China’s EPI system. </a:t>
            </a:r>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A81E3B35-B373-4AA8-94EE-B3E16EF9EF81}" type="slidenum">
              <a:rPr lang="en-US" smtClean="0"/>
              <a:pPr/>
              <a:t>10</a:t>
            </a:fld>
            <a:endParaRPr lang="en-US" dirty="0"/>
          </a:p>
        </p:txBody>
      </p:sp>
    </p:spTree>
    <p:extLst>
      <p:ext uri="{BB962C8B-B14F-4D97-AF65-F5344CB8AC3E}">
        <p14:creationId xmlns:p14="http://schemas.microsoft.com/office/powerpoint/2010/main" val="1222322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https://www.youtube.com/shorts/1DDF2p7jAHE</a:t>
            </a:r>
            <a:br>
              <a:rPr lang="en-US" dirty="0"/>
            </a:br>
            <a:br>
              <a:rPr lang="en-US" dirty="0"/>
            </a:br>
            <a:r>
              <a:rPr lang="en-US" dirty="0"/>
              <a:t>Pratha Sah et al. Future epidemiological and economic impacts of universal influenza vaccines, Proceedings of the National Academy of Sciences (2019). DOI: 10.1073/pnas.1909613116</a:t>
            </a:r>
          </a:p>
          <a:p>
            <a:endParaRPr lang="en-US" dirty="0"/>
          </a:p>
          <a:p>
            <a:r>
              <a:rPr lang="en-US" dirty="0"/>
              <a:t>https://www.nih.gov/news-events/news-releases/nih-begins-first-human-trial-universal-influenza-vaccine-candidate</a:t>
            </a:r>
          </a:p>
          <a:p>
            <a:endParaRPr lang="en-US" dirty="0"/>
          </a:p>
          <a:p>
            <a:r>
              <a:rPr lang="en-US" dirty="0"/>
              <a:t>https://www.pbs.org/newshour/show/how-close-are-scientists-to-a-universal-flu-vaccine</a:t>
            </a:r>
          </a:p>
        </p:txBody>
      </p:sp>
      <p:sp>
        <p:nvSpPr>
          <p:cNvPr id="4" name="Slide Number Placeholder 3"/>
          <p:cNvSpPr>
            <a:spLocks noGrp="1"/>
          </p:cNvSpPr>
          <p:nvPr>
            <p:ph type="sldNum" sz="quarter" idx="10"/>
          </p:nvPr>
        </p:nvSpPr>
        <p:spPr/>
        <p:txBody>
          <a:bodyPr/>
          <a:lstStyle/>
          <a:p>
            <a:fld id="{A81E3B35-B373-4AA8-94EE-B3E16EF9EF81}" type="slidenum">
              <a:rPr lang="en-US" smtClean="0"/>
              <a:pPr/>
              <a:t>11</a:t>
            </a:fld>
            <a:endParaRPr lang="en-US" dirty="0"/>
          </a:p>
        </p:txBody>
      </p:sp>
    </p:spTree>
    <p:extLst>
      <p:ext uri="{BB962C8B-B14F-4D97-AF65-F5344CB8AC3E}">
        <p14:creationId xmlns:p14="http://schemas.microsoft.com/office/powerpoint/2010/main" val="35021959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fr-FR" sz="1200" b="0" i="0" u="none" strike="noStrike" kern="1200" baseline="0" dirty="0">
                <a:solidFill>
                  <a:schemeClr val="tx1"/>
                </a:solidFill>
                <a:latin typeface="+mn-lt"/>
                <a:ea typeface="+mn-ea"/>
                <a:cs typeface="+mn-cs"/>
              </a:rPr>
              <a:t>Laursen, N. S. </a:t>
            </a:r>
            <a:r>
              <a:rPr lang="fr-FR" sz="1200" b="0" i="1" u="none" strike="noStrike" kern="1200" baseline="0" dirty="0">
                <a:solidFill>
                  <a:schemeClr val="tx1"/>
                </a:solidFill>
                <a:latin typeface="+mn-lt"/>
                <a:ea typeface="+mn-ea"/>
                <a:cs typeface="+mn-cs"/>
              </a:rPr>
              <a:t>et al. Science </a:t>
            </a:r>
            <a:r>
              <a:rPr lang="fr-FR" sz="1200" b="0" i="0" u="none" strike="noStrike" kern="1200" baseline="0" dirty="0">
                <a:solidFill>
                  <a:schemeClr val="tx1"/>
                </a:solidFill>
                <a:latin typeface="+mn-lt"/>
                <a:ea typeface="+mn-ea"/>
                <a:cs typeface="+mn-cs"/>
              </a:rPr>
              <a:t>362, 598–602 (2018)</a:t>
            </a:r>
          </a:p>
          <a:p>
            <a:endParaRPr lang="fr-FR" sz="1200" b="0" i="0" u="none" strike="noStrike" kern="1200" baseline="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HA proteins have a thin stem and a rounded head, like a lollipop. The head is the part of the protein that binds to our cells, whereas the stem contains the machinery to fuse the viral and cell membranes, making possible the transfer of genetic material. The HA head tends to be the structure our immune system — on its own or prompted by a vaccine — recognizes as an invader and for which it produces neutralizing antibodies.  The immune system normally responds to influenza virus by making neutralizing antibodies to regions of the viral spike, the hemagglutinin, that vary year to year. This natural response protects against circulating subtypes but necessitates production of new vaccines annually. </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We thought the surface of the flu virus was infinitely variable. But actually, there are some places that rarely change drastically – the stem. By using the stem of the virus to make a vaccine, a vaccine can be immune to many different types of influenza A viruses.  Newer vaccine approaches have succeeded in eliciting broadly neutralizing antibodies to highly conserved yet vulnerable stem regions of the hemagglutinin and suggest potential pathways for the development of universal influenza vaccines.</a:t>
            </a:r>
          </a:p>
          <a:p>
            <a:br>
              <a:rPr lang="fr-FR" sz="1200" b="0" i="0" u="none" strike="noStrike" kern="1200" baseline="0" dirty="0">
                <a:solidFill>
                  <a:schemeClr val="tx1"/>
                </a:solidFill>
                <a:latin typeface="+mn-lt"/>
                <a:ea typeface="+mn-ea"/>
                <a:cs typeface="+mn-cs"/>
              </a:rPr>
            </a:br>
            <a:endParaRPr lang="en-US" dirty="0"/>
          </a:p>
          <a:p>
            <a:endParaRPr lang="en-US" dirty="0"/>
          </a:p>
        </p:txBody>
      </p:sp>
      <p:sp>
        <p:nvSpPr>
          <p:cNvPr id="4" name="Slide Number Placeholder 3"/>
          <p:cNvSpPr>
            <a:spLocks noGrp="1"/>
          </p:cNvSpPr>
          <p:nvPr>
            <p:ph type="sldNum" sz="quarter" idx="10"/>
          </p:nvPr>
        </p:nvSpPr>
        <p:spPr/>
        <p:txBody>
          <a:bodyPr/>
          <a:lstStyle/>
          <a:p>
            <a:fld id="{A81E3B35-B373-4AA8-94EE-B3E16EF9EF81}" type="slidenum">
              <a:rPr lang="en-US" smtClean="0"/>
              <a:pPr/>
              <a:t>12</a:t>
            </a:fld>
            <a:endParaRPr lang="en-US" dirty="0"/>
          </a:p>
        </p:txBody>
      </p:sp>
    </p:spTree>
    <p:extLst>
      <p:ext uri="{BB962C8B-B14F-4D97-AF65-F5344CB8AC3E}">
        <p14:creationId xmlns:p14="http://schemas.microsoft.com/office/powerpoint/2010/main" val="285082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approaches can be critical of the big ‘moon-shot’ approaches to develop single bullet solutions. But they don’t always have to be. Both top-down and bottom-up solutions are needed.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https://www.lfchd.org/2021fluseason/</a:t>
            </a:r>
          </a:p>
          <a:p>
            <a:endParaRPr lang="en-US" dirty="0"/>
          </a:p>
        </p:txBody>
      </p:sp>
      <p:sp>
        <p:nvSpPr>
          <p:cNvPr id="4" name="Slide Number Placeholder 3"/>
          <p:cNvSpPr>
            <a:spLocks noGrp="1"/>
          </p:cNvSpPr>
          <p:nvPr>
            <p:ph type="sldNum" sz="quarter" idx="10"/>
          </p:nvPr>
        </p:nvSpPr>
        <p:spPr/>
        <p:txBody>
          <a:bodyPr/>
          <a:lstStyle/>
          <a:p>
            <a:fld id="{A81E3B35-B373-4AA8-94EE-B3E16EF9EF81}" type="slidenum">
              <a:rPr lang="en-US" smtClean="0"/>
              <a:pPr/>
              <a:t>13</a:t>
            </a:fld>
            <a:endParaRPr lang="en-US" dirty="0"/>
          </a:p>
        </p:txBody>
      </p:sp>
    </p:spTree>
    <p:extLst>
      <p:ext uri="{BB962C8B-B14F-4D97-AF65-F5344CB8AC3E}">
        <p14:creationId xmlns:p14="http://schemas.microsoft.com/office/powerpoint/2010/main" val="3763423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7400216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313118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1334527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72848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2445776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167788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1716852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798797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25995012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26771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6C1908-0705-45BA-98D8-B9463C496091}" type="datetimeFigureOut">
              <a:rPr lang="en-US" smtClean="0"/>
              <a:pPr/>
              <a:t>9/22/2026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2787800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6C1908-0705-45BA-98D8-B9463C496091}" type="datetimeFigureOut">
              <a:rPr lang="en-US" smtClean="0"/>
              <a:pPr/>
              <a:t>9/22/2026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64B95-A5ED-4542-B0ED-4E94E79A3159}" type="slidenum">
              <a:rPr lang="en-US" smtClean="0"/>
              <a:pPr/>
              <a:t>‹#›</a:t>
            </a:fld>
            <a:endParaRPr lang="en-US" dirty="0"/>
          </a:p>
        </p:txBody>
      </p:sp>
    </p:spTree>
    <p:extLst>
      <p:ext uri="{BB962C8B-B14F-4D97-AF65-F5344CB8AC3E}">
        <p14:creationId xmlns:p14="http://schemas.microsoft.com/office/powerpoint/2010/main" val="38677042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shorts/1DDF2p7jAHE"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D6C07A-A52D-489D-962F-FEE77B2BC180}"/>
              </a:ext>
            </a:extLst>
          </p:cNvPr>
          <p:cNvSpPr>
            <a:spLocks noGrp="1"/>
          </p:cNvSpPr>
          <p:nvPr>
            <p:ph idx="1"/>
          </p:nvPr>
        </p:nvSpPr>
        <p:spPr>
          <a:xfrm>
            <a:off x="338668" y="494270"/>
            <a:ext cx="4702890" cy="6527483"/>
          </a:xfrm>
        </p:spPr>
        <p:txBody>
          <a:bodyPr>
            <a:normAutofit/>
          </a:bodyPr>
          <a:lstStyle/>
          <a:p>
            <a:r>
              <a:rPr lang="en-US" dirty="0"/>
              <a:t>Spreads via aerosols from human-to-human, animal- to-human, and human-to-animal contact </a:t>
            </a:r>
          </a:p>
          <a:p>
            <a:r>
              <a:rPr lang="en-US" dirty="0"/>
              <a:t>Fewer than half of Americans get a flu shot each season</a:t>
            </a:r>
          </a:p>
          <a:p>
            <a:r>
              <a:rPr lang="en-US" dirty="0"/>
              <a:t>When the vaccine is similar to circulating flu viruses, vaccinations reduce risk of going to doctor by 40-60%. </a:t>
            </a:r>
          </a:p>
          <a:p>
            <a:r>
              <a:rPr lang="en-US" dirty="0"/>
              <a:t>No cure, only vaccines that lessen severity of the flu and drugs that can slow viral replication</a:t>
            </a:r>
          </a:p>
        </p:txBody>
      </p:sp>
      <p:pic>
        <p:nvPicPr>
          <p:cNvPr id="4" name="Picture 3" descr="A picture containing cake, indoor, table, photo&#10;&#10;Description automatically generated">
            <a:extLst>
              <a:ext uri="{FF2B5EF4-FFF2-40B4-BE49-F238E27FC236}">
                <a16:creationId xmlns:a16="http://schemas.microsoft.com/office/drawing/2014/main" id="{4DD4FBAA-F2C2-47E2-ACE8-56AF1CBAA44D}"/>
              </a:ext>
            </a:extLst>
          </p:cNvPr>
          <p:cNvPicPr>
            <a:picLocks noChangeAspect="1"/>
          </p:cNvPicPr>
          <p:nvPr/>
        </p:nvPicPr>
        <p:blipFill rotWithShape="1">
          <a:blip r:embed="rId3">
            <a:extLst>
              <a:ext uri="{28A0092B-C50C-407E-A947-70E740481C1C}">
                <a14:useLocalDpi xmlns:a14="http://schemas.microsoft.com/office/drawing/2010/main" val="0"/>
              </a:ext>
            </a:extLst>
          </a:blip>
          <a:srcRect r="16721"/>
          <a:stretch/>
        </p:blipFill>
        <p:spPr>
          <a:xfrm>
            <a:off x="5830787" y="1570847"/>
            <a:ext cx="5403277" cy="5450906"/>
          </a:xfrm>
          <a:prstGeom prst="rect">
            <a:avLst/>
          </a:prstGeom>
        </p:spPr>
      </p:pic>
      <p:sp>
        <p:nvSpPr>
          <p:cNvPr id="2" name="Title 1">
            <a:extLst>
              <a:ext uri="{FF2B5EF4-FFF2-40B4-BE49-F238E27FC236}">
                <a16:creationId xmlns:a16="http://schemas.microsoft.com/office/drawing/2014/main" id="{38D0A675-211F-A548-DBCC-68E0F33D05B1}"/>
              </a:ext>
            </a:extLst>
          </p:cNvPr>
          <p:cNvSpPr>
            <a:spLocks noGrp="1"/>
          </p:cNvSpPr>
          <p:nvPr>
            <p:ph type="title"/>
          </p:nvPr>
        </p:nvSpPr>
        <p:spPr>
          <a:xfrm>
            <a:off x="5266266" y="365125"/>
            <a:ext cx="6087533" cy="1325563"/>
          </a:xfrm>
        </p:spPr>
        <p:txBody>
          <a:bodyPr>
            <a:normAutofit/>
          </a:bodyPr>
          <a:lstStyle/>
          <a:p>
            <a:pPr algn="ctr"/>
            <a:r>
              <a:rPr lang="en-US" dirty="0"/>
              <a:t>Influenza</a:t>
            </a:r>
          </a:p>
        </p:txBody>
      </p:sp>
    </p:spTree>
    <p:extLst>
      <p:ext uri="{BB962C8B-B14F-4D97-AF65-F5344CB8AC3E}">
        <p14:creationId xmlns:p14="http://schemas.microsoft.com/office/powerpoint/2010/main" val="24239518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66737-8FE3-4219-9FC8-B45FCC8D8B51}"/>
              </a:ext>
            </a:extLst>
          </p:cNvPr>
          <p:cNvSpPr>
            <a:spLocks noGrp="1"/>
          </p:cNvSpPr>
          <p:nvPr>
            <p:ph type="title"/>
          </p:nvPr>
        </p:nvSpPr>
        <p:spPr>
          <a:xfrm>
            <a:off x="104503" y="274300"/>
            <a:ext cx="5656216" cy="1325563"/>
          </a:xfrm>
        </p:spPr>
        <p:txBody>
          <a:bodyPr>
            <a:normAutofit/>
          </a:bodyPr>
          <a:lstStyle/>
          <a:p>
            <a:pPr algn="ctr"/>
            <a:r>
              <a:rPr lang="en-US" dirty="0"/>
              <a:t>Influenza viruses vs coronaviruses</a:t>
            </a:r>
          </a:p>
        </p:txBody>
      </p:sp>
      <p:sp>
        <p:nvSpPr>
          <p:cNvPr id="3" name="Content Placeholder 2">
            <a:extLst>
              <a:ext uri="{FF2B5EF4-FFF2-40B4-BE49-F238E27FC236}">
                <a16:creationId xmlns:a16="http://schemas.microsoft.com/office/drawing/2014/main" id="{BD509138-6818-4C53-8310-434D945F20B6}"/>
              </a:ext>
            </a:extLst>
          </p:cNvPr>
          <p:cNvSpPr>
            <a:spLocks noGrp="1"/>
          </p:cNvSpPr>
          <p:nvPr>
            <p:ph idx="1"/>
          </p:nvPr>
        </p:nvSpPr>
        <p:spPr>
          <a:xfrm>
            <a:off x="448492" y="1808254"/>
            <a:ext cx="5181599" cy="4818003"/>
          </a:xfrm>
        </p:spPr>
        <p:txBody>
          <a:bodyPr>
            <a:normAutofit fontScale="92500" lnSpcReduction="10000"/>
          </a:bodyPr>
          <a:lstStyle/>
          <a:p>
            <a:r>
              <a:rPr lang="en-US" dirty="0">
                <a:latin typeface="+mj-lt"/>
              </a:rPr>
              <a:t>Different taxonomic viral families with contrasts in what kind of human host cells they infect and use to reproduce</a:t>
            </a:r>
            <a:endParaRPr lang="en-US" b="0" i="0" u="none" strike="noStrike" baseline="0" dirty="0">
              <a:latin typeface="+mj-lt"/>
            </a:endParaRPr>
          </a:p>
          <a:p>
            <a:r>
              <a:rPr lang="en-US" dirty="0">
                <a:latin typeface="+mj-lt"/>
              </a:rPr>
              <a:t>Influenza’s main impact is on the lungs, coronaviruses impact all major organs </a:t>
            </a:r>
          </a:p>
          <a:p>
            <a:r>
              <a:rPr lang="en-US" b="0" i="0" u="none" strike="noStrike" baseline="0" dirty="0">
                <a:latin typeface="+mj-lt"/>
              </a:rPr>
              <a:t>Influenza viruses exhibit mutation (drift) and reassortment (shift) up to three times more often than coronaviruses do.</a:t>
            </a:r>
          </a:p>
          <a:p>
            <a:r>
              <a:rPr lang="en-US" dirty="0">
                <a:latin typeface="+mj-lt"/>
              </a:rPr>
              <a:t>Bats are a major, but not exclusive, reservoir for coronaviruses</a:t>
            </a:r>
          </a:p>
          <a:p>
            <a:endParaRPr lang="en-US" sz="2000" dirty="0">
              <a:latin typeface="+mj-lt"/>
            </a:endParaRPr>
          </a:p>
          <a:p>
            <a:pPr algn="l"/>
            <a:endParaRPr lang="en-US" dirty="0"/>
          </a:p>
        </p:txBody>
      </p:sp>
      <p:pic>
        <p:nvPicPr>
          <p:cNvPr id="4" name="Content Placeholder 4" descr="A close-up of an elephant&#10;&#10;Description automatically generated with medium confidence">
            <a:extLst>
              <a:ext uri="{FF2B5EF4-FFF2-40B4-BE49-F238E27FC236}">
                <a16:creationId xmlns:a16="http://schemas.microsoft.com/office/drawing/2014/main" id="{FDA0D1D0-0A8A-1FB5-6BFE-750A4F31AE9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5460" r="4030"/>
          <a:stretch/>
        </p:blipFill>
        <p:spPr>
          <a:xfrm>
            <a:off x="5891347" y="231743"/>
            <a:ext cx="5852161" cy="6394514"/>
          </a:xfrm>
          <a:prstGeom prst="rect">
            <a:avLst/>
          </a:prstGeom>
        </p:spPr>
      </p:pic>
    </p:spTree>
    <p:extLst>
      <p:ext uri="{BB962C8B-B14F-4D97-AF65-F5344CB8AC3E}">
        <p14:creationId xmlns:p14="http://schemas.microsoft.com/office/powerpoint/2010/main" val="819911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40632-8621-4B43-B32F-D237CA1EAF45}"/>
              </a:ext>
            </a:extLst>
          </p:cNvPr>
          <p:cNvSpPr>
            <a:spLocks noGrp="1"/>
          </p:cNvSpPr>
          <p:nvPr>
            <p:ph type="title"/>
          </p:nvPr>
        </p:nvSpPr>
        <p:spPr>
          <a:xfrm>
            <a:off x="5591330" y="365125"/>
            <a:ext cx="5762469" cy="1325563"/>
          </a:xfrm>
        </p:spPr>
        <p:txBody>
          <a:bodyPr/>
          <a:lstStyle/>
          <a:p>
            <a:r>
              <a:rPr lang="en-US" dirty="0"/>
              <a:t>Influenza seasonality</a:t>
            </a:r>
          </a:p>
        </p:txBody>
      </p:sp>
      <p:sp>
        <p:nvSpPr>
          <p:cNvPr id="3" name="Content Placeholder 2">
            <a:extLst>
              <a:ext uri="{FF2B5EF4-FFF2-40B4-BE49-F238E27FC236}">
                <a16:creationId xmlns:a16="http://schemas.microsoft.com/office/drawing/2014/main" id="{55FDDE2B-ABD5-4F28-B7C2-F5C54303C2C5}"/>
              </a:ext>
            </a:extLst>
          </p:cNvPr>
          <p:cNvSpPr>
            <a:spLocks noGrp="1"/>
          </p:cNvSpPr>
          <p:nvPr>
            <p:ph idx="1"/>
          </p:nvPr>
        </p:nvSpPr>
        <p:spPr>
          <a:xfrm>
            <a:off x="389744" y="365126"/>
            <a:ext cx="4207656" cy="6245536"/>
          </a:xfrm>
        </p:spPr>
        <p:txBody>
          <a:bodyPr>
            <a:normAutofit/>
          </a:bodyPr>
          <a:lstStyle/>
          <a:p>
            <a:r>
              <a:rPr lang="en-US" sz="3200" dirty="0"/>
              <a:t>Winter outbreaks of flu occur because:</a:t>
            </a:r>
          </a:p>
          <a:p>
            <a:pPr lvl="1"/>
            <a:r>
              <a:rPr lang="en-US" sz="2800" dirty="0"/>
              <a:t>Closer contact among humans in winter </a:t>
            </a:r>
          </a:p>
          <a:p>
            <a:pPr lvl="1"/>
            <a:r>
              <a:rPr lang="en-US" sz="2800" dirty="0"/>
              <a:t>Drying of respiratory tract cells due to warm heated air aids attachment and reproduction of virus</a:t>
            </a:r>
          </a:p>
          <a:p>
            <a:pPr lvl="1"/>
            <a:r>
              <a:rPr lang="en-US" sz="2800" dirty="0"/>
              <a:t>Drops in humidity associated with onset of flu season</a:t>
            </a:r>
          </a:p>
          <a:p>
            <a:pPr marL="0" indent="0">
              <a:buNone/>
            </a:pPr>
            <a:r>
              <a:rPr lang="en-US" dirty="0"/>
              <a:t>.</a:t>
            </a:r>
          </a:p>
        </p:txBody>
      </p:sp>
      <p:pic>
        <p:nvPicPr>
          <p:cNvPr id="5" name="Picture 4">
            <a:extLst>
              <a:ext uri="{FF2B5EF4-FFF2-40B4-BE49-F238E27FC236}">
                <a16:creationId xmlns:a16="http://schemas.microsoft.com/office/drawing/2014/main" id="{C6C28CC7-5617-488F-B4EB-76755443BD06}"/>
              </a:ext>
            </a:extLst>
          </p:cNvPr>
          <p:cNvPicPr>
            <a:picLocks noChangeAspect="1"/>
          </p:cNvPicPr>
          <p:nvPr/>
        </p:nvPicPr>
        <p:blipFill>
          <a:blip r:embed="rId3"/>
          <a:stretch>
            <a:fillRect/>
          </a:stretch>
        </p:blipFill>
        <p:spPr>
          <a:xfrm>
            <a:off x="4816916" y="1549399"/>
            <a:ext cx="7172271" cy="3508737"/>
          </a:xfrm>
          <a:prstGeom prst="rect">
            <a:avLst/>
          </a:prstGeom>
        </p:spPr>
      </p:pic>
      <p:pic>
        <p:nvPicPr>
          <p:cNvPr id="4" name="Content Placeholder 3">
            <a:extLst>
              <a:ext uri="{FF2B5EF4-FFF2-40B4-BE49-F238E27FC236}">
                <a16:creationId xmlns:a16="http://schemas.microsoft.com/office/drawing/2014/main" id="{6D2E8A4F-458C-459F-8A14-7C04720AB31C}"/>
              </a:ext>
            </a:extLst>
          </p:cNvPr>
          <p:cNvPicPr>
            <a:picLocks noChangeAspect="1"/>
          </p:cNvPicPr>
          <p:nvPr/>
        </p:nvPicPr>
        <p:blipFill rotWithShape="1">
          <a:blip r:embed="rId4"/>
          <a:srcRect b="76758"/>
          <a:stretch/>
        </p:blipFill>
        <p:spPr>
          <a:xfrm>
            <a:off x="4881883" y="3629205"/>
            <a:ext cx="7042336" cy="1325563"/>
          </a:xfrm>
          <a:prstGeom prst="rect">
            <a:avLst/>
          </a:prstGeom>
        </p:spPr>
      </p:pic>
    </p:spTree>
    <p:extLst>
      <p:ext uri="{BB962C8B-B14F-4D97-AF65-F5344CB8AC3E}">
        <p14:creationId xmlns:p14="http://schemas.microsoft.com/office/powerpoint/2010/main" val="3853833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 immunity: hemagglutinin antigen (HA) imprinting (first flu)</a:t>
            </a:r>
          </a:p>
        </p:txBody>
      </p:sp>
      <p:sp>
        <p:nvSpPr>
          <p:cNvPr id="3" name="Content Placeholder 2"/>
          <p:cNvSpPr>
            <a:spLocks noGrp="1"/>
          </p:cNvSpPr>
          <p:nvPr>
            <p:ph idx="1"/>
          </p:nvPr>
        </p:nvSpPr>
        <p:spPr>
          <a:xfrm>
            <a:off x="838200" y="1825625"/>
            <a:ext cx="5973417" cy="4800462"/>
          </a:xfrm>
        </p:spPr>
        <p:txBody>
          <a:bodyPr>
            <a:normAutofit lnSpcReduction="10000"/>
          </a:bodyPr>
          <a:lstStyle/>
          <a:p>
            <a:r>
              <a:rPr lang="en-US" dirty="0"/>
              <a:t>Response to first flu infection can influence response to future exposures</a:t>
            </a:r>
          </a:p>
          <a:p>
            <a:r>
              <a:rPr lang="en-US" dirty="0"/>
              <a:t>Human immune cells that bind most strongly to the virus store a memory of it and can recognize and attack viruses that resemble it the next time it strikes. </a:t>
            </a:r>
          </a:p>
          <a:p>
            <a:r>
              <a:rPr lang="en-US" dirty="0"/>
              <a:t>This cross-protective immunity occurs with influenza through HA imprinting</a:t>
            </a:r>
          </a:p>
          <a:p>
            <a:r>
              <a:rPr lang="en-US" dirty="0"/>
              <a:t>Two groups (1 and 2) of H antigens for A viruses.</a:t>
            </a:r>
          </a:p>
          <a:p>
            <a:pPr marL="0" indent="0">
              <a:buNone/>
            </a:pPr>
            <a:endParaRPr lang="en-US" dirty="0"/>
          </a:p>
          <a:p>
            <a:endParaRPr lang="en-US" dirty="0"/>
          </a:p>
        </p:txBody>
      </p:sp>
      <p:pic>
        <p:nvPicPr>
          <p:cNvPr id="5" name="Content Placeholder 3">
            <a:extLst>
              <a:ext uri="{FF2B5EF4-FFF2-40B4-BE49-F238E27FC236}">
                <a16:creationId xmlns:a16="http://schemas.microsoft.com/office/drawing/2014/main" id="{6359A645-9118-4C76-91CC-F4ED3C6FBA8B}"/>
              </a:ext>
            </a:extLst>
          </p:cNvPr>
          <p:cNvPicPr>
            <a:picLocks noChangeAspect="1"/>
          </p:cNvPicPr>
          <p:nvPr/>
        </p:nvPicPr>
        <p:blipFill rotWithShape="1">
          <a:blip r:embed="rId3"/>
          <a:srcRect r="46406"/>
          <a:stretch/>
        </p:blipFill>
        <p:spPr>
          <a:xfrm>
            <a:off x="7093528" y="1167512"/>
            <a:ext cx="4835236" cy="5325363"/>
          </a:xfrm>
          <a:prstGeom prst="rect">
            <a:avLst/>
          </a:prstGeom>
        </p:spPr>
      </p:pic>
    </p:spTree>
    <p:extLst>
      <p:ext uri="{BB962C8B-B14F-4D97-AF65-F5344CB8AC3E}">
        <p14:creationId xmlns:p14="http://schemas.microsoft.com/office/powerpoint/2010/main" val="87050216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800" dirty="0"/>
              <a:t>HA imprinting </a:t>
            </a: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56591" y="1554991"/>
            <a:ext cx="2873829" cy="4789715"/>
          </a:xfrm>
          <a:prstGeom prst="rect">
            <a:avLst/>
          </a:prstGeom>
        </p:spPr>
      </p:pic>
      <p:sp>
        <p:nvSpPr>
          <p:cNvPr id="5" name="Content Placeholder 2"/>
          <p:cNvSpPr txBox="1">
            <a:spLocks/>
          </p:cNvSpPr>
          <p:nvPr/>
        </p:nvSpPr>
        <p:spPr>
          <a:xfrm>
            <a:off x="3684104" y="1690688"/>
            <a:ext cx="7951305" cy="47061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Two groups of H antigens for A viruses.</a:t>
            </a:r>
          </a:p>
          <a:p>
            <a:r>
              <a:rPr lang="en-US" dirty="0"/>
              <a:t>Human antibodies that  recognize hemagglutinin of one group do not recognize those of the other group. </a:t>
            </a:r>
          </a:p>
          <a:p>
            <a:r>
              <a:rPr lang="en-US" dirty="0"/>
              <a:t>Imprinting with a virus from one of the two HA groups offers protection against </a:t>
            </a:r>
            <a:r>
              <a:rPr lang="en-US" b="1" dirty="0"/>
              <a:t>subtypes in the same group</a:t>
            </a:r>
          </a:p>
          <a:p>
            <a:r>
              <a:rPr lang="en-US" dirty="0"/>
              <a:t>Humans acquire lifelong immunological memory for the HA antigens associated with the ‘first flu’ exposure of their life. </a:t>
            </a:r>
          </a:p>
          <a:p>
            <a:endParaRPr lang="en-US" dirty="0"/>
          </a:p>
          <a:p>
            <a:endParaRPr lang="en-US" dirty="0"/>
          </a:p>
        </p:txBody>
      </p:sp>
    </p:spTree>
    <p:extLst>
      <p:ext uri="{BB962C8B-B14F-4D97-AF65-F5344CB8AC3E}">
        <p14:creationId xmlns:p14="http://schemas.microsoft.com/office/powerpoint/2010/main" val="995116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1918 Spanish Influenza: high mortality between 20-40 years of age</a:t>
            </a:r>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17591" r="17264"/>
          <a:stretch/>
        </p:blipFill>
        <p:spPr>
          <a:xfrm>
            <a:off x="1782342" y="1825625"/>
            <a:ext cx="8627315" cy="5032375"/>
          </a:xfrm>
        </p:spPr>
      </p:pic>
      <p:sp>
        <p:nvSpPr>
          <p:cNvPr id="5" name="Content Placeholder 2"/>
          <p:cNvSpPr txBox="1">
            <a:spLocks/>
          </p:cNvSpPr>
          <p:nvPr/>
        </p:nvSpPr>
        <p:spPr>
          <a:xfrm>
            <a:off x="2152650" y="1825625"/>
            <a:ext cx="78867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026701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813869" cy="1325563"/>
          </a:xfrm>
        </p:spPr>
        <p:txBody>
          <a:bodyPr>
            <a:normAutofit/>
          </a:bodyPr>
          <a:lstStyle/>
          <a:p>
            <a:pPr algn="ctr"/>
            <a:r>
              <a:rPr lang="en-US" dirty="0"/>
              <a:t>HA imprinting in the 1918 H1N1 pandemic</a:t>
            </a:r>
          </a:p>
        </p:txBody>
      </p:sp>
      <p:sp>
        <p:nvSpPr>
          <p:cNvPr id="3" name="Content Placeholder 2"/>
          <p:cNvSpPr>
            <a:spLocks noGrp="1"/>
          </p:cNvSpPr>
          <p:nvPr>
            <p:ph idx="1"/>
          </p:nvPr>
        </p:nvSpPr>
        <p:spPr/>
        <p:txBody>
          <a:bodyPr>
            <a:normAutofit/>
          </a:bodyPr>
          <a:lstStyle/>
          <a:p>
            <a:r>
              <a:rPr lang="en-US" sz="3200" dirty="0">
                <a:latin typeface="Calibri Light" panose="020F0302020204030204" pitchFamily="34" charset="0"/>
                <a:cs typeface="Calibri Light" panose="020F0302020204030204" pitchFamily="34" charset="0"/>
              </a:rPr>
              <a:t>Older adults has previous exposure to pre-1890 HA Group 1 virus </a:t>
            </a:r>
          </a:p>
          <a:p>
            <a:r>
              <a:rPr lang="en-US" sz="3200" dirty="0">
                <a:latin typeface="Calibri Light" panose="020F0302020204030204" pitchFamily="34" charset="0"/>
                <a:cs typeface="Calibri Light" panose="020F0302020204030204" pitchFamily="34" charset="0"/>
              </a:rPr>
              <a:t>Younger children protected by childhood exposure to a post-1900 HA Group 1 virus</a:t>
            </a:r>
          </a:p>
          <a:p>
            <a:r>
              <a:rPr lang="en-US" sz="3200" dirty="0">
                <a:latin typeface="Calibri Light" panose="020F0302020204030204" pitchFamily="34" charset="0"/>
                <a:cs typeface="Calibri Light" panose="020F0302020204030204" pitchFamily="34" charset="0"/>
              </a:rPr>
              <a:t>Adults 20-40 years of age in 1918 had likely imprinted on H3N8 (HA Group 2), which they had been exposed to as children a few decades before. </a:t>
            </a:r>
          </a:p>
          <a:p>
            <a:r>
              <a:rPr lang="en-US" sz="3200" dirty="0">
                <a:latin typeface="Calibri Light" panose="020F0302020204030204" pitchFamily="34" charset="0"/>
                <a:cs typeface="Calibri Light" panose="020F0302020204030204" pitchFamily="34" charset="0"/>
              </a:rPr>
              <a:t>This enhanced susceptibility to the 1918 H1N1 virus </a:t>
            </a:r>
          </a:p>
          <a:p>
            <a:endParaRPr lang="en-US" dirty="0"/>
          </a:p>
          <a:p>
            <a:pPr marL="457200" lvl="1" indent="0">
              <a:buNone/>
            </a:pPr>
            <a:endParaRPr lang="en-US" dirty="0"/>
          </a:p>
          <a:p>
            <a:pPr marL="0" indent="0">
              <a:buNone/>
            </a:pPr>
            <a:endParaRPr lang="en-US" dirty="0"/>
          </a:p>
        </p:txBody>
      </p:sp>
    </p:spTree>
    <p:extLst>
      <p:ext uri="{BB962C8B-B14F-4D97-AF65-F5344CB8AC3E}">
        <p14:creationId xmlns:p14="http://schemas.microsoft.com/office/powerpoint/2010/main" val="1772342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1314" y="300942"/>
            <a:ext cx="10515600" cy="1325563"/>
          </a:xfrm>
        </p:spPr>
        <p:txBody>
          <a:bodyPr/>
          <a:lstStyle/>
          <a:p>
            <a:pPr algn="ctr"/>
            <a:r>
              <a:rPr lang="en-US" dirty="0"/>
              <a:t>Influenza vaccines</a:t>
            </a:r>
          </a:p>
        </p:txBody>
      </p:sp>
      <p:sp>
        <p:nvSpPr>
          <p:cNvPr id="3" name="Content Placeholder 2"/>
          <p:cNvSpPr>
            <a:spLocks noGrp="1"/>
          </p:cNvSpPr>
          <p:nvPr>
            <p:ph idx="1"/>
          </p:nvPr>
        </p:nvSpPr>
        <p:spPr>
          <a:xfrm>
            <a:off x="985085" y="1800125"/>
            <a:ext cx="10221829" cy="5392737"/>
          </a:xfrm>
        </p:spPr>
        <p:txBody>
          <a:bodyPr>
            <a:normAutofit/>
          </a:bodyPr>
          <a:lstStyle/>
          <a:p>
            <a:r>
              <a:rPr lang="en-US" sz="3200" dirty="0">
                <a:latin typeface="Calibri Light" panose="020F0302020204030204" pitchFamily="34" charset="0"/>
                <a:cs typeface="Calibri Light" panose="020F0302020204030204" pitchFamily="34" charset="0"/>
              </a:rPr>
              <a:t>Flu vaccination is a preventative stimulation of your body to produce antibodies to a particular combination of influenza virus A (IVA) and influenza virus B (IBV) predicted to be abundant during flu season. </a:t>
            </a:r>
          </a:p>
          <a:p>
            <a:r>
              <a:rPr lang="en-US" sz="3200" dirty="0">
                <a:latin typeface="Calibri Light" panose="020F0302020204030204" pitchFamily="34" charset="0"/>
                <a:cs typeface="Calibri Light" panose="020F0302020204030204" pitchFamily="34" charset="0"/>
              </a:rPr>
              <a:t>For healthy adults, annual trivalent (protection from three virus types) or quadrivalent (four types) influenza vaccines have been the major prophylactic prevention mechanism for several decades.</a:t>
            </a:r>
          </a:p>
          <a:p>
            <a:r>
              <a:rPr lang="en-US" sz="3200" dirty="0">
                <a:latin typeface="Calibri Light" panose="020F0302020204030204" pitchFamily="34" charset="0"/>
                <a:cs typeface="Calibri Light" panose="020F0302020204030204" pitchFamily="34" charset="0"/>
              </a:rPr>
              <a:t>Decisions on vaccines made months in advance (Feb and March for our upcoming flu season)</a:t>
            </a:r>
          </a:p>
          <a:p>
            <a:endParaRPr lang="en-US" dirty="0"/>
          </a:p>
          <a:p>
            <a:endParaRPr lang="en-US" dirty="0"/>
          </a:p>
        </p:txBody>
      </p:sp>
    </p:spTree>
    <p:extLst>
      <p:ext uri="{BB962C8B-B14F-4D97-AF65-F5344CB8AC3E}">
        <p14:creationId xmlns:p14="http://schemas.microsoft.com/office/powerpoint/2010/main" val="1895359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011" y="479904"/>
            <a:ext cx="6026426" cy="6029926"/>
          </a:xfrm>
        </p:spPr>
        <p:txBody>
          <a:bodyPr>
            <a:normAutofit lnSpcReduction="10000"/>
          </a:bodyPr>
          <a:lstStyle/>
          <a:p>
            <a:r>
              <a:rPr lang="en-US" dirty="0"/>
              <a:t>Vaccination rates remain low globally:  around 40% in US and Europe, 5-10% or less in many other parts of the world</a:t>
            </a:r>
          </a:p>
          <a:p>
            <a:r>
              <a:rPr lang="en-US" dirty="0"/>
              <a:t>Effectiveness of vaccine can vary from year to year and for age groups</a:t>
            </a:r>
          </a:p>
          <a:p>
            <a:r>
              <a:rPr lang="en-US" dirty="0"/>
              <a:t>Influenza A ranged from 27-46% for adults and 46-59% for children, while for influenza B, 64-89% for children and around 60-78% for adults.</a:t>
            </a:r>
          </a:p>
          <a:p>
            <a:r>
              <a:rPr lang="en-US" dirty="0"/>
              <a:t>Globally, 30 bulk manufacturers of influenza vaccine produce 1.2 billion doses with only a six-month head start.</a:t>
            </a:r>
          </a:p>
          <a:p>
            <a:r>
              <a:rPr lang="en-US" dirty="0"/>
              <a:t>Most of the demand is in 16 high and middle income countries</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6649" y="348169"/>
            <a:ext cx="3867151" cy="6161661"/>
          </a:xfrm>
          <a:prstGeom prst="rect">
            <a:avLst/>
          </a:prstGeom>
        </p:spPr>
      </p:pic>
    </p:spTree>
    <p:extLst>
      <p:ext uri="{BB962C8B-B14F-4D97-AF65-F5344CB8AC3E}">
        <p14:creationId xmlns:p14="http://schemas.microsoft.com/office/powerpoint/2010/main" val="2881902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EFCEB-8AE8-46AD-BB01-F0A1A774AF27}"/>
              </a:ext>
            </a:extLst>
          </p:cNvPr>
          <p:cNvSpPr>
            <a:spLocks noGrp="1"/>
          </p:cNvSpPr>
          <p:nvPr>
            <p:ph type="title"/>
          </p:nvPr>
        </p:nvSpPr>
        <p:spPr>
          <a:xfrm>
            <a:off x="1099594" y="657091"/>
            <a:ext cx="10139423" cy="1325563"/>
          </a:xfrm>
        </p:spPr>
        <p:txBody>
          <a:bodyPr>
            <a:normAutofit/>
          </a:bodyPr>
          <a:lstStyle/>
          <a:p>
            <a:pPr algn="ctr"/>
            <a:r>
              <a:rPr lang="en-US" dirty="0"/>
              <a:t>Flu vaccinations are not uniformly available globally</a:t>
            </a:r>
          </a:p>
        </p:txBody>
      </p:sp>
      <p:sp>
        <p:nvSpPr>
          <p:cNvPr id="4" name="Content Placeholder 2">
            <a:extLst>
              <a:ext uri="{FF2B5EF4-FFF2-40B4-BE49-F238E27FC236}">
                <a16:creationId xmlns:a16="http://schemas.microsoft.com/office/drawing/2014/main" id="{68014A5A-0FB4-40A7-9109-6B069B69B445}"/>
              </a:ext>
            </a:extLst>
          </p:cNvPr>
          <p:cNvSpPr txBox="1">
            <a:spLocks/>
          </p:cNvSpPr>
          <p:nvPr/>
        </p:nvSpPr>
        <p:spPr>
          <a:xfrm>
            <a:off x="502920" y="1982654"/>
            <a:ext cx="4531924" cy="45711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Flu vaccines made available through public health funding at low or no cost to public in some but not all countries</a:t>
            </a:r>
          </a:p>
          <a:p>
            <a:r>
              <a:rPr lang="en-US" dirty="0"/>
              <a:t>Some countries make it available only thru private doctors, often at higher cost than vaccines provided to the public coverage</a:t>
            </a:r>
          </a:p>
        </p:txBody>
      </p:sp>
      <p:graphicFrame>
        <p:nvGraphicFramePr>
          <p:cNvPr id="7" name="Content Placeholder 6">
            <a:extLst>
              <a:ext uri="{FF2B5EF4-FFF2-40B4-BE49-F238E27FC236}">
                <a16:creationId xmlns:a16="http://schemas.microsoft.com/office/drawing/2014/main" id="{1AEC2F01-1333-2679-D898-89CE6B4B4087}"/>
              </a:ext>
            </a:extLst>
          </p:cNvPr>
          <p:cNvGraphicFramePr>
            <a:graphicFrameLocks noGrp="1"/>
          </p:cNvGraphicFramePr>
          <p:nvPr>
            <p:ph idx="1"/>
            <p:extLst>
              <p:ext uri="{D42A27DB-BD31-4B8C-83A1-F6EECF244321}">
                <p14:modId xmlns:p14="http://schemas.microsoft.com/office/powerpoint/2010/main" val="358983847"/>
              </p:ext>
            </p:extLst>
          </p:nvPr>
        </p:nvGraphicFramePr>
        <p:xfrm>
          <a:off x="5491827" y="2533347"/>
          <a:ext cx="6366872" cy="2324904"/>
        </p:xfrm>
        <a:graphic>
          <a:graphicData uri="http://schemas.openxmlformats.org/drawingml/2006/table">
            <a:tbl>
              <a:tblPr>
                <a:tableStyleId>{5C22544A-7EE6-4342-B048-85BDC9FD1C3A}</a:tableStyleId>
              </a:tblPr>
              <a:tblGrid>
                <a:gridCol w="1752152">
                  <a:extLst>
                    <a:ext uri="{9D8B030D-6E8A-4147-A177-3AD203B41FA5}">
                      <a16:colId xmlns:a16="http://schemas.microsoft.com/office/drawing/2014/main" val="648757929"/>
                    </a:ext>
                  </a:extLst>
                </a:gridCol>
                <a:gridCol w="497712">
                  <a:extLst>
                    <a:ext uri="{9D8B030D-6E8A-4147-A177-3AD203B41FA5}">
                      <a16:colId xmlns:a16="http://schemas.microsoft.com/office/drawing/2014/main" val="3540354049"/>
                    </a:ext>
                  </a:extLst>
                </a:gridCol>
                <a:gridCol w="601883">
                  <a:extLst>
                    <a:ext uri="{9D8B030D-6E8A-4147-A177-3AD203B41FA5}">
                      <a16:colId xmlns:a16="http://schemas.microsoft.com/office/drawing/2014/main" val="2424048795"/>
                    </a:ext>
                  </a:extLst>
                </a:gridCol>
                <a:gridCol w="625033">
                  <a:extLst>
                    <a:ext uri="{9D8B030D-6E8A-4147-A177-3AD203B41FA5}">
                      <a16:colId xmlns:a16="http://schemas.microsoft.com/office/drawing/2014/main" val="3886501801"/>
                    </a:ext>
                  </a:extLst>
                </a:gridCol>
                <a:gridCol w="682907">
                  <a:extLst>
                    <a:ext uri="{9D8B030D-6E8A-4147-A177-3AD203B41FA5}">
                      <a16:colId xmlns:a16="http://schemas.microsoft.com/office/drawing/2014/main" val="550090745"/>
                    </a:ext>
                  </a:extLst>
                </a:gridCol>
                <a:gridCol w="648182">
                  <a:extLst>
                    <a:ext uri="{9D8B030D-6E8A-4147-A177-3AD203B41FA5}">
                      <a16:colId xmlns:a16="http://schemas.microsoft.com/office/drawing/2014/main" val="2465693754"/>
                    </a:ext>
                  </a:extLst>
                </a:gridCol>
                <a:gridCol w="601883">
                  <a:extLst>
                    <a:ext uri="{9D8B030D-6E8A-4147-A177-3AD203B41FA5}">
                      <a16:colId xmlns:a16="http://schemas.microsoft.com/office/drawing/2014/main" val="2133003502"/>
                    </a:ext>
                  </a:extLst>
                </a:gridCol>
                <a:gridCol w="957120">
                  <a:extLst>
                    <a:ext uri="{9D8B030D-6E8A-4147-A177-3AD203B41FA5}">
                      <a16:colId xmlns:a16="http://schemas.microsoft.com/office/drawing/2014/main" val="2377989991"/>
                    </a:ext>
                  </a:extLst>
                </a:gridCol>
              </a:tblGrid>
              <a:tr h="182364">
                <a:tc>
                  <a:txBody>
                    <a:bodyPr/>
                    <a:lstStyle/>
                    <a:p>
                      <a:pPr algn="ctr" fontAlgn="ctr">
                        <a:buNone/>
                      </a:pPr>
                      <a:r>
                        <a:rPr lang="en-US" sz="1600" b="1" u="none" strike="noStrike" dirty="0">
                          <a:effectLst/>
                        </a:rPr>
                        <a:t>Vaccine-preventable disease</a:t>
                      </a:r>
                      <a:endParaRPr lang="en-US" sz="1600" b="1" i="0" u="none" strike="noStrike" dirty="0">
                        <a:solidFill>
                          <a:srgbClr val="FFFFFF"/>
                        </a:solidFill>
                        <a:effectLst/>
                        <a:latin typeface="Carlito"/>
                      </a:endParaRPr>
                    </a:p>
                  </a:txBody>
                  <a:tcPr marL="3537" marR="3537" marT="3537" marB="0" anchor="ctr"/>
                </a:tc>
                <a:tc>
                  <a:txBody>
                    <a:bodyPr/>
                    <a:lstStyle/>
                    <a:p>
                      <a:pPr algn="ctr" fontAlgn="ctr">
                        <a:buNone/>
                      </a:pPr>
                      <a:r>
                        <a:rPr lang="en-US" sz="1600" b="1" u="none" strike="noStrike" dirty="0">
                          <a:effectLst/>
                        </a:rPr>
                        <a:t>China</a:t>
                      </a:r>
                      <a:endParaRPr lang="en-US" sz="1600" b="1" i="0" u="none" strike="noStrike" dirty="0">
                        <a:solidFill>
                          <a:srgbClr val="FFFFFF"/>
                        </a:solidFill>
                        <a:effectLst/>
                        <a:latin typeface="Carlito"/>
                      </a:endParaRPr>
                    </a:p>
                  </a:txBody>
                  <a:tcPr marL="3537" marR="3537" marT="3537" marB="0" anchor="ctr"/>
                </a:tc>
                <a:tc>
                  <a:txBody>
                    <a:bodyPr/>
                    <a:lstStyle/>
                    <a:p>
                      <a:pPr algn="ctr" fontAlgn="ctr">
                        <a:buNone/>
                      </a:pPr>
                      <a:r>
                        <a:rPr lang="en-US" sz="1600" b="1" u="none" strike="noStrike" dirty="0">
                          <a:effectLst/>
                        </a:rPr>
                        <a:t>US</a:t>
                      </a:r>
                      <a:endParaRPr lang="en-US" sz="1600" b="1" i="0" u="none" strike="noStrike" dirty="0">
                        <a:solidFill>
                          <a:srgbClr val="FFFFFF"/>
                        </a:solidFill>
                        <a:effectLst/>
                        <a:latin typeface="Carlito"/>
                      </a:endParaRPr>
                    </a:p>
                  </a:txBody>
                  <a:tcPr marL="3537" marR="3537" marT="3537" marB="0" anchor="ctr"/>
                </a:tc>
                <a:tc>
                  <a:txBody>
                    <a:bodyPr/>
                    <a:lstStyle/>
                    <a:p>
                      <a:pPr algn="ctr" fontAlgn="ctr">
                        <a:buNone/>
                      </a:pPr>
                      <a:r>
                        <a:rPr lang="en-US" sz="1600" b="1" u="none" strike="noStrike" dirty="0">
                          <a:effectLst/>
                        </a:rPr>
                        <a:t>UK</a:t>
                      </a:r>
                      <a:endParaRPr lang="en-US" sz="1600" b="1" i="0" u="none" strike="noStrike" dirty="0">
                        <a:solidFill>
                          <a:srgbClr val="FFFFFF"/>
                        </a:solidFill>
                        <a:effectLst/>
                        <a:latin typeface="Carlito"/>
                      </a:endParaRPr>
                    </a:p>
                  </a:txBody>
                  <a:tcPr marL="3537" marR="3537" marT="3537" marB="0" anchor="ctr"/>
                </a:tc>
                <a:tc>
                  <a:txBody>
                    <a:bodyPr/>
                    <a:lstStyle/>
                    <a:p>
                      <a:pPr algn="ctr" fontAlgn="ctr">
                        <a:buNone/>
                      </a:pPr>
                      <a:r>
                        <a:rPr lang="en-US" sz="1600" b="1" u="none" strike="noStrike" dirty="0">
                          <a:effectLst/>
                        </a:rPr>
                        <a:t>Russia</a:t>
                      </a:r>
                      <a:endParaRPr lang="en-US" sz="1600" b="1" i="0" u="none" strike="noStrike" dirty="0">
                        <a:solidFill>
                          <a:srgbClr val="FFFFFF"/>
                        </a:solidFill>
                        <a:effectLst/>
                        <a:latin typeface="Carlito"/>
                      </a:endParaRPr>
                    </a:p>
                  </a:txBody>
                  <a:tcPr marL="3537" marR="3537" marT="3537" marB="0" anchor="ctr"/>
                </a:tc>
                <a:tc>
                  <a:txBody>
                    <a:bodyPr/>
                    <a:lstStyle/>
                    <a:p>
                      <a:pPr algn="ctr" fontAlgn="ctr">
                        <a:buNone/>
                      </a:pPr>
                      <a:r>
                        <a:rPr lang="en-US" sz="1600" b="1" u="none" strike="noStrike" dirty="0">
                          <a:effectLst/>
                        </a:rPr>
                        <a:t>Brazil</a:t>
                      </a:r>
                      <a:endParaRPr lang="en-US" sz="1600" b="1" i="0" u="none" strike="noStrike" dirty="0">
                        <a:solidFill>
                          <a:srgbClr val="FFFFFF"/>
                        </a:solidFill>
                        <a:effectLst/>
                        <a:latin typeface="Carlito"/>
                      </a:endParaRPr>
                    </a:p>
                  </a:txBody>
                  <a:tcPr marL="3537" marR="3537" marT="3537" marB="0" anchor="ctr"/>
                </a:tc>
                <a:tc>
                  <a:txBody>
                    <a:bodyPr/>
                    <a:lstStyle/>
                    <a:p>
                      <a:pPr algn="ctr" fontAlgn="ctr">
                        <a:buNone/>
                      </a:pPr>
                      <a:r>
                        <a:rPr lang="en-US" sz="1600" b="1" u="none" strike="noStrike" dirty="0">
                          <a:effectLst/>
                        </a:rPr>
                        <a:t>India</a:t>
                      </a:r>
                      <a:endParaRPr lang="en-US" sz="1600" b="1" i="0" u="none" strike="noStrike" dirty="0">
                        <a:solidFill>
                          <a:srgbClr val="FFFFFF"/>
                        </a:solidFill>
                        <a:effectLst/>
                        <a:latin typeface="Carlito"/>
                      </a:endParaRPr>
                    </a:p>
                  </a:txBody>
                  <a:tcPr marL="3537" marR="3537" marT="3537" marB="0" anchor="ctr"/>
                </a:tc>
                <a:tc>
                  <a:txBody>
                    <a:bodyPr/>
                    <a:lstStyle/>
                    <a:p>
                      <a:pPr algn="ctr" fontAlgn="ctr">
                        <a:buNone/>
                      </a:pPr>
                      <a:r>
                        <a:rPr lang="en-US" sz="1600" b="1" u="none" strike="noStrike" dirty="0">
                          <a:effectLst/>
                        </a:rPr>
                        <a:t>South Africa</a:t>
                      </a:r>
                      <a:endParaRPr lang="en-US" sz="1600" b="1" i="0" u="none" strike="noStrike" dirty="0">
                        <a:solidFill>
                          <a:srgbClr val="FFFFFF"/>
                        </a:solidFill>
                        <a:effectLst/>
                        <a:latin typeface="Carlito"/>
                      </a:endParaRPr>
                    </a:p>
                  </a:txBody>
                  <a:tcPr marL="3537" marR="3537" marT="3537" marB="0" anchor="ctr"/>
                </a:tc>
                <a:extLst>
                  <a:ext uri="{0D108BD9-81ED-4DB2-BD59-A6C34878D82A}">
                    <a16:rowId xmlns:a16="http://schemas.microsoft.com/office/drawing/2014/main" val="1213599989"/>
                  </a:ext>
                </a:extLst>
              </a:tr>
              <a:tr h="131462">
                <a:tc>
                  <a:txBody>
                    <a:bodyPr/>
                    <a:lstStyle/>
                    <a:p>
                      <a:pPr algn="l" fontAlgn="ctr">
                        <a:buNone/>
                      </a:pPr>
                      <a:r>
                        <a:rPr lang="en-US" sz="1600" b="1" u="none" strike="noStrike">
                          <a:effectLst/>
                        </a:rPr>
                        <a:t>Measles</a:t>
                      </a:r>
                      <a:endParaRPr lang="en-US" sz="1600" b="1" i="0" u="none" strike="noStrike">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ctr"/>
                </a:tc>
                <a:extLst>
                  <a:ext uri="{0D108BD9-81ED-4DB2-BD59-A6C34878D82A}">
                    <a16:rowId xmlns:a16="http://schemas.microsoft.com/office/drawing/2014/main" val="1062925954"/>
                  </a:ext>
                </a:extLst>
              </a:tr>
              <a:tr h="225200">
                <a:tc>
                  <a:txBody>
                    <a:bodyPr/>
                    <a:lstStyle/>
                    <a:p>
                      <a:pPr algn="l" fontAlgn="ctr">
                        <a:buNone/>
                      </a:pPr>
                      <a:r>
                        <a:rPr lang="en-US" sz="1600" b="1" u="none" strike="noStrike">
                          <a:effectLst/>
                        </a:rPr>
                        <a:t>Mumps</a:t>
                      </a:r>
                      <a:endParaRPr lang="en-US" sz="1600" b="1" i="0" u="none" strike="noStrike">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666666"/>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666666"/>
                        </a:solidFill>
                        <a:effectLst/>
                        <a:latin typeface="Carlito"/>
                      </a:endParaRPr>
                    </a:p>
                  </a:txBody>
                  <a:tcPr marL="3537" marR="3537" marT="3537" marB="0" anchor="ctr"/>
                </a:tc>
                <a:extLst>
                  <a:ext uri="{0D108BD9-81ED-4DB2-BD59-A6C34878D82A}">
                    <a16:rowId xmlns:a16="http://schemas.microsoft.com/office/drawing/2014/main" val="888445848"/>
                  </a:ext>
                </a:extLst>
              </a:tr>
              <a:tr h="262539">
                <a:tc>
                  <a:txBody>
                    <a:bodyPr/>
                    <a:lstStyle/>
                    <a:p>
                      <a:pPr algn="l" fontAlgn="ctr">
                        <a:buNone/>
                      </a:pPr>
                      <a:r>
                        <a:rPr lang="en-US" sz="1600" b="1" u="none" strike="noStrike">
                          <a:effectLst/>
                        </a:rPr>
                        <a:t>Rubella</a:t>
                      </a:r>
                      <a:endParaRPr lang="en-US" sz="1600" b="1" i="0" u="none" strike="noStrike">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extLst>
                  <a:ext uri="{0D108BD9-81ED-4DB2-BD59-A6C34878D82A}">
                    <a16:rowId xmlns:a16="http://schemas.microsoft.com/office/drawing/2014/main" val="1901008945"/>
                  </a:ext>
                </a:extLst>
              </a:tr>
              <a:tr h="225200">
                <a:tc>
                  <a:txBody>
                    <a:bodyPr/>
                    <a:lstStyle/>
                    <a:p>
                      <a:pPr algn="l" fontAlgn="ctr">
                        <a:buNone/>
                      </a:pPr>
                      <a:r>
                        <a:rPr lang="en-US" sz="1600" b="1" u="none" strike="noStrike" dirty="0">
                          <a:effectLst/>
                          <a:highlight>
                            <a:srgbClr val="FFFF00"/>
                          </a:highlight>
                        </a:rPr>
                        <a:t>Seasonal influenza</a:t>
                      </a:r>
                      <a:endParaRPr lang="en-US" sz="1600" b="1" i="0" u="none" strike="noStrike" dirty="0">
                        <a:effectLst/>
                        <a:highlight>
                          <a:srgbClr val="FFFF00"/>
                        </a:highlight>
                        <a:latin typeface="Carlito"/>
                      </a:endParaRPr>
                    </a:p>
                  </a:txBody>
                  <a:tcPr marL="3537" marR="3537" marT="3537" marB="0" anchor="ctr"/>
                </a:tc>
                <a:tc>
                  <a:txBody>
                    <a:bodyPr/>
                    <a:lstStyle/>
                    <a:p>
                      <a:pPr algn="ctr" fontAlgn="ctr">
                        <a:buNone/>
                      </a:pPr>
                      <a:r>
                        <a:rPr lang="en-US" sz="1600" u="none" strike="noStrike" dirty="0">
                          <a:effectLst/>
                          <a:highlight>
                            <a:srgbClr val="FFFF00"/>
                          </a:highlight>
                        </a:rPr>
                        <a:t>—</a:t>
                      </a:r>
                      <a:endParaRPr lang="en-US" sz="1600" b="1" i="0" u="none" strike="noStrike" dirty="0">
                        <a:solidFill>
                          <a:srgbClr val="666666"/>
                        </a:solidFill>
                        <a:effectLst/>
                        <a:highlight>
                          <a:srgbClr val="FFFF00"/>
                        </a:highlight>
                        <a:latin typeface="Carlito"/>
                      </a:endParaRPr>
                    </a:p>
                  </a:txBody>
                  <a:tcPr marL="3537" marR="3537" marT="3537" marB="0" anchor="ctr"/>
                </a:tc>
                <a:tc>
                  <a:txBody>
                    <a:bodyPr/>
                    <a:lstStyle/>
                    <a:p>
                      <a:pPr algn="ctr" fontAlgn="ctr">
                        <a:buNone/>
                      </a:pPr>
                      <a:r>
                        <a:rPr lang="en-US" sz="1600" u="none" strike="noStrike" dirty="0">
                          <a:effectLst/>
                          <a:highlight>
                            <a:srgbClr val="FFFF00"/>
                          </a:highlight>
                        </a:rPr>
                        <a:t>✓</a:t>
                      </a:r>
                      <a:endParaRPr lang="en-US" sz="1600" b="1" i="0" u="none" strike="noStrike" dirty="0">
                        <a:solidFill>
                          <a:srgbClr val="1D4D24"/>
                        </a:solidFill>
                        <a:effectLst/>
                        <a:highlight>
                          <a:srgbClr val="FFFF00"/>
                        </a:highlight>
                        <a:latin typeface="Carlito"/>
                      </a:endParaRPr>
                    </a:p>
                  </a:txBody>
                  <a:tcPr marL="3537" marR="3537" marT="3537" marB="0" anchor="ctr"/>
                </a:tc>
                <a:tc>
                  <a:txBody>
                    <a:bodyPr/>
                    <a:lstStyle/>
                    <a:p>
                      <a:pPr algn="ctr" fontAlgn="ctr">
                        <a:buNone/>
                      </a:pPr>
                      <a:r>
                        <a:rPr lang="en-US" sz="1600" u="none" strike="noStrike" dirty="0">
                          <a:effectLst/>
                          <a:highlight>
                            <a:srgbClr val="FFFF00"/>
                          </a:highlight>
                        </a:rPr>
                        <a:t>✓</a:t>
                      </a:r>
                      <a:endParaRPr lang="en-US" sz="1600" b="1" i="0" u="none" strike="noStrike" dirty="0">
                        <a:solidFill>
                          <a:srgbClr val="1D4D24"/>
                        </a:solidFill>
                        <a:effectLst/>
                        <a:highlight>
                          <a:srgbClr val="FFFF00"/>
                        </a:highlight>
                        <a:latin typeface="Carlito"/>
                      </a:endParaRPr>
                    </a:p>
                  </a:txBody>
                  <a:tcPr marL="3537" marR="3537" marT="3537" marB="0" anchor="ctr"/>
                </a:tc>
                <a:tc>
                  <a:txBody>
                    <a:bodyPr/>
                    <a:lstStyle/>
                    <a:p>
                      <a:pPr algn="ctr" fontAlgn="ctr">
                        <a:buNone/>
                      </a:pPr>
                      <a:r>
                        <a:rPr lang="en-US" sz="1600" u="none" strike="noStrike" dirty="0">
                          <a:effectLst/>
                          <a:highlight>
                            <a:srgbClr val="FFFF00"/>
                          </a:highlight>
                        </a:rPr>
                        <a:t>✓</a:t>
                      </a:r>
                      <a:endParaRPr lang="en-US" sz="1600" b="1" i="0" u="none" strike="noStrike" dirty="0">
                        <a:solidFill>
                          <a:srgbClr val="1D4D24"/>
                        </a:solidFill>
                        <a:effectLst/>
                        <a:highlight>
                          <a:srgbClr val="FFFF00"/>
                        </a:highlight>
                        <a:latin typeface="Carlito"/>
                      </a:endParaRPr>
                    </a:p>
                  </a:txBody>
                  <a:tcPr marL="3537" marR="3537" marT="3537" marB="0" anchor="ctr"/>
                </a:tc>
                <a:tc>
                  <a:txBody>
                    <a:bodyPr/>
                    <a:lstStyle/>
                    <a:p>
                      <a:pPr algn="ctr" fontAlgn="ctr">
                        <a:buNone/>
                      </a:pPr>
                      <a:r>
                        <a:rPr lang="en-US" sz="1600" u="none" strike="noStrike" dirty="0">
                          <a:effectLst/>
                          <a:highlight>
                            <a:srgbClr val="FFFF00"/>
                          </a:highlight>
                        </a:rPr>
                        <a:t>✓</a:t>
                      </a:r>
                      <a:endParaRPr lang="en-US" sz="1600" b="1" i="0" u="none" strike="noStrike" dirty="0">
                        <a:solidFill>
                          <a:srgbClr val="1D4D24"/>
                        </a:solidFill>
                        <a:effectLst/>
                        <a:highlight>
                          <a:srgbClr val="FFFF00"/>
                        </a:highlight>
                        <a:latin typeface="Carlito"/>
                      </a:endParaRPr>
                    </a:p>
                  </a:txBody>
                  <a:tcPr marL="3537" marR="3537" marT="3537" marB="0" anchor="ctr"/>
                </a:tc>
                <a:tc>
                  <a:txBody>
                    <a:bodyPr/>
                    <a:lstStyle/>
                    <a:p>
                      <a:pPr algn="ctr" fontAlgn="ctr">
                        <a:buNone/>
                      </a:pPr>
                      <a:r>
                        <a:rPr lang="en-US" sz="1600" u="none" strike="noStrike" dirty="0">
                          <a:effectLst/>
                          <a:highlight>
                            <a:srgbClr val="FFFF00"/>
                          </a:highlight>
                        </a:rPr>
                        <a:t>—</a:t>
                      </a:r>
                      <a:endParaRPr lang="en-US" sz="1600" b="1" i="0" u="none" strike="noStrike" dirty="0">
                        <a:solidFill>
                          <a:srgbClr val="666666"/>
                        </a:solidFill>
                        <a:effectLst/>
                        <a:highlight>
                          <a:srgbClr val="FFFF00"/>
                        </a:highlight>
                        <a:latin typeface="Carlito"/>
                      </a:endParaRPr>
                    </a:p>
                  </a:txBody>
                  <a:tcPr marL="3537" marR="3537" marT="3537" marB="0" anchor="ctr"/>
                </a:tc>
                <a:tc>
                  <a:txBody>
                    <a:bodyPr/>
                    <a:lstStyle/>
                    <a:p>
                      <a:pPr algn="ctr" fontAlgn="ctr">
                        <a:buNone/>
                      </a:pPr>
                      <a:r>
                        <a:rPr lang="en-US" sz="1600" u="none" strike="noStrike" dirty="0">
                          <a:effectLst/>
                          <a:highlight>
                            <a:srgbClr val="FFFF00"/>
                          </a:highlight>
                        </a:rPr>
                        <a:t>◐</a:t>
                      </a:r>
                      <a:endParaRPr lang="en-US" sz="1600" b="1" i="0" u="none" strike="noStrike" dirty="0">
                        <a:solidFill>
                          <a:srgbClr val="6A4C00"/>
                        </a:solidFill>
                        <a:effectLst/>
                        <a:highlight>
                          <a:srgbClr val="FFFF00"/>
                        </a:highlight>
                        <a:latin typeface="Carlito"/>
                      </a:endParaRPr>
                    </a:p>
                  </a:txBody>
                  <a:tcPr marL="3537" marR="3537" marT="3537" marB="0" anchor="ctr"/>
                </a:tc>
                <a:extLst>
                  <a:ext uri="{0D108BD9-81ED-4DB2-BD59-A6C34878D82A}">
                    <a16:rowId xmlns:a16="http://schemas.microsoft.com/office/drawing/2014/main" val="2141937294"/>
                  </a:ext>
                </a:extLst>
              </a:tr>
              <a:tr h="337800">
                <a:tc>
                  <a:txBody>
                    <a:bodyPr/>
                    <a:lstStyle/>
                    <a:p>
                      <a:pPr algn="l" fontAlgn="ctr">
                        <a:buNone/>
                      </a:pPr>
                      <a:r>
                        <a:rPr lang="en-US" sz="1600" b="1" i="0" u="none" strike="noStrike" dirty="0">
                          <a:effectLst/>
                          <a:latin typeface="Carlito"/>
                        </a:rPr>
                        <a:t>HPV</a:t>
                      </a: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666666"/>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a:effectLst/>
                        </a:rPr>
                        <a:t>✓</a:t>
                      </a:r>
                      <a:endParaRPr lang="en-US" sz="1600" b="1" i="0" u="none" strike="noStrike">
                        <a:solidFill>
                          <a:srgbClr val="1D4D24"/>
                        </a:solidFill>
                        <a:effectLst/>
                        <a:latin typeface="Carlito"/>
                      </a:endParaRPr>
                    </a:p>
                  </a:txBody>
                  <a:tcPr marL="3537" marR="3537" marT="3537" marB="0" anchor="ctr"/>
                </a:tc>
                <a:tc>
                  <a:txBody>
                    <a:bodyPr/>
                    <a:lstStyle/>
                    <a:p>
                      <a:pPr algn="ctr" fontAlgn="ctr">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ctr"/>
                </a:tc>
                <a:extLst>
                  <a:ext uri="{0D108BD9-81ED-4DB2-BD59-A6C34878D82A}">
                    <a16:rowId xmlns:a16="http://schemas.microsoft.com/office/drawing/2014/main" val="3621958238"/>
                  </a:ext>
                </a:extLst>
              </a:tr>
              <a:tr h="342696">
                <a:tc>
                  <a:txBody>
                    <a:bodyPr/>
                    <a:lstStyle/>
                    <a:p>
                      <a:pPr algn="l" fontAlgn="b">
                        <a:buNone/>
                      </a:pPr>
                      <a:r>
                        <a:rPr lang="en-US" sz="1600" b="1" u="none" strike="noStrike" dirty="0">
                          <a:effectLst/>
                        </a:rPr>
                        <a:t>Respiratory syncytial virus (RSV)</a:t>
                      </a:r>
                      <a:endParaRPr lang="en-US" sz="1600" b="1" i="0" u="none" strike="noStrike" dirty="0">
                        <a:effectLst/>
                        <a:latin typeface="Carlito"/>
                      </a:endParaRPr>
                    </a:p>
                  </a:txBody>
                  <a:tcPr marL="3537" marR="3537" marT="3537" marB="0" anchor="b"/>
                </a:tc>
                <a:tc>
                  <a:txBody>
                    <a:bodyPr/>
                    <a:lstStyle/>
                    <a:p>
                      <a:pPr algn="ctr" fontAlgn="b">
                        <a:buNone/>
                      </a:pPr>
                      <a:r>
                        <a:rPr lang="en-US" sz="1600" u="none" strike="noStrike">
                          <a:effectLst/>
                        </a:rPr>
                        <a:t>—</a:t>
                      </a:r>
                      <a:endParaRPr lang="en-US" sz="1600" b="1" i="0" u="none" strike="noStrike">
                        <a:solidFill>
                          <a:srgbClr val="666666"/>
                        </a:solidFill>
                        <a:effectLst/>
                        <a:latin typeface="Carlito"/>
                      </a:endParaRPr>
                    </a:p>
                  </a:txBody>
                  <a:tcPr marL="3537" marR="3537" marT="3537" marB="0" anchor="b"/>
                </a:tc>
                <a:tc>
                  <a:txBody>
                    <a:bodyPr/>
                    <a:lstStyle/>
                    <a:p>
                      <a:pPr algn="ctr" fontAlgn="b">
                        <a:buNone/>
                      </a:pPr>
                      <a:r>
                        <a:rPr lang="en-US" sz="1600" u="none" strike="noStrike">
                          <a:effectLst/>
                        </a:rPr>
                        <a:t>◐</a:t>
                      </a:r>
                      <a:endParaRPr lang="en-US" sz="1600" b="1" i="0" u="none" strike="noStrike">
                        <a:solidFill>
                          <a:srgbClr val="6A4C00"/>
                        </a:solidFill>
                        <a:effectLst/>
                        <a:latin typeface="Carlito"/>
                      </a:endParaRPr>
                    </a:p>
                  </a:txBody>
                  <a:tcPr marL="3537" marR="3537" marT="3537" marB="0" anchor="b"/>
                </a:tc>
                <a:tc>
                  <a:txBody>
                    <a:bodyPr/>
                    <a:lstStyle/>
                    <a:p>
                      <a:pPr algn="ctr" fontAlgn="b">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b"/>
                </a:tc>
                <a:tc>
                  <a:txBody>
                    <a:bodyPr/>
                    <a:lstStyle/>
                    <a:p>
                      <a:pPr algn="ctr" fontAlgn="b">
                        <a:buNone/>
                      </a:pPr>
                      <a:r>
                        <a:rPr lang="en-US" sz="1600" u="none" strike="noStrike" dirty="0">
                          <a:effectLst/>
                        </a:rPr>
                        <a:t>—</a:t>
                      </a:r>
                      <a:endParaRPr lang="en-US" sz="1600" b="1" i="0" u="none" strike="noStrike" dirty="0">
                        <a:solidFill>
                          <a:srgbClr val="666666"/>
                        </a:solidFill>
                        <a:effectLst/>
                        <a:latin typeface="Carlito"/>
                      </a:endParaRPr>
                    </a:p>
                  </a:txBody>
                  <a:tcPr marL="3537" marR="3537" marT="3537" marB="0" anchor="b"/>
                </a:tc>
                <a:tc>
                  <a:txBody>
                    <a:bodyPr/>
                    <a:lstStyle/>
                    <a:p>
                      <a:pPr algn="ctr" fontAlgn="b">
                        <a:buNone/>
                      </a:pPr>
                      <a:r>
                        <a:rPr lang="en-US" sz="1600" u="none" strike="noStrike" dirty="0">
                          <a:effectLst/>
                        </a:rPr>
                        <a:t>✓</a:t>
                      </a:r>
                      <a:endParaRPr lang="en-US" sz="1600" b="1" i="0" u="none" strike="noStrike" dirty="0">
                        <a:solidFill>
                          <a:srgbClr val="1D4D24"/>
                        </a:solidFill>
                        <a:effectLst/>
                        <a:latin typeface="Carlito"/>
                      </a:endParaRPr>
                    </a:p>
                  </a:txBody>
                  <a:tcPr marL="3537" marR="3537" marT="3537" marB="0" anchor="b"/>
                </a:tc>
                <a:tc>
                  <a:txBody>
                    <a:bodyPr/>
                    <a:lstStyle/>
                    <a:p>
                      <a:pPr algn="ctr" fontAlgn="b">
                        <a:buNone/>
                      </a:pPr>
                      <a:r>
                        <a:rPr lang="en-US" sz="1600" u="none" strike="noStrike" dirty="0">
                          <a:effectLst/>
                        </a:rPr>
                        <a:t>—</a:t>
                      </a:r>
                      <a:endParaRPr lang="en-US" sz="1600" b="1" i="0" u="none" strike="noStrike" dirty="0">
                        <a:solidFill>
                          <a:srgbClr val="666666"/>
                        </a:solidFill>
                        <a:effectLst/>
                        <a:latin typeface="Carlito"/>
                      </a:endParaRPr>
                    </a:p>
                  </a:txBody>
                  <a:tcPr marL="3537" marR="3537" marT="3537" marB="0" anchor="b"/>
                </a:tc>
                <a:tc>
                  <a:txBody>
                    <a:bodyPr/>
                    <a:lstStyle/>
                    <a:p>
                      <a:pPr algn="ctr" fontAlgn="b">
                        <a:buNone/>
                      </a:pPr>
                      <a:r>
                        <a:rPr lang="en-US" sz="1600" u="none" strike="noStrike" dirty="0">
                          <a:effectLst/>
                        </a:rPr>
                        <a:t>—</a:t>
                      </a:r>
                      <a:endParaRPr lang="en-US" sz="1600" b="1" i="0" u="none" strike="noStrike" dirty="0">
                        <a:solidFill>
                          <a:srgbClr val="666666"/>
                        </a:solidFill>
                        <a:effectLst/>
                        <a:latin typeface="Carlito"/>
                      </a:endParaRPr>
                    </a:p>
                  </a:txBody>
                  <a:tcPr marL="3537" marR="3537" marT="3537" marB="0" anchor="b"/>
                </a:tc>
                <a:extLst>
                  <a:ext uri="{0D108BD9-81ED-4DB2-BD59-A6C34878D82A}">
                    <a16:rowId xmlns:a16="http://schemas.microsoft.com/office/drawing/2014/main" val="2330737685"/>
                  </a:ext>
                </a:extLst>
              </a:tr>
            </a:tbl>
          </a:graphicData>
        </a:graphic>
      </p:graphicFrame>
      <p:graphicFrame>
        <p:nvGraphicFramePr>
          <p:cNvPr id="8" name="Table 7">
            <a:extLst>
              <a:ext uri="{FF2B5EF4-FFF2-40B4-BE49-F238E27FC236}">
                <a16:creationId xmlns:a16="http://schemas.microsoft.com/office/drawing/2014/main" id="{156675D0-2A25-A3BE-A7D2-CE0614262BFE}"/>
              </a:ext>
            </a:extLst>
          </p:cNvPr>
          <p:cNvGraphicFramePr>
            <a:graphicFrameLocks noGrp="1"/>
          </p:cNvGraphicFramePr>
          <p:nvPr>
            <p:extLst>
              <p:ext uri="{D42A27DB-BD31-4B8C-83A1-F6EECF244321}">
                <p14:modId xmlns:p14="http://schemas.microsoft.com/office/powerpoint/2010/main" val="1429438039"/>
              </p:ext>
            </p:extLst>
          </p:nvPr>
        </p:nvGraphicFramePr>
        <p:xfrm>
          <a:off x="5479646" y="5219865"/>
          <a:ext cx="6366871" cy="981044"/>
        </p:xfrm>
        <a:graphic>
          <a:graphicData uri="http://schemas.openxmlformats.org/drawingml/2006/table">
            <a:tbl>
              <a:tblPr>
                <a:tableStyleId>{5C22544A-7EE6-4342-B048-85BDC9FD1C3A}</a:tableStyleId>
              </a:tblPr>
              <a:tblGrid>
                <a:gridCol w="6366871">
                  <a:extLst>
                    <a:ext uri="{9D8B030D-6E8A-4147-A177-3AD203B41FA5}">
                      <a16:colId xmlns:a16="http://schemas.microsoft.com/office/drawing/2014/main" val="2241031708"/>
                    </a:ext>
                  </a:extLst>
                </a:gridCol>
              </a:tblGrid>
              <a:tr h="981044">
                <a:tc>
                  <a:txBody>
                    <a:bodyPr/>
                    <a:lstStyle/>
                    <a:p>
                      <a:pPr algn="l" fontAlgn="ctr">
                        <a:buNone/>
                      </a:pPr>
                      <a:r>
                        <a:rPr lang="en-US" sz="1600" u="none" strike="noStrike" dirty="0">
                          <a:effectLst/>
                        </a:rPr>
                        <a:t>Legend:  ✓ routine national </a:t>
                      </a:r>
                      <a:r>
                        <a:rPr lang="en-US" sz="1600" u="none" strike="noStrike" dirty="0" err="1">
                          <a:effectLst/>
                        </a:rPr>
                        <a:t>programme</a:t>
                      </a:r>
                      <a:r>
                        <a:rPr lang="en-US" sz="1600" u="none" strike="noStrike" dirty="0">
                          <a:effectLst/>
                        </a:rPr>
                        <a:t> / standard target cohort     ◐ selective, risk-based, endemic-area, outbreak/epidemic-indication or shared-decision </a:t>
                      </a:r>
                      <a:r>
                        <a:rPr lang="en-US" sz="1600" u="none" strike="noStrike" dirty="0" err="1">
                          <a:effectLst/>
                        </a:rPr>
                        <a:t>programme</a:t>
                      </a:r>
                      <a:r>
                        <a:rPr lang="en-US" sz="1600" u="none" strike="noStrike" dirty="0">
                          <a:effectLst/>
                        </a:rPr>
                        <a:t>     — not in a national public vaccination program</a:t>
                      </a:r>
                      <a:endParaRPr lang="en-US" sz="1600" b="0" i="0" u="none" strike="noStrike" dirty="0">
                        <a:solidFill>
                          <a:srgbClr val="333333"/>
                        </a:solidFill>
                        <a:effectLst/>
                        <a:latin typeface="Carlito"/>
                      </a:endParaRPr>
                    </a:p>
                  </a:txBody>
                  <a:tcPr marL="5684" marR="5684" marT="5684" marB="0" anchor="ctr"/>
                </a:tc>
                <a:extLst>
                  <a:ext uri="{0D108BD9-81ED-4DB2-BD59-A6C34878D82A}">
                    <a16:rowId xmlns:a16="http://schemas.microsoft.com/office/drawing/2014/main" val="1003344334"/>
                  </a:ext>
                </a:extLst>
              </a:tr>
            </a:tbl>
          </a:graphicData>
        </a:graphic>
      </p:graphicFrame>
    </p:spTree>
    <p:extLst>
      <p:ext uri="{BB962C8B-B14F-4D97-AF65-F5344CB8AC3E}">
        <p14:creationId xmlns:p14="http://schemas.microsoft.com/office/powerpoint/2010/main" val="1696438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3860" y="152400"/>
            <a:ext cx="11513820" cy="1325563"/>
          </a:xfrm>
        </p:spPr>
        <p:txBody>
          <a:bodyPr/>
          <a:lstStyle/>
          <a:p>
            <a:pPr algn="ctr"/>
            <a:r>
              <a:rPr lang="en-US" dirty="0">
                <a:latin typeface="+mn-lt"/>
              </a:rPr>
              <a:t>Top-down solutions:  universal flu vaccine</a:t>
            </a:r>
          </a:p>
        </p:txBody>
      </p:sp>
      <p:pic>
        <p:nvPicPr>
          <p:cNvPr id="6" name="Picture 5">
            <a:hlinkClick r:id="rId3"/>
            <a:extLst>
              <a:ext uri="{FF2B5EF4-FFF2-40B4-BE49-F238E27FC236}">
                <a16:creationId xmlns:a16="http://schemas.microsoft.com/office/drawing/2014/main" id="{5F26CF6F-8252-317A-1D7F-2EAB5B0D8832}"/>
              </a:ext>
            </a:extLst>
          </p:cNvPr>
          <p:cNvPicPr>
            <a:picLocks noChangeAspect="1"/>
          </p:cNvPicPr>
          <p:nvPr/>
        </p:nvPicPr>
        <p:blipFill>
          <a:blip r:embed="rId4"/>
          <a:stretch>
            <a:fillRect/>
          </a:stretch>
        </p:blipFill>
        <p:spPr>
          <a:xfrm>
            <a:off x="4622045" y="1477963"/>
            <a:ext cx="6637595" cy="5105842"/>
          </a:xfrm>
          <a:prstGeom prst="rect">
            <a:avLst/>
          </a:prstGeom>
        </p:spPr>
      </p:pic>
      <p:sp>
        <p:nvSpPr>
          <p:cNvPr id="7" name="Content Placeholder 2">
            <a:extLst>
              <a:ext uri="{FF2B5EF4-FFF2-40B4-BE49-F238E27FC236}">
                <a16:creationId xmlns:a16="http://schemas.microsoft.com/office/drawing/2014/main" id="{D0FC7358-D9A2-3BF9-5F05-0EDE0662B263}"/>
              </a:ext>
            </a:extLst>
          </p:cNvPr>
          <p:cNvSpPr>
            <a:spLocks noGrp="1"/>
          </p:cNvSpPr>
          <p:nvPr>
            <p:ph idx="1"/>
          </p:nvPr>
        </p:nvSpPr>
        <p:spPr>
          <a:xfrm>
            <a:off x="403860" y="1477963"/>
            <a:ext cx="3911867" cy="5032375"/>
          </a:xfrm>
        </p:spPr>
        <p:txBody>
          <a:bodyPr>
            <a:normAutofit/>
          </a:bodyPr>
          <a:lstStyle/>
          <a:p>
            <a:r>
              <a:rPr lang="en-US" dirty="0"/>
              <a:t>Building a vaccine from a part of an A influenza virus that stays the same across many different types of A viruses would allow one vaccine to provide more universal flu protection.</a:t>
            </a:r>
          </a:p>
          <a:p>
            <a:r>
              <a:rPr lang="en-US" dirty="0"/>
              <a:t>The stem of the influenza viral spike does not change as much as the spike</a:t>
            </a:r>
          </a:p>
          <a:p>
            <a:endParaRPr lang="en-US" dirty="0"/>
          </a:p>
        </p:txBody>
      </p:sp>
    </p:spTree>
    <p:extLst>
      <p:ext uri="{BB962C8B-B14F-4D97-AF65-F5344CB8AC3E}">
        <p14:creationId xmlns:p14="http://schemas.microsoft.com/office/powerpoint/2010/main" val="251455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3">
            <a:extLst>
              <a:ext uri="{28A0092B-C50C-407E-A947-70E740481C1C}">
                <a14:useLocalDpi xmlns:a14="http://schemas.microsoft.com/office/drawing/2010/main" val="0"/>
              </a:ext>
            </a:extLst>
          </a:blip>
          <a:srcRect l="14988" r="11197"/>
          <a:stretch/>
        </p:blipFill>
        <p:spPr>
          <a:xfrm>
            <a:off x="5814802" y="0"/>
            <a:ext cx="6433457" cy="6858000"/>
          </a:xfrm>
        </p:spPr>
      </p:pic>
      <p:pic>
        <p:nvPicPr>
          <p:cNvPr id="4" name="Picture 3"/>
          <p:cNvPicPr>
            <a:picLocks noChangeAspect="1"/>
          </p:cNvPicPr>
          <p:nvPr/>
        </p:nvPicPr>
        <p:blipFill>
          <a:blip r:embed="rId4"/>
          <a:stretch>
            <a:fillRect/>
          </a:stretch>
        </p:blipFill>
        <p:spPr>
          <a:xfrm>
            <a:off x="289938" y="0"/>
            <a:ext cx="5178699" cy="2138822"/>
          </a:xfrm>
          <a:prstGeom prst="rect">
            <a:avLst/>
          </a:prstGeom>
        </p:spPr>
      </p:pic>
      <p:pic>
        <p:nvPicPr>
          <p:cNvPr id="9" name="Content Placeholder 3"/>
          <p:cNvPicPr>
            <a:picLocks noChangeAspect="1"/>
          </p:cNvPicPr>
          <p:nvPr/>
        </p:nvPicPr>
        <p:blipFill>
          <a:blip r:embed="rId5"/>
          <a:stretch>
            <a:fillRect/>
          </a:stretch>
        </p:blipFill>
        <p:spPr>
          <a:xfrm>
            <a:off x="467522" y="2305877"/>
            <a:ext cx="5001115" cy="4367466"/>
          </a:xfrm>
          <a:prstGeom prst="rect">
            <a:avLst/>
          </a:prstGeom>
        </p:spPr>
      </p:pic>
    </p:spTree>
    <p:extLst>
      <p:ext uri="{BB962C8B-B14F-4D97-AF65-F5344CB8AC3E}">
        <p14:creationId xmlns:p14="http://schemas.microsoft.com/office/powerpoint/2010/main" val="1758406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5125"/>
            <a:ext cx="11125200" cy="1325563"/>
          </a:xfrm>
        </p:spPr>
        <p:txBody>
          <a:bodyPr/>
          <a:lstStyle/>
          <a:p>
            <a:r>
              <a:rPr lang="en-US" dirty="0"/>
              <a:t>Bottom-up solutions:  building preparedness at local levels</a:t>
            </a:r>
          </a:p>
        </p:txBody>
      </p:sp>
      <p:sp>
        <p:nvSpPr>
          <p:cNvPr id="3" name="Content Placeholder 2"/>
          <p:cNvSpPr>
            <a:spLocks noGrp="1"/>
          </p:cNvSpPr>
          <p:nvPr>
            <p:ph idx="1"/>
          </p:nvPr>
        </p:nvSpPr>
        <p:spPr>
          <a:xfrm>
            <a:off x="259080" y="1825624"/>
            <a:ext cx="5151119" cy="5032375"/>
          </a:xfrm>
        </p:spPr>
        <p:txBody>
          <a:bodyPr>
            <a:normAutofit/>
          </a:bodyPr>
          <a:lstStyle/>
          <a:p>
            <a:r>
              <a:rPr lang="en-US" dirty="0"/>
              <a:t>Need to build infrastructure to respond to flu with an everyday system that can be scaled up.</a:t>
            </a:r>
          </a:p>
          <a:p>
            <a:r>
              <a:rPr lang="en-US" dirty="0"/>
              <a:t>This means making sure antiviral drugs like Tamiflu are widely available to patients with the flu</a:t>
            </a:r>
          </a:p>
          <a:p>
            <a:r>
              <a:rPr lang="en-US" dirty="0"/>
              <a:t>Developing better flu health awareness campaigns in local communities</a:t>
            </a:r>
          </a:p>
          <a:p>
            <a:r>
              <a:rPr lang="en-US" dirty="0"/>
              <a:t>Getting vaccinations to every individual</a:t>
            </a:r>
          </a:p>
          <a:p>
            <a:endParaRPr lang="en-US" dirty="0"/>
          </a:p>
        </p:txBody>
      </p:sp>
      <p:pic>
        <p:nvPicPr>
          <p:cNvPr id="5" name="Picture 4" descr="A picture containing text, book&#10;&#10;Description automatically generated">
            <a:extLst>
              <a:ext uri="{FF2B5EF4-FFF2-40B4-BE49-F238E27FC236}">
                <a16:creationId xmlns:a16="http://schemas.microsoft.com/office/drawing/2014/main" id="{8A8B60A7-5A4E-4C5B-55C7-FFE997AF64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0439" y="1460500"/>
            <a:ext cx="6514401" cy="5032375"/>
          </a:xfrm>
          <a:prstGeom prst="rect">
            <a:avLst/>
          </a:prstGeom>
        </p:spPr>
      </p:pic>
    </p:spTree>
    <p:extLst>
      <p:ext uri="{BB962C8B-B14F-4D97-AF65-F5344CB8AC3E}">
        <p14:creationId xmlns:p14="http://schemas.microsoft.com/office/powerpoint/2010/main" val="9137832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3">
      <a:majorFont>
        <a:latin typeface="Calibri Light"/>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6963</TotalTime>
  <Words>1993</Words>
  <Application>Microsoft Office PowerPoint</Application>
  <PresentationFormat>Widescreen</PresentationFormat>
  <Paragraphs>172</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Carlito</vt:lpstr>
      <vt:lpstr>HardingText-Regular</vt:lpstr>
      <vt:lpstr>Office Theme</vt:lpstr>
      <vt:lpstr>Influenza</vt:lpstr>
      <vt:lpstr>Influenza viruses vs coronaviruses</vt:lpstr>
      <vt:lpstr>Influenza seasonality</vt:lpstr>
      <vt:lpstr>Cross immunity: hemagglutinin antigen (HA) imprinting (first flu)</vt:lpstr>
      <vt:lpstr>HA imprinting </vt:lpstr>
      <vt:lpstr>1918 Spanish Influenza: high mortality between 20-40 years of age</vt:lpstr>
      <vt:lpstr>HA imprinting in the 1918 H1N1 pandemic</vt:lpstr>
      <vt:lpstr>Influenza vaccines</vt:lpstr>
      <vt:lpstr>PowerPoint Presentation</vt:lpstr>
      <vt:lpstr>Flu vaccinations are not uniformly available globally</vt:lpstr>
      <vt:lpstr>Top-down solutions:  universal flu vaccine</vt:lpstr>
      <vt:lpstr>PowerPoint Presentation</vt:lpstr>
      <vt:lpstr>Bottom-up solutions:  building preparedness at local levels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ecologies of zoonotics</dc:title>
  <dc:creator>Jon Stallins</dc:creator>
  <cp:lastModifiedBy>Stallins, Jon A.</cp:lastModifiedBy>
  <cp:revision>629</cp:revision>
  <dcterms:created xsi:type="dcterms:W3CDTF">2013-11-05T14:03:08Z</dcterms:created>
  <dcterms:modified xsi:type="dcterms:W3CDTF">2026-09-22T11:55:13Z</dcterms:modified>
</cp:coreProperties>
</file>