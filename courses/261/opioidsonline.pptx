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6"/>
  </p:notesMasterIdLst>
  <p:sldIdLst>
    <p:sldId id="259" r:id="rId2"/>
    <p:sldId id="260" r:id="rId3"/>
    <p:sldId id="258" r:id="rId4"/>
    <p:sldId id="285" r:id="rId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Context" id="{4EF1D7FD-89E0-439E-8DE6-8E28171670C9}">
          <p14:sldIdLst>
            <p14:sldId id="259"/>
            <p14:sldId id="260"/>
            <p14:sldId id="258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51" roundtripDataSignature="AMtx7mgA/1opR4MVUer4/eIdCpqz/JXtx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5789" autoAdjust="0"/>
    <p:restoredTop sz="52422" autoAdjust="0"/>
  </p:normalViewPr>
  <p:slideViewPr>
    <p:cSldViewPr snapToGrid="0">
      <p:cViewPr varScale="1">
        <p:scale>
          <a:sx n="46" d="100"/>
          <a:sy n="46" d="100"/>
        </p:scale>
        <p:origin x="1142" y="48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sorterViewPr>
    <p:cViewPr varScale="1">
      <p:scale>
        <a:sx n="1" d="1"/>
        <a:sy n="1" d="1"/>
      </p:scale>
      <p:origin x="0" y="-1032"/>
    </p:cViewPr>
  </p:sorterViewPr>
  <p:notesViewPr>
    <p:cSldViewPr snapToGrid="0">
      <p:cViewPr varScale="1">
        <p:scale>
          <a:sx n="62" d="100"/>
          <a:sy n="62" d="100"/>
        </p:scale>
        <p:origin x="3226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55" Type="http://schemas.openxmlformats.org/officeDocument/2006/relationships/tableStyles" Target="tableStyles.xml"/><Relationship Id="rId3" Type="http://schemas.openxmlformats.org/officeDocument/2006/relationships/slide" Target="slides/slide2.xml"/><Relationship Id="rId154" Type="http://schemas.openxmlformats.org/officeDocument/2006/relationships/theme" Target="theme/theme1.xml"/><Relationship Id="rId2" Type="http://schemas.openxmlformats.org/officeDocument/2006/relationships/slide" Target="slides/slide1.xml"/><Relationship Id="rId153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2" Type="http://schemas.openxmlformats.org/officeDocument/2006/relationships/presProps" Target="presProps.xml"/><Relationship Id="rId151" Type="http://customschemas.google.com/relationships/presentationmetadata" Target="metadata"/><Relationship Id="rId4" Type="http://schemas.openxmlformats.org/officeDocument/2006/relationships/slide" Target="slides/slide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6" name="Google Shape;106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US at one point was dealing with more than 140 opioid-related deaths every day.  Deaths from opioid overdoses had slowed until the Covid pandemic, then it picked up again.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More than one million people have died since 1999 from a drug overdose, the majority of them from opioids.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But this is only country. There are many global components of the opioid crisis in the US. </a:t>
            </a:r>
            <a:endParaRPr dirty="0"/>
          </a:p>
        </p:txBody>
      </p:sp>
      <p:sp>
        <p:nvSpPr>
          <p:cNvPr id="107" name="Google Shape;107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" name="Google Shape;112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Few Americans have not heard of opioids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https://www.nytimes.com/interactive/2018/us/west-virginia-opioids.html</a:t>
            </a:r>
            <a:endParaRPr dirty="0"/>
          </a:p>
        </p:txBody>
      </p:sp>
      <p:sp>
        <p:nvSpPr>
          <p:cNvPr id="113" name="Google Shape;113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" name="Google Shape;9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Opioids are a class of drugs that act on opioid receptors in the brain. Signals sent to these receptors can block pain and lead to feelings of euphoria.  </a:t>
            </a:r>
            <a:endParaRPr dirty="0"/>
          </a:p>
        </p:txBody>
      </p:sp>
      <p:sp>
        <p:nvSpPr>
          <p:cNvPr id="100" name="Google Shape;100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5" name="Google Shape;285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b="0" dirty="0">
                <a:latin typeface="+mj-lt"/>
              </a:rPr>
              <a:t>Just six companies distributed 75% of the oxycodone and hydrocodone pills during this period: McKesson Corp., Walgreens, Cardinal Health, AmerisourceBergen, CVS and Walmart</a:t>
            </a: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b="0" dirty="0">
              <a:latin typeface="+mj-lt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b="0" dirty="0">
                <a:latin typeface="+mj-lt"/>
              </a:rPr>
              <a:t>Three global companies manufactured about 88% the opioids – these are the pill makers: SpecGx, a subsidiary of Mallinckrodt; Actavis Pharma (purchased by Teva Pharmaceutical); and Par Pharmaceutical, a subsidiary of Endo Pharmaceuticals.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86" name="Google Shape;286;p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9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9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9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9" name="Google Shape;19;p9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0" name="Google Shape;20;p9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9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4" name="Google Shape;24;p9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5" name="Google Shape;25;p9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6" name="Google Shape;26;p9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0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00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0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1" name="Google Shape;31;p10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2" name="Google Shape;32;p10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0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0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01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0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8" name="Google Shape;38;p10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9" name="Google Shape;39;p10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2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02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02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02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02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0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7" name="Google Shape;47;p10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8" name="Google Shape;48;p10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2" name="Google Shape;52;p10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3" name="Google Shape;53;p10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5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05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0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3" name="Google Shape;63;p10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4" name="Google Shape;64;p10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6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6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0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0" name="Google Shape;70;p10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1" name="Google Shape;71;p10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0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07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0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6" name="Google Shape;76;p10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7" name="Google Shape;77;p10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08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08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0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2" name="Google Shape;82;p10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3" name="Google Shape;83;p10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9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9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9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3" name="Google Shape;13;p9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4" name="Google Shape;14;p9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ytimes.com/interactive/2018/us/west-virginia-opioids.html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4"/>
          <p:cNvPicPr preferRelativeResize="0"/>
          <p:nvPr/>
        </p:nvPicPr>
        <p:blipFill rotWithShape="1">
          <a:blip r:embed="rId3">
            <a:alphaModFix/>
          </a:blip>
          <a:srcRect t="9803"/>
          <a:stretch/>
        </p:blipFill>
        <p:spPr>
          <a:xfrm>
            <a:off x="2256775" y="137160"/>
            <a:ext cx="7536449" cy="6720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5">
            <a:hlinkClick r:id="rId3"/>
          </p:cNvPr>
          <p:cNvPicPr preferRelativeResize="0">
            <a:picLocks noGrp="1"/>
          </p:cNvPicPr>
          <p:nvPr>
            <p:ph type="body" idx="1"/>
          </p:nvPr>
        </p:nvPicPr>
        <p:blipFill rotWithShape="1">
          <a:blip r:embed="rId4">
            <a:alphaModFix/>
          </a:blip>
          <a:srcRect/>
          <a:stretch/>
        </p:blipFill>
        <p:spPr>
          <a:xfrm>
            <a:off x="261433" y="829685"/>
            <a:ext cx="11669134" cy="5198630"/>
          </a:xfrm>
          <a:prstGeom prst="rect">
            <a:avLst/>
          </a:prstGeom>
          <a:noFill/>
          <a:ln w="698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"/>
          <p:cNvSpPr txBox="1">
            <a:spLocks noGrp="1"/>
          </p:cNvSpPr>
          <p:nvPr>
            <p:ph type="body" idx="1"/>
          </p:nvPr>
        </p:nvSpPr>
        <p:spPr>
          <a:xfrm>
            <a:off x="838200" y="876966"/>
            <a:ext cx="10515600" cy="510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 sz="3600" dirty="0">
                <a:latin typeface="+mj-lt"/>
              </a:rPr>
              <a:t>Opiate – derived from opium, as in codeine, morphine, or heroin</a:t>
            </a:r>
            <a:endParaRPr sz="3200" dirty="0">
              <a:latin typeface="+mj-lt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 sz="3600" dirty="0">
                <a:latin typeface="+mj-lt"/>
              </a:rPr>
              <a:t>Opioid – drugs that work by binding to the same cellular receptors as opiates, but these chemicals do not occur naturally, as in OxyContin, fentanyl, carfentanil</a:t>
            </a:r>
            <a:endParaRPr sz="3200" dirty="0">
              <a:latin typeface="+mj-lt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 sz="3600" dirty="0">
                <a:latin typeface="+mj-lt"/>
              </a:rPr>
              <a:t>‘Opioid’ has become the umbrella term for all of these terms.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 sz="3600" dirty="0">
                <a:latin typeface="+mj-lt"/>
              </a:rPr>
              <a:t>Not opioids: cocaine, methamphetamine</a:t>
            </a:r>
            <a:endParaRPr sz="3200" dirty="0">
              <a:latin typeface="+mj-lt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 sz="3200" dirty="0">
              <a:latin typeface="+mj-lt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 sz="3200" dirty="0">
              <a:latin typeface="+mj-lt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dirty="0">
              <a:latin typeface="+mj-l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3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>
                <a:latin typeface="+mj-lt"/>
              </a:rPr>
              <a:t>The opioid epidemic made many companies profitable</a:t>
            </a:r>
            <a:endParaRPr dirty="0">
              <a:latin typeface="+mj-lt"/>
            </a:endParaRPr>
          </a:p>
        </p:txBody>
      </p:sp>
      <p:sp>
        <p:nvSpPr>
          <p:cNvPr id="289" name="Google Shape;289;p30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>
                <a:latin typeface="+mj-lt"/>
              </a:rPr>
              <a:t>Purdue Pharmaceutical invented and held patent to Oxycodone and its family of drugs – </a:t>
            </a:r>
            <a:r>
              <a:rPr lang="en-US" b="1" dirty="0">
                <a:latin typeface="+mj-lt"/>
              </a:rPr>
              <a:t>but many other companies </a:t>
            </a:r>
            <a:r>
              <a:rPr lang="en-US" dirty="0">
                <a:latin typeface="+mj-lt"/>
              </a:rPr>
              <a:t>profited from involvement in the opioid crisis</a:t>
            </a:r>
            <a:endParaRPr dirty="0">
              <a:latin typeface="+mj-lt"/>
            </a:endParaRPr>
          </a:p>
          <a:p>
            <a:pPr marL="228600" indent="-228600">
              <a:buSzPct val="100000"/>
            </a:pPr>
            <a:r>
              <a:rPr lang="en-US" dirty="0">
                <a:latin typeface="+mj-lt"/>
              </a:rPr>
              <a:t>Overseas companies </a:t>
            </a:r>
            <a:r>
              <a:rPr lang="en-US" b="1" dirty="0">
                <a:latin typeface="+mj-lt"/>
              </a:rPr>
              <a:t>manufactured</a:t>
            </a:r>
            <a:r>
              <a:rPr lang="en-US" dirty="0">
                <a:latin typeface="+mj-lt"/>
              </a:rPr>
              <a:t> about 88% the opioid pills and provided the ingredients to make OxyContin 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>
                <a:latin typeface="+mj-lt"/>
              </a:rPr>
              <a:t>America’s largest drug companies </a:t>
            </a:r>
            <a:r>
              <a:rPr lang="en-US" b="1" dirty="0">
                <a:latin typeface="+mj-lt"/>
              </a:rPr>
              <a:t>distributed</a:t>
            </a:r>
            <a:r>
              <a:rPr lang="en-US" dirty="0">
                <a:latin typeface="+mj-lt"/>
              </a:rPr>
              <a:t> 76 billion oxycodone and hydrocodone pain pills across the country between 2006 and 2012</a:t>
            </a:r>
            <a:endParaRPr dirty="0">
              <a:latin typeface="+mj-lt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>
                <a:latin typeface="+mj-lt"/>
              </a:rPr>
              <a:t>Just six companies distributed 75% of the oxycodone and hydrocodone pills during this period, including Walgreens, Cardinal Health, CVS and Walmart</a:t>
            </a:r>
            <a:endParaRPr dirty="0">
              <a:latin typeface="+mj-lt"/>
            </a:endParaRPr>
          </a:p>
          <a:p>
            <a:pPr marL="228600" lvl="0" indent="-64135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>
              <a:latin typeface="+mj-l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Calibri Light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2830</TotalTime>
  <Words>363</Words>
  <Application>Microsoft Office PowerPoint</Application>
  <PresentationFormat>Widescreen</PresentationFormat>
  <Paragraphs>20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Calibri Light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The opioid epidemic made many companies profitable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opioids</dc:title>
  <dc:creator>Jon Stallins</dc:creator>
  <cp:lastModifiedBy>Stallins, Jon A.</cp:lastModifiedBy>
  <cp:revision>102</cp:revision>
  <dcterms:created xsi:type="dcterms:W3CDTF">2019-06-29T22:31:06Z</dcterms:created>
  <dcterms:modified xsi:type="dcterms:W3CDTF">2026-10-13T11:19:07Z</dcterms:modified>
</cp:coreProperties>
</file>