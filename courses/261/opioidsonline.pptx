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9" r:id="rId2"/>
    <p:sldId id="260" r:id="rId3"/>
    <p:sldId id="258" r:id="rId4"/>
    <p:sldId id="285" r:id="rId5"/>
    <p:sldId id="333" r:id="rId6"/>
    <p:sldId id="370" r:id="rId7"/>
    <p:sldId id="337" r:id="rId8"/>
    <p:sldId id="335" r:id="rId9"/>
    <p:sldId id="336" r:id="rId10"/>
    <p:sldId id="338" r:id="rId11"/>
    <p:sldId id="339" r:id="rId12"/>
    <p:sldId id="340" r:id="rId13"/>
    <p:sldId id="343" r:id="rId14"/>
    <p:sldId id="428" r:id="rId15"/>
    <p:sldId id="526" r:id="rId16"/>
    <p:sldId id="25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Context" id="{4EF1D7FD-89E0-439E-8DE6-8E28171670C9}">
          <p14:sldIdLst>
            <p14:sldId id="259"/>
            <p14:sldId id="260"/>
            <p14:sldId id="258"/>
            <p14:sldId id="285"/>
            <p14:sldId id="333"/>
            <p14:sldId id="370"/>
            <p14:sldId id="337"/>
            <p14:sldId id="335"/>
            <p14:sldId id="336"/>
            <p14:sldId id="338"/>
            <p14:sldId id="339"/>
            <p14:sldId id="340"/>
            <p14:sldId id="343"/>
            <p14:sldId id="428"/>
            <p14:sldId id="526"/>
            <p14:sldId id="25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1" roundtripDataSignature="AMtx7mgA/1opR4MVUer4/eIdCpqz/JXtx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789" autoAdjust="0"/>
    <p:restoredTop sz="52422" autoAdjust="0"/>
  </p:normalViewPr>
  <p:slideViewPr>
    <p:cSldViewPr snapToGrid="0">
      <p:cViewPr varScale="1">
        <p:scale>
          <a:sx n="54" d="100"/>
          <a:sy n="54" d="100"/>
        </p:scale>
        <p:origin x="1974" y="78"/>
      </p:cViewPr>
      <p:guideLst/>
    </p:cSldViewPr>
  </p:slideViewPr>
  <p:notesTextViewPr>
    <p:cViewPr>
      <p:scale>
        <a:sx n="150" d="100"/>
        <a:sy n="150" d="100"/>
      </p:scale>
      <p:origin x="0" y="0"/>
    </p:cViewPr>
  </p:notesTextViewPr>
  <p:sorterViewPr>
    <p:cViewPr varScale="1">
      <p:scale>
        <a:sx n="1" d="1"/>
        <a:sy n="1" d="1"/>
      </p:scale>
      <p:origin x="0" y="-1032"/>
    </p:cViewPr>
  </p:sorterViewPr>
  <p:notesViewPr>
    <p:cSldViewPr snapToGrid="0">
      <p:cViewPr varScale="1">
        <p:scale>
          <a:sx n="62" d="100"/>
          <a:sy n="62" d="100"/>
        </p:scale>
        <p:origin x="322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155" Type="http://schemas.openxmlformats.org/officeDocument/2006/relationships/tableStyles" Target="tableStyles.xml"/><Relationship Id="rId3" Type="http://schemas.openxmlformats.org/officeDocument/2006/relationships/slide" Target="slides/slide2.xml"/><Relationship Id="rId15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15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52" Type="http://schemas.openxmlformats.org/officeDocument/2006/relationships/presProps" Target="presProps.xml"/><Relationship Id="rId10" Type="http://schemas.openxmlformats.org/officeDocument/2006/relationships/slide" Target="slides/slide9.xml"/><Relationship Id="rId15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US at one point was dealing with more than 140 opioid-related deaths every day.  Deaths from opioid overdoses had slowed until the Covid pandemic, then it picked up again. </a:t>
            </a:r>
            <a:br>
              <a:rPr lang="en-US" dirty="0"/>
            </a:br>
            <a:br>
              <a:rPr lang="en-US" dirty="0"/>
            </a:br>
            <a:r>
              <a:rPr lang="en-US" dirty="0"/>
              <a:t>More than one million people have died since 1999 from a drug overdose, the majority of them from opioids.</a:t>
            </a:r>
            <a:br>
              <a:rPr lang="en-US" dirty="0"/>
            </a:br>
            <a:br>
              <a:rPr lang="en-US" dirty="0"/>
            </a:br>
            <a:r>
              <a:rPr lang="en-US" dirty="0"/>
              <a:t>But this is only country. There are many global components of the opioid crisis in the US. </a:t>
            </a:r>
            <a:endParaRPr dirty="0"/>
          </a:p>
        </p:txBody>
      </p:sp>
      <p:sp>
        <p:nvSpPr>
          <p:cNvPr id="107" name="Google Shape;10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Few Americans have not heard of opioids</a:t>
            </a:r>
            <a:br>
              <a:rPr lang="en-US" dirty="0"/>
            </a:br>
            <a:br>
              <a:rPr lang="en-US" dirty="0"/>
            </a:br>
            <a:r>
              <a:rPr lang="en-US" dirty="0"/>
              <a:t>https://www.nytimes.com/interactive/2018/us/west-virginia-opioids.html</a:t>
            </a:r>
            <a:endParaRPr dirty="0"/>
          </a:p>
        </p:txBody>
      </p:sp>
      <p:sp>
        <p:nvSpPr>
          <p:cNvPr id="113" name="Google Shape;11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Opioids are a class of drugs that act on opioid receptors in the brain. Signals sent to these receptors can block pain and lead to feelings of euphoria.  </a:t>
            </a:r>
            <a:endParaRPr dirty="0"/>
          </a:p>
        </p:txBody>
      </p:sp>
      <p:sp>
        <p:nvSpPr>
          <p:cNvPr id="100" name="Google Shape;10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Clr>
                <a:schemeClr val="dk1"/>
              </a:buClr>
              <a:buSzPct val="100000"/>
              <a:buNone/>
            </a:pPr>
            <a:r>
              <a:rPr lang="en-US" b="0" dirty="0">
                <a:latin typeface="+mj-lt"/>
              </a:rPr>
              <a:t>Just six companies distributed 75% of the oxycodone and hydrocodone pills during this period: McKesson Corp., Walgreens, Cardinal Health, AmerisourceBergen, CVS and Walmart</a:t>
            </a:r>
          </a:p>
          <a:p>
            <a:pPr marL="0" lvl="0" indent="0" algn="l" rtl="0">
              <a:lnSpc>
                <a:spcPct val="90000"/>
              </a:lnSpc>
              <a:spcBef>
                <a:spcPts val="1000"/>
              </a:spcBef>
              <a:spcAft>
                <a:spcPts val="0"/>
              </a:spcAft>
              <a:buClr>
                <a:schemeClr val="dk1"/>
              </a:buClr>
              <a:buSzPct val="100000"/>
              <a:buNone/>
            </a:pPr>
            <a:endParaRPr lang="en-US" b="0" dirty="0">
              <a:latin typeface="+mj-lt"/>
            </a:endParaRPr>
          </a:p>
          <a:p>
            <a:pPr marL="0" lvl="0" indent="0" algn="l" rtl="0">
              <a:lnSpc>
                <a:spcPct val="90000"/>
              </a:lnSpc>
              <a:spcBef>
                <a:spcPts val="1000"/>
              </a:spcBef>
              <a:spcAft>
                <a:spcPts val="0"/>
              </a:spcAft>
              <a:buClr>
                <a:schemeClr val="dk1"/>
              </a:buClr>
              <a:buSzPct val="100000"/>
              <a:buNone/>
            </a:pPr>
            <a:r>
              <a:rPr lang="en-US" b="0" dirty="0">
                <a:latin typeface="+mj-lt"/>
              </a:rPr>
              <a:t>Three global companies manufactured about 88% the opioids – these are the pill makers: SpecGx, a subsidiary of Mallinckrodt; Actavis Pharma (purchased by Teva Pharmaceutical); and Par Pharmaceutical, a subsidiary of Endo Pharmaceuticals.</a:t>
            </a:r>
          </a:p>
          <a:p>
            <a:pPr marL="0" lvl="0" indent="0" algn="l" rtl="0">
              <a:spcBef>
                <a:spcPts val="0"/>
              </a:spcBef>
              <a:spcAft>
                <a:spcPts val="0"/>
              </a:spcAft>
              <a:buNone/>
            </a:pPr>
            <a:endParaRPr dirty="0"/>
          </a:p>
        </p:txBody>
      </p:sp>
      <p:sp>
        <p:nvSpPr>
          <p:cNvPr id="286" name="Google Shape;286;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1" name="Google Shape;611;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Berterame, S., Erthal, J., Thomas, J., Fellner, S., Vosse, B., Clare, P., ... &amp; Samak, A. K. E. (2016). Use of and barriers to access to opioid analgesics: a worldwide, regional, and national study. </a:t>
            </a:r>
            <a:r>
              <a:rPr lang="en-US" i="1" dirty="0"/>
              <a:t>The Lancet</a:t>
            </a:r>
            <a:r>
              <a:rPr lang="en-US" dirty="0"/>
              <a:t>, </a:t>
            </a:r>
            <a:r>
              <a:rPr lang="en-US" i="1" dirty="0"/>
              <a:t>387</a:t>
            </a:r>
            <a:r>
              <a:rPr lang="en-US" dirty="0"/>
              <a:t>(10028), 1644-1656.</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World Health Organization. (2023). Left behind in pain: extent and causes of global variations in access to morphine for medical use and actions to improve safe access. In </a:t>
            </a:r>
            <a:r>
              <a:rPr lang="en-US" i="1" dirty="0"/>
              <a:t>Left behind in pain: extent and causes of global variations in access to morphine for medical use and actions to improve safe access</a:t>
            </a:r>
            <a:r>
              <a:rPr lang="en-US" dirty="0"/>
              <a:t>.</a:t>
            </a:r>
          </a:p>
          <a:p>
            <a:pPr marL="0" lvl="0" indent="0" algn="l" rtl="0">
              <a:spcBef>
                <a:spcPts val="0"/>
              </a:spcBef>
              <a:spcAft>
                <a:spcPts val="0"/>
              </a:spcAft>
              <a:buNone/>
            </a:pPr>
            <a:endParaRPr dirty="0"/>
          </a:p>
        </p:txBody>
      </p:sp>
      <p:sp>
        <p:nvSpPr>
          <p:cNvPr id="612" name="Google Shape;612;p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World Health Organization (2023)</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33009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43" name="Google Shape;643;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5629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6" name="Google Shape;626;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https://doi.org/10.1177/0020731420906748</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Vitry, A., Forte, G., &amp; White, J. (2020). Access to Controlled Medicines in Low-Income Countries: Listening to Stakeholders in the Field. </a:t>
            </a:r>
            <a:r>
              <a:rPr lang="en-US" i="1" dirty="0"/>
              <a:t>International Journal of Health Services</a:t>
            </a:r>
            <a:r>
              <a:rPr lang="en-US" dirty="0"/>
              <a:t>, 0020731420906748.</a:t>
            </a:r>
            <a:endParaRPr dirty="0"/>
          </a:p>
        </p:txBody>
      </p:sp>
      <p:sp>
        <p:nvSpPr>
          <p:cNvPr id="627" name="Google Shape;627;p8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4" name="Google Shape;634;p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https://ehospice.com/africa_posts/millions-in-africa-do-not-have-access-to-morphine-and-suffer-unnecessary-preventable-pain/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https://www.economist.com/middle-east-and-africa/2019/02/02/outdated-drug-policies-leave-millions-of-africans-in-agony</a:t>
            </a:r>
            <a:endParaRPr dirty="0"/>
          </a:p>
        </p:txBody>
      </p:sp>
      <p:sp>
        <p:nvSpPr>
          <p:cNvPr id="635" name="Google Shape;635;p8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1" name="Google Shape;651;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https://www.nytimes.com/2017/12/04/health/opioids-africa-pain.html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The opioid drugs used for palliative care in Africa—injectable or oral morphine—have a low abuse potential when used appropriately—in this case, under supervision, for the relief of severe pain. The opioid epidemic in the US is complex, but appropriate use of opioids in palliative care is not a major contributor to addiction here, either. Instead, it was fueled by rampant overprescription of drugs like OxyContin, which were sent home with patients in large quantities even after minor surgery or injury. The US situation is making the debate over access to pain medications so much more difficult in Africa. </a:t>
            </a:r>
            <a:endParaRPr dirty="0"/>
          </a:p>
        </p:txBody>
      </p:sp>
      <p:sp>
        <p:nvSpPr>
          <p:cNvPr id="652" name="Google Shape;652;p8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9" name="Google Shape;659;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https://www.wsj.com/articles/tramadol-the-opioid-crisis-for-the-rest-of-the-world-1476887401</a:t>
            </a:r>
            <a:endParaRPr dirty="0"/>
          </a:p>
        </p:txBody>
      </p:sp>
      <p:sp>
        <p:nvSpPr>
          <p:cNvPr id="660" name="Google Shape;660;p8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p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dirty="0"/>
              <a:t>https://www.globalhealthnow.org/2019-02/opioid-crisis-grips-gaza-strip</a:t>
            </a:r>
            <a:endParaRPr dirty="0"/>
          </a:p>
          <a:p>
            <a:pPr marL="0" marR="0" lvl="0" indent="0" algn="l" rtl="0">
              <a:lnSpc>
                <a:spcPct val="100000"/>
              </a:lnSpc>
              <a:spcBef>
                <a:spcPts val="0"/>
              </a:spcBef>
              <a:spcAft>
                <a:spcPts val="0"/>
              </a:spcAft>
              <a:buClr>
                <a:schemeClr val="dk1"/>
              </a:buClr>
              <a:buSzPts val="1200"/>
              <a:buFont typeface="Calibri"/>
              <a:buNone/>
            </a:pPr>
            <a:endParaRPr dirty="0"/>
          </a:p>
          <a:p>
            <a:pPr marL="0" marR="0" lvl="0" indent="0" algn="l" rtl="0">
              <a:lnSpc>
                <a:spcPct val="100000"/>
              </a:lnSpc>
              <a:spcBef>
                <a:spcPts val="0"/>
              </a:spcBef>
              <a:spcAft>
                <a:spcPts val="0"/>
              </a:spcAft>
              <a:buClr>
                <a:schemeClr val="dk1"/>
              </a:buClr>
              <a:buSzPts val="1200"/>
              <a:buFont typeface="Calibri"/>
              <a:buNone/>
            </a:pPr>
            <a:r>
              <a:rPr lang="en-US" dirty="0"/>
              <a:t>https://mosaicscience.com/story/opioid-epidemic-you-havent-heard-about-tramadol-Togo-Africa/</a:t>
            </a:r>
            <a:endParaRPr dirty="0"/>
          </a:p>
          <a:p>
            <a:pPr marL="0" lvl="0" indent="0" algn="l" rtl="0">
              <a:spcBef>
                <a:spcPts val="0"/>
              </a:spcBef>
              <a:spcAft>
                <a:spcPts val="0"/>
              </a:spcAft>
              <a:buNone/>
            </a:pPr>
            <a:endParaRPr dirty="0"/>
          </a:p>
        </p:txBody>
      </p:sp>
      <p:sp>
        <p:nvSpPr>
          <p:cNvPr id="666" name="Google Shape;666;p8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But because it is not a scheduled controlled substance subject to tighter controls, it is easy to get and abuse</a:t>
            </a:r>
            <a:endParaRPr dirty="0"/>
          </a:p>
        </p:txBody>
      </p:sp>
      <p:sp>
        <p:nvSpPr>
          <p:cNvPr id="684" name="Google Shape;684;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r>
              <a:rPr lang="en-US" dirty="0"/>
              <a:t>https://www.washingtonpost.com/health/2024/09/17/opioid-epidemic-purdue-pharma-family-mundipharma-global/</a:t>
            </a:r>
          </a:p>
          <a:p>
            <a:pPr marL="0"/>
            <a:endParaRPr lang="en-US" dirty="0"/>
          </a:p>
          <a:p>
            <a:pPr marL="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20264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9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9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9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9" name="Google Shape;19;p9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0" name="Google Shape;20;p9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9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9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5" name="Google Shape;25;p9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6" name="Google Shape;26;p9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0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0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0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10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10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0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8" name="Google Shape;38;p10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9" name="Google Shape;39;p10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0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0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0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0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0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0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7" name="Google Shape;47;p10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8" name="Google Shape;48;p10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0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0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2" name="Google Shape;52;p10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3" name="Google Shape;53;p10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0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0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3" name="Google Shape;63;p10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4" name="Google Shape;64;p10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6"/>
          <p:cNvSpPr>
            <a:spLocks noGrp="1"/>
          </p:cNvSpPr>
          <p:nvPr>
            <p:ph type="pic" idx="2"/>
          </p:nvPr>
        </p:nvSpPr>
        <p:spPr>
          <a:xfrm>
            <a:off x="5183188" y="987425"/>
            <a:ext cx="6172200" cy="4873625"/>
          </a:xfrm>
          <a:prstGeom prst="rect">
            <a:avLst/>
          </a:prstGeom>
          <a:noFill/>
          <a:ln>
            <a:noFill/>
          </a:ln>
        </p:spPr>
      </p:sp>
      <p:sp>
        <p:nvSpPr>
          <p:cNvPr id="68" name="Google Shape;68;p10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0" name="Google Shape;70;p10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1" name="Google Shape;71;p10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0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0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0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6" name="Google Shape;76;p10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7" name="Google Shape;77;p10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0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0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0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2" name="Google Shape;82;p10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3" name="Google Shape;83;p10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1757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3" name="Google Shape;13;p9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4" name="Google Shape;14;p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nytimes.com/interactive/2018/us/west-virginia-opioids.ht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hyperlink" Target="https://www.nytimes.com/2017/12/04/health/opioids-africa-pain.html"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video" Target="https://www.youtube.com/embed/XrNeKz1Uh5s?feature=oembed" TargetMode="Externa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video" Target="https://www.youtube.com/embed/dlkkfpxmXJk?feature=oembed" TargetMode="External"/><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video" Target="https://www.youtube.com/embed/DHHt_KGDEoU?feature=oembed" TargetMode="External"/><Relationship Id="rId4" Type="http://schemas.openxmlformats.org/officeDocument/2006/relationships/image" Target="../media/image12.jpe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dw.com/en/hooked-on-tramadol-the-brutal-cost-of-numbing-the-pain/video-77509076"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4"/>
          <p:cNvPicPr preferRelativeResize="0"/>
          <p:nvPr/>
        </p:nvPicPr>
        <p:blipFill rotWithShape="1">
          <a:blip r:embed="rId3">
            <a:alphaModFix/>
          </a:blip>
          <a:srcRect t="9803"/>
          <a:stretch/>
        </p:blipFill>
        <p:spPr>
          <a:xfrm>
            <a:off x="2256775" y="137160"/>
            <a:ext cx="7536449" cy="67208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5">
            <a:hlinkClick r:id="rId3"/>
          </p:cNvPr>
          <p:cNvPicPr preferRelativeResize="0">
            <a:picLocks noGrp="1"/>
          </p:cNvPicPr>
          <p:nvPr>
            <p:ph type="body" idx="1"/>
          </p:nvPr>
        </p:nvPicPr>
        <p:blipFill rotWithShape="1">
          <a:blip r:embed="rId4">
            <a:alphaModFix/>
          </a:blip>
          <a:srcRect/>
          <a:stretch/>
        </p:blipFill>
        <p:spPr>
          <a:xfrm>
            <a:off x="261433" y="829685"/>
            <a:ext cx="11669134" cy="5198630"/>
          </a:xfrm>
          <a:prstGeom prst="rect">
            <a:avLst/>
          </a:prstGeom>
          <a:noFill/>
          <a:ln w="69850" cap="flat" cmpd="sng">
            <a:solidFill>
              <a:schemeClr val="accent1"/>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3" name="Google Shape;103;p3"/>
          <p:cNvSpPr txBox="1">
            <a:spLocks noGrp="1"/>
          </p:cNvSpPr>
          <p:nvPr>
            <p:ph type="body" idx="1"/>
          </p:nvPr>
        </p:nvSpPr>
        <p:spPr>
          <a:xfrm>
            <a:off x="838200" y="876966"/>
            <a:ext cx="10515600" cy="510406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3200"/>
              <a:buChar char="•"/>
            </a:pPr>
            <a:r>
              <a:rPr lang="en-US" sz="3600" dirty="0">
                <a:latin typeface="+mj-lt"/>
              </a:rPr>
              <a:t>Opiate – derived from opium, as in codeine, morphine, or heroin</a:t>
            </a:r>
            <a:endParaRPr sz="3200" dirty="0">
              <a:latin typeface="+mj-lt"/>
            </a:endParaRPr>
          </a:p>
          <a:p>
            <a:pPr marL="228600" lvl="0" indent="-228600" algn="l" rtl="0">
              <a:lnSpc>
                <a:spcPct val="90000"/>
              </a:lnSpc>
              <a:spcBef>
                <a:spcPts val="1000"/>
              </a:spcBef>
              <a:spcAft>
                <a:spcPts val="0"/>
              </a:spcAft>
              <a:buClr>
                <a:schemeClr val="dk1"/>
              </a:buClr>
              <a:buSzPts val="3200"/>
              <a:buChar char="•"/>
            </a:pPr>
            <a:r>
              <a:rPr lang="en-US" sz="3600" dirty="0">
                <a:latin typeface="+mj-lt"/>
              </a:rPr>
              <a:t>Opioid – drugs that work by binding to the same cellular receptors as opiates, but these chemicals do not occur naturally, as in OxyContin, fentanyl, carfentanil</a:t>
            </a:r>
            <a:endParaRPr sz="3200" dirty="0">
              <a:latin typeface="+mj-lt"/>
            </a:endParaRPr>
          </a:p>
          <a:p>
            <a:pPr marL="228600" lvl="0" indent="-228600" algn="l" rtl="0">
              <a:lnSpc>
                <a:spcPct val="90000"/>
              </a:lnSpc>
              <a:spcBef>
                <a:spcPts val="1000"/>
              </a:spcBef>
              <a:spcAft>
                <a:spcPts val="0"/>
              </a:spcAft>
              <a:buClr>
                <a:schemeClr val="dk1"/>
              </a:buClr>
              <a:buSzPts val="3200"/>
              <a:buChar char="•"/>
            </a:pPr>
            <a:r>
              <a:rPr lang="en-US" sz="3600" dirty="0">
                <a:latin typeface="+mj-lt"/>
              </a:rPr>
              <a:t>‘Opioid’ has become the umbrella term for all of these terms.</a:t>
            </a:r>
          </a:p>
          <a:p>
            <a:pPr marL="228600" lvl="0" indent="-228600" algn="l" rtl="0">
              <a:lnSpc>
                <a:spcPct val="90000"/>
              </a:lnSpc>
              <a:spcBef>
                <a:spcPts val="1000"/>
              </a:spcBef>
              <a:spcAft>
                <a:spcPts val="0"/>
              </a:spcAft>
              <a:buClr>
                <a:schemeClr val="dk1"/>
              </a:buClr>
              <a:buSzPts val="3200"/>
              <a:buChar char="•"/>
            </a:pPr>
            <a:r>
              <a:rPr lang="en-US" sz="3600" dirty="0">
                <a:latin typeface="+mj-lt"/>
              </a:rPr>
              <a:t>Not opioids: cocaine, methamphetamine</a:t>
            </a:r>
            <a:endParaRPr sz="3200" dirty="0">
              <a:latin typeface="+mj-lt"/>
            </a:endParaRPr>
          </a:p>
          <a:p>
            <a:pPr marL="0" lvl="0" indent="0" algn="l" rtl="0">
              <a:lnSpc>
                <a:spcPct val="90000"/>
              </a:lnSpc>
              <a:spcBef>
                <a:spcPts val="1000"/>
              </a:spcBef>
              <a:spcAft>
                <a:spcPts val="0"/>
              </a:spcAft>
              <a:buClr>
                <a:schemeClr val="dk1"/>
              </a:buClr>
              <a:buSzPts val="3200"/>
              <a:buNone/>
            </a:pPr>
            <a:endParaRPr sz="3200" dirty="0">
              <a:latin typeface="+mj-lt"/>
            </a:endParaRPr>
          </a:p>
          <a:p>
            <a:pPr marL="0" lvl="0" indent="0" algn="l" rtl="0">
              <a:lnSpc>
                <a:spcPct val="90000"/>
              </a:lnSpc>
              <a:spcBef>
                <a:spcPts val="1000"/>
              </a:spcBef>
              <a:spcAft>
                <a:spcPts val="0"/>
              </a:spcAft>
              <a:buClr>
                <a:schemeClr val="dk1"/>
              </a:buClr>
              <a:buSzPts val="3200"/>
              <a:buNone/>
            </a:pPr>
            <a:endParaRPr sz="3200" dirty="0">
              <a:latin typeface="+mj-lt"/>
            </a:endParaRPr>
          </a:p>
          <a:p>
            <a:pPr marL="0" lvl="0" indent="0" algn="l" rtl="0">
              <a:lnSpc>
                <a:spcPct val="90000"/>
              </a:lnSpc>
              <a:spcBef>
                <a:spcPts val="1000"/>
              </a:spcBef>
              <a:spcAft>
                <a:spcPts val="0"/>
              </a:spcAft>
              <a:buClr>
                <a:schemeClr val="dk1"/>
              </a:buClr>
              <a:buSzPts val="2800"/>
              <a:buNone/>
            </a:pPr>
            <a:endParaRPr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latin typeface="+mj-lt"/>
              </a:rPr>
              <a:t>The opioid epidemic made many companies profitable</a:t>
            </a:r>
            <a:endParaRPr dirty="0">
              <a:latin typeface="+mj-lt"/>
            </a:endParaRPr>
          </a:p>
        </p:txBody>
      </p:sp>
      <p:sp>
        <p:nvSpPr>
          <p:cNvPr id="289" name="Google Shape;289;p30"/>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ct val="100000"/>
              <a:buChar char="•"/>
            </a:pPr>
            <a:r>
              <a:rPr lang="en-US" dirty="0">
                <a:latin typeface="+mj-lt"/>
              </a:rPr>
              <a:t>Purdue Pharmaceutical invented and held patent to Oxycodone and its family of drugs – </a:t>
            </a:r>
            <a:r>
              <a:rPr lang="en-US" b="1" dirty="0">
                <a:latin typeface="+mj-lt"/>
              </a:rPr>
              <a:t>but many other companies </a:t>
            </a:r>
            <a:r>
              <a:rPr lang="en-US" dirty="0">
                <a:latin typeface="+mj-lt"/>
              </a:rPr>
              <a:t>profited from involvement in the opioid crisis</a:t>
            </a:r>
            <a:endParaRPr dirty="0">
              <a:latin typeface="+mj-lt"/>
            </a:endParaRPr>
          </a:p>
          <a:p>
            <a:pPr marL="228600" indent="-228600">
              <a:buSzPct val="100000"/>
            </a:pPr>
            <a:r>
              <a:rPr lang="en-US" dirty="0">
                <a:latin typeface="+mj-lt"/>
              </a:rPr>
              <a:t>Overseas companies </a:t>
            </a:r>
            <a:r>
              <a:rPr lang="en-US" b="1" dirty="0">
                <a:latin typeface="+mj-lt"/>
              </a:rPr>
              <a:t>manufactured</a:t>
            </a:r>
            <a:r>
              <a:rPr lang="en-US" dirty="0">
                <a:latin typeface="+mj-lt"/>
              </a:rPr>
              <a:t> about 88% the opioid pills and provided the ingredients to make OxyContin </a:t>
            </a:r>
          </a:p>
          <a:p>
            <a:pPr marL="228600" lvl="0" indent="-228600" algn="l" rtl="0">
              <a:lnSpc>
                <a:spcPct val="90000"/>
              </a:lnSpc>
              <a:spcBef>
                <a:spcPts val="1000"/>
              </a:spcBef>
              <a:spcAft>
                <a:spcPts val="0"/>
              </a:spcAft>
              <a:buClr>
                <a:schemeClr val="dk1"/>
              </a:buClr>
              <a:buSzPct val="100000"/>
              <a:buChar char="•"/>
            </a:pPr>
            <a:r>
              <a:rPr lang="en-US" dirty="0">
                <a:latin typeface="+mj-lt"/>
              </a:rPr>
              <a:t>America’s largest drug companies </a:t>
            </a:r>
            <a:r>
              <a:rPr lang="en-US" b="1" dirty="0">
                <a:latin typeface="+mj-lt"/>
              </a:rPr>
              <a:t>distributed</a:t>
            </a:r>
            <a:r>
              <a:rPr lang="en-US" dirty="0">
                <a:latin typeface="+mj-lt"/>
              </a:rPr>
              <a:t> 76 billion oxycodone and hydrocodone pain pills across the country between 2006 and 2012</a:t>
            </a:r>
            <a:endParaRPr dirty="0">
              <a:latin typeface="+mj-lt"/>
            </a:endParaRPr>
          </a:p>
          <a:p>
            <a:pPr marL="228600" lvl="0" indent="-228600" algn="l" rtl="0">
              <a:lnSpc>
                <a:spcPct val="90000"/>
              </a:lnSpc>
              <a:spcBef>
                <a:spcPts val="1000"/>
              </a:spcBef>
              <a:spcAft>
                <a:spcPts val="0"/>
              </a:spcAft>
              <a:buClr>
                <a:schemeClr val="dk1"/>
              </a:buClr>
              <a:buSzPct val="100000"/>
              <a:buChar char="•"/>
            </a:pPr>
            <a:r>
              <a:rPr lang="en-US" dirty="0">
                <a:latin typeface="+mj-lt"/>
              </a:rPr>
              <a:t>Just six companies distributed 75% of the oxycodone and hydrocodone pills during this period, including Walgreens, Cardinal Health, CVS and Walmart</a:t>
            </a:r>
            <a:endParaRPr dirty="0">
              <a:latin typeface="+mj-lt"/>
            </a:endParaRPr>
          </a:p>
          <a:p>
            <a:pPr marL="228600" lvl="0" indent="-64135" algn="l" rtl="0">
              <a:lnSpc>
                <a:spcPct val="90000"/>
              </a:lnSpc>
              <a:spcBef>
                <a:spcPts val="1000"/>
              </a:spcBef>
              <a:spcAft>
                <a:spcPts val="0"/>
              </a:spcAft>
              <a:buClr>
                <a:schemeClr val="dk1"/>
              </a:buClr>
              <a:buSzPct val="100000"/>
              <a:buNone/>
            </a:pPr>
            <a:endParaRPr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7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latin typeface="+mj-lt"/>
              </a:rPr>
              <a:t>The Global Pain Divide</a:t>
            </a:r>
            <a:endParaRPr dirty="0">
              <a:latin typeface="+mj-lt"/>
            </a:endParaRPr>
          </a:p>
        </p:txBody>
      </p:sp>
      <p:sp>
        <p:nvSpPr>
          <p:cNvPr id="615" name="Google Shape;615;p78"/>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sz="3400" dirty="0">
                <a:latin typeface="+mj-lt"/>
              </a:rPr>
              <a:t>Estimates range into the billions of people worldwide who have little to no access to essential opioid analgesics, such as codeine or morphine</a:t>
            </a:r>
            <a:endParaRPr sz="3400" dirty="0">
              <a:latin typeface="+mj-lt"/>
            </a:endParaRPr>
          </a:p>
          <a:p>
            <a:pPr marL="228600" lvl="0" indent="-228600" algn="l" rtl="0">
              <a:lnSpc>
                <a:spcPct val="90000"/>
              </a:lnSpc>
              <a:spcBef>
                <a:spcPts val="1000"/>
              </a:spcBef>
              <a:spcAft>
                <a:spcPts val="0"/>
              </a:spcAft>
              <a:buClr>
                <a:schemeClr val="dk1"/>
              </a:buClr>
              <a:buSzPts val="2800"/>
              <a:buChar char="•"/>
            </a:pPr>
            <a:r>
              <a:rPr lang="en-US" sz="3400" dirty="0">
                <a:latin typeface="+mj-lt"/>
              </a:rPr>
              <a:t>Worldwide use of opioid analgesics is concentrated in a few countries, in particular, the USA, Canada, Australia, New Zealand, and several European countries</a:t>
            </a:r>
            <a:endParaRPr sz="3400" dirty="0">
              <a:latin typeface="+mj-lt"/>
            </a:endParaRPr>
          </a:p>
          <a:p>
            <a:pPr marL="228600" lvl="0" indent="-228600" algn="l" rtl="0">
              <a:lnSpc>
                <a:spcPct val="90000"/>
              </a:lnSpc>
              <a:spcBef>
                <a:spcPts val="1000"/>
              </a:spcBef>
              <a:spcAft>
                <a:spcPts val="0"/>
              </a:spcAft>
              <a:buClr>
                <a:schemeClr val="dk1"/>
              </a:buClr>
              <a:buSzPts val="2800"/>
              <a:buChar char="•"/>
            </a:pPr>
            <a:r>
              <a:rPr lang="en-US" sz="3400" dirty="0">
                <a:latin typeface="+mj-lt"/>
              </a:rPr>
              <a:t>Calls have been made to close this longstanding ‘pain divide’</a:t>
            </a:r>
          </a:p>
          <a:p>
            <a:pPr marL="0" lvl="0" indent="0" algn="l" rtl="0">
              <a:lnSpc>
                <a:spcPct val="90000"/>
              </a:lnSpc>
              <a:spcBef>
                <a:spcPts val="1000"/>
              </a:spcBef>
              <a:spcAft>
                <a:spcPts val="0"/>
              </a:spcAft>
              <a:buClr>
                <a:schemeClr val="dk1"/>
              </a:buClr>
              <a:buSzPts val="2800"/>
              <a:buNone/>
            </a:pPr>
            <a:endParaRPr dirty="0">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DE9B35-8762-DB18-E5D3-E3278943D353}"/>
              </a:ext>
            </a:extLst>
          </p:cNvPr>
          <p:cNvPicPr>
            <a:picLocks noChangeAspect="1"/>
          </p:cNvPicPr>
          <p:nvPr/>
        </p:nvPicPr>
        <p:blipFill rotWithShape="1">
          <a:blip r:embed="rId3"/>
          <a:srcRect l="52800" t="2629" b="5909"/>
          <a:stretch/>
        </p:blipFill>
        <p:spPr>
          <a:xfrm>
            <a:off x="2624328" y="0"/>
            <a:ext cx="6245352" cy="6758080"/>
          </a:xfrm>
          <a:prstGeom prst="rect">
            <a:avLst/>
          </a:prstGeom>
        </p:spPr>
      </p:pic>
    </p:spTree>
    <p:extLst>
      <p:ext uri="{BB962C8B-B14F-4D97-AF65-F5344CB8AC3E}">
        <p14:creationId xmlns:p14="http://schemas.microsoft.com/office/powerpoint/2010/main" val="4235321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8" name="Google Shape;648;p82"/>
          <p:cNvSpPr txBox="1">
            <a:spLocks noGrp="1"/>
          </p:cNvSpPr>
          <p:nvPr>
            <p:ph type="title"/>
          </p:nvPr>
        </p:nvSpPr>
        <p:spPr>
          <a:xfrm>
            <a:off x="432933" y="441325"/>
            <a:ext cx="3364992" cy="1325563"/>
          </a:xfrm>
          <a:prstGeom prst="rect">
            <a:avLst/>
          </a:prstGeom>
          <a:solidFill>
            <a:schemeClr val="lt1"/>
          </a:solid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US" dirty="0">
                <a:latin typeface="+mj-lt"/>
              </a:rPr>
              <a:t>The US opioid crisis worsened the pain divide</a:t>
            </a:r>
            <a:endParaRPr dirty="0">
              <a:latin typeface="+mj-lt"/>
            </a:endParaRPr>
          </a:p>
        </p:txBody>
      </p:sp>
      <p:sp>
        <p:nvSpPr>
          <p:cNvPr id="645" name="Google Shape;645;p82"/>
          <p:cNvSpPr txBox="1">
            <a:spLocks noGrp="1"/>
          </p:cNvSpPr>
          <p:nvPr>
            <p:ph type="body" idx="1"/>
          </p:nvPr>
        </p:nvSpPr>
        <p:spPr>
          <a:xfrm>
            <a:off x="77931" y="2346829"/>
            <a:ext cx="3719994"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latin typeface="+mj-lt"/>
              </a:rPr>
              <a:t>Impediments to the availability of opioid medication were going down until the opioid epidemic in the US resulted in a global shortage and increased prices,</a:t>
            </a:r>
            <a:endParaRPr dirty="0">
              <a:latin typeface="+mj-lt"/>
            </a:endParaRPr>
          </a:p>
        </p:txBody>
      </p:sp>
      <p:pic>
        <p:nvPicPr>
          <p:cNvPr id="646" name="Google Shape;646;p82"/>
          <p:cNvPicPr preferRelativeResize="0"/>
          <p:nvPr/>
        </p:nvPicPr>
        <p:blipFill rotWithShape="1">
          <a:blip r:embed="rId3">
            <a:alphaModFix/>
          </a:blip>
          <a:srcRect/>
          <a:stretch/>
        </p:blipFill>
        <p:spPr>
          <a:xfrm>
            <a:off x="3900123" y="0"/>
            <a:ext cx="7756746" cy="6858000"/>
          </a:xfrm>
          <a:prstGeom prst="rect">
            <a:avLst/>
          </a:prstGeom>
          <a:noFill/>
          <a:ln>
            <a:noFill/>
          </a:ln>
        </p:spPr>
      </p:pic>
      <p:pic>
        <p:nvPicPr>
          <p:cNvPr id="647" name="Google Shape;647;p82"/>
          <p:cNvPicPr preferRelativeResize="0"/>
          <p:nvPr/>
        </p:nvPicPr>
        <p:blipFill rotWithShape="1">
          <a:blip r:embed="rId3">
            <a:alphaModFix/>
          </a:blip>
          <a:srcRect l="64932" t="2730" r="2561" b="74794"/>
          <a:stretch/>
        </p:blipFill>
        <p:spPr>
          <a:xfrm>
            <a:off x="7482405" y="156755"/>
            <a:ext cx="3958045" cy="2419683"/>
          </a:xfrm>
          <a:prstGeom prst="rect">
            <a:avLst/>
          </a:prstGeom>
          <a:noFill/>
          <a:ln>
            <a:noFill/>
          </a:ln>
        </p:spPr>
      </p:pic>
    </p:spTree>
    <p:extLst>
      <p:ext uri="{BB962C8B-B14F-4D97-AF65-F5344CB8AC3E}">
        <p14:creationId xmlns:p14="http://schemas.microsoft.com/office/powerpoint/2010/main" val="1191288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8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latin typeface="+mj-lt"/>
              </a:rPr>
              <a:t>Procuring controlled medicines in low-income countries is complex</a:t>
            </a:r>
            <a:endParaRPr dirty="0">
              <a:latin typeface="+mj-lt"/>
            </a:endParaRPr>
          </a:p>
        </p:txBody>
      </p:sp>
      <p:sp>
        <p:nvSpPr>
          <p:cNvPr id="630" name="Google Shape;630;p80"/>
          <p:cNvSpPr txBox="1">
            <a:spLocks noGrp="1"/>
          </p:cNvSpPr>
          <p:nvPr>
            <p:ph type="body" idx="1"/>
          </p:nvPr>
        </p:nvSpPr>
        <p:spPr>
          <a:xfrm>
            <a:off x="517136" y="1825625"/>
            <a:ext cx="5408176" cy="49161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ct val="100000"/>
              <a:buChar char="•"/>
            </a:pPr>
            <a:r>
              <a:rPr lang="en-US" dirty="0">
                <a:latin typeface="+mj-lt"/>
              </a:rPr>
              <a:t>Countries must remain in compliance with international conventions on controlled narcotics </a:t>
            </a:r>
          </a:p>
          <a:p>
            <a:pPr marL="228600" lvl="0" indent="-228600" algn="l" rtl="0">
              <a:lnSpc>
                <a:spcPct val="90000"/>
              </a:lnSpc>
              <a:spcBef>
                <a:spcPts val="1000"/>
              </a:spcBef>
              <a:spcAft>
                <a:spcPts val="0"/>
              </a:spcAft>
              <a:buClr>
                <a:schemeClr val="dk1"/>
              </a:buClr>
              <a:buSzPct val="100000"/>
              <a:buChar char="•"/>
            </a:pPr>
            <a:r>
              <a:rPr lang="en-US" dirty="0">
                <a:latin typeface="+mj-lt"/>
              </a:rPr>
              <a:t>Many administrative steps required for obtaining authorization for export and import of controlled narcotics</a:t>
            </a:r>
          </a:p>
          <a:p>
            <a:pPr marL="228600" lvl="0" indent="-228600" algn="l" rtl="0">
              <a:lnSpc>
                <a:spcPct val="90000"/>
              </a:lnSpc>
              <a:spcBef>
                <a:spcPts val="1000"/>
              </a:spcBef>
              <a:spcAft>
                <a:spcPts val="0"/>
              </a:spcAft>
              <a:buClr>
                <a:schemeClr val="dk1"/>
              </a:buClr>
              <a:buSzPct val="100000"/>
              <a:buChar char="•"/>
            </a:pPr>
            <a:r>
              <a:rPr lang="en-US" dirty="0">
                <a:latin typeface="+mj-lt"/>
              </a:rPr>
              <a:t>Complexities of the trade in controlled medicines directly contribute to the lack of access of drugs for treating pain</a:t>
            </a:r>
            <a:endParaRPr dirty="0">
              <a:latin typeface="+mj-lt"/>
            </a:endParaRPr>
          </a:p>
        </p:txBody>
      </p:sp>
      <p:pic>
        <p:nvPicPr>
          <p:cNvPr id="631" name="Google Shape;631;p80"/>
          <p:cNvPicPr preferRelativeResize="0"/>
          <p:nvPr/>
        </p:nvPicPr>
        <p:blipFill rotWithShape="1">
          <a:blip r:embed="rId3">
            <a:alphaModFix/>
          </a:blip>
          <a:srcRect/>
          <a:stretch/>
        </p:blipFill>
        <p:spPr>
          <a:xfrm>
            <a:off x="5925312" y="1960562"/>
            <a:ext cx="5749552" cy="4351338"/>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40" name="Google Shape;640;p81"/>
          <p:cNvSpPr txBox="1">
            <a:spLocks noGrp="1"/>
          </p:cNvSpPr>
          <p:nvPr>
            <p:ph type="title"/>
          </p:nvPr>
        </p:nvSpPr>
        <p:spPr>
          <a:xfrm>
            <a:off x="327589" y="473936"/>
            <a:ext cx="4493989"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latin typeface="+mj-lt"/>
              </a:rPr>
              <a:t>The legacy of the US War on Drugs</a:t>
            </a:r>
            <a:endParaRPr dirty="0">
              <a:latin typeface="+mj-lt"/>
            </a:endParaRPr>
          </a:p>
        </p:txBody>
      </p:sp>
      <p:pic>
        <p:nvPicPr>
          <p:cNvPr id="637" name="Google Shape;637;p81"/>
          <p:cNvPicPr preferRelativeResize="0">
            <a:picLocks noGrp="1"/>
          </p:cNvPicPr>
          <p:nvPr>
            <p:ph type="body" idx="1"/>
          </p:nvPr>
        </p:nvPicPr>
        <p:blipFill rotWithShape="1">
          <a:blip r:embed="rId3">
            <a:alphaModFix/>
          </a:blip>
          <a:srcRect/>
          <a:stretch/>
        </p:blipFill>
        <p:spPr>
          <a:xfrm>
            <a:off x="4952640" y="852737"/>
            <a:ext cx="7046245" cy="6014262"/>
          </a:xfrm>
          <a:prstGeom prst="rect">
            <a:avLst/>
          </a:prstGeom>
          <a:noFill/>
          <a:ln>
            <a:noFill/>
          </a:ln>
        </p:spPr>
      </p:pic>
      <p:pic>
        <p:nvPicPr>
          <p:cNvPr id="638" name="Google Shape;638;p81"/>
          <p:cNvPicPr preferRelativeResize="0"/>
          <p:nvPr/>
        </p:nvPicPr>
        <p:blipFill rotWithShape="1">
          <a:blip r:embed="rId4">
            <a:alphaModFix/>
          </a:blip>
          <a:srcRect r="6241" b="-1175"/>
          <a:stretch/>
        </p:blipFill>
        <p:spPr>
          <a:xfrm>
            <a:off x="4952641" y="0"/>
            <a:ext cx="7046245" cy="684212"/>
          </a:xfrm>
          <a:prstGeom prst="rect">
            <a:avLst/>
          </a:prstGeom>
          <a:noFill/>
          <a:ln>
            <a:noFill/>
          </a:ln>
        </p:spPr>
      </p:pic>
      <p:sp>
        <p:nvSpPr>
          <p:cNvPr id="639" name="Google Shape;639;p81"/>
          <p:cNvSpPr txBox="1"/>
          <p:nvPr/>
        </p:nvSpPr>
        <p:spPr>
          <a:xfrm>
            <a:off x="327589" y="2148840"/>
            <a:ext cx="4625051" cy="4351338"/>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1000"/>
              </a:spcBef>
              <a:spcAft>
                <a:spcPts val="0"/>
              </a:spcAft>
              <a:buClr>
                <a:schemeClr val="dk1"/>
              </a:buClr>
              <a:buSzPts val="2800"/>
              <a:buFont typeface="Arial"/>
              <a:buChar char="•"/>
            </a:pPr>
            <a:r>
              <a:rPr lang="en-US" sz="2800" dirty="0">
                <a:solidFill>
                  <a:schemeClr val="dk1"/>
                </a:solidFill>
                <a:latin typeface="+mj-lt"/>
                <a:ea typeface="Calibri"/>
                <a:cs typeface="Calibri"/>
                <a:sym typeface="Calibri"/>
              </a:rPr>
              <a:t>Members of the governments in other countries fear falling short of international drug control frameworks that have been influenced by the war on drugs perspective taken by the United States. </a:t>
            </a:r>
            <a:endParaRPr dirty="0">
              <a:latin typeface="+mj-lt"/>
            </a:endParaRPr>
          </a:p>
          <a:p>
            <a:pPr marL="0" marR="0" lvl="0" indent="0" algn="l" rtl="0">
              <a:lnSpc>
                <a:spcPct val="90000"/>
              </a:lnSpc>
              <a:spcBef>
                <a:spcPts val="1000"/>
              </a:spcBef>
              <a:spcAft>
                <a:spcPts val="0"/>
              </a:spcAft>
              <a:buClr>
                <a:schemeClr val="dk1"/>
              </a:buClr>
              <a:buSzPts val="2800"/>
              <a:buFont typeface="Arial"/>
              <a:buNone/>
            </a:pPr>
            <a:endParaRPr sz="2800" dirty="0">
              <a:solidFill>
                <a:schemeClr val="dk1"/>
              </a:solidFill>
              <a:latin typeface="+mj-lt"/>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6" name="Google Shape;656;p83"/>
          <p:cNvSpPr txBox="1"/>
          <p:nvPr/>
        </p:nvSpPr>
        <p:spPr>
          <a:xfrm>
            <a:off x="95953" y="1910687"/>
            <a:ext cx="2947498" cy="4859389"/>
          </a:xfrm>
          <a:prstGeom prst="rect">
            <a:avLst/>
          </a:prstGeom>
          <a:solidFill>
            <a:schemeClr val="lt1">
              <a:alpha val="57647"/>
            </a:schemeClr>
          </a:solid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400"/>
              <a:buFont typeface="Arial"/>
              <a:buChar char="•"/>
            </a:pPr>
            <a:r>
              <a:rPr lang="en-US" sz="2400" dirty="0">
                <a:solidFill>
                  <a:schemeClr val="dk1"/>
                </a:solidFill>
                <a:latin typeface="+mj-lt"/>
                <a:ea typeface="Calibri"/>
                <a:cs typeface="Calibri"/>
                <a:sym typeface="Calibri"/>
              </a:rPr>
              <a:t>Doctors in other countries may fear that patients will become addicted, particularly after the visibility of the opioid epidemic in the US.  </a:t>
            </a:r>
          </a:p>
          <a:p>
            <a:pPr marL="228600" marR="0" lvl="0" indent="-228600" algn="l" rtl="0">
              <a:lnSpc>
                <a:spcPct val="90000"/>
              </a:lnSpc>
              <a:spcBef>
                <a:spcPts val="0"/>
              </a:spcBef>
              <a:spcAft>
                <a:spcPts val="0"/>
              </a:spcAft>
              <a:buClr>
                <a:schemeClr val="dk1"/>
              </a:buClr>
              <a:buSzPts val="2400"/>
              <a:buFont typeface="Arial"/>
              <a:buChar char="•"/>
            </a:pPr>
            <a:r>
              <a:rPr lang="en-US" sz="2400" dirty="0">
                <a:solidFill>
                  <a:schemeClr val="dk1"/>
                </a:solidFill>
                <a:latin typeface="+mj-lt"/>
                <a:ea typeface="Calibri"/>
                <a:cs typeface="Calibri"/>
                <a:sym typeface="Calibri"/>
              </a:rPr>
              <a:t>Tighter regulation of opioid drugs has made them harder to procure in lower-income countries.</a:t>
            </a:r>
            <a:endParaRPr dirty="0">
              <a:latin typeface="+mj-lt"/>
            </a:endParaRPr>
          </a:p>
        </p:txBody>
      </p:sp>
      <p:pic>
        <p:nvPicPr>
          <p:cNvPr id="654" name="Google Shape;654;p83">
            <a:hlinkClick r:id="rId3"/>
          </p:cNvPr>
          <p:cNvPicPr preferRelativeResize="0">
            <a:picLocks noGrp="1"/>
          </p:cNvPicPr>
          <p:nvPr>
            <p:ph type="body" idx="1"/>
          </p:nvPr>
        </p:nvPicPr>
        <p:blipFill rotWithShape="1">
          <a:blip r:embed="rId4">
            <a:alphaModFix/>
          </a:blip>
          <a:srcRect/>
          <a:stretch/>
        </p:blipFill>
        <p:spPr>
          <a:xfrm>
            <a:off x="3316405" y="1910687"/>
            <a:ext cx="8574506" cy="3943911"/>
          </a:xfrm>
          <a:prstGeom prst="rect">
            <a:avLst/>
          </a:prstGeom>
          <a:noFill/>
          <a:ln w="38100" cap="flat" cmpd="sng">
            <a:solidFill>
              <a:schemeClr val="accent1"/>
            </a:solidFill>
            <a:prstDash val="solid"/>
            <a:round/>
            <a:headEnd type="none" w="sm" len="sm"/>
            <a:tailEnd type="none" w="sm" len="sm"/>
          </a:ln>
        </p:spPr>
      </p:pic>
      <p:sp>
        <p:nvSpPr>
          <p:cNvPr id="2" name="Google Shape;648;p82">
            <a:extLst>
              <a:ext uri="{FF2B5EF4-FFF2-40B4-BE49-F238E27FC236}">
                <a16:creationId xmlns:a16="http://schemas.microsoft.com/office/drawing/2014/main" id="{5CB1BF98-50E4-BA16-3298-BB873DC4EE16}"/>
              </a:ext>
            </a:extLst>
          </p:cNvPr>
          <p:cNvSpPr txBox="1">
            <a:spLocks noGrp="1"/>
          </p:cNvSpPr>
          <p:nvPr>
            <p:ph type="title"/>
          </p:nvPr>
        </p:nvSpPr>
        <p:spPr>
          <a:xfrm>
            <a:off x="651296" y="340620"/>
            <a:ext cx="10239616" cy="1325563"/>
          </a:xfrm>
          <a:prstGeom prst="rect">
            <a:avLst/>
          </a:prstGeom>
          <a:solidFill>
            <a:schemeClr val="lt1"/>
          </a:soli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latin typeface="+mj-lt"/>
              </a:rPr>
              <a:t>Attitudes toward pain treatment</a:t>
            </a:r>
            <a:endParaRPr dirty="0">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pic>
        <p:nvPicPr>
          <p:cNvPr id="662" name="Google Shape;662;p84"/>
          <p:cNvPicPr preferRelativeResize="0">
            <a:picLocks noGrp="1"/>
          </p:cNvPicPr>
          <p:nvPr>
            <p:ph type="body" idx="1"/>
          </p:nvPr>
        </p:nvPicPr>
        <p:blipFill rotWithShape="1">
          <a:blip r:embed="rId3">
            <a:alphaModFix/>
          </a:blip>
          <a:srcRect/>
          <a:stretch/>
        </p:blipFill>
        <p:spPr>
          <a:xfrm>
            <a:off x="0" y="518160"/>
            <a:ext cx="12132074" cy="545592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9" name="Google Shape;669;p85"/>
          <p:cNvSpPr txBox="1"/>
          <p:nvPr/>
        </p:nvSpPr>
        <p:spPr>
          <a:xfrm>
            <a:off x="323679" y="818865"/>
            <a:ext cx="4630457" cy="5474847"/>
          </a:xfrm>
          <a:prstGeom prst="rect">
            <a:avLst/>
          </a:prstGeom>
          <a:noFill/>
          <a:ln>
            <a:noFill/>
          </a:ln>
        </p:spPr>
        <p:txBody>
          <a:bodyPr spcFirstLastPara="1" wrap="square" lIns="91425" tIns="45700" rIns="91425" bIns="45700" anchor="t" anchorCtr="0">
            <a:normAutofit fontScale="92500" lnSpcReduction="10000"/>
          </a:bodyPr>
          <a:lstStyle/>
          <a:p>
            <a:pPr marL="228600" marR="0" lvl="0" indent="-228600" algn="l" rtl="0">
              <a:lnSpc>
                <a:spcPct val="90000"/>
              </a:lnSpc>
              <a:spcBef>
                <a:spcPts val="0"/>
              </a:spcBef>
              <a:spcAft>
                <a:spcPts val="0"/>
              </a:spcAft>
              <a:buClr>
                <a:schemeClr val="dk1"/>
              </a:buClr>
              <a:buSzPts val="2600"/>
              <a:buFont typeface="Arial"/>
              <a:buChar char="•"/>
            </a:pPr>
            <a:r>
              <a:rPr lang="en-US" sz="2800" dirty="0">
                <a:solidFill>
                  <a:schemeClr val="dk1"/>
                </a:solidFill>
                <a:latin typeface="+mj-lt"/>
                <a:ea typeface="Calibri"/>
                <a:cs typeface="Calibri"/>
                <a:sym typeface="Calibri"/>
              </a:rPr>
              <a:t>Opioid prescription drug prescribed in developing countries</a:t>
            </a:r>
            <a:endParaRPr sz="2800" dirty="0">
              <a:latin typeface="+mj-lt"/>
            </a:endParaRPr>
          </a:p>
          <a:p>
            <a:pPr marL="228600" marR="0" lvl="0" indent="-228600" algn="l" rtl="0">
              <a:lnSpc>
                <a:spcPct val="90000"/>
              </a:lnSpc>
              <a:spcBef>
                <a:spcPts val="1000"/>
              </a:spcBef>
              <a:spcAft>
                <a:spcPts val="0"/>
              </a:spcAft>
              <a:buClr>
                <a:schemeClr val="dk1"/>
              </a:buClr>
              <a:buSzPts val="2600"/>
              <a:buFont typeface="Arial"/>
              <a:buChar char="•"/>
            </a:pPr>
            <a:r>
              <a:rPr lang="en-US" sz="2800" dirty="0">
                <a:solidFill>
                  <a:schemeClr val="dk1"/>
                </a:solidFill>
                <a:latin typeface="+mj-lt"/>
                <a:ea typeface="Calibri"/>
                <a:cs typeface="Calibri"/>
                <a:sym typeface="Calibri"/>
              </a:rPr>
              <a:t>Legal medication approved to reduce pain</a:t>
            </a:r>
            <a:endParaRPr sz="2800" dirty="0">
              <a:latin typeface="+mj-lt"/>
            </a:endParaRPr>
          </a:p>
          <a:p>
            <a:pPr marL="228600" marR="0" lvl="0" indent="-228600" algn="l" rtl="0">
              <a:lnSpc>
                <a:spcPct val="90000"/>
              </a:lnSpc>
              <a:spcBef>
                <a:spcPts val="1000"/>
              </a:spcBef>
              <a:spcAft>
                <a:spcPts val="0"/>
              </a:spcAft>
              <a:buClr>
                <a:schemeClr val="dk1"/>
              </a:buClr>
              <a:buSzPts val="2600"/>
              <a:buFont typeface="Arial"/>
              <a:buChar char="•"/>
            </a:pPr>
            <a:r>
              <a:rPr lang="en-US" sz="2800" dirty="0">
                <a:solidFill>
                  <a:schemeClr val="dk1"/>
                </a:solidFill>
                <a:latin typeface="+mj-lt"/>
                <a:ea typeface="Calibri"/>
                <a:cs typeface="Calibri"/>
                <a:sym typeface="Calibri"/>
              </a:rPr>
              <a:t>Abused for non-medical purposes in west, central and north Africa and Middle East</a:t>
            </a:r>
            <a:endParaRPr sz="2800" dirty="0">
              <a:latin typeface="+mj-lt"/>
            </a:endParaRPr>
          </a:p>
          <a:p>
            <a:pPr marL="228600" marR="0" lvl="0" indent="-228600" algn="l" rtl="0">
              <a:lnSpc>
                <a:spcPct val="90000"/>
              </a:lnSpc>
              <a:spcBef>
                <a:spcPts val="1000"/>
              </a:spcBef>
              <a:spcAft>
                <a:spcPts val="0"/>
              </a:spcAft>
              <a:buClr>
                <a:schemeClr val="dk1"/>
              </a:buClr>
              <a:buSzPts val="2600"/>
              <a:buFont typeface="Arial"/>
              <a:buChar char="•"/>
            </a:pPr>
            <a:r>
              <a:rPr lang="en-US" sz="2800" dirty="0">
                <a:solidFill>
                  <a:schemeClr val="dk1"/>
                </a:solidFill>
                <a:latin typeface="+mj-lt"/>
                <a:ea typeface="Calibri"/>
                <a:cs typeface="Calibri"/>
                <a:sym typeface="Calibri"/>
              </a:rPr>
              <a:t>Illicitly manufactured in India and south Asia and trafficked to these regions.</a:t>
            </a:r>
            <a:endParaRPr sz="2800" dirty="0">
              <a:latin typeface="+mj-lt"/>
            </a:endParaRPr>
          </a:p>
          <a:p>
            <a:pPr marL="228600" marR="0" lvl="0" indent="-228600" algn="l" rtl="0">
              <a:lnSpc>
                <a:spcPct val="90000"/>
              </a:lnSpc>
              <a:spcBef>
                <a:spcPts val="1000"/>
              </a:spcBef>
              <a:spcAft>
                <a:spcPts val="0"/>
              </a:spcAft>
              <a:buClr>
                <a:schemeClr val="dk1"/>
              </a:buClr>
              <a:buSzPts val="2600"/>
              <a:buFont typeface="Arial"/>
              <a:buChar char="•"/>
            </a:pPr>
            <a:r>
              <a:rPr lang="en-US" sz="2800" dirty="0">
                <a:solidFill>
                  <a:schemeClr val="dk1"/>
                </a:solidFill>
                <a:latin typeface="+mj-lt"/>
                <a:ea typeface="Calibri"/>
                <a:cs typeface="Calibri"/>
                <a:sym typeface="Calibri"/>
              </a:rPr>
              <a:t>Consumed illicitly for its calming and anti-fatigue effects. In large quantities, heroin-like effects </a:t>
            </a:r>
          </a:p>
        </p:txBody>
      </p:sp>
      <p:sp>
        <p:nvSpPr>
          <p:cNvPr id="4" name="Title 1">
            <a:extLst>
              <a:ext uri="{FF2B5EF4-FFF2-40B4-BE49-F238E27FC236}">
                <a16:creationId xmlns:a16="http://schemas.microsoft.com/office/drawing/2014/main" id="{17649BEB-BE6A-BEC1-7FBD-57582300D53B}"/>
              </a:ext>
            </a:extLst>
          </p:cNvPr>
          <p:cNvSpPr>
            <a:spLocks noGrp="1"/>
          </p:cNvSpPr>
          <p:nvPr>
            <p:ph type="title"/>
          </p:nvPr>
        </p:nvSpPr>
        <p:spPr>
          <a:xfrm>
            <a:off x="4689824" y="365125"/>
            <a:ext cx="6663975" cy="1325563"/>
          </a:xfrm>
        </p:spPr>
        <p:txBody>
          <a:bodyPr/>
          <a:lstStyle/>
          <a:p>
            <a:pPr algn="ctr"/>
            <a:r>
              <a:rPr lang="en-US" dirty="0">
                <a:latin typeface="+mj-lt"/>
              </a:rPr>
              <a:t>Tramadol</a:t>
            </a:r>
          </a:p>
        </p:txBody>
      </p:sp>
      <p:pic>
        <p:nvPicPr>
          <p:cNvPr id="2" name="Online Media 1" title="Capernaum (2018) - Tramadol nights">
            <a:hlinkClick r:id="" action="ppaction://media"/>
            <a:extLst>
              <a:ext uri="{FF2B5EF4-FFF2-40B4-BE49-F238E27FC236}">
                <a16:creationId xmlns:a16="http://schemas.microsoft.com/office/drawing/2014/main" id="{0C10FAE7-2359-CEFC-A5B6-1075029DD804}"/>
              </a:ext>
            </a:extLst>
          </p:cNvPr>
          <p:cNvPicPr>
            <a:picLocks noRot="1" noChangeAspect="1"/>
          </p:cNvPicPr>
          <p:nvPr>
            <a:videoFile r:link="rId1"/>
          </p:nvPr>
        </p:nvPicPr>
        <p:blipFill>
          <a:blip r:embed="rId4"/>
          <a:srcRect l="12288" t="12537" r="22887" b="13632"/>
          <a:stretch>
            <a:fillRect/>
          </a:stretch>
        </p:blipFill>
        <p:spPr>
          <a:xfrm>
            <a:off x="5249499" y="1898990"/>
            <a:ext cx="6104300" cy="39249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pic>
        <p:nvPicPr>
          <p:cNvPr id="4" name="Online Media 3" title="Tramadol: Cameroon’s low-budget opioid crisis">
            <a:hlinkClick r:id="" action="ppaction://media"/>
            <a:extLst>
              <a:ext uri="{FF2B5EF4-FFF2-40B4-BE49-F238E27FC236}">
                <a16:creationId xmlns:a16="http://schemas.microsoft.com/office/drawing/2014/main" id="{0132CA87-F8B8-31EA-F89C-BF9F60A0CD61}"/>
              </a:ext>
            </a:extLst>
          </p:cNvPr>
          <p:cNvPicPr>
            <a:picLocks noRot="1" noChangeAspect="1"/>
          </p:cNvPicPr>
          <p:nvPr>
            <a:videoFile r:link="rId1"/>
          </p:nvPr>
        </p:nvPicPr>
        <p:blipFill>
          <a:blip r:embed="rId4"/>
          <a:srcRect l="14186" r="11073"/>
          <a:stretch/>
        </p:blipFill>
        <p:spPr>
          <a:xfrm>
            <a:off x="4717132" y="457200"/>
            <a:ext cx="6819548" cy="5151120"/>
          </a:xfrm>
          <a:prstGeom prst="rect">
            <a:avLst/>
          </a:prstGeom>
        </p:spPr>
      </p:pic>
      <p:sp>
        <p:nvSpPr>
          <p:cNvPr id="5" name="Google Shape;692;p89">
            <a:extLst>
              <a:ext uri="{FF2B5EF4-FFF2-40B4-BE49-F238E27FC236}">
                <a16:creationId xmlns:a16="http://schemas.microsoft.com/office/drawing/2014/main" id="{F49690EC-C2AD-60DE-35D7-9758EB24A7E5}"/>
              </a:ext>
            </a:extLst>
          </p:cNvPr>
          <p:cNvSpPr txBox="1">
            <a:spLocks noGrp="1"/>
          </p:cNvSpPr>
          <p:nvPr>
            <p:ph type="body" idx="1"/>
          </p:nvPr>
        </p:nvSpPr>
        <p:spPr>
          <a:xfrm>
            <a:off x="381000" y="274320"/>
            <a:ext cx="4336132" cy="65836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chemeClr val="dk1"/>
              </a:buClr>
              <a:buSzPts val="2800"/>
              <a:buChar char="•"/>
            </a:pPr>
            <a:r>
              <a:rPr lang="en-US" dirty="0">
                <a:latin typeface="+mj-lt"/>
              </a:rPr>
              <a:t>March 2019 UN Commission on Narcotic Drugs declined to add tramadol to its list of scheduled substances.</a:t>
            </a:r>
            <a:endParaRPr dirty="0">
              <a:latin typeface="+mj-lt"/>
            </a:endParaRPr>
          </a:p>
          <a:p>
            <a:pPr marL="228600" lvl="0" indent="-228600" algn="l" rtl="0">
              <a:lnSpc>
                <a:spcPct val="90000"/>
              </a:lnSpc>
              <a:spcBef>
                <a:spcPts val="1000"/>
              </a:spcBef>
              <a:spcAft>
                <a:spcPts val="0"/>
              </a:spcAft>
              <a:buClr>
                <a:schemeClr val="dk1"/>
              </a:buClr>
              <a:buSzPts val="2800"/>
              <a:buChar char="•"/>
            </a:pPr>
            <a:r>
              <a:rPr lang="en-US" dirty="0">
                <a:latin typeface="+mj-lt"/>
              </a:rPr>
              <a:t> Its concern was that international controls might make access harder for those in low-income countries who genuinely need the painkiller.</a:t>
            </a:r>
            <a:endParaRPr dirty="0">
              <a:latin typeface="+mj-lt"/>
            </a:endParaRPr>
          </a:p>
          <a:p>
            <a:pPr marL="228600" lvl="0" indent="-228600" algn="l" rtl="0">
              <a:lnSpc>
                <a:spcPct val="90000"/>
              </a:lnSpc>
              <a:spcBef>
                <a:spcPts val="1000"/>
              </a:spcBef>
              <a:spcAft>
                <a:spcPts val="0"/>
              </a:spcAft>
              <a:buClr>
                <a:schemeClr val="dk1"/>
              </a:buClr>
              <a:buSzPts val="2800"/>
              <a:buChar char="•"/>
            </a:pPr>
            <a:r>
              <a:rPr lang="en-US" dirty="0">
                <a:latin typeface="+mj-lt"/>
              </a:rPr>
              <a:t>Lack of adequate supplies of other pain medications make Tramadol one of the few options available</a:t>
            </a:r>
            <a:endParaRPr dirty="0">
              <a:latin typeface="+mj-lt"/>
            </a:endParaRPr>
          </a:p>
          <a:p>
            <a:pPr marL="0" lvl="0" indent="0" algn="l" rtl="0">
              <a:lnSpc>
                <a:spcPct val="90000"/>
              </a:lnSpc>
              <a:spcBef>
                <a:spcPts val="1000"/>
              </a:spcBef>
              <a:spcAft>
                <a:spcPts val="0"/>
              </a:spcAft>
              <a:buClr>
                <a:schemeClr val="dk1"/>
              </a:buClr>
              <a:buSzPts val="2800"/>
              <a:buNone/>
            </a:pPr>
            <a:endParaRPr dirty="0">
              <a:latin typeface="+mj-lt"/>
            </a:endParaRPr>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nline Media 5" title="A closer look at Mundipharma’s opioid marketing">
            <a:hlinkClick r:id="" action="ppaction://media"/>
            <a:extLst>
              <a:ext uri="{FF2B5EF4-FFF2-40B4-BE49-F238E27FC236}">
                <a16:creationId xmlns:a16="http://schemas.microsoft.com/office/drawing/2014/main" id="{621CB300-4232-8691-F51D-8C47180A9A7A}"/>
              </a:ext>
            </a:extLst>
          </p:cNvPr>
          <p:cNvPicPr>
            <a:picLocks noRot="1" noChangeAspect="1"/>
          </p:cNvPicPr>
          <p:nvPr>
            <a:videoFile r:link="rId1"/>
          </p:nvPr>
        </p:nvPicPr>
        <p:blipFill>
          <a:blip r:embed="rId4"/>
          <a:stretch>
            <a:fillRect/>
          </a:stretch>
        </p:blipFill>
        <p:spPr>
          <a:xfrm>
            <a:off x="22225" y="0"/>
            <a:ext cx="12147550" cy="6858000"/>
          </a:xfrm>
          <a:prstGeom prst="rect">
            <a:avLst/>
          </a:prstGeom>
        </p:spPr>
      </p:pic>
      <p:sp>
        <p:nvSpPr>
          <p:cNvPr id="2" name="Title 1">
            <a:extLst>
              <a:ext uri="{FF2B5EF4-FFF2-40B4-BE49-F238E27FC236}">
                <a16:creationId xmlns:a16="http://schemas.microsoft.com/office/drawing/2014/main" id="{45C48B58-0743-1AFE-145B-E36019735751}"/>
              </a:ext>
            </a:extLst>
          </p:cNvPr>
          <p:cNvSpPr>
            <a:spLocks noGrp="1"/>
          </p:cNvSpPr>
          <p:nvPr>
            <p:ph type="title"/>
          </p:nvPr>
        </p:nvSpPr>
        <p:spPr>
          <a:xfrm>
            <a:off x="381000" y="182245"/>
            <a:ext cx="10515600" cy="1325563"/>
          </a:xfrm>
        </p:spPr>
        <p:txBody>
          <a:bodyPr/>
          <a:lstStyle/>
          <a:p>
            <a:r>
              <a:rPr lang="en-US" dirty="0">
                <a:latin typeface="+mj-lt"/>
              </a:rPr>
              <a:t>Mundipharma</a:t>
            </a:r>
          </a:p>
        </p:txBody>
      </p:sp>
    </p:spTree>
    <p:extLst>
      <p:ext uri="{BB962C8B-B14F-4D97-AF65-F5344CB8AC3E}">
        <p14:creationId xmlns:p14="http://schemas.microsoft.com/office/powerpoint/2010/main" val="215096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shows a hand holding a bottle of Tramadol, an opioid medication, with text overlaying the image describing its use for severe pain and its effects on the brain and nervous system.&#10;&#10;AI-generated content may be incorrect.">
            <a:hlinkClick r:id="rId2"/>
            <a:extLst>
              <a:ext uri="{FF2B5EF4-FFF2-40B4-BE49-F238E27FC236}">
                <a16:creationId xmlns:a16="http://schemas.microsoft.com/office/drawing/2014/main" id="{639094CD-7D97-0AE6-5CD7-C917502EC331}"/>
              </a:ext>
            </a:extLst>
          </p:cNvPr>
          <p:cNvPicPr>
            <a:picLocks noChangeAspect="1"/>
          </p:cNvPicPr>
          <p:nvPr/>
        </p:nvPicPr>
        <p:blipFill>
          <a:blip r:embed="rId3"/>
          <a:stretch>
            <a:fillRect/>
          </a:stretch>
        </p:blipFill>
        <p:spPr>
          <a:xfrm>
            <a:off x="117048" y="115819"/>
            <a:ext cx="11591988" cy="6462402"/>
          </a:xfrm>
          <a:prstGeom prst="rect">
            <a:avLst/>
          </a:prstGeom>
        </p:spPr>
      </p:pic>
    </p:spTree>
    <p:extLst>
      <p:ext uri="{BB962C8B-B14F-4D97-AF65-F5344CB8AC3E}">
        <p14:creationId xmlns:p14="http://schemas.microsoft.com/office/powerpoint/2010/main" val="1476452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39632" y="1801368"/>
            <a:ext cx="5074920" cy="457200"/>
          </a:xfrm>
          <a:prstGeom prst="rect">
            <a:avLst/>
          </a:prstGeom>
          <a:noFill/>
          <a:ln/>
        </p:spPr>
        <p:txBody>
          <a:bodyPr wrap="square" lIns="0" tIns="0" rIns="0" bIns="0" rtlCol="0" anchor="ctr">
            <a:normAutofit/>
          </a:bodyPr>
          <a:lstStyle/>
          <a:p>
            <a:pPr marL="0" indent="0">
              <a:buNone/>
            </a:pPr>
            <a:r>
              <a:rPr lang="en-US" sz="2400" dirty="0">
                <a:solidFill>
                  <a:srgbClr val="111111"/>
                </a:solidFill>
                <a:latin typeface="Aptos" pitchFamily="34" charset="0"/>
                <a:ea typeface="Aptos" pitchFamily="34" charset="-122"/>
                <a:cs typeface="Aptos" pitchFamily="34" charset="-120"/>
              </a:rPr>
              <a:t>Wealthier medical systems</a:t>
            </a:r>
            <a:endParaRPr lang="en-US" sz="2400" dirty="0"/>
          </a:p>
        </p:txBody>
      </p:sp>
      <p:sp>
        <p:nvSpPr>
          <p:cNvPr id="4" name="Text 2"/>
          <p:cNvSpPr/>
          <p:nvPr/>
        </p:nvSpPr>
        <p:spPr>
          <a:xfrm>
            <a:off x="6327784" y="1801368"/>
            <a:ext cx="5074920" cy="713232"/>
          </a:xfrm>
          <a:prstGeom prst="rect">
            <a:avLst/>
          </a:prstGeom>
          <a:noFill/>
          <a:ln/>
        </p:spPr>
        <p:txBody>
          <a:bodyPr wrap="square" lIns="0" tIns="0" rIns="0" bIns="0" rtlCol="0" anchor="ctr">
            <a:noAutofit/>
          </a:bodyPr>
          <a:lstStyle/>
          <a:p>
            <a:pPr marL="0" indent="0">
              <a:buNone/>
            </a:pPr>
            <a:r>
              <a:rPr lang="en-US" sz="2400" dirty="0">
                <a:solidFill>
                  <a:srgbClr val="111111"/>
                </a:solidFill>
                <a:latin typeface="Aptos" pitchFamily="34" charset="0"/>
                <a:ea typeface="Aptos" pitchFamily="34" charset="-122"/>
                <a:cs typeface="Aptos" pitchFamily="34" charset="-120"/>
              </a:rPr>
              <a:t>Lower-resource, weakly</a:t>
            </a:r>
            <a:endParaRPr lang="en-US" sz="2400" dirty="0"/>
          </a:p>
          <a:p>
            <a:pPr marL="0" indent="0">
              <a:buNone/>
            </a:pPr>
            <a:r>
              <a:rPr lang="en-US" sz="2400" dirty="0">
                <a:solidFill>
                  <a:srgbClr val="111111"/>
                </a:solidFill>
                <a:latin typeface="Aptos" pitchFamily="34" charset="0"/>
                <a:ea typeface="Aptos" pitchFamily="34" charset="-122"/>
                <a:cs typeface="Aptos" pitchFamily="34" charset="-120"/>
              </a:rPr>
              <a:t>regulated markets</a:t>
            </a:r>
            <a:endParaRPr lang="en-US" sz="2400" dirty="0"/>
          </a:p>
        </p:txBody>
      </p:sp>
      <p:sp>
        <p:nvSpPr>
          <p:cNvPr id="5" name="Text 3"/>
          <p:cNvSpPr/>
          <p:nvPr/>
        </p:nvSpPr>
        <p:spPr>
          <a:xfrm>
            <a:off x="539632" y="2514600"/>
            <a:ext cx="5074920" cy="4343400"/>
          </a:xfrm>
          <a:prstGeom prst="rect">
            <a:avLst/>
          </a:prstGeom>
          <a:noFill/>
          <a:ln/>
        </p:spPr>
        <p:txBody>
          <a:bodyPr wrap="square" lIns="0" tIns="0" rIns="0" bIns="0" rtlCol="0" anchor="t">
            <a:normAutofit/>
          </a:bodyPr>
          <a:lstStyle/>
          <a:p>
            <a:pPr marL="203200" indent="-203200">
              <a:buSzPct val="100000"/>
              <a:buChar char="•"/>
            </a:pPr>
            <a:r>
              <a:rPr lang="en-US" sz="2400" dirty="0">
                <a:solidFill>
                  <a:srgbClr val="111111"/>
                </a:solidFill>
                <a:latin typeface="Aptos" pitchFamily="34" charset="0"/>
                <a:ea typeface="Aptos" pitchFamily="34" charset="-122"/>
                <a:cs typeface="Aptos" pitchFamily="34" charset="-120"/>
              </a:rPr>
              <a:t>Large quantities of branded or patented opioids can move through formal prescribing systems.</a:t>
            </a:r>
            <a:endParaRPr lang="en-US" sz="2400" dirty="0"/>
          </a:p>
          <a:p>
            <a:pPr marL="203200" indent="-203200">
              <a:buSzPct val="100000"/>
              <a:buChar char="•"/>
            </a:pPr>
            <a:r>
              <a:rPr lang="en-US" sz="2400" dirty="0">
                <a:solidFill>
                  <a:srgbClr val="111111"/>
                </a:solidFill>
                <a:latin typeface="Aptos" pitchFamily="34" charset="0"/>
                <a:ea typeface="Aptos" pitchFamily="34" charset="-122"/>
                <a:cs typeface="Aptos" pitchFamily="34" charset="-120"/>
              </a:rPr>
              <a:t>Marketing and expanded prescribing increase availability.</a:t>
            </a:r>
            <a:endParaRPr lang="en-US" sz="2400" dirty="0"/>
          </a:p>
          <a:p>
            <a:pPr marL="203200" indent="-203200">
              <a:buSzPct val="100000"/>
              <a:buChar char="•"/>
            </a:pPr>
            <a:r>
              <a:rPr lang="en-US" sz="2400" dirty="0">
                <a:solidFill>
                  <a:srgbClr val="111111"/>
                </a:solidFill>
                <a:latin typeface="Aptos" pitchFamily="34" charset="0"/>
                <a:ea typeface="Aptos" pitchFamily="34" charset="-122"/>
                <a:cs typeface="Aptos" pitchFamily="34" charset="-120"/>
              </a:rPr>
              <a:t>Risk: dependence, diversion, and overdose linked to high-volume medical use.</a:t>
            </a:r>
            <a:endParaRPr lang="en-US" sz="2400" dirty="0"/>
          </a:p>
          <a:p>
            <a:pPr marL="203200" indent="-203200">
              <a:buSzPct val="100000"/>
              <a:buChar char="•"/>
            </a:pPr>
            <a:r>
              <a:rPr lang="en-US" sz="2400" dirty="0">
                <a:solidFill>
                  <a:srgbClr val="111111"/>
                </a:solidFill>
                <a:latin typeface="Aptos" pitchFamily="34" charset="0"/>
                <a:ea typeface="Aptos" pitchFamily="34" charset="-122"/>
                <a:cs typeface="Aptos" pitchFamily="34" charset="-120"/>
              </a:rPr>
              <a:t>Example: OxyContin and other prescription opioids in the United States.</a:t>
            </a:r>
            <a:endParaRPr lang="en-US" sz="2400" dirty="0"/>
          </a:p>
        </p:txBody>
      </p:sp>
      <p:sp>
        <p:nvSpPr>
          <p:cNvPr id="6" name="Text 4"/>
          <p:cNvSpPr/>
          <p:nvPr/>
        </p:nvSpPr>
        <p:spPr>
          <a:xfrm>
            <a:off x="6327784" y="2514600"/>
            <a:ext cx="5074920" cy="4343400"/>
          </a:xfrm>
          <a:prstGeom prst="rect">
            <a:avLst/>
          </a:prstGeom>
          <a:noFill/>
          <a:ln/>
        </p:spPr>
        <p:txBody>
          <a:bodyPr wrap="square" lIns="0" tIns="0" rIns="0" bIns="0" rtlCol="0" anchor="t">
            <a:normAutofit/>
          </a:bodyPr>
          <a:lstStyle/>
          <a:p>
            <a:pPr marL="203200" indent="-203200">
              <a:buSzPct val="100000"/>
              <a:buChar char="•"/>
            </a:pPr>
            <a:r>
              <a:rPr lang="en-US" sz="2400" dirty="0">
                <a:solidFill>
                  <a:srgbClr val="111111"/>
                </a:solidFill>
                <a:latin typeface="Aptos" pitchFamily="34" charset="0"/>
                <a:ea typeface="Aptos" pitchFamily="34" charset="-122"/>
                <a:cs typeface="Aptos" pitchFamily="34" charset="-120"/>
              </a:rPr>
              <a:t>Low-cost generic opioids circulate through formal and informal pharmaceutical markets.</a:t>
            </a:r>
            <a:endParaRPr lang="en-US" sz="2400" dirty="0"/>
          </a:p>
          <a:p>
            <a:pPr marL="203200" indent="-203200">
              <a:buSzPct val="100000"/>
              <a:buChar char="•"/>
            </a:pPr>
            <a:r>
              <a:rPr lang="en-US" sz="2400" dirty="0">
                <a:solidFill>
                  <a:srgbClr val="111111"/>
                </a:solidFill>
                <a:latin typeface="Aptos" pitchFamily="34" charset="0"/>
                <a:ea typeface="Aptos" pitchFamily="34" charset="-122"/>
                <a:cs typeface="Aptos" pitchFamily="34" charset="-120"/>
              </a:rPr>
              <a:t>Access to other pain medicines may be limited.</a:t>
            </a:r>
            <a:endParaRPr lang="en-US" sz="2400" dirty="0"/>
          </a:p>
          <a:p>
            <a:pPr marL="203200" indent="-203200">
              <a:buSzPct val="100000"/>
              <a:buChar char="•"/>
            </a:pPr>
            <a:r>
              <a:rPr lang="en-US" sz="2400" dirty="0">
                <a:solidFill>
                  <a:srgbClr val="111111"/>
                </a:solidFill>
                <a:latin typeface="Aptos" pitchFamily="34" charset="0"/>
                <a:ea typeface="Aptos" pitchFamily="34" charset="-122"/>
                <a:cs typeface="Aptos" pitchFamily="34" charset="-120"/>
              </a:rPr>
              <a:t>Use may extend beyond pain relief to sustain physically demanding work.</a:t>
            </a:r>
            <a:endParaRPr lang="en-US" sz="2400" dirty="0"/>
          </a:p>
          <a:p>
            <a:pPr marL="203200" indent="-203200">
              <a:buSzPct val="100000"/>
              <a:buChar char="•"/>
            </a:pPr>
            <a:r>
              <a:rPr lang="en-US" sz="2400" dirty="0">
                <a:solidFill>
                  <a:srgbClr val="111111"/>
                </a:solidFill>
                <a:latin typeface="Aptos" pitchFamily="34" charset="0"/>
                <a:ea typeface="Aptos" pitchFamily="34" charset="-122"/>
                <a:cs typeface="Aptos" pitchFamily="34" charset="-120"/>
              </a:rPr>
              <a:t>Risk: non-medical use, dependence, and trafficking.</a:t>
            </a:r>
            <a:endParaRPr lang="en-US" sz="2400" dirty="0"/>
          </a:p>
          <a:p>
            <a:pPr marL="203200" indent="-203200">
              <a:buSzPct val="100000"/>
              <a:buChar char="•"/>
            </a:pPr>
            <a:r>
              <a:rPr lang="en-US" sz="2400" dirty="0">
                <a:solidFill>
                  <a:srgbClr val="111111"/>
                </a:solidFill>
                <a:latin typeface="Aptos" pitchFamily="34" charset="0"/>
                <a:ea typeface="Aptos" pitchFamily="34" charset="-122"/>
                <a:cs typeface="Aptos" pitchFamily="34" charset="-120"/>
              </a:rPr>
              <a:t>Example: tramadol in parts of Africa, the Middle East, and Asia.</a:t>
            </a:r>
            <a:endParaRPr lang="en-US" sz="2400" dirty="0"/>
          </a:p>
        </p:txBody>
      </p:sp>
      <p:sp>
        <p:nvSpPr>
          <p:cNvPr id="8" name="Title 1">
            <a:extLst>
              <a:ext uri="{FF2B5EF4-FFF2-40B4-BE49-F238E27FC236}">
                <a16:creationId xmlns:a16="http://schemas.microsoft.com/office/drawing/2014/main" id="{3A009A7B-E300-78A4-E595-F5FF5E059443}"/>
              </a:ext>
            </a:extLst>
          </p:cNvPr>
          <p:cNvSpPr txBox="1">
            <a:spLocks/>
          </p:cNvSpPr>
          <p:nvPr/>
        </p:nvSpPr>
        <p:spPr>
          <a:xfrm>
            <a:off x="838200" y="365125"/>
            <a:ext cx="10515600" cy="132556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400" dirty="0"/>
              <a:t>Two worlds of pain treatment and addiction risks</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2830</TotalTime>
  <Words>1236</Words>
  <Application>Microsoft Office PowerPoint</Application>
  <PresentationFormat>Widescreen</PresentationFormat>
  <Paragraphs>86</Paragraphs>
  <Slides>16</Slides>
  <Notes>15</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Aptos</vt:lpstr>
      <vt:lpstr>Calibri</vt:lpstr>
      <vt:lpstr>Calibri Light</vt:lpstr>
      <vt:lpstr>Office Theme</vt:lpstr>
      <vt:lpstr>PowerPoint Presentation</vt:lpstr>
      <vt:lpstr>PowerPoint Presentation</vt:lpstr>
      <vt:lpstr>PowerPoint Presentation</vt:lpstr>
      <vt:lpstr>The opioid epidemic made many companies profitable</vt:lpstr>
      <vt:lpstr>The Global Pain Divide</vt:lpstr>
      <vt:lpstr>PowerPoint Presentation</vt:lpstr>
      <vt:lpstr>The US opioid crisis worsened the pain divide</vt:lpstr>
      <vt:lpstr>Procuring controlled medicines in low-income countries is complex</vt:lpstr>
      <vt:lpstr>The legacy of the US War on Drugs</vt:lpstr>
      <vt:lpstr>Attitudes toward pain treatment</vt:lpstr>
      <vt:lpstr>PowerPoint Presentation</vt:lpstr>
      <vt:lpstr>Tramadol</vt:lpstr>
      <vt:lpstr>PowerPoint Presentation</vt:lpstr>
      <vt:lpstr>Mundipharma</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opioids</dc:title>
  <dc:creator>Jon Stallins</dc:creator>
  <cp:lastModifiedBy>Stallins, Jon A.</cp:lastModifiedBy>
  <cp:revision>103</cp:revision>
  <dcterms:created xsi:type="dcterms:W3CDTF">2019-06-29T22:31:06Z</dcterms:created>
  <dcterms:modified xsi:type="dcterms:W3CDTF">2026-10-15T16:59:43Z</dcterms:modified>
</cp:coreProperties>
</file>