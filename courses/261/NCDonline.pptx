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708" r:id="rId2"/>
    <p:sldId id="550" r:id="rId3"/>
    <p:sldId id="700" r:id="rId4"/>
    <p:sldId id="618" r:id="rId5"/>
    <p:sldId id="534" r:id="rId6"/>
    <p:sldId id="692" r:id="rId7"/>
    <p:sldId id="709" r:id="rId8"/>
    <p:sldId id="72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ocolonialism with the globalization of food" id="{4C86165A-BC82-4E55-9F4C-C4AF2C466B07}">
          <p14:sldIdLst>
            <p14:sldId id="708"/>
            <p14:sldId id="550"/>
            <p14:sldId id="700"/>
          </p14:sldIdLst>
        </p14:section>
        <p14:section name="Interventions" id="{FABF1F8F-FBA5-40B3-BA38-2D89C193EBAC}">
          <p14:sldIdLst>
            <p14:sldId id="618"/>
            <p14:sldId id="534"/>
            <p14:sldId id="692"/>
            <p14:sldId id="709"/>
            <p14:sldId id="729"/>
          </p14:sldIdLst>
        </p14:section>
        <p14:section name="Ozempic" id="{4A269F4D-9A51-4850-8E70-E14EDB1C7F1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8FB"/>
    <a:srgbClr val="2B56E1"/>
    <a:srgbClr val="FFFF99"/>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96" autoAdjust="0"/>
    <p:restoredTop sz="82203" autoAdjust="0"/>
  </p:normalViewPr>
  <p:slideViewPr>
    <p:cSldViewPr>
      <p:cViewPr varScale="1">
        <p:scale>
          <a:sx n="78" d="100"/>
          <a:sy n="78" d="100"/>
        </p:scale>
        <p:origin x="557" y="72"/>
      </p:cViewPr>
      <p:guideLst>
        <p:guide orient="horz" pos="2160"/>
        <p:guide pos="3840"/>
      </p:guideLst>
    </p:cSldViewPr>
  </p:slideViewPr>
  <p:outlineViewPr>
    <p:cViewPr>
      <p:scale>
        <a:sx n="33" d="100"/>
        <a:sy n="33" d="100"/>
      </p:scale>
      <p:origin x="0" y="-4882"/>
    </p:cViewPr>
  </p:outlineViewPr>
  <p:notesTextViewPr>
    <p:cViewPr>
      <p:scale>
        <a:sx n="150" d="100"/>
        <a:sy n="150" d="100"/>
      </p:scale>
      <p:origin x="0" y="0"/>
    </p:cViewPr>
  </p:notesTextViewPr>
  <p:sorterViewPr>
    <p:cViewPr varScale="1">
      <p:scale>
        <a:sx n="100" d="100"/>
        <a:sy n="100" d="100"/>
      </p:scale>
      <p:origin x="0" y="-7808"/>
    </p:cViewPr>
  </p:sorterViewPr>
  <p:notesViewPr>
    <p:cSldViewPr showGuides="1">
      <p:cViewPr varScale="1">
        <p:scale>
          <a:sx n="67" d="100"/>
          <a:sy n="67" d="100"/>
        </p:scale>
        <p:origin x="312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F899B7-9F42-4807-8A19-278D44931B13}" type="datetimeFigureOut">
              <a:rPr lang="en-US" smtClean="0"/>
              <a:pPr/>
              <a:t>9/15/2026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04C121-0479-421F-8B0D-70ED69441885}" type="slidenum">
              <a:rPr lang="en-US" smtClean="0"/>
              <a:pPr/>
              <a:t>‹#›</a:t>
            </a:fld>
            <a:endParaRPr lang="en-US" dirty="0"/>
          </a:p>
        </p:txBody>
      </p:sp>
    </p:spTree>
    <p:extLst>
      <p:ext uri="{BB962C8B-B14F-4D97-AF65-F5344CB8AC3E}">
        <p14:creationId xmlns:p14="http://schemas.microsoft.com/office/powerpoint/2010/main" val="1467602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https://www.nytimes.com/2017/12/23/health/obesity-malaysia-nestle.html</a:t>
            </a:r>
            <a:br>
              <a:rPr lang="en-US" dirty="0"/>
            </a:br>
            <a:br>
              <a:rPr lang="en-US" dirty="0"/>
            </a:br>
            <a:r>
              <a:rPr lang="en-US" dirty="0"/>
              <a:t>An example of neocolonialism. Multinational food companies can exert influence on the affairs of countries with less political and economic power. They may exert influence on politicians to open up their countries to business from their companies. </a:t>
            </a:r>
          </a:p>
        </p:txBody>
      </p:sp>
      <p:sp>
        <p:nvSpPr>
          <p:cNvPr id="4" name="Slide Number Placeholder 3"/>
          <p:cNvSpPr>
            <a:spLocks noGrp="1"/>
          </p:cNvSpPr>
          <p:nvPr>
            <p:ph type="sldNum" sz="quarter" idx="5"/>
          </p:nvPr>
        </p:nvSpPr>
        <p:spPr/>
        <p:txBody>
          <a:bodyPr/>
          <a:lstStyle/>
          <a:p>
            <a:fld id="{E904C121-0479-421F-8B0D-70ED69441885}" type="slidenum">
              <a:rPr lang="en-US" smtClean="0"/>
              <a:pPr/>
              <a:t>1</a:t>
            </a:fld>
            <a:endParaRPr lang="en-US" dirty="0"/>
          </a:p>
        </p:txBody>
      </p:sp>
    </p:spTree>
    <p:extLst>
      <p:ext uri="{BB962C8B-B14F-4D97-AF65-F5344CB8AC3E}">
        <p14:creationId xmlns:p14="http://schemas.microsoft.com/office/powerpoint/2010/main" val="550718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Nestle is a multinational company that sells food globally. </a:t>
            </a:r>
          </a:p>
          <a:p>
            <a:endParaRPr lang="en-US" dirty="0"/>
          </a:p>
          <a:p>
            <a:r>
              <a:rPr lang="en-US" dirty="0"/>
              <a:t>In European countries, consumer pressure has driven Nestlé to remove added sugar from their baby food products. The company decided to continue adding sugar in lower-income countries</a:t>
            </a:r>
            <a:br>
              <a:rPr lang="en-US" dirty="0"/>
            </a:br>
            <a:br>
              <a:rPr lang="en-US" dirty="0"/>
            </a:br>
            <a:r>
              <a:rPr lang="en-US" dirty="0"/>
              <a:t>https://www.washingtonpost.com/world/2024/04/23/nestle-sugar-baby-food-childhood-obesity/</a:t>
            </a:r>
          </a:p>
        </p:txBody>
      </p:sp>
      <p:sp>
        <p:nvSpPr>
          <p:cNvPr id="4" name="Slide Number Placeholder 3"/>
          <p:cNvSpPr>
            <a:spLocks noGrp="1"/>
          </p:cNvSpPr>
          <p:nvPr>
            <p:ph type="sldNum" sz="quarter" idx="5"/>
          </p:nvPr>
        </p:nvSpPr>
        <p:spPr/>
        <p:txBody>
          <a:bodyPr/>
          <a:lstStyle/>
          <a:p>
            <a:fld id="{E904C121-0479-421F-8B0D-70ED69441885}" type="slidenum">
              <a:rPr lang="en-US" smtClean="0"/>
              <a:pPr/>
              <a:t>3</a:t>
            </a:fld>
            <a:endParaRPr lang="en-US" dirty="0"/>
          </a:p>
        </p:txBody>
      </p:sp>
    </p:spTree>
    <p:extLst>
      <p:ext uri="{BB962C8B-B14F-4D97-AF65-F5344CB8AC3E}">
        <p14:creationId xmlns:p14="http://schemas.microsoft.com/office/powerpoint/2010/main" val="3909125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https://www.npr.org/sections/thesalt/2019/10/10/765789694/why-u-s-cities-are-banning-new-fast-food-drive-throughs</a:t>
            </a:r>
            <a:br>
              <a:rPr lang="en-US" dirty="0"/>
            </a:br>
            <a:br>
              <a:rPr lang="en-US" dirty="0"/>
            </a:br>
            <a:r>
              <a:rPr lang="en-US" dirty="0"/>
              <a:t>https://www.nytimes.com/2014/06/03/health/no-nation-has-lowered-obesity-rate-in-33-years.html?ref=science</a:t>
            </a:r>
          </a:p>
          <a:p>
            <a:endParaRPr lang="en-US" dirty="0"/>
          </a:p>
          <a:p>
            <a:r>
              <a:rPr lang="en-US" dirty="0"/>
              <a:t>http://www.healthdata.org/research-article/global-regional-and-national-prevalence-overweight-and-obesity-children-and-adults</a:t>
            </a:r>
          </a:p>
          <a:p>
            <a:br>
              <a:rPr lang="en-US" dirty="0"/>
            </a:br>
            <a:r>
              <a:rPr lang="en-US" dirty="0"/>
              <a:t>This study spanned 33 years</a:t>
            </a:r>
            <a:r>
              <a:rPr lang="en-US" baseline="0" dirty="0"/>
              <a:t>, thus no nation lowered its rate and who might have, if ever, is unknown. Some states in the US have seen some reduction in obesity, like New York, Montana, Minnesota, and Ohio</a:t>
            </a:r>
            <a:endParaRPr lang="en-US" dirty="0"/>
          </a:p>
          <a:p>
            <a:endParaRPr lang="en-US"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4</a:t>
            </a:fld>
            <a:endParaRPr lang="en-US" dirty="0"/>
          </a:p>
        </p:txBody>
      </p:sp>
    </p:spTree>
    <p:extLst>
      <p:ext uri="{BB962C8B-B14F-4D97-AF65-F5344CB8AC3E}">
        <p14:creationId xmlns:p14="http://schemas.microsoft.com/office/powerpoint/2010/main" val="60915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new regulation includes the </a:t>
            </a:r>
            <a:r>
              <a:rPr lang="en-US" i="1" dirty="0"/>
              <a:t>mandatory</a:t>
            </a:r>
            <a:r>
              <a:rPr lang="en-US" dirty="0"/>
              <a:t> use of front-of-package warning </a:t>
            </a:r>
            <a:r>
              <a:rPr lang="en-US" i="1" dirty="0"/>
              <a:t>labels</a:t>
            </a:r>
            <a:r>
              <a:rPr lang="en-US" dirty="0"/>
              <a:t> on packaged foods/beverages high in energy, sugars, and</a:t>
            </a:r>
            <a:r>
              <a:rPr lang="en-US" baseline="0" dirty="0"/>
              <a:t> saturated fats</a:t>
            </a:r>
          </a:p>
          <a:p>
            <a:endParaRPr lang="en-US" baseline="0" dirty="0"/>
          </a:p>
        </p:txBody>
      </p:sp>
      <p:sp>
        <p:nvSpPr>
          <p:cNvPr id="4" name="Slide Number Placeholder 3"/>
          <p:cNvSpPr>
            <a:spLocks noGrp="1"/>
          </p:cNvSpPr>
          <p:nvPr>
            <p:ph type="sldNum" sz="quarter" idx="10"/>
          </p:nvPr>
        </p:nvSpPr>
        <p:spPr/>
        <p:txBody>
          <a:bodyPr/>
          <a:lstStyle/>
          <a:p>
            <a:fld id="{E904C121-0479-421F-8B0D-70ED69441885}" type="slidenum">
              <a:rPr lang="en-US" smtClean="0"/>
              <a:pPr/>
              <a:t>5</a:t>
            </a:fld>
            <a:endParaRPr lang="en-US" dirty="0"/>
          </a:p>
        </p:txBody>
      </p:sp>
    </p:spTree>
    <p:extLst>
      <p:ext uri="{BB962C8B-B14F-4D97-AF65-F5344CB8AC3E}">
        <p14:creationId xmlns:p14="http://schemas.microsoft.com/office/powerpoint/2010/main" val="738744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https://www.washingtonpost.com/opinions/2024/03/06/food-labels-nutrition-fda/</a:t>
            </a:r>
          </a:p>
        </p:txBody>
      </p:sp>
      <p:sp>
        <p:nvSpPr>
          <p:cNvPr id="4" name="Slide Number Placeholder 3"/>
          <p:cNvSpPr>
            <a:spLocks noGrp="1"/>
          </p:cNvSpPr>
          <p:nvPr>
            <p:ph type="sldNum" sz="quarter" idx="5"/>
          </p:nvPr>
        </p:nvSpPr>
        <p:spPr/>
        <p:txBody>
          <a:bodyPr/>
          <a:lstStyle/>
          <a:p>
            <a:fld id="{E904C121-0479-421F-8B0D-70ED69441885}" type="slidenum">
              <a:rPr lang="en-US" smtClean="0"/>
              <a:pPr/>
              <a:t>6</a:t>
            </a:fld>
            <a:endParaRPr lang="en-US" dirty="0"/>
          </a:p>
        </p:txBody>
      </p:sp>
    </p:spTree>
    <p:extLst>
      <p:ext uri="{BB962C8B-B14F-4D97-AF65-F5344CB8AC3E}">
        <p14:creationId xmlns:p14="http://schemas.microsoft.com/office/powerpoint/2010/main" val="2158877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https://www.washingtonpost.com/opinions/2024/03/06/food-labels-nutrition-fda/</a:t>
            </a:r>
            <a:br>
              <a:rPr lang="en-US" dirty="0"/>
            </a:br>
            <a:br>
              <a:rPr lang="en-US" dirty="0"/>
            </a:br>
            <a:r>
              <a:rPr lang="en-US" dirty="0"/>
              <a:t>Clearer labelling has not been required in US because </a:t>
            </a:r>
            <a:r>
              <a:rPr kumimoji="0" lang="en-US" altLang="en-US" i="0" u="none" strike="noStrike" cap="none" normalizeH="0" baseline="0" dirty="0">
                <a:ln>
                  <a:noFill/>
                </a:ln>
                <a:solidFill>
                  <a:schemeClr val="tx1"/>
                </a:solidFill>
                <a:effectLst/>
              </a:rPr>
              <a:t>companies </a:t>
            </a:r>
            <a:r>
              <a:rPr lang="en-US" altLang="en-US" dirty="0"/>
              <a:t>argue that this requirements infringe on their First Amendment rights by forcing them to convey messages they may not agree with or that could negatively affect their brand. </a:t>
            </a:r>
            <a:r>
              <a:rPr kumimoji="0" lang="en-US" altLang="en-US" i="0" u="none" strike="noStrike" cap="none" normalizeH="0" baseline="0" dirty="0">
                <a:ln>
                  <a:noFill/>
                </a:ln>
                <a:solidFill>
                  <a:schemeClr val="tx1"/>
                </a:solidFill>
                <a:effectLst/>
              </a:rPr>
              <a:t>However, in response to international precedents, US is defending need for labeling on the basis that it serves an important public interest by promoting public health and ensuring consumers are well-informed.</a:t>
            </a:r>
          </a:p>
          <a:p>
            <a:br>
              <a:rPr lang="en-US" dirty="0"/>
            </a:br>
            <a:r>
              <a:rPr lang="en-US" dirty="0"/>
              <a:t>The Food and Drug Administration plans to propose labeling this fall for the front of food and drink packages to help Americans make healthier choices to address exploding obesity rates, years after other countries took similar action.</a:t>
            </a:r>
            <a:br>
              <a:rPr lang="en-US" dirty="0"/>
            </a:br>
            <a:br>
              <a:rPr lang="en-US" dirty="0"/>
            </a:br>
            <a:r>
              <a:rPr lang="en-US" dirty="0"/>
              <a:t>https://www.washingtonpost.com/health/interactive/2024/food-warning-labels-fda-healthy-choices/</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E904C121-0479-421F-8B0D-70ED69441885}" type="slidenum">
              <a:rPr lang="en-US" smtClean="0"/>
              <a:pPr/>
              <a:t>7</a:t>
            </a:fld>
            <a:endParaRPr lang="en-US" dirty="0"/>
          </a:p>
        </p:txBody>
      </p:sp>
    </p:spTree>
    <p:extLst>
      <p:ext uri="{BB962C8B-B14F-4D97-AF65-F5344CB8AC3E}">
        <p14:creationId xmlns:p14="http://schemas.microsoft.com/office/powerpoint/2010/main" val="828500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https://www.fda.gov/food/nutrition-food-labeling-and-critical-foods/front-package-nutrition-labeling</a:t>
            </a:r>
            <a:br>
              <a:rPr lang="en-US" dirty="0"/>
            </a:br>
            <a:br>
              <a:rPr lang="en-US" dirty="0"/>
            </a:br>
            <a:r>
              <a:rPr lang="en-US" dirty="0"/>
              <a:t>https://www.advocacyincubator.org/program-areas/food-and-nutrition/countering-industry-interference/behind-the-labels-big-foods-war-on-healthy-food-policies</a:t>
            </a:r>
          </a:p>
        </p:txBody>
      </p:sp>
      <p:sp>
        <p:nvSpPr>
          <p:cNvPr id="4" name="Slide Number Placeholder 3"/>
          <p:cNvSpPr>
            <a:spLocks noGrp="1"/>
          </p:cNvSpPr>
          <p:nvPr>
            <p:ph type="sldNum" sz="quarter" idx="5"/>
          </p:nvPr>
        </p:nvSpPr>
        <p:spPr/>
        <p:txBody>
          <a:bodyPr/>
          <a:lstStyle/>
          <a:p>
            <a:fld id="{E904C121-0479-421F-8B0D-70ED69441885}" type="slidenum">
              <a:rPr lang="en-US" smtClean="0"/>
              <a:pPr/>
              <a:t>8</a:t>
            </a:fld>
            <a:endParaRPr lang="en-US" dirty="0"/>
          </a:p>
        </p:txBody>
      </p:sp>
    </p:spTree>
    <p:extLst>
      <p:ext uri="{BB962C8B-B14F-4D97-AF65-F5344CB8AC3E}">
        <p14:creationId xmlns:p14="http://schemas.microsoft.com/office/powerpoint/2010/main" val="332684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da.gov/food/nutrition-food-labeling-and-critical-foods/front-package-nutrition-labeling?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F26146-65AF-0A78-D3A7-9A0A42B33093}"/>
              </a:ext>
            </a:extLst>
          </p:cNvPr>
          <p:cNvPicPr>
            <a:picLocks noGrp="1" noChangeAspect="1"/>
          </p:cNvPicPr>
          <p:nvPr>
            <p:ph idx="1"/>
          </p:nvPr>
        </p:nvPicPr>
        <p:blipFill>
          <a:blip r:embed="rId3"/>
          <a:stretch>
            <a:fillRect/>
          </a:stretch>
        </p:blipFill>
        <p:spPr>
          <a:xfrm>
            <a:off x="211413" y="914400"/>
            <a:ext cx="11980587" cy="5029200"/>
          </a:xfrm>
        </p:spPr>
      </p:pic>
    </p:spTree>
    <p:extLst>
      <p:ext uri="{BB962C8B-B14F-4D97-AF65-F5344CB8AC3E}">
        <p14:creationId xmlns:p14="http://schemas.microsoft.com/office/powerpoint/2010/main" val="4267206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81000"/>
            <a:ext cx="6477000" cy="6019799"/>
          </a:xfrm>
        </p:spPr>
        <p:txBody>
          <a:bodyPr>
            <a:normAutofit fontScale="92500" lnSpcReduction="10000"/>
          </a:bodyPr>
          <a:lstStyle/>
          <a:p>
            <a:r>
              <a:rPr lang="en-US" dirty="0"/>
              <a:t>Neocolonialism</a:t>
            </a:r>
          </a:p>
          <a:p>
            <a:pPr lvl="1"/>
            <a:r>
              <a:rPr lang="en-US" dirty="0"/>
              <a:t>Exertion of power in  affairs of other countries like colonialism but with less direct manipulation</a:t>
            </a:r>
          </a:p>
          <a:p>
            <a:pPr lvl="1"/>
            <a:r>
              <a:rPr lang="en-US" dirty="0"/>
              <a:t>Geopolitical practice of using capitalism, business globalization, and cultural imperialism to influence a country without direct military or political control</a:t>
            </a:r>
          </a:p>
          <a:p>
            <a:r>
              <a:rPr lang="en-US" dirty="0"/>
              <a:t>Examples</a:t>
            </a:r>
          </a:p>
          <a:p>
            <a:pPr lvl="1"/>
            <a:r>
              <a:rPr lang="en-US" dirty="0"/>
              <a:t>Multinational food companies can compel national governments to allow market access to sell their products.</a:t>
            </a:r>
          </a:p>
          <a:p>
            <a:pPr lvl="1"/>
            <a:r>
              <a:rPr lang="en-US" dirty="0"/>
              <a:t>Scientists and nutritionists in national governments are recruited by multinationals to promote their products</a:t>
            </a:r>
          </a:p>
        </p:txBody>
      </p:sp>
      <p:pic>
        <p:nvPicPr>
          <p:cNvPr id="7" name="Picture 6" descr="A group of bottles of soda&#10;&#10;Description automatically generated">
            <a:extLst>
              <a:ext uri="{FF2B5EF4-FFF2-40B4-BE49-F238E27FC236}">
                <a16:creationId xmlns:a16="http://schemas.microsoft.com/office/drawing/2014/main" id="{BCBFCF2E-691A-2EB0-8C2B-9022E2EE8E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381000"/>
            <a:ext cx="3931920" cy="5907726"/>
          </a:xfrm>
          <a:prstGeom prst="rect">
            <a:avLst/>
          </a:prstGeom>
        </p:spPr>
      </p:pic>
    </p:spTree>
    <p:extLst>
      <p:ext uri="{BB962C8B-B14F-4D97-AF65-F5344CB8AC3E}">
        <p14:creationId xmlns:p14="http://schemas.microsoft.com/office/powerpoint/2010/main" val="3264592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81580-B7B0-C3B9-C00E-0B5D4930B6A3}"/>
              </a:ext>
            </a:extLst>
          </p:cNvPr>
          <p:cNvSpPr>
            <a:spLocks noGrp="1"/>
          </p:cNvSpPr>
          <p:nvPr>
            <p:ph idx="1"/>
          </p:nvPr>
        </p:nvSpPr>
        <p:spPr>
          <a:xfrm>
            <a:off x="609600" y="533400"/>
            <a:ext cx="5927433" cy="6019800"/>
          </a:xfrm>
        </p:spPr>
        <p:txBody>
          <a:bodyPr>
            <a:normAutofit fontScale="85000" lnSpcReduction="10000"/>
          </a:bodyPr>
          <a:lstStyle/>
          <a:p>
            <a:r>
              <a:rPr lang="en-US" dirty="0"/>
              <a:t>Cerelac instant cereal is one of Nestlé’s best-selling baby food brands with revenues close to a billion dollars.</a:t>
            </a:r>
          </a:p>
          <a:p>
            <a:r>
              <a:rPr lang="en-US" dirty="0"/>
              <a:t>In Thailand, Ethiopia, South Africa, India and Bangladesh, among others, Nestlé </a:t>
            </a:r>
            <a:r>
              <a:rPr lang="en-US" b="1" dirty="0"/>
              <a:t>added up to 6 grams of sugar per serving of Cerelac.</a:t>
            </a:r>
          </a:p>
          <a:p>
            <a:r>
              <a:rPr lang="en-US" dirty="0"/>
              <a:t>Cerelac sold in the Philippines contained 7.3 grams per serving.</a:t>
            </a:r>
          </a:p>
          <a:p>
            <a:r>
              <a:rPr lang="en-US" dirty="0"/>
              <a:t>In several countries, including the Philippines, Nigeria, Senegal, Vietnam and Pakistan, added sugar content not declared on the packaging.</a:t>
            </a:r>
          </a:p>
          <a:p>
            <a:r>
              <a:rPr lang="en-US" b="1" dirty="0"/>
              <a:t>Sold containing zero sugar in Britain and Germany</a:t>
            </a:r>
          </a:p>
        </p:txBody>
      </p:sp>
      <p:pic>
        <p:nvPicPr>
          <p:cNvPr id="4" name="Picture 3" descr="A box of cereal with a picture of a blue bowl&#10;&#10;Description automatically generated">
            <a:extLst>
              <a:ext uri="{FF2B5EF4-FFF2-40B4-BE49-F238E27FC236}">
                <a16:creationId xmlns:a16="http://schemas.microsoft.com/office/drawing/2014/main" id="{E0DDF40F-870B-271E-FA24-EE5845938C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4567" y="-36576"/>
            <a:ext cx="5927433" cy="6858000"/>
          </a:xfrm>
          <a:prstGeom prst="rect">
            <a:avLst/>
          </a:prstGeom>
        </p:spPr>
      </p:pic>
    </p:spTree>
    <p:extLst>
      <p:ext uri="{BB962C8B-B14F-4D97-AF65-F5344CB8AC3E}">
        <p14:creationId xmlns:p14="http://schemas.microsoft.com/office/powerpoint/2010/main" val="143068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8142A-3DC7-4493-80C4-1099A9EAFBD8}"/>
              </a:ext>
            </a:extLst>
          </p:cNvPr>
          <p:cNvSpPr>
            <a:spLocks noGrp="1"/>
          </p:cNvSpPr>
          <p:nvPr>
            <p:ph type="title"/>
          </p:nvPr>
        </p:nvSpPr>
        <p:spPr>
          <a:xfrm>
            <a:off x="511924" y="15658"/>
            <a:ext cx="5300749" cy="1143000"/>
          </a:xfrm>
        </p:spPr>
        <p:txBody>
          <a:bodyPr/>
          <a:lstStyle/>
          <a:p>
            <a:r>
              <a:rPr lang="en-US" dirty="0"/>
              <a:t>Interventions</a:t>
            </a:r>
          </a:p>
        </p:txBody>
      </p:sp>
      <p:sp>
        <p:nvSpPr>
          <p:cNvPr id="3" name="Content Placeholder 2">
            <a:extLst>
              <a:ext uri="{FF2B5EF4-FFF2-40B4-BE49-F238E27FC236}">
                <a16:creationId xmlns:a16="http://schemas.microsoft.com/office/drawing/2014/main" id="{DD522EB8-97F7-4C03-8AAA-40ADA7FAB97B}"/>
              </a:ext>
            </a:extLst>
          </p:cNvPr>
          <p:cNvSpPr>
            <a:spLocks noGrp="1"/>
          </p:cNvSpPr>
          <p:nvPr>
            <p:ph idx="1"/>
          </p:nvPr>
        </p:nvSpPr>
        <p:spPr>
          <a:xfrm>
            <a:off x="76200" y="1400937"/>
            <a:ext cx="5638799" cy="5105399"/>
          </a:xfrm>
        </p:spPr>
        <p:txBody>
          <a:bodyPr>
            <a:normAutofit fontScale="92500" lnSpcReduction="20000"/>
          </a:bodyPr>
          <a:lstStyle/>
          <a:p>
            <a:r>
              <a:rPr lang="en-US" sz="2800" dirty="0"/>
              <a:t>Taxation of unhealthy, ultra-processed foods and beverages (Mexico, Norway and others)</a:t>
            </a:r>
          </a:p>
          <a:p>
            <a:r>
              <a:rPr lang="en-US" sz="2800" dirty="0"/>
              <a:t>Front-of package nutrition labels for foods with low nutritional or health value (Chile and others)</a:t>
            </a:r>
          </a:p>
          <a:p>
            <a:r>
              <a:rPr lang="en-US" sz="2800" dirty="0"/>
              <a:t>Banning the construction of new fast food drive thrus (parts of US)</a:t>
            </a:r>
          </a:p>
          <a:p>
            <a:r>
              <a:rPr lang="en-US" sz="2800" dirty="0"/>
              <a:t>Restricting junk-food marketing to kids (Canada, Ireland)</a:t>
            </a:r>
          </a:p>
          <a:p>
            <a:r>
              <a:rPr lang="en-US" sz="2800" dirty="0"/>
              <a:t>Taxation of local governments and companies if citizens and workers exceed health standards on weight and waist size (Japan)</a:t>
            </a:r>
          </a:p>
          <a:p>
            <a:endParaRPr lang="en-US" dirty="0"/>
          </a:p>
        </p:txBody>
      </p:sp>
      <p:pic>
        <p:nvPicPr>
          <p:cNvPr id="4" name="Content Placeholder 3">
            <a:extLst>
              <a:ext uri="{FF2B5EF4-FFF2-40B4-BE49-F238E27FC236}">
                <a16:creationId xmlns:a16="http://schemas.microsoft.com/office/drawing/2014/main" id="{4E1788BD-1299-4BA0-896E-BB3AD1BC2709}"/>
              </a:ext>
            </a:extLst>
          </p:cNvPr>
          <p:cNvPicPr>
            <a:picLocks noChangeAspect="1"/>
          </p:cNvPicPr>
          <p:nvPr/>
        </p:nvPicPr>
        <p:blipFill>
          <a:blip r:embed="rId3"/>
          <a:stretch>
            <a:fillRect/>
          </a:stretch>
        </p:blipFill>
        <p:spPr>
          <a:xfrm>
            <a:off x="5910349" y="2088"/>
            <a:ext cx="6281651" cy="6886303"/>
          </a:xfrm>
          <a:prstGeom prst="rect">
            <a:avLst/>
          </a:prstGeom>
        </p:spPr>
      </p:pic>
    </p:spTree>
    <p:extLst>
      <p:ext uri="{BB962C8B-B14F-4D97-AF65-F5344CB8AC3E}">
        <p14:creationId xmlns:p14="http://schemas.microsoft.com/office/powerpoint/2010/main" val="3756594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52525" t="4316" r="3200" b="6490"/>
          <a:stretch/>
        </p:blipFill>
        <p:spPr>
          <a:xfrm>
            <a:off x="2057400" y="493159"/>
            <a:ext cx="3886200" cy="5871682"/>
          </a:xfr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12404" r="32711"/>
          <a:stretch/>
        </p:blipFill>
        <p:spPr>
          <a:xfrm>
            <a:off x="6321446" y="552035"/>
            <a:ext cx="3913728" cy="2938531"/>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67290" t="12963" b="12963"/>
          <a:stretch/>
        </p:blipFill>
        <p:spPr>
          <a:xfrm>
            <a:off x="7315201" y="3124200"/>
            <a:ext cx="1926219" cy="2515878"/>
          </a:xfrm>
          <a:prstGeom prst="rect">
            <a:avLst/>
          </a:prstGeom>
        </p:spPr>
      </p:pic>
    </p:spTree>
    <p:extLst>
      <p:ext uri="{BB962C8B-B14F-4D97-AF65-F5344CB8AC3E}">
        <p14:creationId xmlns:p14="http://schemas.microsoft.com/office/powerpoint/2010/main" val="2359020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15B3751-2D46-FE42-3714-D6BC2735D2EA}"/>
              </a:ext>
            </a:extLst>
          </p:cNvPr>
          <p:cNvPicPr>
            <a:picLocks noGrp="1" noChangeAspect="1"/>
          </p:cNvPicPr>
          <p:nvPr>
            <p:ph idx="1"/>
          </p:nvPr>
        </p:nvPicPr>
        <p:blipFill>
          <a:blip r:embed="rId3"/>
          <a:stretch>
            <a:fillRect/>
          </a:stretch>
        </p:blipFill>
        <p:spPr>
          <a:xfrm>
            <a:off x="3733800" y="-152400"/>
            <a:ext cx="7958745" cy="4029513"/>
          </a:xfrm>
        </p:spPr>
      </p:pic>
      <p:sp>
        <p:nvSpPr>
          <p:cNvPr id="3" name="Content Placeholder 2">
            <a:extLst>
              <a:ext uri="{FF2B5EF4-FFF2-40B4-BE49-F238E27FC236}">
                <a16:creationId xmlns:a16="http://schemas.microsoft.com/office/drawing/2014/main" id="{E1473D7E-487A-B43A-CB97-45DF66AB2C90}"/>
              </a:ext>
            </a:extLst>
          </p:cNvPr>
          <p:cNvSpPr txBox="1">
            <a:spLocks/>
          </p:cNvSpPr>
          <p:nvPr/>
        </p:nvSpPr>
        <p:spPr>
          <a:xfrm>
            <a:off x="228600" y="457200"/>
            <a:ext cx="4267200" cy="64008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More than 40 countries have adopted easy-to-understand, front-of-package nutrition information, as shown by these New Zealand labels</a:t>
            </a:r>
          </a:p>
          <a:p>
            <a:r>
              <a:rPr lang="en-US" dirty="0"/>
              <a:t>The US has not required front-of-package labeling, as illustrated in bottom image</a:t>
            </a:r>
          </a:p>
        </p:txBody>
      </p:sp>
      <p:pic>
        <p:nvPicPr>
          <p:cNvPr id="7" name="Picture 6" descr="Close-up of a magnifying glass showing a nutrition label&#10;&#10;Description automatically generated">
            <a:extLst>
              <a:ext uri="{FF2B5EF4-FFF2-40B4-BE49-F238E27FC236}">
                <a16:creationId xmlns:a16="http://schemas.microsoft.com/office/drawing/2014/main" id="{4AD5F9D6-2FB5-EA7F-59B1-58B4AAE7CC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5800" y="3429000"/>
            <a:ext cx="5179868" cy="3162994"/>
          </a:xfrm>
          <a:prstGeom prst="rect">
            <a:avLst/>
          </a:prstGeom>
        </p:spPr>
      </p:pic>
    </p:spTree>
    <p:extLst>
      <p:ext uri="{BB962C8B-B14F-4D97-AF65-F5344CB8AC3E}">
        <p14:creationId xmlns:p14="http://schemas.microsoft.com/office/powerpoint/2010/main" val="159090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AB64D-77D1-16C3-57D7-4A70FC8EEE15}"/>
              </a:ext>
            </a:extLst>
          </p:cNvPr>
          <p:cNvSpPr>
            <a:spLocks noGrp="1"/>
          </p:cNvSpPr>
          <p:nvPr>
            <p:ph idx="1"/>
          </p:nvPr>
        </p:nvSpPr>
        <p:spPr>
          <a:xfrm>
            <a:off x="533400" y="495300"/>
            <a:ext cx="4876800" cy="5867400"/>
          </a:xfrm>
        </p:spPr>
        <p:txBody>
          <a:bodyPr>
            <a:normAutofit/>
          </a:bodyPr>
          <a:lstStyle/>
          <a:p>
            <a:r>
              <a:rPr lang="en-US" dirty="0"/>
              <a:t>Clearer labelling has not been required in US because </a:t>
            </a:r>
            <a:r>
              <a:rPr kumimoji="0" lang="en-US" altLang="en-US" i="0" u="none" strike="noStrike" cap="none" normalizeH="0" baseline="0" dirty="0">
                <a:ln>
                  <a:noFill/>
                </a:ln>
                <a:solidFill>
                  <a:schemeClr val="tx1"/>
                </a:solidFill>
                <a:effectLst/>
              </a:rPr>
              <a:t>companies </a:t>
            </a:r>
            <a:r>
              <a:rPr lang="en-US" altLang="en-US" dirty="0"/>
              <a:t>argue requirements infringe on their First Amendment rights </a:t>
            </a:r>
          </a:p>
          <a:p>
            <a:r>
              <a:rPr kumimoji="0" lang="en-US" altLang="en-US" i="0" u="none" strike="noStrike" cap="none" normalizeH="0" baseline="0" dirty="0">
                <a:ln>
                  <a:noFill/>
                </a:ln>
                <a:solidFill>
                  <a:schemeClr val="tx1"/>
                </a:solidFill>
                <a:effectLst/>
              </a:rPr>
              <a:t>However, in response to international precedents, FDA is defending need for labeling and is proposing labels changes</a:t>
            </a:r>
          </a:p>
          <a:p>
            <a:endParaRPr lang="en-US" dirty="0"/>
          </a:p>
          <a:p>
            <a:endParaRPr lang="en-US" dirty="0"/>
          </a:p>
        </p:txBody>
      </p:sp>
      <p:pic>
        <p:nvPicPr>
          <p:cNvPr id="4" name="Content Placeholder 4">
            <a:extLst>
              <a:ext uri="{FF2B5EF4-FFF2-40B4-BE49-F238E27FC236}">
                <a16:creationId xmlns:a16="http://schemas.microsoft.com/office/drawing/2014/main" id="{E0DD6BC0-8F86-7D4A-70FC-9B3D49987A4B}"/>
              </a:ext>
            </a:extLst>
          </p:cNvPr>
          <p:cNvPicPr>
            <a:picLocks noChangeAspect="1"/>
          </p:cNvPicPr>
          <p:nvPr/>
        </p:nvPicPr>
        <p:blipFill>
          <a:blip r:embed="rId3"/>
          <a:srcRect t="26425" r="28381"/>
          <a:stretch/>
        </p:blipFill>
        <p:spPr>
          <a:xfrm>
            <a:off x="5410200" y="495299"/>
            <a:ext cx="6062723" cy="2609273"/>
          </a:xfrm>
          <a:prstGeom prst="rect">
            <a:avLst/>
          </a:prstGeom>
        </p:spPr>
      </p:pic>
      <p:pic>
        <p:nvPicPr>
          <p:cNvPr id="7" name="Content Placeholder 4">
            <a:extLst>
              <a:ext uri="{FF2B5EF4-FFF2-40B4-BE49-F238E27FC236}">
                <a16:creationId xmlns:a16="http://schemas.microsoft.com/office/drawing/2014/main" id="{0F65D787-3B6A-CBF3-360A-87E634F81E74}"/>
              </a:ext>
            </a:extLst>
          </p:cNvPr>
          <p:cNvPicPr>
            <a:picLocks noChangeAspect="1"/>
          </p:cNvPicPr>
          <p:nvPr/>
        </p:nvPicPr>
        <p:blipFill>
          <a:blip r:embed="rId3"/>
          <a:srcRect l="71619" t="41048"/>
          <a:stretch/>
        </p:blipFill>
        <p:spPr>
          <a:xfrm>
            <a:off x="5486400" y="3200400"/>
            <a:ext cx="2998451" cy="2609273"/>
          </a:xfrm>
          <a:prstGeom prst="rect">
            <a:avLst/>
          </a:prstGeom>
        </p:spPr>
      </p:pic>
    </p:spTree>
    <p:extLst>
      <p:ext uri="{BB962C8B-B14F-4D97-AF65-F5344CB8AC3E}">
        <p14:creationId xmlns:p14="http://schemas.microsoft.com/office/powerpoint/2010/main" val="3186422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AC152-AC63-431A-5306-E227DEF7A15B}"/>
              </a:ext>
            </a:extLst>
          </p:cNvPr>
          <p:cNvSpPr>
            <a:spLocks noGrp="1"/>
          </p:cNvSpPr>
          <p:nvPr>
            <p:ph idx="1"/>
          </p:nvPr>
        </p:nvSpPr>
        <p:spPr>
          <a:xfrm>
            <a:off x="609600" y="685800"/>
            <a:ext cx="4495800" cy="5867399"/>
          </a:xfrm>
        </p:spPr>
        <p:txBody>
          <a:bodyPr>
            <a:normAutofit fontScale="85000" lnSpcReduction="10000"/>
          </a:bodyPr>
          <a:lstStyle/>
          <a:p>
            <a:pPr lvl="0"/>
            <a:r>
              <a:rPr lang="en-US" dirty="0"/>
              <a:t>As of Sept 2026: the rule has not been finalized. FDA currently projects a final rule for December 2026. </a:t>
            </a:r>
          </a:p>
          <a:p>
            <a:r>
              <a:rPr lang="en-US" dirty="0"/>
              <a:t>The FDA's current page with the proposed design and explanation: </a:t>
            </a:r>
            <a:r>
              <a:rPr lang="en-US" dirty="0">
                <a:hlinkClick r:id="rId3"/>
              </a:rPr>
              <a:t>FDA Front-of-Package Nutrition Labeling</a:t>
            </a:r>
            <a:r>
              <a:rPr lang="en-US" dirty="0"/>
              <a:t>.</a:t>
            </a:r>
          </a:p>
          <a:p>
            <a:r>
              <a:rPr lang="en-US" dirty="0"/>
              <a:t>U.S. proposal remains substantially less warning-oriented than the prominent warning-symbol systems adopted elsewhere</a:t>
            </a:r>
          </a:p>
        </p:txBody>
      </p:sp>
      <p:pic>
        <p:nvPicPr>
          <p:cNvPr id="6" name="Picture 5" descr="The image illustrates the influence of food label regulations on corporate practices and public health, emphasizing the need for policy changes to address loopholes and promote global health advocacy.&#10;&#10;AI-generated content may be incorrect.">
            <a:extLst>
              <a:ext uri="{FF2B5EF4-FFF2-40B4-BE49-F238E27FC236}">
                <a16:creationId xmlns:a16="http://schemas.microsoft.com/office/drawing/2014/main" id="{3344AFE1-9F6D-71B7-29D9-DD0C67ECAAA3}"/>
              </a:ext>
            </a:extLst>
          </p:cNvPr>
          <p:cNvPicPr>
            <a:picLocks noChangeAspect="1"/>
          </p:cNvPicPr>
          <p:nvPr/>
        </p:nvPicPr>
        <p:blipFill>
          <a:blip r:embed="rId4"/>
          <a:stretch>
            <a:fillRect/>
          </a:stretch>
        </p:blipFill>
        <p:spPr>
          <a:xfrm>
            <a:off x="5562600" y="914400"/>
            <a:ext cx="6200698" cy="4648200"/>
          </a:xfrm>
          <a:prstGeom prst="rect">
            <a:avLst/>
          </a:prstGeom>
        </p:spPr>
      </p:pic>
    </p:spTree>
    <p:extLst>
      <p:ext uri="{BB962C8B-B14F-4D97-AF65-F5344CB8AC3E}">
        <p14:creationId xmlns:p14="http://schemas.microsoft.com/office/powerpoint/2010/main" val="1492758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4973</TotalTime>
  <Words>791</Words>
  <Application>Microsoft Office PowerPoint</Application>
  <PresentationFormat>Widescreen</PresentationFormat>
  <Paragraphs>44</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Interventions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JAS</dc:creator>
  <cp:lastModifiedBy>Stallins, Jon A.</cp:lastModifiedBy>
  <cp:revision>604</cp:revision>
  <dcterms:created xsi:type="dcterms:W3CDTF">2006-08-16T00:00:00Z</dcterms:created>
  <dcterms:modified xsi:type="dcterms:W3CDTF">2026-09-15T11:11:07Z</dcterms:modified>
</cp:coreProperties>
</file>