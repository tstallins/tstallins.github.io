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570" r:id="rId2"/>
    <p:sldId id="636" r:id="rId3"/>
    <p:sldId id="691" r:id="rId4"/>
    <p:sldId id="675" r:id="rId5"/>
    <p:sldId id="549" r:id="rId6"/>
    <p:sldId id="371" r:id="rId7"/>
    <p:sldId id="694" r:id="rId8"/>
    <p:sldId id="533" r:id="rId9"/>
    <p:sldId id="283" r:id="rId10"/>
    <p:sldId id="532" r:id="rId11"/>
    <p:sldId id="548" r:id="rId12"/>
    <p:sldId id="540" r:id="rId13"/>
    <p:sldId id="614" r:id="rId14"/>
    <p:sldId id="457" r:id="rId15"/>
    <p:sldId id="643" r:id="rId16"/>
    <p:sldId id="647" r:id="rId17"/>
    <p:sldId id="648" r:id="rId18"/>
    <p:sldId id="649" r:id="rId19"/>
    <p:sldId id="654" r:id="rId20"/>
    <p:sldId id="656" r:id="rId21"/>
    <p:sldId id="657" r:id="rId22"/>
    <p:sldId id="6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dings" id="{DC56D1DA-2F4C-4BE9-BE71-AC2FAA8CAAF6}">
          <p14:sldIdLst>
            <p14:sldId id="570"/>
            <p14:sldId id="636"/>
            <p14:sldId id="691"/>
            <p14:sldId id="675"/>
          </p14:sldIdLst>
        </p14:section>
        <p14:section name="Influenza intro" id="{D0B9CF4B-7C03-4680-9BD0-F89A2D50039F}">
          <p14:sldIdLst>
            <p14:sldId id="549"/>
            <p14:sldId id="371"/>
            <p14:sldId id="694"/>
            <p14:sldId id="533"/>
          </p14:sldIdLst>
        </p14:section>
        <p14:section name="Influenza vaccines" id="{B7A51AC0-EB1E-4A02-AF24-022B81ACAC78}">
          <p14:sldIdLst>
            <p14:sldId id="283"/>
            <p14:sldId id="532"/>
            <p14:sldId id="548"/>
          </p14:sldIdLst>
        </p14:section>
        <p14:section name="1918 H1N1 pandemic" id="{22AA8547-A757-4C8E-AD70-8C8F6A947D8B}">
          <p14:sldIdLst>
            <p14:sldId id="540"/>
            <p14:sldId id="614"/>
            <p14:sldId id="457"/>
          </p14:sldIdLst>
        </p14:section>
        <p14:section name="H5N1 lineage" id="{2AD46A5B-CD20-48BC-A0D1-996541E6D8E0}">
          <p14:sldIdLst>
            <p14:sldId id="643"/>
          </p14:sldIdLst>
        </p14:section>
        <p14:section name="Pandemic planning" id="{60A58987-8F04-4194-B5EF-128FB3E13B0E}">
          <p14:sldIdLst>
            <p14:sldId id="647"/>
            <p14:sldId id="648"/>
            <p14:sldId id="649"/>
          </p14:sldIdLst>
        </p14:section>
        <p14:section name="Influenza surveillance and strategies for control" id="{2685447A-6DE4-45C2-A5F0-C34789566092}">
          <p14:sldIdLst>
            <p14:sldId id="654"/>
            <p14:sldId id="656"/>
            <p14:sldId id="657"/>
            <p14:sldId id="6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400" autoAdjust="0"/>
    <p:restoredTop sz="60261" autoAdjust="0"/>
  </p:normalViewPr>
  <p:slideViewPr>
    <p:cSldViewPr snapToGrid="0">
      <p:cViewPr varScale="1">
        <p:scale>
          <a:sx n="38" d="100"/>
          <a:sy n="38" d="100"/>
        </p:scale>
        <p:origin x="352" y="20"/>
      </p:cViewPr>
      <p:guideLst>
        <p:guide orient="horz" pos="2160"/>
        <p:guide pos="3840"/>
      </p:guideLst>
    </p:cSldViewPr>
  </p:slideViewPr>
  <p:outlineViewPr>
    <p:cViewPr>
      <p:scale>
        <a:sx n="33" d="100"/>
        <a:sy n="33" d="100"/>
      </p:scale>
      <p:origin x="0" y="-2458"/>
    </p:cViewPr>
  </p:outlineViewPr>
  <p:notesTextViewPr>
    <p:cViewPr>
      <p:scale>
        <a:sx n="3" d="2"/>
        <a:sy n="3" d="2"/>
      </p:scale>
      <p:origin x="0" y="0"/>
    </p:cViewPr>
  </p:notesTextViewPr>
  <p:sorterViewPr>
    <p:cViewPr>
      <p:scale>
        <a:sx n="50" d="100"/>
        <a:sy n="50" d="100"/>
      </p:scale>
      <p:origin x="0" y="-1988"/>
    </p:cViewPr>
  </p:sorterViewPr>
  <p:notesViewPr>
    <p:cSldViewPr snapToGrid="0" showGuides="1">
      <p:cViewPr varScale="1">
        <p:scale>
          <a:sx n="65" d="100"/>
          <a:sy n="65" d="100"/>
        </p:scale>
        <p:origin x="2299" y="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E3ACF-26CA-49C1-AA45-BB454D195848}" type="datetimeFigureOut">
              <a:rPr lang="en-US" smtClean="0"/>
              <a:pPr/>
              <a:t>10/16/2025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E3B35-B373-4AA8-94EE-B3E16EF9EF81}" type="slidenum">
              <a:rPr lang="en-US" smtClean="0"/>
              <a:pPr/>
              <a:t>‹#›</a:t>
            </a:fld>
            <a:endParaRPr lang="en-US" dirty="0"/>
          </a:p>
        </p:txBody>
      </p:sp>
    </p:spTree>
    <p:extLst>
      <p:ext uri="{BB962C8B-B14F-4D97-AF65-F5344CB8AC3E}">
        <p14:creationId xmlns:p14="http://schemas.microsoft.com/office/powerpoint/2010/main" val="35944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of food”</a:t>
            </a:r>
            <a:br>
              <a:rPr lang="en-US" dirty="0"/>
            </a:br>
            <a:br>
              <a:rPr lang="en-US" dirty="0"/>
            </a:br>
            <a:r>
              <a:rPr lang="en-US" dirty="0"/>
              <a:t>https://www.nytimes.com/2020/09/10/opinion/coronavirus-hong-kong-food.html</a:t>
            </a:r>
          </a:p>
        </p:txBody>
      </p:sp>
      <p:sp>
        <p:nvSpPr>
          <p:cNvPr id="4" name="Slide Number Placeholder 3"/>
          <p:cNvSpPr>
            <a:spLocks noGrp="1"/>
          </p:cNvSpPr>
          <p:nvPr>
            <p:ph type="sldNum" sz="quarter" idx="5"/>
          </p:nvPr>
        </p:nvSpPr>
        <p:spPr/>
        <p:txBody>
          <a:bodyPr/>
          <a:lstStyle/>
          <a:p>
            <a:fld id="{A81E3B35-B373-4AA8-94EE-B3E16EF9EF81}" type="slidenum">
              <a:rPr lang="en-US" smtClean="0"/>
              <a:pPr/>
              <a:t>1</a:t>
            </a:fld>
            <a:endParaRPr lang="en-US" dirty="0"/>
          </a:p>
        </p:txBody>
      </p:sp>
    </p:spTree>
    <p:extLst>
      <p:ext uri="{BB962C8B-B14F-4D97-AF65-F5344CB8AC3E}">
        <p14:creationId xmlns:p14="http://schemas.microsoft.com/office/powerpoint/2010/main" val="3459293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https://www.nytimes.com/2023/07/25/health/swine-flu-pigs-agriculture.html</a:t>
            </a:r>
          </a:p>
        </p:txBody>
      </p:sp>
      <p:sp>
        <p:nvSpPr>
          <p:cNvPr id="4" name="Slide Number Placeholder 3"/>
          <p:cNvSpPr>
            <a:spLocks noGrp="1"/>
          </p:cNvSpPr>
          <p:nvPr>
            <p:ph type="sldNum" sz="quarter" idx="5"/>
          </p:nvPr>
        </p:nvSpPr>
        <p:spPr/>
        <p:txBody>
          <a:bodyPr/>
          <a:lstStyle/>
          <a:p>
            <a:fld id="{A81E3B35-B373-4AA8-94EE-B3E16EF9EF81}" type="slidenum">
              <a:rPr lang="en-US" smtClean="0"/>
              <a:pPr/>
              <a:t>2</a:t>
            </a:fld>
            <a:endParaRPr lang="en-US" dirty="0"/>
          </a:p>
        </p:txBody>
      </p:sp>
    </p:spTree>
    <p:extLst>
      <p:ext uri="{BB962C8B-B14F-4D97-AF65-F5344CB8AC3E}">
        <p14:creationId xmlns:p14="http://schemas.microsoft.com/office/powerpoint/2010/main" val="1398850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3</a:t>
            </a:fld>
            <a:endParaRPr lang="en-US" dirty="0"/>
          </a:p>
        </p:txBody>
      </p:sp>
    </p:spTree>
    <p:extLst>
      <p:ext uri="{BB962C8B-B14F-4D97-AF65-F5344CB8AC3E}">
        <p14:creationId xmlns:p14="http://schemas.microsoft.com/office/powerpoint/2010/main" val="785678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https://www.nytimes.com/2022/02/14/health/russian-flu-coronavirus.html</a:t>
            </a:r>
          </a:p>
        </p:txBody>
      </p:sp>
      <p:sp>
        <p:nvSpPr>
          <p:cNvPr id="4" name="Slide Number Placeholder 3"/>
          <p:cNvSpPr>
            <a:spLocks noGrp="1"/>
          </p:cNvSpPr>
          <p:nvPr>
            <p:ph type="sldNum" sz="quarter" idx="5"/>
          </p:nvPr>
        </p:nvSpPr>
        <p:spPr/>
        <p:txBody>
          <a:bodyPr/>
          <a:lstStyle/>
          <a:p>
            <a:fld id="{A81E3B35-B373-4AA8-94EE-B3E16EF9EF81}" type="slidenum">
              <a:rPr lang="en-US" smtClean="0"/>
              <a:pPr/>
              <a:t>4</a:t>
            </a:fld>
            <a:endParaRPr lang="en-US" dirty="0"/>
          </a:p>
        </p:txBody>
      </p:sp>
    </p:spTree>
    <p:extLst>
      <p:ext uri="{BB962C8B-B14F-4D97-AF65-F5344CB8AC3E}">
        <p14:creationId xmlns:p14="http://schemas.microsoft.com/office/powerpoint/2010/main" val="3190453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flu is everywhere. It is in all countries, but at different times and seasons. </a:t>
            </a:r>
          </a:p>
          <a:p>
            <a:br>
              <a:rPr lang="en-US" dirty="0"/>
            </a:br>
            <a:r>
              <a:rPr lang="en-US" dirty="0"/>
              <a:t>Image is a flu virus. Like Covid, the influenza virus is an RNA virus. It has RNA as its genome instead of DNA. Some viruses have RNA, some have DNA.</a:t>
            </a:r>
          </a:p>
        </p:txBody>
      </p:sp>
      <p:sp>
        <p:nvSpPr>
          <p:cNvPr id="4" name="Slide Number Placeholder 3"/>
          <p:cNvSpPr>
            <a:spLocks noGrp="1"/>
          </p:cNvSpPr>
          <p:nvPr>
            <p:ph type="sldNum" sz="quarter" idx="5"/>
          </p:nvPr>
        </p:nvSpPr>
        <p:spPr/>
        <p:txBody>
          <a:bodyPr/>
          <a:lstStyle/>
          <a:p>
            <a:fld id="{A81E3B35-B373-4AA8-94EE-B3E16EF9EF81}" type="slidenum">
              <a:rPr lang="en-US" smtClean="0"/>
              <a:pPr/>
              <a:t>5</a:t>
            </a:fld>
            <a:endParaRPr lang="en-US" dirty="0"/>
          </a:p>
        </p:txBody>
      </p:sp>
    </p:spTree>
    <p:extLst>
      <p:ext uri="{BB962C8B-B14F-4D97-AF65-F5344CB8AC3E}">
        <p14:creationId xmlns:p14="http://schemas.microsoft.com/office/powerpoint/2010/main" val="371896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Every virus is a bunch of genes wrapped in a coat of proteins. In viruses, the genes can be made of DNA or RNA. </a:t>
            </a:r>
          </a:p>
        </p:txBody>
      </p:sp>
      <p:sp>
        <p:nvSpPr>
          <p:cNvPr id="4" name="Slide Number Placeholder 3"/>
          <p:cNvSpPr>
            <a:spLocks noGrp="1"/>
          </p:cNvSpPr>
          <p:nvPr>
            <p:ph type="sldNum" sz="quarter" idx="10"/>
          </p:nvPr>
        </p:nvSpPr>
        <p:spPr/>
        <p:txBody>
          <a:bodyPr/>
          <a:lstStyle/>
          <a:p>
            <a:fld id="{A81E3B35-B373-4AA8-94EE-B3E16EF9EF81}" type="slidenum">
              <a:rPr lang="en-US" smtClean="0"/>
              <a:pPr/>
              <a:t>6</a:t>
            </a:fld>
            <a:endParaRPr lang="en-US" dirty="0"/>
          </a:p>
        </p:txBody>
      </p:sp>
    </p:spTree>
    <p:extLst>
      <p:ext uri="{BB962C8B-B14F-4D97-AF65-F5344CB8AC3E}">
        <p14:creationId xmlns:p14="http://schemas.microsoft.com/office/powerpoint/2010/main" val="589148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in a morning versus an afternoon flu vaccine program had significantly higher antibody responses to two of three flu strains in the vaccine</a:t>
            </a:r>
          </a:p>
          <a:p>
            <a:endParaRPr lang="en-US" dirty="0"/>
          </a:p>
          <a:p>
            <a:r>
              <a:rPr lang="en-US" dirty="0"/>
              <a:t>There’s evidence of seasonal variation in the actions of human immune genes as well. In a massive analysis of blood and tissue samples from more than 10,000 people in Europe, the United States, Gambia, and Australia, researchers at the University of Cambridge found some 4000 genes related to immune function that had “seasonal expression profiles.” In one German cohort, expression in white blood cells of nearly one in four genes in the entire genome differed by the seasons. Genes in the Northern Hemisphere tended to switch on when they were switched off south of the equator, and vice versa.</a:t>
            </a:r>
          </a:p>
          <a:p>
            <a:endParaRPr lang="en-US" dirty="0"/>
          </a:p>
          <a:p>
            <a:r>
              <a:rPr lang="en-US" dirty="0"/>
              <a:t>https://www.sciencemag.org/news/2020/03/why-do-dozens-diseases-wax-and-wane-seasons-and-will-covid-19</a:t>
            </a:r>
          </a:p>
          <a:p>
            <a:endParaRPr lang="en-US" dirty="0"/>
          </a:p>
          <a:p>
            <a:r>
              <a:rPr lang="en-US" dirty="0"/>
              <a:t>Cohen, Jon. "Sick time." (2020): 1294-1297.</a:t>
            </a:r>
          </a:p>
          <a:p>
            <a:r>
              <a:rPr lang="en-US" dirty="0"/>
              <a:t>https://science.sciencemag.org/content/367/6484/1294.summary</a:t>
            </a:r>
          </a:p>
          <a:p>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7</a:t>
            </a:fld>
            <a:endParaRPr lang="en-US" dirty="0"/>
          </a:p>
        </p:txBody>
      </p:sp>
    </p:spTree>
    <p:extLst>
      <p:ext uri="{BB962C8B-B14F-4D97-AF65-F5344CB8AC3E}">
        <p14:creationId xmlns:p14="http://schemas.microsoft.com/office/powerpoint/2010/main" val="795600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Lowen, Anice; Palese, Peter. (2009). Transmission of influenza virus in temperate zones is predominantly by aerosol, in the tropics by contact: A hypothesis.</a:t>
            </a:r>
            <a:r>
              <a:rPr lang="en-US" i="1" dirty="0"/>
              <a:t> PLoS Currents Influenza</a:t>
            </a:r>
            <a:endParaRPr lang="en-US" dirty="0"/>
          </a:p>
        </p:txBody>
      </p:sp>
      <p:sp>
        <p:nvSpPr>
          <p:cNvPr id="4" name="Slide Number Placeholder 3"/>
          <p:cNvSpPr>
            <a:spLocks noGrp="1"/>
          </p:cNvSpPr>
          <p:nvPr>
            <p:ph type="sldNum" sz="quarter" idx="10"/>
          </p:nvPr>
        </p:nvSpPr>
        <p:spPr/>
        <p:txBody>
          <a:bodyPr/>
          <a:lstStyle/>
          <a:p>
            <a:fld id="{6D3F1016-B6B3-4A15-8BA3-CA4B1CA26B25}" type="slidenum">
              <a:rPr lang="en-US" smtClean="0"/>
              <a:t>8</a:t>
            </a:fld>
            <a:endParaRPr lang="en-US" dirty="0"/>
          </a:p>
        </p:txBody>
      </p:sp>
    </p:spTree>
    <p:extLst>
      <p:ext uri="{BB962C8B-B14F-4D97-AF65-F5344CB8AC3E}">
        <p14:creationId xmlns:p14="http://schemas.microsoft.com/office/powerpoint/2010/main" val="1309182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https://www.cdc.gov/flu/season/flu-season-2019-2020.htm</a:t>
            </a:r>
          </a:p>
          <a:p>
            <a:endParaRPr lang="en-US" dirty="0"/>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9</a:t>
            </a:fld>
            <a:endParaRPr lang="en-US" dirty="0"/>
          </a:p>
        </p:txBody>
      </p:sp>
    </p:spTree>
    <p:extLst>
      <p:ext uri="{BB962C8B-B14F-4D97-AF65-F5344CB8AC3E}">
        <p14:creationId xmlns:p14="http://schemas.microsoft.com/office/powerpoint/2010/main" val="540420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impressive feat of biologic manufacturing</a:t>
            </a:r>
            <a:r>
              <a:rPr lang="en-US" baseline="0" dirty="0"/>
              <a:t> </a:t>
            </a:r>
            <a:r>
              <a:rPr lang="en-US" dirty="0"/>
              <a:t>something for which Big Pharma gets little credit. </a:t>
            </a:r>
          </a:p>
          <a:p>
            <a:endParaRPr lang="en-US" dirty="0"/>
          </a:p>
          <a:p>
            <a:r>
              <a:rPr lang="en-US" dirty="0"/>
              <a:t>Sanofi Pasteur</a:t>
            </a:r>
            <a:r>
              <a:rPr lang="en-US" baseline="0" dirty="0"/>
              <a:t> is </a:t>
            </a:r>
            <a:r>
              <a:rPr lang="en-US" dirty="0"/>
              <a:t>the world's largest manufacturer of influenza (flu) vaccines</a:t>
            </a:r>
          </a:p>
          <a:p>
            <a:endParaRPr lang="en-US" dirty="0"/>
          </a:p>
          <a:p>
            <a:r>
              <a:rPr lang="en-US" dirty="0"/>
              <a:t>The production and distribution process for a new vaccine takes about six months, however, during which time the circulating strains may shape-shift again. If the vaccines end up matching a given season’s viruses closely, they are up to 60 percent effective at preventing illness, the C.D.C. estimates; when they don’t, their effectiveness has been as low as 10 percent.</a:t>
            </a:r>
          </a:p>
        </p:txBody>
      </p:sp>
      <p:sp>
        <p:nvSpPr>
          <p:cNvPr id="4" name="Slide Number Placeholder 3"/>
          <p:cNvSpPr>
            <a:spLocks noGrp="1"/>
          </p:cNvSpPr>
          <p:nvPr>
            <p:ph type="sldNum" sz="quarter" idx="10"/>
          </p:nvPr>
        </p:nvSpPr>
        <p:spPr/>
        <p:txBody>
          <a:bodyPr/>
          <a:lstStyle/>
          <a:p>
            <a:fld id="{A81E3B35-B373-4AA8-94EE-B3E16EF9EF81}" type="slidenum">
              <a:rPr lang="en-US" smtClean="0"/>
              <a:pPr/>
              <a:t>10</a:t>
            </a:fld>
            <a:endParaRPr lang="en-US" dirty="0"/>
          </a:p>
        </p:txBody>
      </p:sp>
    </p:spTree>
    <p:extLst>
      <p:ext uri="{BB962C8B-B14F-4D97-AF65-F5344CB8AC3E}">
        <p14:creationId xmlns:p14="http://schemas.microsoft.com/office/powerpoint/2010/main" val="2897243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Zheng, Y., Rodewald, L., Yang, J., Qin, Y., Pang, M., Feng, L., &amp; Yu, H. (2018). The landscape of vaccines in China: history, classification, supply, and price. </a:t>
            </a:r>
            <a:r>
              <a:rPr lang="en-US" i="1" dirty="0"/>
              <a:t>BMC Infectious Diseases</a:t>
            </a:r>
            <a:r>
              <a:rPr lang="en-US" dirty="0"/>
              <a:t>, </a:t>
            </a:r>
            <a:r>
              <a:rPr lang="en-US" i="1" dirty="0"/>
              <a:t>18</a:t>
            </a:r>
            <a:r>
              <a:rPr lang="en-US" dirty="0"/>
              <a:t>(1), 1-8.</a:t>
            </a:r>
            <a:br>
              <a:rPr lang="en-US" dirty="0"/>
            </a:br>
            <a:br>
              <a:rPr lang="en-US" dirty="0"/>
            </a:br>
            <a:r>
              <a:rPr lang="en-US" dirty="0"/>
              <a:t>https://doi.org/10.1186/s12879-018-3422-0</a:t>
            </a:r>
          </a:p>
          <a:p>
            <a:endParaRPr lang="en-US" dirty="0"/>
          </a:p>
          <a:p>
            <a:r>
              <a:rPr lang="en-US" dirty="0"/>
              <a:t>Vaccine Preventable Diseases (VPDs) for national immunization program vaccines in China, US, UK, Russia, Brazil, India and South Africa. VPDs indicated with green are EPI vaccines in the respective countries. Gold indicates diseases prevented by national programs in the UK, US, Russia, or Brazil’s NIP but whose vaccines are not included in China’s EPI system.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11</a:t>
            </a:fld>
            <a:endParaRPr lang="en-US" dirty="0"/>
          </a:p>
        </p:txBody>
      </p:sp>
    </p:spTree>
    <p:extLst>
      <p:ext uri="{BB962C8B-B14F-4D97-AF65-F5344CB8AC3E}">
        <p14:creationId xmlns:p14="http://schemas.microsoft.com/office/powerpoint/2010/main" val="1222322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https://www.kentucky.com/opinion/linda-blackford/article241557031.html?</a:t>
            </a:r>
          </a:p>
        </p:txBody>
      </p:sp>
      <p:sp>
        <p:nvSpPr>
          <p:cNvPr id="4" name="Slide Number Placeholder 3"/>
          <p:cNvSpPr>
            <a:spLocks noGrp="1"/>
          </p:cNvSpPr>
          <p:nvPr>
            <p:ph type="sldNum" sz="quarter" idx="5"/>
          </p:nvPr>
        </p:nvSpPr>
        <p:spPr/>
        <p:txBody>
          <a:bodyPr/>
          <a:lstStyle/>
          <a:p>
            <a:fld id="{A81E3B35-B373-4AA8-94EE-B3E16EF9EF81}" type="slidenum">
              <a:rPr lang="en-US" smtClean="0"/>
              <a:pPr/>
              <a:t>12</a:t>
            </a:fld>
            <a:endParaRPr lang="en-US" dirty="0"/>
          </a:p>
        </p:txBody>
      </p:sp>
    </p:spTree>
    <p:extLst>
      <p:ext uri="{BB962C8B-B14F-4D97-AF65-F5344CB8AC3E}">
        <p14:creationId xmlns:p14="http://schemas.microsoft.com/office/powerpoint/2010/main" val="2456747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higher death rate (from all causes) in 2020 is attributed to long period in which death rate declined due to better public health and medicine. The average was quite low and so when 2020 rolled around, it really stood out. </a:t>
            </a:r>
            <a:br>
              <a:rPr lang="en-US" dirty="0"/>
            </a:br>
            <a:br>
              <a:rPr lang="en-US" dirty="0"/>
            </a:br>
            <a:r>
              <a:rPr lang="en-US" dirty="0"/>
              <a:t>The death rate from influenza was about double that of Covid</a:t>
            </a:r>
          </a:p>
          <a:p>
            <a:endParaRPr lang="en-US" dirty="0"/>
          </a:p>
          <a:p>
            <a:r>
              <a:rPr lang="en-US" dirty="0"/>
              <a:t>Population in US</a:t>
            </a:r>
          </a:p>
          <a:p>
            <a:pPr lvl="1"/>
            <a:r>
              <a:rPr lang="en-US" dirty="0"/>
              <a:t>1918 – 105 million </a:t>
            </a:r>
          </a:p>
          <a:p>
            <a:pPr lvl="1"/>
            <a:r>
              <a:rPr lang="en-US" dirty="0"/>
              <a:t>2021 – 331 million </a:t>
            </a:r>
          </a:p>
          <a:p>
            <a:r>
              <a:rPr lang="en-US" dirty="0"/>
              <a:t>Deaths</a:t>
            </a:r>
          </a:p>
          <a:p>
            <a:pPr lvl="1"/>
            <a:r>
              <a:rPr lang="en-US" dirty="0"/>
              <a:t>675,000 – 1918 flu</a:t>
            </a:r>
          </a:p>
          <a:p>
            <a:pPr lvl="1"/>
            <a:r>
              <a:rPr lang="en-US" dirty="0"/>
              <a:t>1,150,000 – Covid to date</a:t>
            </a: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13</a:t>
            </a:fld>
            <a:endParaRPr lang="en-US" dirty="0"/>
          </a:p>
        </p:txBody>
      </p:sp>
    </p:spTree>
    <p:extLst>
      <p:ext uri="{BB962C8B-B14F-4D97-AF65-F5344CB8AC3E}">
        <p14:creationId xmlns:p14="http://schemas.microsoft.com/office/powerpoint/2010/main" val="2251086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14</a:t>
            </a:fld>
            <a:endParaRPr lang="en-US" dirty="0"/>
          </a:p>
        </p:txBody>
      </p:sp>
    </p:spTree>
    <p:extLst>
      <p:ext uri="{BB962C8B-B14F-4D97-AF65-F5344CB8AC3E}">
        <p14:creationId xmlns:p14="http://schemas.microsoft.com/office/powerpoint/2010/main" val="2218144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0" i="0" u="none" strike="noStrike" baseline="0" dirty="0">
                <a:latin typeface="MillerDaily-Roman"/>
              </a:rPr>
            </a:br>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15</a:t>
            </a:fld>
            <a:endParaRPr lang="en-US" dirty="0"/>
          </a:p>
        </p:txBody>
      </p:sp>
    </p:spTree>
    <p:extLst>
      <p:ext uri="{BB962C8B-B14F-4D97-AF65-F5344CB8AC3E}">
        <p14:creationId xmlns:p14="http://schemas.microsoft.com/office/powerpoint/2010/main" val="1190961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https://www.washingtonpost.com/news/to-your-health/wp/2018/04/27/bill-gates-calls-on-u-s-to-lead-fight-against-a-pandemic-that-could-kill-millions</a:t>
            </a:r>
            <a:br>
              <a:rPr lang="en-US" dirty="0"/>
            </a:br>
            <a:br>
              <a:rPr lang="en-US" dirty="0"/>
            </a:br>
            <a:r>
              <a:rPr lang="en-US" dirty="0"/>
              <a:t>A virus as deadly as the 1918 Spanish flu could kill up to 33 million people today</a:t>
            </a:r>
          </a:p>
          <a:p>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16</a:t>
            </a:fld>
            <a:endParaRPr lang="en-US" dirty="0"/>
          </a:p>
        </p:txBody>
      </p:sp>
    </p:spTree>
    <p:extLst>
      <p:ext uri="{BB962C8B-B14F-4D97-AF65-F5344CB8AC3E}">
        <p14:creationId xmlns:p14="http://schemas.microsoft.com/office/powerpoint/2010/main" val="351133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https://www.nytimes.com/2020/02/27/opinion/coronavirus-pandemics.html</a:t>
            </a:r>
          </a:p>
        </p:txBody>
      </p:sp>
      <p:sp>
        <p:nvSpPr>
          <p:cNvPr id="4" name="Slide Number Placeholder 3"/>
          <p:cNvSpPr>
            <a:spLocks noGrp="1"/>
          </p:cNvSpPr>
          <p:nvPr>
            <p:ph type="sldNum" sz="quarter" idx="5"/>
          </p:nvPr>
        </p:nvSpPr>
        <p:spPr/>
        <p:txBody>
          <a:bodyPr/>
          <a:lstStyle/>
          <a:p>
            <a:fld id="{7CE8AA4F-FE83-4E53-B972-CCAF774F6EE9}" type="slidenum">
              <a:rPr lang="en-US" smtClean="0"/>
              <a:t>17</a:t>
            </a:fld>
            <a:endParaRPr lang="en-US" dirty="0"/>
          </a:p>
        </p:txBody>
      </p:sp>
    </p:spTree>
    <p:extLst>
      <p:ext uri="{BB962C8B-B14F-4D97-AF65-F5344CB8AC3E}">
        <p14:creationId xmlns:p14="http://schemas.microsoft.com/office/powerpoint/2010/main" val="2877293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mj-lt"/>
              </a:rPr>
              <a:t>In Crimson Contagion, tourists returned from China with a new flu virus that took hold in Chicago, Illinois, and infected 110 million Americans (the exercise assumed the pathogen was more contagious than SARS-CoV-2 is).</a:t>
            </a:r>
            <a:endParaRPr lang="en-US" sz="1200" dirty="0">
              <a:latin typeface="+mj-lt"/>
            </a:endParaRPr>
          </a:p>
          <a:p>
            <a:endParaRPr lang="en-US" dirty="0"/>
          </a:p>
        </p:txBody>
      </p:sp>
      <p:sp>
        <p:nvSpPr>
          <p:cNvPr id="4" name="Slide Number Placeholder 3"/>
          <p:cNvSpPr>
            <a:spLocks noGrp="1"/>
          </p:cNvSpPr>
          <p:nvPr>
            <p:ph type="sldNum" sz="quarter" idx="5"/>
          </p:nvPr>
        </p:nvSpPr>
        <p:spPr/>
        <p:txBody>
          <a:bodyPr/>
          <a:lstStyle/>
          <a:p>
            <a:fld id="{7CE8AA4F-FE83-4E53-B972-CCAF774F6EE9}" type="slidenum">
              <a:rPr lang="en-US" smtClean="0"/>
              <a:t>18</a:t>
            </a:fld>
            <a:endParaRPr lang="en-US" dirty="0"/>
          </a:p>
        </p:txBody>
      </p:sp>
    </p:spTree>
    <p:extLst>
      <p:ext uri="{BB962C8B-B14F-4D97-AF65-F5344CB8AC3E}">
        <p14:creationId xmlns:p14="http://schemas.microsoft.com/office/powerpoint/2010/main" val="316456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Pigs, poultry,</a:t>
            </a:r>
            <a:r>
              <a:rPr lang="en-US" baseline="0" dirty="0"/>
              <a:t> aquatic birds need to be monitored to detect viruses well before they appear in humans. </a:t>
            </a:r>
          </a:p>
          <a:p>
            <a:endParaRPr lang="en-US" baseline="0" dirty="0"/>
          </a:p>
          <a:p>
            <a:r>
              <a:rPr lang="en-US" dirty="0"/>
              <a:t>Animals may harbor influenza viruses for a period of time before jumping into humans</a:t>
            </a:r>
          </a:p>
          <a:p>
            <a:endParaRPr lang="en-US" dirty="0"/>
          </a:p>
          <a:p>
            <a:r>
              <a:rPr lang="en-US" dirty="0"/>
              <a:t>Like the 1918 strain, the A H1N1 2009 pandemic precursor viruses were present in swine for long periods of time before it emerged in humans.  </a:t>
            </a:r>
            <a:br>
              <a:rPr lang="en-US" dirty="0"/>
            </a:br>
            <a:br>
              <a:rPr lang="en-US" dirty="0"/>
            </a:br>
            <a:r>
              <a:rPr lang="en-US" dirty="0"/>
              <a:t>Above,</a:t>
            </a:r>
            <a:r>
              <a:rPr lang="en-US" baseline="0" dirty="0"/>
              <a:t> estimated risk of zoonotic disease transmission, including influenza, from pigs. </a:t>
            </a:r>
          </a:p>
          <a:p>
            <a:endParaRPr lang="en-US" baseline="0" dirty="0"/>
          </a:p>
          <a:p>
            <a:r>
              <a:rPr lang="en-US" dirty="0"/>
              <a:t>https://academic.oup.com/ofid/article/5/12/ofy318/5210928</a:t>
            </a:r>
          </a:p>
        </p:txBody>
      </p:sp>
      <p:sp>
        <p:nvSpPr>
          <p:cNvPr id="4" name="Slide Number Placeholder 3"/>
          <p:cNvSpPr>
            <a:spLocks noGrp="1"/>
          </p:cNvSpPr>
          <p:nvPr>
            <p:ph type="sldNum" sz="quarter" idx="10"/>
          </p:nvPr>
        </p:nvSpPr>
        <p:spPr/>
        <p:txBody>
          <a:bodyPr/>
          <a:lstStyle/>
          <a:p>
            <a:fld id="{A81E3B35-B373-4AA8-94EE-B3E16EF9EF81}" type="slidenum">
              <a:rPr lang="en-US" smtClean="0"/>
              <a:pPr/>
              <a:t>19</a:t>
            </a:fld>
            <a:endParaRPr lang="en-US" dirty="0"/>
          </a:p>
        </p:txBody>
      </p:sp>
    </p:spTree>
    <p:extLst>
      <p:ext uri="{BB962C8B-B14F-4D97-AF65-F5344CB8AC3E}">
        <p14:creationId xmlns:p14="http://schemas.microsoft.com/office/powerpoint/2010/main" val="2099274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Trials of a universal vaccine for influenza are underway as of this summer at the National Institutes of Health (NIH)</a:t>
            </a:r>
            <a:br>
              <a:rPr lang="en-US" dirty="0"/>
            </a:br>
            <a:br>
              <a:rPr lang="en-US" dirty="0"/>
            </a:br>
            <a:r>
              <a:rPr lang="en-US" dirty="0"/>
              <a:t>Pratha Sah et al. Future epidemiological and economic impacts of universal influenza vaccines, Proceedings of the National Academy of Sciences (2019). DOI: 10.1073/pnas.1909613116</a:t>
            </a:r>
          </a:p>
          <a:p>
            <a:endParaRPr lang="en-US" dirty="0"/>
          </a:p>
          <a:p>
            <a:r>
              <a:rPr lang="en-US" dirty="0"/>
              <a:t>https://www.nih.gov/news-events/news-releases/nih-begins-first-human-trial-universal-influenza-vaccine-candidate</a:t>
            </a:r>
          </a:p>
          <a:p>
            <a:endParaRPr lang="en-US" dirty="0"/>
          </a:p>
          <a:p>
            <a:r>
              <a:rPr lang="en-US" dirty="0"/>
              <a:t>https://www.pbs.org/newshour/show/how-close-are-scientists-to-a-universal-flu-vaccine</a:t>
            </a:r>
          </a:p>
        </p:txBody>
      </p:sp>
      <p:sp>
        <p:nvSpPr>
          <p:cNvPr id="4" name="Slide Number Placeholder 3"/>
          <p:cNvSpPr>
            <a:spLocks noGrp="1"/>
          </p:cNvSpPr>
          <p:nvPr>
            <p:ph type="sldNum" sz="quarter" idx="10"/>
          </p:nvPr>
        </p:nvSpPr>
        <p:spPr/>
        <p:txBody>
          <a:bodyPr/>
          <a:lstStyle/>
          <a:p>
            <a:fld id="{A81E3B35-B373-4AA8-94EE-B3E16EF9EF81}" type="slidenum">
              <a:rPr lang="en-US" smtClean="0"/>
              <a:pPr/>
              <a:t>20</a:t>
            </a:fld>
            <a:endParaRPr lang="en-US" dirty="0"/>
          </a:p>
        </p:txBody>
      </p:sp>
    </p:spTree>
    <p:extLst>
      <p:ext uri="{BB962C8B-B14F-4D97-AF65-F5344CB8AC3E}">
        <p14:creationId xmlns:p14="http://schemas.microsoft.com/office/powerpoint/2010/main" val="3502195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Laursen, N. S. </a:t>
            </a:r>
            <a:r>
              <a:rPr lang="fr-FR" sz="1200" b="0" i="1" u="none" strike="noStrike" kern="1200" baseline="0" dirty="0">
                <a:solidFill>
                  <a:schemeClr val="tx1"/>
                </a:solidFill>
                <a:latin typeface="+mn-lt"/>
                <a:ea typeface="+mn-ea"/>
                <a:cs typeface="+mn-cs"/>
              </a:rPr>
              <a:t>et al. Science </a:t>
            </a:r>
            <a:r>
              <a:rPr lang="fr-FR" sz="1200" b="0" i="0" u="none" strike="noStrike" kern="1200" baseline="0" dirty="0">
                <a:solidFill>
                  <a:schemeClr val="tx1"/>
                </a:solidFill>
                <a:latin typeface="+mn-lt"/>
                <a:ea typeface="+mn-ea"/>
                <a:cs typeface="+mn-cs"/>
              </a:rPr>
              <a:t>362, 598–602 (2018)</a:t>
            </a:r>
          </a:p>
          <a:p>
            <a:endParaRPr lang="fr-FR"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HA proteins have a thin stalk and a rounded head, like a lollipop. The head is the part of the protein that binds to our cells, whereas the stalk contains the machinery to fuse the viral and cell membranes, making possible the transfer of genetic material. The HA head tends to be the structure our immune system — on its own or prompted by a vaccine — recognizes as an invader and for which it produces neutralizing antibodies.</a:t>
            </a:r>
          </a:p>
          <a:p>
            <a:br>
              <a:rPr lang="fr-FR" sz="1200" b="0" i="0" u="none" strike="noStrike" kern="1200" baseline="0" dirty="0">
                <a:solidFill>
                  <a:schemeClr val="tx1"/>
                </a:solidFill>
                <a:latin typeface="+mn-lt"/>
                <a:ea typeface="+mn-ea"/>
                <a:cs typeface="+mn-cs"/>
              </a:rPr>
            </a:br>
            <a:br>
              <a:rPr lang="fr-FR" sz="1200" b="0" i="0" u="none" strike="noStrike" kern="1200" baseline="0" dirty="0">
                <a:solidFill>
                  <a:schemeClr val="tx1"/>
                </a:solidFill>
                <a:latin typeface="+mn-lt"/>
                <a:ea typeface="+mn-ea"/>
                <a:cs typeface="+mn-cs"/>
              </a:rPr>
            </a:br>
            <a:r>
              <a:rPr lang="en-US" dirty="0"/>
              <a:t>The immune system normally responds to influenza virus by making neutralizing antibodies to regions of the viral spike, the hemagglutinin, that vary year to year. This natural response protects against circulating subtypes but necessitates production of new vaccines annually. Newer vaccine approaches have succeeded in eliciting broadly neutralizing antibodies to highly conserved yet vulnerable stem regions of the hemagglutinin and suggest potential pathways for the development of universal influenza vaccines.</a:t>
            </a:r>
          </a:p>
          <a:p>
            <a:endParaRPr lang="en-US" dirty="0"/>
          </a:p>
          <a:p>
            <a:r>
              <a:rPr lang="en-US" dirty="0"/>
              <a:t>We thought the surface of the flu virus was infinitely variable. But actually, there are some places that rarely change drastically</a:t>
            </a:r>
          </a:p>
          <a:p>
            <a:endParaRPr lang="en-US" dirty="0"/>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21</a:t>
            </a:fld>
            <a:endParaRPr lang="en-US" dirty="0"/>
          </a:p>
        </p:txBody>
      </p:sp>
    </p:spTree>
    <p:extLst>
      <p:ext uri="{BB962C8B-B14F-4D97-AF65-F5344CB8AC3E}">
        <p14:creationId xmlns:p14="http://schemas.microsoft.com/office/powerpoint/2010/main" val="285082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approaches can be critical of the big ‘moon-shot’ approaches to develop single bullet solutions. But they don’t always have to be. Both top-down and bottom-up solutions are needed.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https://www.lfchd.org/2021fluseason/</a:t>
            </a:r>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22</a:t>
            </a:fld>
            <a:endParaRPr lang="en-US" dirty="0"/>
          </a:p>
        </p:txBody>
      </p:sp>
    </p:spTree>
    <p:extLst>
      <p:ext uri="{BB962C8B-B14F-4D97-AF65-F5344CB8AC3E}">
        <p14:creationId xmlns:p14="http://schemas.microsoft.com/office/powerpoint/2010/main" val="3763423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61E0E9-D9BF-4E95-8DC6-FD8C8940E059}"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4002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C237F9-FD99-4F6E-B570-823B2EF7C37B}"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3600" b="1"/>
            </a:lvl1p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31311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88BFC2-C5E6-4EE6-9503-777542E77954}"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334527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6EB7A1-A8DB-4DA5-9B93-B536D166E22A}" type="datetime1">
              <a:rPr lang="en-US" smtClean="0"/>
              <a:t>10/16/2025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2848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35C0D9-75DE-4C54-9EFE-A5319098A4BA}" type="datetime1">
              <a:rPr lang="en-US" smtClean="0"/>
              <a:t>10/16/2025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445776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0615C3-46D1-4CA2-8824-27A699BB6F04}" type="datetime1">
              <a:rPr lang="en-US" smtClean="0"/>
              <a:t>10/16/2025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6778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E48F49-B0FD-4984-8354-C3E1997D6D6D}" type="datetime1">
              <a:rPr lang="en-US" smtClean="0"/>
              <a:t>10/16/2025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71685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A48D3C-9023-4861-B070-B5D51E76DFB9}" type="datetime1">
              <a:rPr lang="en-US" smtClean="0"/>
              <a:t>10/16/2025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98797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E82A00-3ABC-4AA7-AA60-BA28E9B5C029}" type="datetime1">
              <a:rPr lang="en-US" smtClean="0"/>
              <a:t>10/16/2025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59950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187165-D6BC-43B9-8B7C-B004DF1DEEBE}"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6771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E6DF2-9ED8-4B74-AC7C-9E83FE9526EE}"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78780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27000-7F47-488B-BCD7-759DED23DB34}" type="datetime1">
              <a:rPr lang="en-US" smtClean="0"/>
              <a:t>10/16/2025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38677042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nytimes.com/2023/07/25/health/swine-flu-pigs-agriculture.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ww.nytimes.com/2024/05/20/health/bird-flu-tracking-cambodia.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www.nytimes.com/2022/02/14/health/russian-flu-coronavirus.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ytimes.com/interactive/2021/04/23/us/covid-19-death-toll.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webp"/></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ashingtonpost.com/news/to-your-health/wp/2018/04/27/bill-gates-calls-on-u-s-to-lead-fight-against-a-pandemic-that-could-kill-million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hyperlink" Target="https://www.centerforhealthsecurity.org/event201/videos.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pbs.org/newshour/show/how-close-are-scientists-to-a-universal-flu-vaccin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2EA052-75BA-43C9-AE16-E71B01C927BA}"/>
              </a:ext>
            </a:extLst>
          </p:cNvPr>
          <p:cNvPicPr>
            <a:picLocks noGrp="1" noChangeAspect="1"/>
          </p:cNvPicPr>
          <p:nvPr>
            <p:ph idx="1"/>
          </p:nvPr>
        </p:nvPicPr>
        <p:blipFill>
          <a:blip r:embed="rId3"/>
          <a:stretch>
            <a:fillRect/>
          </a:stretch>
        </p:blipFill>
        <p:spPr>
          <a:xfrm>
            <a:off x="-1" y="475998"/>
            <a:ext cx="12107399" cy="5759701"/>
          </a:xfrm>
          <a:ln w="57150">
            <a:solidFill>
              <a:schemeClr val="accent1"/>
            </a:solidFill>
          </a:ln>
        </p:spPr>
      </p:pic>
      <p:sp>
        <p:nvSpPr>
          <p:cNvPr id="8" name="TextBox 7">
            <a:extLst>
              <a:ext uri="{FF2B5EF4-FFF2-40B4-BE49-F238E27FC236}">
                <a16:creationId xmlns:a16="http://schemas.microsoft.com/office/drawing/2014/main" id="{AF3094BC-506B-44DF-8BFD-12920FDBFF1B}"/>
              </a:ext>
            </a:extLst>
          </p:cNvPr>
          <p:cNvSpPr txBox="1"/>
          <p:nvPr/>
        </p:nvSpPr>
        <p:spPr>
          <a:xfrm>
            <a:off x="8381437" y="1070311"/>
            <a:ext cx="3189784" cy="523220"/>
          </a:xfrm>
          <a:prstGeom prst="rect">
            <a:avLst/>
          </a:prstGeom>
          <a:solidFill>
            <a:srgbClr val="00B050"/>
          </a:solidFill>
          <a:ln>
            <a:solidFill>
              <a:schemeClr val="tx1"/>
            </a:solid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dirty="0"/>
              <a:t>Reading/Questions 5</a:t>
            </a:r>
          </a:p>
        </p:txBody>
      </p:sp>
      <p:sp>
        <p:nvSpPr>
          <p:cNvPr id="2" name="Slide Number Placeholder 1">
            <a:extLst>
              <a:ext uri="{FF2B5EF4-FFF2-40B4-BE49-F238E27FC236}">
                <a16:creationId xmlns:a16="http://schemas.microsoft.com/office/drawing/2014/main" id="{3ECEF659-E599-BC04-B668-C038F78C53E7}"/>
              </a:ext>
            </a:extLst>
          </p:cNvPr>
          <p:cNvSpPr>
            <a:spLocks noGrp="1"/>
          </p:cNvSpPr>
          <p:nvPr>
            <p:ph type="sldNum" sz="quarter" idx="12"/>
          </p:nvPr>
        </p:nvSpPr>
        <p:spPr/>
        <p:txBody>
          <a:bodyPr/>
          <a:lstStyle/>
          <a:p>
            <a:fld id="{93F64B95-A5ED-4542-B0ED-4E94E79A3159}" type="slidenum">
              <a:rPr lang="en-US" sz="3600" b="1" smtClean="0"/>
              <a:pPr/>
              <a:t>1</a:t>
            </a:fld>
            <a:endParaRPr lang="en-US" sz="3600" b="1" dirty="0"/>
          </a:p>
        </p:txBody>
      </p:sp>
    </p:spTree>
    <p:extLst>
      <p:ext uri="{BB962C8B-B14F-4D97-AF65-F5344CB8AC3E}">
        <p14:creationId xmlns:p14="http://schemas.microsoft.com/office/powerpoint/2010/main" val="2398858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DF13F634-D32F-FEE1-5004-FD05F472D8A0}"/>
              </a:ext>
            </a:extLst>
          </p:cNvPr>
          <p:cNvPicPr>
            <a:picLocks noGrp="1" noChangeAspect="1"/>
          </p:cNvPicPr>
          <p:nvPr>
            <p:ph idx="1"/>
          </p:nvPr>
        </p:nvPicPr>
        <p:blipFill>
          <a:blip r:embed="rId4"/>
          <a:stretch>
            <a:fillRect/>
          </a:stretch>
        </p:blipFill>
        <p:spPr>
          <a:xfrm>
            <a:off x="0" y="565150"/>
            <a:ext cx="12222960" cy="5727699"/>
          </a:xfrm>
          <a:ln w="57150">
            <a:solidFill>
              <a:schemeClr val="accent1"/>
            </a:solidFill>
          </a:ln>
        </p:spPr>
      </p:pic>
      <p:sp>
        <p:nvSpPr>
          <p:cNvPr id="6" name="TextBox 5">
            <a:extLst>
              <a:ext uri="{FF2B5EF4-FFF2-40B4-BE49-F238E27FC236}">
                <a16:creationId xmlns:a16="http://schemas.microsoft.com/office/drawing/2014/main" id="{38A009DF-AF8D-BB43-9E28-B533A36CA53A}"/>
              </a:ext>
            </a:extLst>
          </p:cNvPr>
          <p:cNvSpPr txBox="1"/>
          <p:nvPr/>
        </p:nvSpPr>
        <p:spPr>
          <a:xfrm>
            <a:off x="8381437" y="1070311"/>
            <a:ext cx="3189784" cy="523220"/>
          </a:xfrm>
          <a:prstGeom prst="rect">
            <a:avLst/>
          </a:prstGeom>
          <a:solidFill>
            <a:srgbClr val="00B050"/>
          </a:solidFill>
          <a:ln>
            <a:solidFill>
              <a:schemeClr val="tx1"/>
            </a:solid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dirty="0"/>
              <a:t>Reading/Questions 5</a:t>
            </a:r>
          </a:p>
        </p:txBody>
      </p:sp>
      <p:sp>
        <p:nvSpPr>
          <p:cNvPr id="2" name="Slide Number Placeholder 1">
            <a:extLst>
              <a:ext uri="{FF2B5EF4-FFF2-40B4-BE49-F238E27FC236}">
                <a16:creationId xmlns:a16="http://schemas.microsoft.com/office/drawing/2014/main" id="{B1BA0BEB-774C-E5BD-014D-179DB5532BF6}"/>
              </a:ext>
            </a:extLst>
          </p:cNvPr>
          <p:cNvSpPr>
            <a:spLocks noGrp="1"/>
          </p:cNvSpPr>
          <p:nvPr>
            <p:ph type="sldNum" sz="quarter" idx="12"/>
          </p:nvPr>
        </p:nvSpPr>
        <p:spPr/>
        <p:txBody>
          <a:bodyPr/>
          <a:lstStyle/>
          <a:p>
            <a:fld id="{93F64B95-A5ED-4542-B0ED-4E94E79A3159}" type="slidenum">
              <a:rPr lang="en-US" smtClean="0"/>
              <a:pPr/>
              <a:t>2</a:t>
            </a:fld>
            <a:endParaRPr lang="en-US" dirty="0"/>
          </a:p>
        </p:txBody>
      </p:sp>
    </p:spTree>
    <p:extLst>
      <p:ext uri="{BB962C8B-B14F-4D97-AF65-F5344CB8AC3E}">
        <p14:creationId xmlns:p14="http://schemas.microsoft.com/office/powerpoint/2010/main" val="17201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2B2E0D22-2004-B063-660D-D97C185D43A4}"/>
              </a:ext>
            </a:extLst>
          </p:cNvPr>
          <p:cNvPicPr>
            <a:picLocks noGrp="1" noChangeAspect="1"/>
          </p:cNvPicPr>
          <p:nvPr>
            <p:ph idx="1"/>
          </p:nvPr>
        </p:nvPicPr>
        <p:blipFill>
          <a:blip r:embed="rId4"/>
          <a:stretch>
            <a:fillRect/>
          </a:stretch>
        </p:blipFill>
        <p:spPr>
          <a:xfrm>
            <a:off x="111737" y="658976"/>
            <a:ext cx="12036306" cy="5489575"/>
          </a:xfrm>
          <a:ln w="38100">
            <a:solidFill>
              <a:schemeClr val="accent1"/>
            </a:solidFill>
          </a:ln>
        </p:spPr>
      </p:pic>
      <p:sp>
        <p:nvSpPr>
          <p:cNvPr id="6" name="TextBox 5">
            <a:extLst>
              <a:ext uri="{FF2B5EF4-FFF2-40B4-BE49-F238E27FC236}">
                <a16:creationId xmlns:a16="http://schemas.microsoft.com/office/drawing/2014/main" id="{5236D7A2-B46A-1B3A-86D2-87F388605417}"/>
              </a:ext>
            </a:extLst>
          </p:cNvPr>
          <p:cNvSpPr txBox="1"/>
          <p:nvPr/>
        </p:nvSpPr>
        <p:spPr>
          <a:xfrm>
            <a:off x="8381437" y="1070311"/>
            <a:ext cx="3189784" cy="523220"/>
          </a:xfrm>
          <a:prstGeom prst="rect">
            <a:avLst/>
          </a:prstGeom>
          <a:solidFill>
            <a:srgbClr val="00B050"/>
          </a:solidFill>
          <a:ln>
            <a:solidFill>
              <a:schemeClr val="tx1"/>
            </a:solid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dirty="0"/>
              <a:t>Reading/Questions 5</a:t>
            </a:r>
          </a:p>
        </p:txBody>
      </p:sp>
      <p:sp>
        <p:nvSpPr>
          <p:cNvPr id="2" name="Slide Number Placeholder 1">
            <a:extLst>
              <a:ext uri="{FF2B5EF4-FFF2-40B4-BE49-F238E27FC236}">
                <a16:creationId xmlns:a16="http://schemas.microsoft.com/office/drawing/2014/main" id="{943CBBA1-64AD-06A0-41E2-440D60FE2691}"/>
              </a:ext>
            </a:extLst>
          </p:cNvPr>
          <p:cNvSpPr>
            <a:spLocks noGrp="1"/>
          </p:cNvSpPr>
          <p:nvPr>
            <p:ph type="sldNum" sz="quarter" idx="12"/>
          </p:nvPr>
        </p:nvSpPr>
        <p:spPr/>
        <p:txBody>
          <a:bodyPr/>
          <a:lstStyle/>
          <a:p>
            <a:fld id="{93F64B95-A5ED-4542-B0ED-4E94E79A3159}" type="slidenum">
              <a:rPr lang="en-US" smtClean="0"/>
              <a:pPr/>
              <a:t>3</a:t>
            </a:fld>
            <a:endParaRPr lang="en-US" dirty="0"/>
          </a:p>
        </p:txBody>
      </p:sp>
    </p:spTree>
    <p:extLst>
      <p:ext uri="{BB962C8B-B14F-4D97-AF65-F5344CB8AC3E}">
        <p14:creationId xmlns:p14="http://schemas.microsoft.com/office/powerpoint/2010/main" val="860541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A10608F5-C42E-FCED-FE2F-75F4397B235B}"/>
              </a:ext>
            </a:extLst>
          </p:cNvPr>
          <p:cNvPicPr>
            <a:picLocks noGrp="1" noChangeAspect="1"/>
          </p:cNvPicPr>
          <p:nvPr>
            <p:ph idx="1"/>
          </p:nvPr>
        </p:nvPicPr>
        <p:blipFill>
          <a:blip r:embed="rId4"/>
          <a:stretch>
            <a:fillRect/>
          </a:stretch>
        </p:blipFill>
        <p:spPr>
          <a:xfrm>
            <a:off x="69057" y="792083"/>
            <a:ext cx="12122943" cy="5387975"/>
          </a:xfrm>
          <a:ln w="50800">
            <a:solidFill>
              <a:schemeClr val="accent1"/>
            </a:solidFill>
          </a:ln>
        </p:spPr>
      </p:pic>
      <p:sp>
        <p:nvSpPr>
          <p:cNvPr id="6" name="TextBox 7">
            <a:extLst>
              <a:ext uri="{FF2B5EF4-FFF2-40B4-BE49-F238E27FC236}">
                <a16:creationId xmlns:a16="http://schemas.microsoft.com/office/drawing/2014/main" id="{74255652-D105-40C1-9B56-C232CCE8453E}"/>
              </a:ext>
            </a:extLst>
          </p:cNvPr>
          <p:cNvSpPr txBox="1"/>
          <p:nvPr/>
        </p:nvSpPr>
        <p:spPr>
          <a:xfrm>
            <a:off x="8052028" y="550942"/>
            <a:ext cx="3189784" cy="523220"/>
          </a:xfrm>
          <a:prstGeom prst="rect">
            <a:avLst/>
          </a:prstGeom>
          <a:solidFill>
            <a:srgbClr val="00B050"/>
          </a:solidFill>
          <a:ln>
            <a:solidFill>
              <a:schemeClr val="tx1"/>
            </a:solid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dirty="0"/>
              <a:t>Reading/Questions 5</a:t>
            </a:r>
          </a:p>
        </p:txBody>
      </p:sp>
      <p:sp>
        <p:nvSpPr>
          <p:cNvPr id="2" name="Slide Number Placeholder 1">
            <a:extLst>
              <a:ext uri="{FF2B5EF4-FFF2-40B4-BE49-F238E27FC236}">
                <a16:creationId xmlns:a16="http://schemas.microsoft.com/office/drawing/2014/main" id="{D166CDA2-B5BA-8B64-09FD-EF7022E618AE}"/>
              </a:ext>
            </a:extLst>
          </p:cNvPr>
          <p:cNvSpPr>
            <a:spLocks noGrp="1"/>
          </p:cNvSpPr>
          <p:nvPr>
            <p:ph type="sldNum" sz="quarter" idx="12"/>
          </p:nvPr>
        </p:nvSpPr>
        <p:spPr/>
        <p:txBody>
          <a:bodyPr/>
          <a:lstStyle/>
          <a:p>
            <a:fld id="{93F64B95-A5ED-4542-B0ED-4E94E79A3159}" type="slidenum">
              <a:rPr lang="en-US" smtClean="0"/>
              <a:pPr/>
              <a:t>4</a:t>
            </a:fld>
            <a:endParaRPr lang="en-US" dirty="0"/>
          </a:p>
        </p:txBody>
      </p:sp>
    </p:spTree>
    <p:extLst>
      <p:ext uri="{BB962C8B-B14F-4D97-AF65-F5344CB8AC3E}">
        <p14:creationId xmlns:p14="http://schemas.microsoft.com/office/powerpoint/2010/main" val="3488367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6C07A-A52D-489D-962F-FEE77B2BC180}"/>
              </a:ext>
            </a:extLst>
          </p:cNvPr>
          <p:cNvSpPr>
            <a:spLocks noGrp="1"/>
          </p:cNvSpPr>
          <p:nvPr>
            <p:ph idx="1"/>
          </p:nvPr>
        </p:nvSpPr>
        <p:spPr>
          <a:xfrm>
            <a:off x="338668" y="494270"/>
            <a:ext cx="4702890" cy="6527483"/>
          </a:xfrm>
        </p:spPr>
        <p:txBody>
          <a:bodyPr>
            <a:normAutofit/>
          </a:bodyPr>
          <a:lstStyle/>
          <a:p>
            <a:r>
              <a:rPr lang="en-US" dirty="0"/>
              <a:t>Spreads via aerosols from human-to-human, animal- to-human, and human-to-animal contact </a:t>
            </a:r>
          </a:p>
          <a:p>
            <a:r>
              <a:rPr lang="en-US" dirty="0"/>
              <a:t>Fewer than half of Americans get a flu shot each season</a:t>
            </a:r>
          </a:p>
          <a:p>
            <a:r>
              <a:rPr lang="en-US" dirty="0"/>
              <a:t>When the vaccine is similar to circulating flu viruses, vaccinations reduce risk of going to doctor by 40-60%. </a:t>
            </a:r>
          </a:p>
          <a:p>
            <a:r>
              <a:rPr lang="en-US" dirty="0"/>
              <a:t>No cure, only vaccines that lessen severity of the flu and drugs that can slow viral replication</a:t>
            </a:r>
          </a:p>
        </p:txBody>
      </p:sp>
      <p:pic>
        <p:nvPicPr>
          <p:cNvPr id="4" name="Picture 3" descr="A picture containing cake, indoor, table, photo&#10;&#10;Description automatically generated">
            <a:extLst>
              <a:ext uri="{FF2B5EF4-FFF2-40B4-BE49-F238E27FC236}">
                <a16:creationId xmlns:a16="http://schemas.microsoft.com/office/drawing/2014/main" id="{4DD4FBAA-F2C2-47E2-ACE8-56AF1CBAA44D}"/>
              </a:ext>
            </a:extLst>
          </p:cNvPr>
          <p:cNvPicPr>
            <a:picLocks noChangeAspect="1"/>
          </p:cNvPicPr>
          <p:nvPr/>
        </p:nvPicPr>
        <p:blipFill rotWithShape="1">
          <a:blip r:embed="rId3">
            <a:extLst>
              <a:ext uri="{28A0092B-C50C-407E-A947-70E740481C1C}">
                <a14:useLocalDpi xmlns:a14="http://schemas.microsoft.com/office/drawing/2010/main" val="0"/>
              </a:ext>
            </a:extLst>
          </a:blip>
          <a:srcRect r="16721"/>
          <a:stretch/>
        </p:blipFill>
        <p:spPr>
          <a:xfrm>
            <a:off x="5830787" y="1570847"/>
            <a:ext cx="5403277" cy="5450906"/>
          </a:xfrm>
          <a:prstGeom prst="rect">
            <a:avLst/>
          </a:prstGeom>
        </p:spPr>
      </p:pic>
      <p:sp>
        <p:nvSpPr>
          <p:cNvPr id="2" name="Title 1">
            <a:extLst>
              <a:ext uri="{FF2B5EF4-FFF2-40B4-BE49-F238E27FC236}">
                <a16:creationId xmlns:a16="http://schemas.microsoft.com/office/drawing/2014/main" id="{38D0A675-211F-A548-DBCC-68E0F33D05B1}"/>
              </a:ext>
            </a:extLst>
          </p:cNvPr>
          <p:cNvSpPr>
            <a:spLocks noGrp="1"/>
          </p:cNvSpPr>
          <p:nvPr>
            <p:ph type="title"/>
          </p:nvPr>
        </p:nvSpPr>
        <p:spPr>
          <a:xfrm>
            <a:off x="5266266" y="365125"/>
            <a:ext cx="6087533" cy="1325563"/>
          </a:xfrm>
        </p:spPr>
        <p:txBody>
          <a:bodyPr>
            <a:normAutofit/>
          </a:bodyPr>
          <a:lstStyle/>
          <a:p>
            <a:pPr algn="ctr"/>
            <a:r>
              <a:rPr lang="en-US" dirty="0"/>
              <a:t>Influenza</a:t>
            </a:r>
          </a:p>
        </p:txBody>
      </p:sp>
      <p:sp>
        <p:nvSpPr>
          <p:cNvPr id="5" name="Slide Number Placeholder 4">
            <a:extLst>
              <a:ext uri="{FF2B5EF4-FFF2-40B4-BE49-F238E27FC236}">
                <a16:creationId xmlns:a16="http://schemas.microsoft.com/office/drawing/2014/main" id="{16BDDE66-D3A9-F488-3F98-CDE68659585F}"/>
              </a:ext>
            </a:extLst>
          </p:cNvPr>
          <p:cNvSpPr>
            <a:spLocks noGrp="1"/>
          </p:cNvSpPr>
          <p:nvPr>
            <p:ph type="sldNum" sz="quarter" idx="12"/>
          </p:nvPr>
        </p:nvSpPr>
        <p:spPr/>
        <p:txBody>
          <a:bodyPr/>
          <a:lstStyle/>
          <a:p>
            <a:fld id="{93F64B95-A5ED-4542-B0ED-4E94E79A3159}" type="slidenum">
              <a:rPr lang="en-US" smtClean="0"/>
              <a:pPr/>
              <a:t>5</a:t>
            </a:fld>
            <a:endParaRPr lang="en-US" dirty="0"/>
          </a:p>
        </p:txBody>
      </p:sp>
    </p:spTree>
    <p:extLst>
      <p:ext uri="{BB962C8B-B14F-4D97-AF65-F5344CB8AC3E}">
        <p14:creationId xmlns:p14="http://schemas.microsoft.com/office/powerpoint/2010/main" val="2423951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5643"/>
            <a:ext cx="10515600" cy="1325563"/>
          </a:xfrm>
        </p:spPr>
        <p:txBody>
          <a:bodyPr/>
          <a:lstStyle/>
          <a:p>
            <a:pPr algn="ctr"/>
            <a:r>
              <a:rPr lang="en-US" dirty="0"/>
              <a:t>How the influenza virus works</a:t>
            </a:r>
          </a:p>
        </p:txBody>
      </p:sp>
      <p:sp>
        <p:nvSpPr>
          <p:cNvPr id="3" name="Content Placeholder 2"/>
          <p:cNvSpPr>
            <a:spLocks noGrp="1"/>
          </p:cNvSpPr>
          <p:nvPr>
            <p:ph idx="1"/>
          </p:nvPr>
        </p:nvSpPr>
        <p:spPr>
          <a:xfrm>
            <a:off x="159026" y="1566510"/>
            <a:ext cx="5936975" cy="5291490"/>
          </a:xfrm>
        </p:spPr>
        <p:txBody>
          <a:bodyPr>
            <a:normAutofit/>
          </a:bodyPr>
          <a:lstStyle/>
          <a:p>
            <a:r>
              <a:rPr lang="en-US" dirty="0"/>
              <a:t>Virus contains RNA</a:t>
            </a:r>
          </a:p>
          <a:p>
            <a:r>
              <a:rPr lang="en-US" dirty="0"/>
              <a:t>Virus enters outermost layer of  cells in respiratory tract of infected host</a:t>
            </a:r>
          </a:p>
          <a:p>
            <a:r>
              <a:rPr lang="en-US" dirty="0"/>
              <a:t>RNA inserted into nucleus </a:t>
            </a:r>
          </a:p>
          <a:p>
            <a:r>
              <a:rPr lang="en-US" dirty="0"/>
              <a:t>Polymerases in nucleus used to make copies of viral RNA</a:t>
            </a:r>
          </a:p>
          <a:p>
            <a:r>
              <a:rPr lang="en-US" dirty="0"/>
              <a:t>These copies of RNA leave the cells to infect another person</a:t>
            </a:r>
          </a:p>
        </p:txBody>
      </p:sp>
      <p:pic>
        <p:nvPicPr>
          <p:cNvPr id="4" name="Picture 3"/>
          <p:cNvPicPr>
            <a:picLocks noChangeAspect="1"/>
          </p:cNvPicPr>
          <p:nvPr/>
        </p:nvPicPr>
        <p:blipFill>
          <a:blip r:embed="rId3" cstate="print"/>
          <a:stretch>
            <a:fillRect/>
          </a:stretch>
        </p:blipFill>
        <p:spPr>
          <a:xfrm>
            <a:off x="5961054" y="1310029"/>
            <a:ext cx="5967899" cy="4237941"/>
          </a:xfrm>
          <a:prstGeom prst="rect">
            <a:avLst/>
          </a:prstGeom>
          <a:ln w="63500">
            <a:noFill/>
          </a:ln>
        </p:spPr>
      </p:pic>
      <p:sp>
        <p:nvSpPr>
          <p:cNvPr id="5" name="Slide Number Placeholder 4">
            <a:extLst>
              <a:ext uri="{FF2B5EF4-FFF2-40B4-BE49-F238E27FC236}">
                <a16:creationId xmlns:a16="http://schemas.microsoft.com/office/drawing/2014/main" id="{D3D0ACFE-31F9-7978-09FE-4A879795266A}"/>
              </a:ext>
            </a:extLst>
          </p:cNvPr>
          <p:cNvSpPr>
            <a:spLocks noGrp="1"/>
          </p:cNvSpPr>
          <p:nvPr>
            <p:ph type="sldNum" sz="quarter" idx="12"/>
          </p:nvPr>
        </p:nvSpPr>
        <p:spPr/>
        <p:txBody>
          <a:bodyPr/>
          <a:lstStyle/>
          <a:p>
            <a:fld id="{93F64B95-A5ED-4542-B0ED-4E94E79A3159}" type="slidenum">
              <a:rPr lang="en-US" smtClean="0"/>
              <a:pPr/>
              <a:t>6</a:t>
            </a:fld>
            <a:endParaRPr lang="en-US" dirty="0"/>
          </a:p>
        </p:txBody>
      </p:sp>
    </p:spTree>
    <p:extLst>
      <p:ext uri="{BB962C8B-B14F-4D97-AF65-F5344CB8AC3E}">
        <p14:creationId xmlns:p14="http://schemas.microsoft.com/office/powerpoint/2010/main" val="2992479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40632-8621-4B43-B32F-D237CA1EAF45}"/>
              </a:ext>
            </a:extLst>
          </p:cNvPr>
          <p:cNvSpPr>
            <a:spLocks noGrp="1"/>
          </p:cNvSpPr>
          <p:nvPr>
            <p:ph type="title"/>
          </p:nvPr>
        </p:nvSpPr>
        <p:spPr>
          <a:xfrm>
            <a:off x="5591330" y="365125"/>
            <a:ext cx="5762469" cy="1325563"/>
          </a:xfrm>
        </p:spPr>
        <p:txBody>
          <a:bodyPr/>
          <a:lstStyle/>
          <a:p>
            <a:r>
              <a:rPr lang="en-US" dirty="0"/>
              <a:t>Influenza seasonality</a:t>
            </a:r>
          </a:p>
        </p:txBody>
      </p:sp>
      <p:sp>
        <p:nvSpPr>
          <p:cNvPr id="3" name="Content Placeholder 2">
            <a:extLst>
              <a:ext uri="{FF2B5EF4-FFF2-40B4-BE49-F238E27FC236}">
                <a16:creationId xmlns:a16="http://schemas.microsoft.com/office/drawing/2014/main" id="{55FDDE2B-ABD5-4F28-B7C2-F5C54303C2C5}"/>
              </a:ext>
            </a:extLst>
          </p:cNvPr>
          <p:cNvSpPr>
            <a:spLocks noGrp="1"/>
          </p:cNvSpPr>
          <p:nvPr>
            <p:ph idx="1"/>
          </p:nvPr>
        </p:nvSpPr>
        <p:spPr>
          <a:xfrm>
            <a:off x="389744" y="365126"/>
            <a:ext cx="4207656" cy="6245536"/>
          </a:xfrm>
        </p:spPr>
        <p:txBody>
          <a:bodyPr>
            <a:normAutofit/>
          </a:bodyPr>
          <a:lstStyle/>
          <a:p>
            <a:r>
              <a:rPr lang="en-US" sz="3200" dirty="0"/>
              <a:t>Winter outbreaks of flu occur because:</a:t>
            </a:r>
          </a:p>
          <a:p>
            <a:pPr lvl="1"/>
            <a:r>
              <a:rPr lang="en-US" sz="2800" dirty="0"/>
              <a:t>Closer contact among humans in winter </a:t>
            </a:r>
          </a:p>
          <a:p>
            <a:pPr lvl="1"/>
            <a:r>
              <a:rPr lang="en-US" sz="2800" dirty="0"/>
              <a:t>Drying of respiratory tract cells due to warm heated air aids attachment and reproduction of virus</a:t>
            </a:r>
          </a:p>
          <a:p>
            <a:pPr lvl="1"/>
            <a:r>
              <a:rPr lang="en-US" sz="2800" dirty="0"/>
              <a:t>Drops in humidity have been associated with onset of flu season</a:t>
            </a:r>
          </a:p>
          <a:p>
            <a:pPr marL="0" indent="0">
              <a:buNone/>
            </a:pPr>
            <a:r>
              <a:rPr lang="en-US" dirty="0"/>
              <a:t>.</a:t>
            </a:r>
          </a:p>
        </p:txBody>
      </p:sp>
      <p:pic>
        <p:nvPicPr>
          <p:cNvPr id="5" name="Picture 4">
            <a:extLst>
              <a:ext uri="{FF2B5EF4-FFF2-40B4-BE49-F238E27FC236}">
                <a16:creationId xmlns:a16="http://schemas.microsoft.com/office/drawing/2014/main" id="{C6C28CC7-5617-488F-B4EB-76755443BD06}"/>
              </a:ext>
            </a:extLst>
          </p:cNvPr>
          <p:cNvPicPr>
            <a:picLocks noChangeAspect="1"/>
          </p:cNvPicPr>
          <p:nvPr/>
        </p:nvPicPr>
        <p:blipFill>
          <a:blip r:embed="rId3"/>
          <a:stretch>
            <a:fillRect/>
          </a:stretch>
        </p:blipFill>
        <p:spPr>
          <a:xfrm>
            <a:off x="4816916" y="1549399"/>
            <a:ext cx="7172271" cy="3508737"/>
          </a:xfrm>
          <a:prstGeom prst="rect">
            <a:avLst/>
          </a:prstGeom>
        </p:spPr>
      </p:pic>
      <p:pic>
        <p:nvPicPr>
          <p:cNvPr id="4" name="Content Placeholder 3">
            <a:extLst>
              <a:ext uri="{FF2B5EF4-FFF2-40B4-BE49-F238E27FC236}">
                <a16:creationId xmlns:a16="http://schemas.microsoft.com/office/drawing/2014/main" id="{6D2E8A4F-458C-459F-8A14-7C04720AB31C}"/>
              </a:ext>
            </a:extLst>
          </p:cNvPr>
          <p:cNvPicPr>
            <a:picLocks noChangeAspect="1"/>
          </p:cNvPicPr>
          <p:nvPr/>
        </p:nvPicPr>
        <p:blipFill rotWithShape="1">
          <a:blip r:embed="rId4"/>
          <a:srcRect b="76758"/>
          <a:stretch/>
        </p:blipFill>
        <p:spPr>
          <a:xfrm>
            <a:off x="4881883" y="3629205"/>
            <a:ext cx="7042336" cy="1325563"/>
          </a:xfrm>
          <a:prstGeom prst="rect">
            <a:avLst/>
          </a:prstGeom>
        </p:spPr>
      </p:pic>
      <p:sp>
        <p:nvSpPr>
          <p:cNvPr id="6" name="Slide Number Placeholder 5">
            <a:extLst>
              <a:ext uri="{FF2B5EF4-FFF2-40B4-BE49-F238E27FC236}">
                <a16:creationId xmlns:a16="http://schemas.microsoft.com/office/drawing/2014/main" id="{CFB5C758-8395-3F9C-BB79-367DC14428AC}"/>
              </a:ext>
            </a:extLst>
          </p:cNvPr>
          <p:cNvSpPr>
            <a:spLocks noGrp="1"/>
          </p:cNvSpPr>
          <p:nvPr>
            <p:ph type="sldNum" sz="quarter" idx="12"/>
          </p:nvPr>
        </p:nvSpPr>
        <p:spPr/>
        <p:txBody>
          <a:bodyPr/>
          <a:lstStyle/>
          <a:p>
            <a:fld id="{93F64B95-A5ED-4542-B0ED-4E94E79A3159}" type="slidenum">
              <a:rPr lang="en-US" smtClean="0"/>
              <a:pPr/>
              <a:t>7</a:t>
            </a:fld>
            <a:endParaRPr lang="en-US" dirty="0"/>
          </a:p>
        </p:txBody>
      </p:sp>
    </p:spTree>
    <p:extLst>
      <p:ext uri="{BB962C8B-B14F-4D97-AF65-F5344CB8AC3E}">
        <p14:creationId xmlns:p14="http://schemas.microsoft.com/office/powerpoint/2010/main" val="3853833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371" y="454025"/>
            <a:ext cx="4299858" cy="5979432"/>
          </a:xfrm>
        </p:spPr>
        <p:txBody>
          <a:bodyPr>
            <a:normAutofit/>
          </a:bodyPr>
          <a:lstStyle/>
          <a:p>
            <a:r>
              <a:rPr lang="en-US" dirty="0"/>
              <a:t>Vaccinations have to be customized</a:t>
            </a:r>
          </a:p>
          <a:p>
            <a:r>
              <a:rPr lang="en-US" dirty="0"/>
              <a:t>Dominance of A and B flu types vary from country to country</a:t>
            </a:r>
          </a:p>
          <a:p>
            <a:r>
              <a:rPr lang="en-US" dirty="0"/>
              <a:t>Countries and regions differ in when seasonal influenza occurs</a:t>
            </a:r>
          </a:p>
          <a:p>
            <a:pPr lvl="1"/>
            <a:r>
              <a:rPr lang="en-US" dirty="0"/>
              <a:t>Northern hemisphere:  Oct – Feb </a:t>
            </a:r>
          </a:p>
          <a:p>
            <a:pPr lvl="1"/>
            <a:r>
              <a:rPr lang="en-US" dirty="0"/>
              <a:t>Southern hemisphere May to Sept </a:t>
            </a:r>
          </a:p>
          <a:p>
            <a:pPr lvl="1"/>
            <a:r>
              <a:rPr lang="en-US" dirty="0"/>
              <a:t>Equatorial areas:  year-round flu season </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12425"/>
          <a:stretch/>
        </p:blipFill>
        <p:spPr>
          <a:xfrm>
            <a:off x="4354285" y="1250723"/>
            <a:ext cx="7652657" cy="4915354"/>
          </a:xfrm>
          <a:prstGeom prst="rect">
            <a:avLst/>
          </a:prstGeom>
        </p:spPr>
      </p:pic>
      <p:sp>
        <p:nvSpPr>
          <p:cNvPr id="2" name="Slide Number Placeholder 1">
            <a:extLst>
              <a:ext uri="{FF2B5EF4-FFF2-40B4-BE49-F238E27FC236}">
                <a16:creationId xmlns:a16="http://schemas.microsoft.com/office/drawing/2014/main" id="{F4DEBD06-43B9-E8CE-CB36-227FBE3315AC}"/>
              </a:ext>
            </a:extLst>
          </p:cNvPr>
          <p:cNvSpPr>
            <a:spLocks noGrp="1"/>
          </p:cNvSpPr>
          <p:nvPr>
            <p:ph type="sldNum" sz="quarter" idx="12"/>
          </p:nvPr>
        </p:nvSpPr>
        <p:spPr/>
        <p:txBody>
          <a:bodyPr/>
          <a:lstStyle/>
          <a:p>
            <a:fld id="{93F64B95-A5ED-4542-B0ED-4E94E79A3159}" type="slidenum">
              <a:rPr lang="en-US" smtClean="0"/>
              <a:pPr/>
              <a:t>8</a:t>
            </a:fld>
            <a:endParaRPr lang="en-US" dirty="0"/>
          </a:p>
        </p:txBody>
      </p:sp>
    </p:spTree>
    <p:extLst>
      <p:ext uri="{BB962C8B-B14F-4D97-AF65-F5344CB8AC3E}">
        <p14:creationId xmlns:p14="http://schemas.microsoft.com/office/powerpoint/2010/main" val="76698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1314" y="300942"/>
            <a:ext cx="10515600" cy="1325563"/>
          </a:xfrm>
        </p:spPr>
        <p:txBody>
          <a:bodyPr/>
          <a:lstStyle/>
          <a:p>
            <a:pPr algn="ctr"/>
            <a:r>
              <a:rPr lang="en-US" dirty="0"/>
              <a:t>Influenza vaccines</a:t>
            </a:r>
          </a:p>
        </p:txBody>
      </p:sp>
      <p:sp>
        <p:nvSpPr>
          <p:cNvPr id="3" name="Content Placeholder 2"/>
          <p:cNvSpPr>
            <a:spLocks noGrp="1"/>
          </p:cNvSpPr>
          <p:nvPr>
            <p:ph idx="1"/>
          </p:nvPr>
        </p:nvSpPr>
        <p:spPr>
          <a:xfrm>
            <a:off x="985085" y="1800125"/>
            <a:ext cx="10221829" cy="5392737"/>
          </a:xfrm>
        </p:spPr>
        <p:txBody>
          <a:bodyPr>
            <a:normAutofit/>
          </a:bodyPr>
          <a:lstStyle/>
          <a:p>
            <a:r>
              <a:rPr lang="en-US" sz="3200" dirty="0">
                <a:latin typeface="Calibri Light" panose="020F0302020204030204" pitchFamily="34" charset="0"/>
                <a:cs typeface="Calibri Light" panose="020F0302020204030204" pitchFamily="34" charset="0"/>
              </a:rPr>
              <a:t>Flu vaccination is a preventative stimulation of your body to produce antibodies to a particular combination of influenza virus A (IVA) and influenza virus B (IBV) predicted to be abundant during flu season. </a:t>
            </a:r>
          </a:p>
          <a:p>
            <a:r>
              <a:rPr lang="en-US" sz="3200" dirty="0">
                <a:latin typeface="Calibri Light" panose="020F0302020204030204" pitchFamily="34" charset="0"/>
                <a:cs typeface="Calibri Light" panose="020F0302020204030204" pitchFamily="34" charset="0"/>
              </a:rPr>
              <a:t>For healthy adults, annual trivalent or quadrivalent influenza vaccines have been the major prophylactic prevention mechanism for several decades.</a:t>
            </a:r>
          </a:p>
          <a:p>
            <a:r>
              <a:rPr lang="en-US" sz="3200" dirty="0">
                <a:latin typeface="Calibri Light" panose="020F0302020204030204" pitchFamily="34" charset="0"/>
                <a:cs typeface="Calibri Light" panose="020F0302020204030204" pitchFamily="34" charset="0"/>
              </a:rPr>
              <a:t>Decisions on vaccines made months in advance (Feb 2024 for our upcoming flu season)</a:t>
            </a:r>
          </a:p>
          <a:p>
            <a:endParaRPr lang="en-US" dirty="0"/>
          </a:p>
          <a:p>
            <a:endParaRPr lang="en-US" dirty="0"/>
          </a:p>
        </p:txBody>
      </p:sp>
      <p:sp>
        <p:nvSpPr>
          <p:cNvPr id="4" name="Slide Number Placeholder 3">
            <a:extLst>
              <a:ext uri="{FF2B5EF4-FFF2-40B4-BE49-F238E27FC236}">
                <a16:creationId xmlns:a16="http://schemas.microsoft.com/office/drawing/2014/main" id="{C7CD634E-4CD4-F74A-74DF-B94B68677EB8}"/>
              </a:ext>
            </a:extLst>
          </p:cNvPr>
          <p:cNvSpPr>
            <a:spLocks noGrp="1"/>
          </p:cNvSpPr>
          <p:nvPr>
            <p:ph type="sldNum" sz="quarter" idx="12"/>
          </p:nvPr>
        </p:nvSpPr>
        <p:spPr/>
        <p:txBody>
          <a:bodyPr/>
          <a:lstStyle/>
          <a:p>
            <a:fld id="{93F64B95-A5ED-4542-B0ED-4E94E79A3159}" type="slidenum">
              <a:rPr lang="en-US" smtClean="0"/>
              <a:pPr/>
              <a:t>9</a:t>
            </a:fld>
            <a:endParaRPr lang="en-US" dirty="0"/>
          </a:p>
        </p:txBody>
      </p:sp>
    </p:spTree>
    <p:extLst>
      <p:ext uri="{BB962C8B-B14F-4D97-AF65-F5344CB8AC3E}">
        <p14:creationId xmlns:p14="http://schemas.microsoft.com/office/powerpoint/2010/main" val="1895359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011" y="479904"/>
            <a:ext cx="6026426" cy="6029926"/>
          </a:xfrm>
        </p:spPr>
        <p:txBody>
          <a:bodyPr>
            <a:normAutofit lnSpcReduction="10000"/>
          </a:bodyPr>
          <a:lstStyle/>
          <a:p>
            <a:r>
              <a:rPr lang="en-US" dirty="0"/>
              <a:t>Vaccination rates remain low globally:  around 40% in US and Europe, 5-10% or less in many other parts of the world</a:t>
            </a:r>
          </a:p>
          <a:p>
            <a:r>
              <a:rPr lang="en-US" dirty="0"/>
              <a:t>Effectiveness of vaccine can vary from year to year and for age groups</a:t>
            </a:r>
          </a:p>
          <a:p>
            <a:r>
              <a:rPr lang="en-US" dirty="0"/>
              <a:t>Influenza A ranged from 27-46% for adults and 46-59% for children, while for influenza B, 64-89% for children and around 60-78% for adults.</a:t>
            </a:r>
          </a:p>
          <a:p>
            <a:r>
              <a:rPr lang="en-US" dirty="0"/>
              <a:t>Globally, 30 bulk manufacturers of influenza vaccine produce 1.2 billion doses with only a six-month head start.</a:t>
            </a:r>
          </a:p>
          <a:p>
            <a:r>
              <a:rPr lang="en-US" dirty="0"/>
              <a:t>Most of the demand is in 16 high and middle income countries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649" y="348169"/>
            <a:ext cx="3867151" cy="6161661"/>
          </a:xfrm>
          <a:prstGeom prst="rect">
            <a:avLst/>
          </a:prstGeom>
        </p:spPr>
      </p:pic>
      <p:sp>
        <p:nvSpPr>
          <p:cNvPr id="2" name="Slide Number Placeholder 1">
            <a:extLst>
              <a:ext uri="{FF2B5EF4-FFF2-40B4-BE49-F238E27FC236}">
                <a16:creationId xmlns:a16="http://schemas.microsoft.com/office/drawing/2014/main" id="{4AA26E72-C35A-1EF6-D46B-4A815D073DD1}"/>
              </a:ext>
            </a:extLst>
          </p:cNvPr>
          <p:cNvSpPr>
            <a:spLocks noGrp="1"/>
          </p:cNvSpPr>
          <p:nvPr>
            <p:ph type="sldNum" sz="quarter" idx="12"/>
          </p:nvPr>
        </p:nvSpPr>
        <p:spPr/>
        <p:txBody>
          <a:bodyPr/>
          <a:lstStyle/>
          <a:p>
            <a:fld id="{93F64B95-A5ED-4542-B0ED-4E94E79A3159}" type="slidenum">
              <a:rPr lang="en-US" smtClean="0"/>
              <a:pPr/>
              <a:t>10</a:t>
            </a:fld>
            <a:endParaRPr lang="en-US" dirty="0"/>
          </a:p>
        </p:txBody>
      </p:sp>
    </p:spTree>
    <p:extLst>
      <p:ext uri="{BB962C8B-B14F-4D97-AF65-F5344CB8AC3E}">
        <p14:creationId xmlns:p14="http://schemas.microsoft.com/office/powerpoint/2010/main" val="2881902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FCEB-8AE8-46AD-BB01-F0A1A774AF27}"/>
              </a:ext>
            </a:extLst>
          </p:cNvPr>
          <p:cNvSpPr>
            <a:spLocks noGrp="1"/>
          </p:cNvSpPr>
          <p:nvPr>
            <p:ph type="title"/>
          </p:nvPr>
        </p:nvSpPr>
        <p:spPr>
          <a:xfrm>
            <a:off x="274320" y="304165"/>
            <a:ext cx="11917680" cy="1325563"/>
          </a:xfrm>
        </p:spPr>
        <p:txBody>
          <a:bodyPr>
            <a:normAutofit/>
          </a:bodyPr>
          <a:lstStyle/>
          <a:p>
            <a:pPr algn="ctr"/>
            <a:r>
              <a:rPr lang="en-US" dirty="0"/>
              <a:t>Flu vaccination coverage is not uniform globally</a:t>
            </a:r>
          </a:p>
        </p:txBody>
      </p:sp>
      <p:pic>
        <p:nvPicPr>
          <p:cNvPr id="6" name="Content Placeholder 5">
            <a:extLst>
              <a:ext uri="{FF2B5EF4-FFF2-40B4-BE49-F238E27FC236}">
                <a16:creationId xmlns:a16="http://schemas.microsoft.com/office/drawing/2014/main" id="{57D86811-B427-412C-BC1C-70C3A08B6DFD}"/>
              </a:ext>
            </a:extLst>
          </p:cNvPr>
          <p:cNvPicPr>
            <a:picLocks noGrp="1" noChangeAspect="1"/>
          </p:cNvPicPr>
          <p:nvPr>
            <p:ph idx="1"/>
          </p:nvPr>
        </p:nvPicPr>
        <p:blipFill>
          <a:blip r:embed="rId3"/>
          <a:stretch>
            <a:fillRect/>
          </a:stretch>
        </p:blipFill>
        <p:spPr>
          <a:xfrm>
            <a:off x="5948811" y="1629728"/>
            <a:ext cx="5896012" cy="4351338"/>
          </a:xfrm>
        </p:spPr>
      </p:pic>
      <p:sp>
        <p:nvSpPr>
          <p:cNvPr id="4" name="Content Placeholder 2">
            <a:extLst>
              <a:ext uri="{FF2B5EF4-FFF2-40B4-BE49-F238E27FC236}">
                <a16:creationId xmlns:a16="http://schemas.microsoft.com/office/drawing/2014/main" id="{68014A5A-0FB4-40A7-9109-6B069B69B445}"/>
              </a:ext>
            </a:extLst>
          </p:cNvPr>
          <p:cNvSpPr txBox="1">
            <a:spLocks/>
          </p:cNvSpPr>
          <p:nvPr/>
        </p:nvSpPr>
        <p:spPr>
          <a:xfrm>
            <a:off x="502920" y="1629727"/>
            <a:ext cx="4531924" cy="49241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Green indicates vaccines made available through public health funding at low or no cost to public.</a:t>
            </a:r>
          </a:p>
          <a:p>
            <a:r>
              <a:rPr lang="en-US" dirty="0"/>
              <a:t>Yellow indicates vaccines available only thru private doctors, often at higher cost than vaccines provided to the public coverage</a:t>
            </a:r>
          </a:p>
        </p:txBody>
      </p:sp>
      <p:sp>
        <p:nvSpPr>
          <p:cNvPr id="3" name="Slide Number Placeholder 2">
            <a:extLst>
              <a:ext uri="{FF2B5EF4-FFF2-40B4-BE49-F238E27FC236}">
                <a16:creationId xmlns:a16="http://schemas.microsoft.com/office/drawing/2014/main" id="{E37DB560-EA30-9BB7-701F-1ABF164C56EF}"/>
              </a:ext>
            </a:extLst>
          </p:cNvPr>
          <p:cNvSpPr>
            <a:spLocks noGrp="1"/>
          </p:cNvSpPr>
          <p:nvPr>
            <p:ph type="sldNum" sz="quarter" idx="12"/>
          </p:nvPr>
        </p:nvSpPr>
        <p:spPr/>
        <p:txBody>
          <a:bodyPr/>
          <a:lstStyle/>
          <a:p>
            <a:fld id="{93F64B95-A5ED-4542-B0ED-4E94E79A3159}" type="slidenum">
              <a:rPr lang="en-US" smtClean="0"/>
              <a:pPr/>
              <a:t>11</a:t>
            </a:fld>
            <a:endParaRPr lang="en-US" dirty="0"/>
          </a:p>
        </p:txBody>
      </p:sp>
    </p:spTree>
    <p:extLst>
      <p:ext uri="{BB962C8B-B14F-4D97-AF65-F5344CB8AC3E}">
        <p14:creationId xmlns:p14="http://schemas.microsoft.com/office/powerpoint/2010/main" val="1696438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5CD22-E3F1-4D20-A83E-09D127636AC9}"/>
              </a:ext>
            </a:extLst>
          </p:cNvPr>
          <p:cNvSpPr>
            <a:spLocks noGrp="1"/>
          </p:cNvSpPr>
          <p:nvPr>
            <p:ph idx="1"/>
          </p:nvPr>
        </p:nvSpPr>
        <p:spPr>
          <a:xfrm>
            <a:off x="655320" y="2016918"/>
            <a:ext cx="10515600" cy="4475957"/>
          </a:xfrm>
        </p:spPr>
        <p:txBody>
          <a:bodyPr>
            <a:normAutofit/>
          </a:bodyPr>
          <a:lstStyle/>
          <a:p>
            <a:r>
              <a:rPr lang="en-US" dirty="0"/>
              <a:t>Nearly 15,000 people died statewide (as of Sept 17, 2022, 16,822 people have died of Covid in Kentucky)</a:t>
            </a:r>
          </a:p>
          <a:p>
            <a:r>
              <a:rPr lang="en-US" dirty="0"/>
              <a:t>On October 7, 1918, the state health board ordered that all places of amusement, all schools, and all churches throughout the state be closed until further notice</a:t>
            </a:r>
          </a:p>
          <a:p>
            <a:r>
              <a:rPr lang="en-US" dirty="0"/>
              <a:t>Kentuckians were urged to remain at home and refrain from traveling, paying social calls, entertaining friends, or attending weddings and funerals.</a:t>
            </a:r>
          </a:p>
          <a:p>
            <a:r>
              <a:rPr lang="en-US" dirty="0"/>
              <a:t> Most of the state’s colleges and universities also canceled classes and athletic activities.</a:t>
            </a:r>
          </a:p>
          <a:p>
            <a:endParaRPr lang="en-US" dirty="0"/>
          </a:p>
        </p:txBody>
      </p:sp>
      <p:sp>
        <p:nvSpPr>
          <p:cNvPr id="4" name="Title 1">
            <a:extLst>
              <a:ext uri="{FF2B5EF4-FFF2-40B4-BE49-F238E27FC236}">
                <a16:creationId xmlns:a16="http://schemas.microsoft.com/office/drawing/2014/main" id="{51CE3AE3-614A-463C-870E-0AA4F3A5E46A}"/>
              </a:ext>
            </a:extLst>
          </p:cNvPr>
          <p:cNvSpPr>
            <a:spLocks noGrp="1"/>
          </p:cNvSpPr>
          <p:nvPr>
            <p:ph type="title"/>
          </p:nvPr>
        </p:nvSpPr>
        <p:spPr>
          <a:xfrm>
            <a:off x="838200" y="365125"/>
            <a:ext cx="10515600" cy="1325563"/>
          </a:xfrm>
        </p:spPr>
        <p:txBody>
          <a:bodyPr/>
          <a:lstStyle/>
          <a:p>
            <a:pPr algn="ctr"/>
            <a:r>
              <a:rPr lang="en-US" dirty="0"/>
              <a:t>Kentucky in the 1918 H1N1 pandemic</a:t>
            </a:r>
          </a:p>
        </p:txBody>
      </p:sp>
      <p:sp>
        <p:nvSpPr>
          <p:cNvPr id="2" name="Slide Number Placeholder 1">
            <a:extLst>
              <a:ext uri="{FF2B5EF4-FFF2-40B4-BE49-F238E27FC236}">
                <a16:creationId xmlns:a16="http://schemas.microsoft.com/office/drawing/2014/main" id="{BC3283D5-309C-9EBD-964C-74780E1EFBCF}"/>
              </a:ext>
            </a:extLst>
          </p:cNvPr>
          <p:cNvSpPr>
            <a:spLocks noGrp="1"/>
          </p:cNvSpPr>
          <p:nvPr>
            <p:ph type="sldNum" sz="quarter" idx="12"/>
          </p:nvPr>
        </p:nvSpPr>
        <p:spPr/>
        <p:txBody>
          <a:bodyPr/>
          <a:lstStyle/>
          <a:p>
            <a:fld id="{93F64B95-A5ED-4542-B0ED-4E94E79A3159}" type="slidenum">
              <a:rPr lang="en-US" smtClean="0"/>
              <a:pPr/>
              <a:t>12</a:t>
            </a:fld>
            <a:endParaRPr lang="en-US" dirty="0"/>
          </a:p>
        </p:txBody>
      </p:sp>
    </p:spTree>
    <p:extLst>
      <p:ext uri="{BB962C8B-B14F-4D97-AF65-F5344CB8AC3E}">
        <p14:creationId xmlns:p14="http://schemas.microsoft.com/office/powerpoint/2010/main" val="2530915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5871D4A8-DBC2-4CD5-8A15-DD831D96E3C2}"/>
              </a:ext>
            </a:extLst>
          </p:cNvPr>
          <p:cNvPicPr>
            <a:picLocks noGrp="1" noChangeAspect="1"/>
          </p:cNvPicPr>
          <p:nvPr>
            <p:ph idx="1"/>
          </p:nvPr>
        </p:nvPicPr>
        <p:blipFill>
          <a:blip r:embed="rId4"/>
          <a:stretch>
            <a:fillRect/>
          </a:stretch>
        </p:blipFill>
        <p:spPr>
          <a:xfrm>
            <a:off x="4019861" y="627529"/>
            <a:ext cx="8049177" cy="5007723"/>
          </a:xfrm>
          <a:ln w="57150">
            <a:solidFill>
              <a:srgbClr val="0070C0"/>
            </a:solidFill>
          </a:ln>
        </p:spPr>
      </p:pic>
      <p:sp>
        <p:nvSpPr>
          <p:cNvPr id="2" name="Content Placeholder 2">
            <a:extLst>
              <a:ext uri="{FF2B5EF4-FFF2-40B4-BE49-F238E27FC236}">
                <a16:creationId xmlns:a16="http://schemas.microsoft.com/office/drawing/2014/main" id="{D671074F-A7C4-44A9-98EF-C4D9BA6A006A}"/>
              </a:ext>
            </a:extLst>
          </p:cNvPr>
          <p:cNvSpPr txBox="1">
            <a:spLocks/>
          </p:cNvSpPr>
          <p:nvPr/>
        </p:nvSpPr>
        <p:spPr>
          <a:xfrm>
            <a:off x="205128" y="627529"/>
            <a:ext cx="3609605" cy="59786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Higher than </a:t>
            </a:r>
            <a:r>
              <a:rPr lang="en-US" b="1" dirty="0"/>
              <a:t>average</a:t>
            </a:r>
            <a:r>
              <a:rPr lang="en-US" dirty="0"/>
              <a:t> death rate in 2020 is attributed to long period in which death rate declined due to better public health and medicine. </a:t>
            </a:r>
          </a:p>
          <a:p>
            <a:r>
              <a:rPr lang="en-US" dirty="0"/>
              <a:t>Death rate from H1N1 in 1918 was twice that of  SARS-CoV-2</a:t>
            </a:r>
          </a:p>
          <a:p>
            <a:pPr lvl="1"/>
            <a:r>
              <a:rPr lang="en-US" dirty="0"/>
              <a:t>6.4 deaths per 1000 people for 1918</a:t>
            </a:r>
          </a:p>
          <a:p>
            <a:pPr lvl="1"/>
            <a:r>
              <a:rPr lang="en-US" dirty="0"/>
              <a:t>3.5 deaths per 1000 people for SARS-CoV2</a:t>
            </a:r>
          </a:p>
          <a:p>
            <a:endParaRPr lang="en-US" dirty="0"/>
          </a:p>
          <a:p>
            <a:endParaRPr lang="en-US" dirty="0"/>
          </a:p>
          <a:p>
            <a:endParaRPr lang="en-US" dirty="0"/>
          </a:p>
        </p:txBody>
      </p:sp>
      <p:sp>
        <p:nvSpPr>
          <p:cNvPr id="3" name="Slide Number Placeholder 2">
            <a:extLst>
              <a:ext uri="{FF2B5EF4-FFF2-40B4-BE49-F238E27FC236}">
                <a16:creationId xmlns:a16="http://schemas.microsoft.com/office/drawing/2014/main" id="{BF82A983-A5F1-356F-CB44-9FC53F349E7D}"/>
              </a:ext>
            </a:extLst>
          </p:cNvPr>
          <p:cNvSpPr>
            <a:spLocks noGrp="1"/>
          </p:cNvSpPr>
          <p:nvPr>
            <p:ph type="sldNum" sz="quarter" idx="12"/>
          </p:nvPr>
        </p:nvSpPr>
        <p:spPr/>
        <p:txBody>
          <a:bodyPr/>
          <a:lstStyle/>
          <a:p>
            <a:fld id="{93F64B95-A5ED-4542-B0ED-4E94E79A3159}" type="slidenum">
              <a:rPr lang="en-US" smtClean="0"/>
              <a:pPr/>
              <a:t>13</a:t>
            </a:fld>
            <a:endParaRPr lang="en-US" dirty="0"/>
          </a:p>
        </p:txBody>
      </p:sp>
    </p:spTree>
    <p:extLst>
      <p:ext uri="{BB962C8B-B14F-4D97-AF65-F5344CB8AC3E}">
        <p14:creationId xmlns:p14="http://schemas.microsoft.com/office/powerpoint/2010/main" val="3368649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61123" y="467139"/>
            <a:ext cx="4073849" cy="6563855"/>
          </a:xfrm>
        </p:spPr>
        <p:txBody>
          <a:bodyPr>
            <a:normAutofit/>
          </a:bodyPr>
          <a:lstStyle/>
          <a:p>
            <a:r>
              <a:rPr lang="en-US" sz="2400" dirty="0">
                <a:latin typeface="Calibri Light" panose="020F0302020204030204" pitchFamily="34" charset="0"/>
                <a:cs typeface="Calibri Light" panose="020F0302020204030204" pitchFamily="34" charset="0"/>
              </a:rPr>
              <a:t>Arose from reassortment events among flu viruses circulating in humans and swine and an avian virus</a:t>
            </a:r>
          </a:p>
          <a:p>
            <a:r>
              <a:rPr lang="en-US" sz="2400" dirty="0">
                <a:latin typeface="Calibri Light" panose="020F0302020204030204" pitchFamily="34" charset="0"/>
                <a:cs typeface="Calibri Light" panose="020F0302020204030204" pitchFamily="34" charset="0"/>
              </a:rPr>
              <a:t>1918 H1N1 genome has been sequenced from tissue samples of people who died during pandemic and were buried in cold, dry climates</a:t>
            </a:r>
          </a:p>
          <a:p>
            <a:r>
              <a:rPr lang="en-US" sz="2400" dirty="0">
                <a:latin typeface="Calibri Light" panose="020F0302020204030204" pitchFamily="34" charset="0"/>
                <a:cs typeface="Calibri Light" panose="020F0302020204030204" pitchFamily="34" charset="0"/>
              </a:rPr>
              <a:t>Molecular properties for its pathogenicity in humans have been identified</a:t>
            </a:r>
          </a:p>
          <a:p>
            <a:r>
              <a:rPr lang="en-US" sz="2400" dirty="0">
                <a:latin typeface="Calibri Light" panose="020F0302020204030204" pitchFamily="34" charset="0"/>
                <a:cs typeface="Calibri Light" panose="020F0302020204030204" pitchFamily="34" charset="0"/>
              </a:rPr>
              <a:t>These ‘virulence markers’ can be compared to new A influenza viruses in order to assess their pandemic potential</a:t>
            </a:r>
          </a:p>
          <a:p>
            <a:pPr marL="0" indent="0">
              <a:buNone/>
            </a:pPr>
            <a:r>
              <a:rPr lang="en-US" sz="2400" dirty="0"/>
              <a:t> </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748" y="467140"/>
            <a:ext cx="4073849" cy="6102626"/>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2974" t="5916" r="53004" b="36294"/>
          <a:stretch/>
        </p:blipFill>
        <p:spPr>
          <a:xfrm>
            <a:off x="8598090" y="467140"/>
            <a:ext cx="3179928" cy="5999921"/>
          </a:xfrm>
          <a:prstGeom prst="rect">
            <a:avLst/>
          </a:prstGeom>
        </p:spPr>
      </p:pic>
      <p:sp>
        <p:nvSpPr>
          <p:cNvPr id="2" name="Slide Number Placeholder 1">
            <a:extLst>
              <a:ext uri="{FF2B5EF4-FFF2-40B4-BE49-F238E27FC236}">
                <a16:creationId xmlns:a16="http://schemas.microsoft.com/office/drawing/2014/main" id="{B99487C0-2CF2-A3A0-3227-318D996BD187}"/>
              </a:ext>
            </a:extLst>
          </p:cNvPr>
          <p:cNvSpPr>
            <a:spLocks noGrp="1"/>
          </p:cNvSpPr>
          <p:nvPr>
            <p:ph type="sldNum" sz="quarter" idx="12"/>
          </p:nvPr>
        </p:nvSpPr>
        <p:spPr/>
        <p:txBody>
          <a:bodyPr/>
          <a:lstStyle/>
          <a:p>
            <a:fld id="{93F64B95-A5ED-4542-B0ED-4E94E79A3159}" type="slidenum">
              <a:rPr lang="en-US" smtClean="0"/>
              <a:pPr/>
              <a:t>14</a:t>
            </a:fld>
            <a:endParaRPr lang="en-US" dirty="0"/>
          </a:p>
        </p:txBody>
      </p:sp>
    </p:spTree>
    <p:extLst>
      <p:ext uri="{BB962C8B-B14F-4D97-AF65-F5344CB8AC3E}">
        <p14:creationId xmlns:p14="http://schemas.microsoft.com/office/powerpoint/2010/main" val="3282935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H5N1 has pandemic potential</a:t>
            </a:r>
          </a:p>
        </p:txBody>
      </p:sp>
      <p:pic>
        <p:nvPicPr>
          <p:cNvPr id="4" name="Content Placeholder 3"/>
          <p:cNvPicPr>
            <a:picLocks noGrp="1" noChangeAspect="1"/>
          </p:cNvPicPr>
          <p:nvPr>
            <p:ph idx="1"/>
          </p:nvPr>
        </p:nvPicPr>
        <p:blipFill rotWithShape="1">
          <a:blip r:embed="rId3"/>
          <a:srcRect t="6711"/>
          <a:stretch/>
        </p:blipFill>
        <p:spPr>
          <a:xfrm>
            <a:off x="828061" y="1690688"/>
            <a:ext cx="10525739" cy="5023675"/>
          </a:xfrm>
          <a:prstGeom prst="rect">
            <a:avLst/>
          </a:prstGeom>
        </p:spPr>
      </p:pic>
      <p:sp>
        <p:nvSpPr>
          <p:cNvPr id="5" name="Rectangle 4"/>
          <p:cNvSpPr/>
          <p:nvPr/>
        </p:nvSpPr>
        <p:spPr>
          <a:xfrm>
            <a:off x="6095477" y="4840353"/>
            <a:ext cx="2395380" cy="1652522"/>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790ED65-8902-1A9B-358C-882BD03434E9}"/>
              </a:ext>
            </a:extLst>
          </p:cNvPr>
          <p:cNvSpPr/>
          <p:nvPr/>
        </p:nvSpPr>
        <p:spPr>
          <a:xfrm>
            <a:off x="730512" y="1690688"/>
            <a:ext cx="5186961" cy="1738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5018CDC-F338-BC0F-D17C-CEB409C598EC}"/>
              </a:ext>
            </a:extLst>
          </p:cNvPr>
          <p:cNvSpPr/>
          <p:nvPr/>
        </p:nvSpPr>
        <p:spPr>
          <a:xfrm>
            <a:off x="8588406" y="4840353"/>
            <a:ext cx="2395380" cy="1652522"/>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7035FA22-2C0E-6C8B-C5B9-713B9C4DC361}"/>
              </a:ext>
            </a:extLst>
          </p:cNvPr>
          <p:cNvSpPr>
            <a:spLocks noGrp="1"/>
          </p:cNvSpPr>
          <p:nvPr>
            <p:ph type="sldNum" sz="quarter" idx="12"/>
          </p:nvPr>
        </p:nvSpPr>
        <p:spPr/>
        <p:txBody>
          <a:bodyPr/>
          <a:lstStyle/>
          <a:p>
            <a:fld id="{93F64B95-A5ED-4542-B0ED-4E94E79A3159}" type="slidenum">
              <a:rPr lang="en-US" smtClean="0"/>
              <a:pPr/>
              <a:t>15</a:t>
            </a:fld>
            <a:endParaRPr lang="en-US" dirty="0"/>
          </a:p>
        </p:txBody>
      </p:sp>
    </p:spTree>
    <p:extLst>
      <p:ext uri="{BB962C8B-B14F-4D97-AF65-F5344CB8AC3E}">
        <p14:creationId xmlns:p14="http://schemas.microsoft.com/office/powerpoint/2010/main" val="1524203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297" y="487680"/>
            <a:ext cx="4455180" cy="6098649"/>
          </a:xfrm>
        </p:spPr>
        <p:txBody>
          <a:bodyPr>
            <a:normAutofit lnSpcReduction="10000"/>
          </a:bodyPr>
          <a:lstStyle/>
          <a:p>
            <a:r>
              <a:rPr lang="en-US" sz="2800" dirty="0"/>
              <a:t>Another global influenza pandemic like 1918 is considered a likely occurrence – H5N1 has the potential</a:t>
            </a:r>
          </a:p>
          <a:p>
            <a:r>
              <a:rPr lang="en-US" dirty="0"/>
              <a:t>Worst case scenario: a human  B flu virus and an avian flu A virus like H5N1 in same individual human</a:t>
            </a:r>
          </a:p>
          <a:p>
            <a:r>
              <a:rPr lang="en-US" dirty="0"/>
              <a:t>This could allow the pathogenicity of avian flu to acquire the ability to be spread via human-to-human contacts seen in B flu viruses</a:t>
            </a:r>
          </a:p>
          <a:p>
            <a:pPr marL="0" indent="0">
              <a:buNone/>
            </a:pPr>
            <a:endParaRPr lang="en-US" dirty="0"/>
          </a:p>
        </p:txBody>
      </p:sp>
      <p:pic>
        <p:nvPicPr>
          <p:cNvPr id="8" name="Picture 7">
            <a:hlinkClick r:id="rId3"/>
            <a:extLst>
              <a:ext uri="{FF2B5EF4-FFF2-40B4-BE49-F238E27FC236}">
                <a16:creationId xmlns:a16="http://schemas.microsoft.com/office/drawing/2014/main" id="{4FFB8350-92F9-43CC-B70A-6DE4FC616AFE}"/>
              </a:ext>
            </a:extLst>
          </p:cNvPr>
          <p:cNvPicPr>
            <a:picLocks noChangeAspect="1"/>
          </p:cNvPicPr>
          <p:nvPr/>
        </p:nvPicPr>
        <p:blipFill>
          <a:blip r:embed="rId4"/>
          <a:stretch>
            <a:fillRect/>
          </a:stretch>
        </p:blipFill>
        <p:spPr>
          <a:xfrm>
            <a:off x="4915159" y="624840"/>
            <a:ext cx="6998545" cy="5283517"/>
          </a:xfrm>
          <a:prstGeom prst="rect">
            <a:avLst/>
          </a:prstGeom>
          <a:ln w="41275">
            <a:solidFill>
              <a:schemeClr val="accent1"/>
            </a:solidFill>
          </a:ln>
        </p:spPr>
      </p:pic>
      <p:sp>
        <p:nvSpPr>
          <p:cNvPr id="2" name="Slide Number Placeholder 1">
            <a:extLst>
              <a:ext uri="{FF2B5EF4-FFF2-40B4-BE49-F238E27FC236}">
                <a16:creationId xmlns:a16="http://schemas.microsoft.com/office/drawing/2014/main" id="{700310C0-53BD-5BEE-2537-4E06781FABAB}"/>
              </a:ext>
            </a:extLst>
          </p:cNvPr>
          <p:cNvSpPr>
            <a:spLocks noGrp="1"/>
          </p:cNvSpPr>
          <p:nvPr>
            <p:ph type="sldNum" sz="quarter" idx="12"/>
          </p:nvPr>
        </p:nvSpPr>
        <p:spPr/>
        <p:txBody>
          <a:bodyPr/>
          <a:lstStyle/>
          <a:p>
            <a:fld id="{93F64B95-A5ED-4542-B0ED-4E94E79A3159}" type="slidenum">
              <a:rPr lang="en-US" smtClean="0"/>
              <a:pPr/>
              <a:t>16</a:t>
            </a:fld>
            <a:endParaRPr lang="en-US" dirty="0"/>
          </a:p>
        </p:txBody>
      </p:sp>
    </p:spTree>
    <p:extLst>
      <p:ext uri="{BB962C8B-B14F-4D97-AF65-F5344CB8AC3E}">
        <p14:creationId xmlns:p14="http://schemas.microsoft.com/office/powerpoint/2010/main" val="1890344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BBD295-694A-4741-9172-4F50593FAFAF}"/>
              </a:ext>
            </a:extLst>
          </p:cNvPr>
          <p:cNvPicPr>
            <a:picLocks noGrp="1" noChangeAspect="1"/>
          </p:cNvPicPr>
          <p:nvPr>
            <p:ph idx="1"/>
          </p:nvPr>
        </p:nvPicPr>
        <p:blipFill>
          <a:blip r:embed="rId3"/>
          <a:stretch>
            <a:fillRect/>
          </a:stretch>
        </p:blipFill>
        <p:spPr>
          <a:xfrm>
            <a:off x="6361316" y="0"/>
            <a:ext cx="5438798" cy="2703384"/>
          </a:xfrm>
        </p:spPr>
      </p:pic>
      <p:pic>
        <p:nvPicPr>
          <p:cNvPr id="7" name="Picture 6">
            <a:extLst>
              <a:ext uri="{FF2B5EF4-FFF2-40B4-BE49-F238E27FC236}">
                <a16:creationId xmlns:a16="http://schemas.microsoft.com/office/drawing/2014/main" id="{148CAD34-86CA-45D0-BFF9-12238CFA5EF5}"/>
              </a:ext>
            </a:extLst>
          </p:cNvPr>
          <p:cNvPicPr>
            <a:picLocks noChangeAspect="1"/>
          </p:cNvPicPr>
          <p:nvPr/>
        </p:nvPicPr>
        <p:blipFill>
          <a:blip r:embed="rId4"/>
          <a:stretch>
            <a:fillRect/>
          </a:stretch>
        </p:blipFill>
        <p:spPr>
          <a:xfrm>
            <a:off x="6428071" y="2703384"/>
            <a:ext cx="5280603" cy="3973146"/>
          </a:xfrm>
          <a:prstGeom prst="rect">
            <a:avLst/>
          </a:prstGeom>
        </p:spPr>
      </p:pic>
      <p:sp>
        <p:nvSpPr>
          <p:cNvPr id="6" name="Rectangle 5">
            <a:extLst>
              <a:ext uri="{FF2B5EF4-FFF2-40B4-BE49-F238E27FC236}">
                <a16:creationId xmlns:a16="http://schemas.microsoft.com/office/drawing/2014/main" id="{E55FCBD1-6FD2-4B97-B893-2ED7C414A040}"/>
              </a:ext>
            </a:extLst>
          </p:cNvPr>
          <p:cNvSpPr/>
          <p:nvPr/>
        </p:nvSpPr>
        <p:spPr>
          <a:xfrm>
            <a:off x="6361316" y="101600"/>
            <a:ext cx="5438798" cy="6574930"/>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ontent Placeholder 2">
            <a:extLst>
              <a:ext uri="{FF2B5EF4-FFF2-40B4-BE49-F238E27FC236}">
                <a16:creationId xmlns:a16="http://schemas.microsoft.com/office/drawing/2014/main" id="{5CAC017B-EA1B-4C03-8C4C-855AA07084B6}"/>
              </a:ext>
            </a:extLst>
          </p:cNvPr>
          <p:cNvSpPr txBox="1">
            <a:spLocks/>
          </p:cNvSpPr>
          <p:nvPr/>
        </p:nvSpPr>
        <p:spPr>
          <a:xfrm>
            <a:off x="487470" y="470263"/>
            <a:ext cx="5608529" cy="60226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Another global pandemic is an expected reality among health scholars</a:t>
            </a:r>
          </a:p>
          <a:p>
            <a:r>
              <a:rPr lang="en-US" dirty="0">
                <a:latin typeface="+mj-lt"/>
              </a:rPr>
              <a:t>Even Covid-19 was expected – we knew something like it would come.</a:t>
            </a:r>
          </a:p>
          <a:p>
            <a:r>
              <a:rPr lang="en-US" dirty="0">
                <a:latin typeface="+mj-lt"/>
              </a:rPr>
              <a:t>Predictions have been made for many years that a flu or coronavirus outbreak would grow to a pandemic </a:t>
            </a:r>
          </a:p>
          <a:p>
            <a:r>
              <a:rPr lang="en-US" dirty="0">
                <a:latin typeface="+mj-lt"/>
              </a:rPr>
              <a:t>Global pandemic simulations or ‘games’ conducted in the US and Europe for decades</a:t>
            </a:r>
          </a:p>
          <a:p>
            <a:r>
              <a:rPr lang="en-US" dirty="0">
                <a:latin typeface="+mj-lt"/>
              </a:rPr>
              <a:t>These were undertaken to study what might happen with the emergence of a novel viral pathogen</a:t>
            </a:r>
          </a:p>
          <a:p>
            <a:endParaRPr lang="en-US" sz="2400" dirty="0">
              <a:latin typeface="+mj-lt"/>
            </a:endParaRPr>
          </a:p>
        </p:txBody>
      </p:sp>
      <p:sp>
        <p:nvSpPr>
          <p:cNvPr id="3" name="Slide Number Placeholder 2">
            <a:extLst>
              <a:ext uri="{FF2B5EF4-FFF2-40B4-BE49-F238E27FC236}">
                <a16:creationId xmlns:a16="http://schemas.microsoft.com/office/drawing/2014/main" id="{52201A3D-0C50-F140-C433-FF99E600B0B9}"/>
              </a:ext>
            </a:extLst>
          </p:cNvPr>
          <p:cNvSpPr>
            <a:spLocks noGrp="1"/>
          </p:cNvSpPr>
          <p:nvPr>
            <p:ph type="sldNum" sz="quarter" idx="12"/>
          </p:nvPr>
        </p:nvSpPr>
        <p:spPr/>
        <p:txBody>
          <a:bodyPr/>
          <a:lstStyle/>
          <a:p>
            <a:fld id="{93F64B95-A5ED-4542-B0ED-4E94E79A3159}" type="slidenum">
              <a:rPr lang="en-US" smtClean="0"/>
              <a:pPr/>
              <a:t>17</a:t>
            </a:fld>
            <a:endParaRPr lang="en-US" dirty="0"/>
          </a:p>
        </p:txBody>
      </p:sp>
    </p:spTree>
    <p:extLst>
      <p:ext uri="{BB962C8B-B14F-4D97-AF65-F5344CB8AC3E}">
        <p14:creationId xmlns:p14="http://schemas.microsoft.com/office/powerpoint/2010/main" val="1688564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B710-893A-416A-9266-A35195941D5E}"/>
              </a:ext>
            </a:extLst>
          </p:cNvPr>
          <p:cNvSpPr>
            <a:spLocks noGrp="1"/>
          </p:cNvSpPr>
          <p:nvPr>
            <p:ph type="title"/>
          </p:nvPr>
        </p:nvSpPr>
        <p:spPr/>
        <p:txBody>
          <a:bodyPr/>
          <a:lstStyle/>
          <a:p>
            <a:r>
              <a:rPr lang="en-US" dirty="0"/>
              <a:t>Dark Winter, Atlantic Storm, Event 201, Clade X, Crimson Contagion</a:t>
            </a:r>
          </a:p>
        </p:txBody>
      </p:sp>
      <p:sp>
        <p:nvSpPr>
          <p:cNvPr id="3" name="Content Placeholder 2">
            <a:extLst>
              <a:ext uri="{FF2B5EF4-FFF2-40B4-BE49-F238E27FC236}">
                <a16:creationId xmlns:a16="http://schemas.microsoft.com/office/drawing/2014/main" id="{D6A7111D-CB1C-4E9C-A97B-38E9D88AEFF1}"/>
              </a:ext>
            </a:extLst>
          </p:cNvPr>
          <p:cNvSpPr>
            <a:spLocks noGrp="1"/>
          </p:cNvSpPr>
          <p:nvPr>
            <p:ph idx="1"/>
          </p:nvPr>
        </p:nvSpPr>
        <p:spPr>
          <a:xfrm>
            <a:off x="487471" y="1825625"/>
            <a:ext cx="6539630" cy="4667250"/>
          </a:xfrm>
        </p:spPr>
        <p:txBody>
          <a:bodyPr>
            <a:normAutofit lnSpcReduction="10000"/>
          </a:bodyPr>
          <a:lstStyle/>
          <a:p>
            <a:r>
              <a:rPr lang="en-US" dirty="0">
                <a:latin typeface="+mj-lt"/>
              </a:rPr>
              <a:t>In many of them, power struggles arose between federal and state leaders about articulating a health response. </a:t>
            </a:r>
          </a:p>
          <a:p>
            <a:r>
              <a:rPr lang="en-US" dirty="0">
                <a:latin typeface="+mj-lt"/>
              </a:rPr>
              <a:t>Hospitals were unable to handle the influx of people requiring care</a:t>
            </a:r>
          </a:p>
          <a:p>
            <a:pPr algn="l"/>
            <a:r>
              <a:rPr lang="en-US" b="0" i="0" u="none" strike="noStrike" baseline="0" dirty="0">
                <a:latin typeface="+mj-lt"/>
              </a:rPr>
              <a:t>The games revealed that travel bans didn’t stop the virus from spreading. </a:t>
            </a:r>
          </a:p>
          <a:p>
            <a:pPr algn="l"/>
            <a:r>
              <a:rPr lang="en-US" dirty="0">
                <a:latin typeface="+mj-lt"/>
              </a:rPr>
              <a:t>In general, these games indicated a high level of unpreparedness and an unanticipated economic fallout made worse by political fighting. </a:t>
            </a:r>
            <a:endParaRPr lang="en-US" b="0" i="0" u="none" strike="noStrike" baseline="0" dirty="0">
              <a:latin typeface="+mj-lt"/>
            </a:endParaRPr>
          </a:p>
        </p:txBody>
      </p:sp>
      <p:pic>
        <p:nvPicPr>
          <p:cNvPr id="5" name="Picture 4">
            <a:hlinkClick r:id="rId3"/>
            <a:extLst>
              <a:ext uri="{FF2B5EF4-FFF2-40B4-BE49-F238E27FC236}">
                <a16:creationId xmlns:a16="http://schemas.microsoft.com/office/drawing/2014/main" id="{CAEC83F1-8957-4961-8EAA-A0021A130B64}"/>
              </a:ext>
            </a:extLst>
          </p:cNvPr>
          <p:cNvPicPr>
            <a:picLocks noChangeAspect="1"/>
          </p:cNvPicPr>
          <p:nvPr/>
        </p:nvPicPr>
        <p:blipFill>
          <a:blip r:embed="rId4"/>
          <a:stretch>
            <a:fillRect/>
          </a:stretch>
        </p:blipFill>
        <p:spPr>
          <a:xfrm>
            <a:off x="7265096" y="1825625"/>
            <a:ext cx="4594376" cy="4396961"/>
          </a:xfrm>
          <a:prstGeom prst="rect">
            <a:avLst/>
          </a:prstGeom>
          <a:ln w="44450">
            <a:solidFill>
              <a:schemeClr val="accent1">
                <a:lumMod val="60000"/>
                <a:lumOff val="40000"/>
              </a:schemeClr>
            </a:solidFill>
          </a:ln>
        </p:spPr>
      </p:pic>
      <p:sp>
        <p:nvSpPr>
          <p:cNvPr id="4" name="Slide Number Placeholder 3">
            <a:extLst>
              <a:ext uri="{FF2B5EF4-FFF2-40B4-BE49-F238E27FC236}">
                <a16:creationId xmlns:a16="http://schemas.microsoft.com/office/drawing/2014/main" id="{510A0B98-D7E1-A217-936C-4D46BE754E1A}"/>
              </a:ext>
            </a:extLst>
          </p:cNvPr>
          <p:cNvSpPr>
            <a:spLocks noGrp="1"/>
          </p:cNvSpPr>
          <p:nvPr>
            <p:ph type="sldNum" sz="quarter" idx="12"/>
          </p:nvPr>
        </p:nvSpPr>
        <p:spPr/>
        <p:txBody>
          <a:bodyPr/>
          <a:lstStyle/>
          <a:p>
            <a:fld id="{93F64B95-A5ED-4542-B0ED-4E94E79A3159}" type="slidenum">
              <a:rPr lang="en-US" smtClean="0"/>
              <a:pPr/>
              <a:t>18</a:t>
            </a:fld>
            <a:endParaRPr lang="en-US" dirty="0"/>
          </a:p>
        </p:txBody>
      </p:sp>
    </p:spTree>
    <p:extLst>
      <p:ext uri="{BB962C8B-B14F-4D97-AF65-F5344CB8AC3E}">
        <p14:creationId xmlns:p14="http://schemas.microsoft.com/office/powerpoint/2010/main" val="1729299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New picture"/>
          <p:cNvPicPr/>
          <p:nvPr/>
        </p:nvPicPr>
        <p:blipFill rotWithShape="1">
          <a:blip r:embed="rId3"/>
          <a:srcRect t="31739" b="33181"/>
          <a:stretch/>
        </p:blipFill>
        <p:spPr>
          <a:xfrm>
            <a:off x="113196" y="1739347"/>
            <a:ext cx="11697532" cy="4969566"/>
          </a:xfrm>
          <a:prstGeom prst="rect">
            <a:avLst/>
          </a:prstGeom>
        </p:spPr>
      </p:pic>
      <p:sp>
        <p:nvSpPr>
          <p:cNvPr id="8" name="Title 1"/>
          <p:cNvSpPr>
            <a:spLocks noGrp="1"/>
          </p:cNvSpPr>
          <p:nvPr>
            <p:ph type="title"/>
          </p:nvPr>
        </p:nvSpPr>
        <p:spPr>
          <a:xfrm>
            <a:off x="838200" y="365125"/>
            <a:ext cx="10515600" cy="1325563"/>
          </a:xfrm>
        </p:spPr>
        <p:txBody>
          <a:bodyPr>
            <a:normAutofit/>
          </a:bodyPr>
          <a:lstStyle/>
          <a:p>
            <a:pPr algn="ctr"/>
            <a:r>
              <a:rPr lang="en-US" dirty="0"/>
              <a:t>Global zoonotic surveillance (“early detection, early response”)</a:t>
            </a:r>
          </a:p>
        </p:txBody>
      </p:sp>
      <p:sp>
        <p:nvSpPr>
          <p:cNvPr id="3" name="TextBox 2">
            <a:extLst>
              <a:ext uri="{FF2B5EF4-FFF2-40B4-BE49-F238E27FC236}">
                <a16:creationId xmlns:a16="http://schemas.microsoft.com/office/drawing/2014/main" id="{BEBFB93C-AE05-9DF9-0C5A-BAA9539DA67C}"/>
              </a:ext>
            </a:extLst>
          </p:cNvPr>
          <p:cNvSpPr txBox="1"/>
          <p:nvPr/>
        </p:nvSpPr>
        <p:spPr>
          <a:xfrm>
            <a:off x="3046686" y="2984203"/>
            <a:ext cx="6093372" cy="369332"/>
          </a:xfrm>
          <a:prstGeom prst="rect">
            <a:avLst/>
          </a:prstGeom>
          <a:noFill/>
        </p:spPr>
        <p:txBody>
          <a:bodyPr wrap="square">
            <a:spAutoFit/>
          </a:bodyPr>
          <a:lstStyle/>
          <a:p>
            <a:r>
              <a:rPr lang="en-US" dirty="0"/>
              <a:t>Top-down approaches: </a:t>
            </a:r>
          </a:p>
        </p:txBody>
      </p:sp>
      <p:sp>
        <p:nvSpPr>
          <p:cNvPr id="2" name="Slide Number Placeholder 1">
            <a:extLst>
              <a:ext uri="{FF2B5EF4-FFF2-40B4-BE49-F238E27FC236}">
                <a16:creationId xmlns:a16="http://schemas.microsoft.com/office/drawing/2014/main" id="{7B683E47-0004-1C6D-5FD4-BCA7169AFD9D}"/>
              </a:ext>
            </a:extLst>
          </p:cNvPr>
          <p:cNvSpPr>
            <a:spLocks noGrp="1"/>
          </p:cNvSpPr>
          <p:nvPr>
            <p:ph type="sldNum" sz="quarter" idx="12"/>
          </p:nvPr>
        </p:nvSpPr>
        <p:spPr/>
        <p:txBody>
          <a:bodyPr/>
          <a:lstStyle/>
          <a:p>
            <a:fld id="{93F64B95-A5ED-4542-B0ED-4E94E79A3159}" type="slidenum">
              <a:rPr lang="en-US" smtClean="0"/>
              <a:pPr/>
              <a:t>19</a:t>
            </a:fld>
            <a:endParaRPr lang="en-US" dirty="0"/>
          </a:p>
        </p:txBody>
      </p:sp>
    </p:spTree>
    <p:extLst>
      <p:ext uri="{BB962C8B-B14F-4D97-AF65-F5344CB8AC3E}">
        <p14:creationId xmlns:p14="http://schemas.microsoft.com/office/powerpoint/2010/main" val="1345410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860" y="152400"/>
            <a:ext cx="11513820" cy="1325563"/>
          </a:xfrm>
        </p:spPr>
        <p:txBody>
          <a:bodyPr/>
          <a:lstStyle/>
          <a:p>
            <a:pPr algn="ctr"/>
            <a:r>
              <a:rPr lang="en-US" dirty="0">
                <a:latin typeface="+mn-lt"/>
              </a:rPr>
              <a:t>Top-down solutions:  universal flu vaccine</a:t>
            </a:r>
          </a:p>
        </p:txBody>
      </p:sp>
      <p:pic>
        <p:nvPicPr>
          <p:cNvPr id="5" name="Picture 4">
            <a:hlinkClick r:id="rId3"/>
          </p:cNvPr>
          <p:cNvPicPr>
            <a:picLocks noChangeAspect="1"/>
          </p:cNvPicPr>
          <p:nvPr/>
        </p:nvPicPr>
        <p:blipFill>
          <a:blip r:embed="rId4"/>
          <a:stretch>
            <a:fillRect/>
          </a:stretch>
        </p:blipFill>
        <p:spPr>
          <a:xfrm>
            <a:off x="403860" y="1690781"/>
            <a:ext cx="11384280" cy="4723533"/>
          </a:xfrm>
          <a:prstGeom prst="rect">
            <a:avLst/>
          </a:prstGeom>
          <a:ln w="53975">
            <a:solidFill>
              <a:schemeClr val="accent1"/>
            </a:solidFill>
          </a:ln>
        </p:spPr>
      </p:pic>
      <p:sp>
        <p:nvSpPr>
          <p:cNvPr id="4" name="TextBox 7">
            <a:extLst>
              <a:ext uri="{FF2B5EF4-FFF2-40B4-BE49-F238E27FC236}">
                <a16:creationId xmlns:a16="http://schemas.microsoft.com/office/drawing/2014/main" id="{80FBED75-81B0-4273-983E-B56800DBBE8F}"/>
              </a:ext>
            </a:extLst>
          </p:cNvPr>
          <p:cNvSpPr txBox="1"/>
          <p:nvPr/>
        </p:nvSpPr>
        <p:spPr>
          <a:xfrm>
            <a:off x="10401963" y="1690688"/>
            <a:ext cx="1095172" cy="523220"/>
          </a:xfrm>
          <a:prstGeom prst="rect">
            <a:avLst/>
          </a:prstGeom>
          <a:solidFill>
            <a:srgbClr val="00B050"/>
          </a:solidFill>
          <a:ln>
            <a:solidFill>
              <a:schemeClr val="tx1"/>
            </a:solidFill>
          </a:ln>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dirty="0"/>
              <a:t>Video </a:t>
            </a:r>
          </a:p>
        </p:txBody>
      </p:sp>
      <p:sp>
        <p:nvSpPr>
          <p:cNvPr id="3" name="Slide Number Placeholder 2">
            <a:extLst>
              <a:ext uri="{FF2B5EF4-FFF2-40B4-BE49-F238E27FC236}">
                <a16:creationId xmlns:a16="http://schemas.microsoft.com/office/drawing/2014/main" id="{639BE850-D4CA-B83E-5197-149BD39D4B39}"/>
              </a:ext>
            </a:extLst>
          </p:cNvPr>
          <p:cNvSpPr>
            <a:spLocks noGrp="1"/>
          </p:cNvSpPr>
          <p:nvPr>
            <p:ph type="sldNum" sz="quarter" idx="12"/>
          </p:nvPr>
        </p:nvSpPr>
        <p:spPr/>
        <p:txBody>
          <a:bodyPr/>
          <a:lstStyle/>
          <a:p>
            <a:fld id="{93F64B95-A5ED-4542-B0ED-4E94E79A3159}" type="slidenum">
              <a:rPr lang="en-US" smtClean="0"/>
              <a:pPr/>
              <a:t>20</a:t>
            </a:fld>
            <a:endParaRPr lang="en-US" dirty="0"/>
          </a:p>
        </p:txBody>
      </p:sp>
    </p:spTree>
    <p:extLst>
      <p:ext uri="{BB962C8B-B14F-4D97-AF65-F5344CB8AC3E}">
        <p14:creationId xmlns:p14="http://schemas.microsoft.com/office/powerpoint/2010/main" val="251455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14988" r="11197"/>
          <a:stretch/>
        </p:blipFill>
        <p:spPr>
          <a:xfrm>
            <a:off x="5814802" y="0"/>
            <a:ext cx="6433457" cy="6858000"/>
          </a:xfrm>
        </p:spPr>
      </p:pic>
      <p:pic>
        <p:nvPicPr>
          <p:cNvPr id="4" name="Picture 3"/>
          <p:cNvPicPr>
            <a:picLocks noChangeAspect="1"/>
          </p:cNvPicPr>
          <p:nvPr/>
        </p:nvPicPr>
        <p:blipFill>
          <a:blip r:embed="rId4"/>
          <a:stretch>
            <a:fillRect/>
          </a:stretch>
        </p:blipFill>
        <p:spPr>
          <a:xfrm>
            <a:off x="289938" y="0"/>
            <a:ext cx="5178699" cy="2138822"/>
          </a:xfrm>
          <a:prstGeom prst="rect">
            <a:avLst/>
          </a:prstGeom>
        </p:spPr>
      </p:pic>
      <p:pic>
        <p:nvPicPr>
          <p:cNvPr id="9" name="Content Placeholder 3"/>
          <p:cNvPicPr>
            <a:picLocks noChangeAspect="1"/>
          </p:cNvPicPr>
          <p:nvPr/>
        </p:nvPicPr>
        <p:blipFill>
          <a:blip r:embed="rId5"/>
          <a:stretch>
            <a:fillRect/>
          </a:stretch>
        </p:blipFill>
        <p:spPr>
          <a:xfrm>
            <a:off x="467522" y="2305877"/>
            <a:ext cx="5001115" cy="4367466"/>
          </a:xfrm>
          <a:prstGeom prst="rect">
            <a:avLst/>
          </a:prstGeom>
        </p:spPr>
      </p:pic>
      <p:sp>
        <p:nvSpPr>
          <p:cNvPr id="2" name="Slide Number Placeholder 1">
            <a:extLst>
              <a:ext uri="{FF2B5EF4-FFF2-40B4-BE49-F238E27FC236}">
                <a16:creationId xmlns:a16="http://schemas.microsoft.com/office/drawing/2014/main" id="{767C11AA-136A-7FB9-F77F-3EB3257A4FD9}"/>
              </a:ext>
            </a:extLst>
          </p:cNvPr>
          <p:cNvSpPr>
            <a:spLocks noGrp="1"/>
          </p:cNvSpPr>
          <p:nvPr>
            <p:ph type="sldNum" sz="quarter" idx="12"/>
          </p:nvPr>
        </p:nvSpPr>
        <p:spPr/>
        <p:txBody>
          <a:bodyPr/>
          <a:lstStyle/>
          <a:p>
            <a:fld id="{93F64B95-A5ED-4542-B0ED-4E94E79A3159}" type="slidenum">
              <a:rPr lang="en-US" smtClean="0"/>
              <a:pPr/>
              <a:t>21</a:t>
            </a:fld>
            <a:endParaRPr lang="en-US" dirty="0"/>
          </a:p>
        </p:txBody>
      </p:sp>
    </p:spTree>
    <p:extLst>
      <p:ext uri="{BB962C8B-B14F-4D97-AF65-F5344CB8AC3E}">
        <p14:creationId xmlns:p14="http://schemas.microsoft.com/office/powerpoint/2010/main" val="1758406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125"/>
            <a:ext cx="11125200" cy="1325563"/>
          </a:xfrm>
        </p:spPr>
        <p:txBody>
          <a:bodyPr/>
          <a:lstStyle/>
          <a:p>
            <a:r>
              <a:rPr lang="en-US" dirty="0"/>
              <a:t>Bottom-up solutions:  building preparedness at local levels</a:t>
            </a:r>
          </a:p>
        </p:txBody>
      </p:sp>
      <p:sp>
        <p:nvSpPr>
          <p:cNvPr id="3" name="Content Placeholder 2"/>
          <p:cNvSpPr>
            <a:spLocks noGrp="1"/>
          </p:cNvSpPr>
          <p:nvPr>
            <p:ph idx="1"/>
          </p:nvPr>
        </p:nvSpPr>
        <p:spPr>
          <a:xfrm>
            <a:off x="259080" y="1825624"/>
            <a:ext cx="5151119" cy="5032375"/>
          </a:xfrm>
        </p:spPr>
        <p:txBody>
          <a:bodyPr>
            <a:normAutofit fontScale="92500" lnSpcReduction="10000"/>
          </a:bodyPr>
          <a:lstStyle/>
          <a:p>
            <a:r>
              <a:rPr lang="en-US" dirty="0"/>
              <a:t>Need to build infrastructure to respond to a pandemic emergency with an everyday system that can be scaled up, not a “break-glass-in-case-of-emergency” </a:t>
            </a:r>
          </a:p>
          <a:p>
            <a:r>
              <a:rPr lang="en-US" dirty="0"/>
              <a:t>Making sure antiviral drugs like Tamiflu are widely available to patients with the flu</a:t>
            </a:r>
          </a:p>
          <a:p>
            <a:r>
              <a:rPr lang="en-US" dirty="0"/>
              <a:t>Developing better flu health awareness campaigns in local communities</a:t>
            </a:r>
          </a:p>
          <a:p>
            <a:r>
              <a:rPr lang="en-US" dirty="0"/>
              <a:t>Getting vaccinations to every individual</a:t>
            </a:r>
          </a:p>
          <a:p>
            <a:endParaRPr lang="en-US" dirty="0"/>
          </a:p>
        </p:txBody>
      </p:sp>
      <p:pic>
        <p:nvPicPr>
          <p:cNvPr id="5" name="Picture 4" descr="A picture containing text, book&#10;&#10;Description automatically generated">
            <a:extLst>
              <a:ext uri="{FF2B5EF4-FFF2-40B4-BE49-F238E27FC236}">
                <a16:creationId xmlns:a16="http://schemas.microsoft.com/office/drawing/2014/main" id="{8A8B60A7-5A4E-4C5B-55C7-FFE997AF6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0439" y="1460500"/>
            <a:ext cx="6514401" cy="5032375"/>
          </a:xfrm>
          <a:prstGeom prst="rect">
            <a:avLst/>
          </a:prstGeom>
        </p:spPr>
      </p:pic>
      <p:sp>
        <p:nvSpPr>
          <p:cNvPr id="4" name="Slide Number Placeholder 3">
            <a:extLst>
              <a:ext uri="{FF2B5EF4-FFF2-40B4-BE49-F238E27FC236}">
                <a16:creationId xmlns:a16="http://schemas.microsoft.com/office/drawing/2014/main" id="{797F2697-DF86-B941-427C-105CD9055377}"/>
              </a:ext>
            </a:extLst>
          </p:cNvPr>
          <p:cNvSpPr>
            <a:spLocks noGrp="1"/>
          </p:cNvSpPr>
          <p:nvPr>
            <p:ph type="sldNum" sz="quarter" idx="12"/>
          </p:nvPr>
        </p:nvSpPr>
        <p:spPr/>
        <p:txBody>
          <a:bodyPr/>
          <a:lstStyle/>
          <a:p>
            <a:fld id="{93F64B95-A5ED-4542-B0ED-4E94E79A3159}" type="slidenum">
              <a:rPr lang="en-US" smtClean="0"/>
              <a:pPr/>
              <a:t>22</a:t>
            </a:fld>
            <a:endParaRPr lang="en-US" dirty="0"/>
          </a:p>
        </p:txBody>
      </p:sp>
    </p:spTree>
    <p:extLst>
      <p:ext uri="{BB962C8B-B14F-4D97-AF65-F5344CB8AC3E}">
        <p14:creationId xmlns:p14="http://schemas.microsoft.com/office/powerpoint/2010/main" val="9137832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3">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6789</TotalTime>
  <Words>2192</Words>
  <Application>Microsoft Office PowerPoint</Application>
  <PresentationFormat>Widescreen</PresentationFormat>
  <Paragraphs>180</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MillerDaily-Roman</vt:lpstr>
      <vt:lpstr>Office Theme</vt:lpstr>
      <vt:lpstr>PowerPoint Presentation</vt:lpstr>
      <vt:lpstr>PowerPoint Presentation</vt:lpstr>
      <vt:lpstr>PowerPoint Presentation</vt:lpstr>
      <vt:lpstr>PowerPoint Presentation</vt:lpstr>
      <vt:lpstr>Influenza</vt:lpstr>
      <vt:lpstr>How the influenza virus works</vt:lpstr>
      <vt:lpstr>Influenza seasonality</vt:lpstr>
      <vt:lpstr>PowerPoint Presentation</vt:lpstr>
      <vt:lpstr>Influenza vaccines</vt:lpstr>
      <vt:lpstr>PowerPoint Presentation</vt:lpstr>
      <vt:lpstr>Flu vaccination coverage is not uniform globally</vt:lpstr>
      <vt:lpstr>Kentucky in the 1918 H1N1 pandemic</vt:lpstr>
      <vt:lpstr>PowerPoint Presentation</vt:lpstr>
      <vt:lpstr>PowerPoint Presentation</vt:lpstr>
      <vt:lpstr>H5N1 has pandemic potential</vt:lpstr>
      <vt:lpstr>PowerPoint Presentation</vt:lpstr>
      <vt:lpstr>PowerPoint Presentation</vt:lpstr>
      <vt:lpstr>Dark Winter, Atlantic Storm, Event 201, Clade X, Crimson Contagion</vt:lpstr>
      <vt:lpstr>Global zoonotic surveillance (“early detection, early response”)</vt:lpstr>
      <vt:lpstr>Top-down solutions:  universal flu vaccine</vt:lpstr>
      <vt:lpstr>PowerPoint Presentation</vt:lpstr>
      <vt:lpstr>Bottom-up solutions:  building preparedness at local levels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ecologies of zoonotics</dc:title>
  <dc:creator>Jon Stallins</dc:creator>
  <cp:lastModifiedBy>Stallins, Jon A.</cp:lastModifiedBy>
  <cp:revision>620</cp:revision>
  <dcterms:created xsi:type="dcterms:W3CDTF">2013-11-05T14:03:08Z</dcterms:created>
  <dcterms:modified xsi:type="dcterms:W3CDTF">2025-10-16T15:40:58Z</dcterms:modified>
</cp:coreProperties>
</file>