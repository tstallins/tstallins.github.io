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3"/>
  </p:notesMasterIdLst>
  <p:sldIdLst>
    <p:sldId id="283" r:id="rId2"/>
    <p:sldId id="364" r:id="rId3"/>
    <p:sldId id="436" r:id="rId4"/>
    <p:sldId id="576" r:id="rId5"/>
    <p:sldId id="588" r:id="rId6"/>
    <p:sldId id="277" r:id="rId7"/>
    <p:sldId id="432" r:id="rId8"/>
    <p:sldId id="328" r:id="rId9"/>
    <p:sldId id="421" r:id="rId10"/>
    <p:sldId id="744" r:id="rId11"/>
    <p:sldId id="420" r:id="rId12"/>
    <p:sldId id="742" r:id="rId13"/>
    <p:sldId id="279" r:id="rId14"/>
    <p:sldId id="741" r:id="rId15"/>
    <p:sldId id="372" r:id="rId16"/>
    <p:sldId id="660" r:id="rId17"/>
    <p:sldId id="554" r:id="rId18"/>
    <p:sldId id="705" r:id="rId19"/>
    <p:sldId id="290" r:id="rId20"/>
    <p:sldId id="291" r:id="rId21"/>
    <p:sldId id="292" r:id="rId22"/>
    <p:sldId id="367" r:id="rId23"/>
    <p:sldId id="368" r:id="rId24"/>
    <p:sldId id="295" r:id="rId25"/>
    <p:sldId id="369" r:id="rId26"/>
    <p:sldId id="296" r:id="rId27"/>
    <p:sldId id="404" r:id="rId28"/>
    <p:sldId id="695" r:id="rId29"/>
    <p:sldId id="375" r:id="rId30"/>
    <p:sldId id="301" r:id="rId31"/>
    <p:sldId id="305" r:id="rId32"/>
    <p:sldId id="306" r:id="rId33"/>
    <p:sldId id="374" r:id="rId34"/>
    <p:sldId id="269" r:id="rId35"/>
    <p:sldId id="256" r:id="rId36"/>
    <p:sldId id="257" r:id="rId37"/>
    <p:sldId id="418" r:id="rId38"/>
    <p:sldId id="703" r:id="rId39"/>
    <p:sldId id="403" r:id="rId40"/>
    <p:sldId id="706" r:id="rId41"/>
    <p:sldId id="707"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5A1"/>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103" autoAdjust="0"/>
    <p:restoredTop sz="60256" autoAdjust="0"/>
  </p:normalViewPr>
  <p:slideViewPr>
    <p:cSldViewPr snapToGrid="0" showGuides="1">
      <p:cViewPr varScale="1">
        <p:scale>
          <a:sx n="52" d="100"/>
          <a:sy n="52" d="100"/>
        </p:scale>
        <p:origin x="888" y="29"/>
      </p:cViewPr>
      <p:guideLst>
        <p:guide orient="horz" pos="2160"/>
        <p:guide pos="3840"/>
      </p:guideLst>
    </p:cSldViewPr>
  </p:slideViewPr>
  <p:outlineViewPr>
    <p:cViewPr>
      <p:scale>
        <a:sx n="33" d="100"/>
        <a:sy n="33" d="100"/>
      </p:scale>
      <p:origin x="0" y="-37824"/>
    </p:cViewPr>
  </p:outlineViewPr>
  <p:notesTextViewPr>
    <p:cViewPr>
      <p:scale>
        <a:sx n="125" d="100"/>
        <a:sy n="125"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F5EB7F-4F0B-4EF6-AB2A-4BE2AA86CEC9}" type="datetimeFigureOut">
              <a:rPr lang="en-US" smtClean="0"/>
              <a:t>8/27/2026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0FD8A-5DF6-4509-B927-55EB1802D495}" type="slidenum">
              <a:rPr lang="en-US" smtClean="0"/>
              <a:t>‹#›</a:t>
            </a:fld>
            <a:endParaRPr lang="en-US" dirty="0"/>
          </a:p>
        </p:txBody>
      </p:sp>
    </p:spTree>
    <p:extLst>
      <p:ext uri="{BB962C8B-B14F-4D97-AF65-F5344CB8AC3E}">
        <p14:creationId xmlns:p14="http://schemas.microsoft.com/office/powerpoint/2010/main" val="2346522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dirty="0"/>
          </a:p>
        </p:txBody>
      </p:sp>
      <p:sp>
        <p:nvSpPr>
          <p:cNvPr id="3" name="Notes Placeholder 2"/>
          <p:cNvSpPr>
            <a:spLocks noGrp="1"/>
          </p:cNvSpPr>
          <p:nvPr>
            <p:ph type="body" idx="1"/>
          </p:nvPr>
        </p:nvSpPr>
        <p:spPr/>
        <p:txBody>
          <a:bodyPr/>
          <a:lstStyle/>
          <a:p>
            <a:pPr defTabSz="931774">
              <a:defRPr/>
            </a:pPr>
            <a:r>
              <a:rPr lang="en-US" dirty="0"/>
              <a:t>Not entirely valid to say that globalization raises standards of living everywhere and creates wealth. </a:t>
            </a:r>
          </a:p>
          <a:p>
            <a:pPr defTabSz="931774">
              <a:defRPr/>
            </a:pPr>
            <a:endParaRPr lang="en-US" dirty="0"/>
          </a:p>
          <a:p>
            <a:pPr defTabSz="931774">
              <a:defRPr/>
            </a:pPr>
            <a:r>
              <a:rPr lang="en-US" dirty="0"/>
              <a:t>You could also say that if globalization creates new health and environmental problems, it also creates the potential for novel solutions through the integration of economies, knowledge exchange, and collaborative problem solving. </a:t>
            </a:r>
          </a:p>
          <a:p>
            <a:pPr defTabSz="931774">
              <a:defRPr/>
            </a:pPr>
            <a:endParaRPr lang="en-US" dirty="0"/>
          </a:p>
          <a:p>
            <a:pPr defTabSz="931774">
              <a:defRPr/>
            </a:pPr>
            <a:r>
              <a:rPr lang="en-US" dirty="0"/>
              <a:t>Displacement of workers have health impacts, for example, part of the rise of the opioid epidemic in the US were the layoffs of thousand of workers in factories and manufacturing when jobs went overseas because of lower wages that could be paid there. </a:t>
            </a:r>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1</a:t>
            </a:fld>
            <a:endParaRPr lang="en-US" dirty="0"/>
          </a:p>
        </p:txBody>
      </p:sp>
    </p:spTree>
    <p:extLst>
      <p:ext uri="{BB962C8B-B14F-4D97-AF65-F5344CB8AC3E}">
        <p14:creationId xmlns:p14="http://schemas.microsoft.com/office/powerpoint/2010/main" val="2372536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dirty="0"/>
          </a:p>
        </p:txBody>
      </p:sp>
      <p:sp>
        <p:nvSpPr>
          <p:cNvPr id="3" name="Notes Placeholder 2"/>
          <p:cNvSpPr>
            <a:spLocks noGrp="1"/>
          </p:cNvSpPr>
          <p:nvPr>
            <p:ph type="body" idx="1"/>
          </p:nvPr>
        </p:nvSpPr>
        <p:spPr/>
        <p:txBody>
          <a:bodyPr/>
          <a:lstStyle/>
          <a:p>
            <a:r>
              <a:rPr lang="en-US" dirty="0"/>
              <a:t>Percentage change of prevalence of diabetes (1990-2016)</a:t>
            </a:r>
          </a:p>
          <a:p>
            <a:endParaRPr lang="en-US" dirty="0"/>
          </a:p>
          <a:p>
            <a:r>
              <a:rPr lang="en-US" dirty="0"/>
              <a:t>https://www.thelancet.com/pdfs/journals/langlo/PIIS2214-109X(18)30387-5.pdf</a:t>
            </a:r>
          </a:p>
          <a:p>
            <a:endParaRPr lang="en-US" dirty="0"/>
          </a:p>
          <a:p>
            <a:r>
              <a:rPr lang="en-US" dirty="0"/>
              <a:t>As part of the epidemiological transition from communicable diseases to non-communicable diseases, the burden of diabetes and its risk factors has been increasing in India.  Globalization, and urbanization have altered traditional diets and increased rates of obesity and diabetes.</a:t>
            </a:r>
          </a:p>
        </p:txBody>
      </p:sp>
      <p:sp>
        <p:nvSpPr>
          <p:cNvPr id="4" name="Slide Number Placeholder 3"/>
          <p:cNvSpPr>
            <a:spLocks noGrp="1"/>
          </p:cNvSpPr>
          <p:nvPr>
            <p:ph type="sldNum" sz="quarter" idx="10"/>
          </p:nvPr>
        </p:nvSpPr>
        <p:spPr/>
        <p:txBody>
          <a:bodyPr/>
          <a:lstStyle/>
          <a:p>
            <a:fld id="{94D0FD8A-5DF6-4509-B927-55EB1802D495}" type="slidenum">
              <a:rPr lang="en-US" smtClean="0"/>
              <a:t>2</a:t>
            </a:fld>
            <a:endParaRPr lang="en-US" dirty="0"/>
          </a:p>
        </p:txBody>
      </p:sp>
    </p:spTree>
    <p:extLst>
      <p:ext uri="{BB962C8B-B14F-4D97-AF65-F5344CB8AC3E}">
        <p14:creationId xmlns:p14="http://schemas.microsoft.com/office/powerpoint/2010/main" val="3442619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https://www.washingtonpost.com/graphics/2020/health/covid-vaccine-update-coronavirus/</a:t>
            </a:r>
          </a:p>
        </p:txBody>
      </p:sp>
      <p:sp>
        <p:nvSpPr>
          <p:cNvPr id="4" name="Slide Number Placeholder 3"/>
          <p:cNvSpPr>
            <a:spLocks noGrp="1"/>
          </p:cNvSpPr>
          <p:nvPr>
            <p:ph type="sldNum" sz="quarter" idx="5"/>
          </p:nvPr>
        </p:nvSpPr>
        <p:spPr/>
        <p:txBody>
          <a:bodyPr/>
          <a:lstStyle/>
          <a:p>
            <a:fld id="{6DC9E9FF-7C85-4017-A0E8-7596D2FE69B9}" type="slidenum">
              <a:rPr lang="en-US" smtClean="0"/>
              <a:t>4</a:t>
            </a:fld>
            <a:endParaRPr lang="en-US" dirty="0"/>
          </a:p>
        </p:txBody>
      </p:sp>
    </p:spTree>
    <p:extLst>
      <p:ext uri="{BB962C8B-B14F-4D97-AF65-F5344CB8AC3E}">
        <p14:creationId xmlns:p14="http://schemas.microsoft.com/office/powerpoint/2010/main" val="1025731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https://www.nytimes.com/2020/11/10/business/biontech-covid-vaccine.html</a:t>
            </a:r>
            <a:br>
              <a:rPr lang="en-US" dirty="0"/>
            </a:br>
            <a:br>
              <a:rPr lang="en-US" dirty="0"/>
            </a:br>
            <a:r>
              <a:rPr lang="en-US" dirty="0"/>
              <a:t>BioNTech coordinated the development of their mRNA vaccine with Pfizer, an American company</a:t>
            </a:r>
          </a:p>
          <a:p>
            <a:endParaRPr lang="en-US" dirty="0"/>
          </a:p>
          <a:p>
            <a:r>
              <a:rPr lang="en-US" dirty="0"/>
              <a:t>BioNTech was co-founded by Dr. Uğur Şahin and Dr. Özlem Türeci, a married couple of Turkish descent. Dr. Şahin was born in İskenderun, Turkey, and moved to Germany at the age of four to join his father, who worked at a Ford factory in Cologne. Dr. Türeci was born in Germany to a Turkish physician who had immigrated from Istanbul. Together, they established BioNTech in 2008, focusing on individualized cancer immunotherapy and later developing one of the first COVID-19 vaccines. </a:t>
            </a:r>
          </a:p>
        </p:txBody>
      </p:sp>
      <p:sp>
        <p:nvSpPr>
          <p:cNvPr id="4" name="Slide Number Placeholder 3"/>
          <p:cNvSpPr>
            <a:spLocks noGrp="1"/>
          </p:cNvSpPr>
          <p:nvPr>
            <p:ph type="sldNum" sz="quarter" idx="5"/>
          </p:nvPr>
        </p:nvSpPr>
        <p:spPr/>
        <p:txBody>
          <a:bodyPr/>
          <a:lstStyle/>
          <a:p>
            <a:fld id="{6DC9E9FF-7C85-4017-A0E8-7596D2FE69B9}" type="slidenum">
              <a:rPr lang="en-US" smtClean="0"/>
              <a:t>5</a:t>
            </a:fld>
            <a:endParaRPr lang="en-US" dirty="0"/>
          </a:p>
        </p:txBody>
      </p:sp>
    </p:spTree>
    <p:extLst>
      <p:ext uri="{BB962C8B-B14F-4D97-AF65-F5344CB8AC3E}">
        <p14:creationId xmlns:p14="http://schemas.microsoft.com/office/powerpoint/2010/main" val="2179837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The scales of clinicians:  Malarial parasites (Plasmodium) in human red blood cells (top photo). Artemisinin, a drug prescribed to treat and prevent malaria (center). Epidemiologists and planners might address the causes of malaria and its treatment at a larger scale, such as the open canal carrying waste water in Madagascar (bottom)</a:t>
            </a:r>
          </a:p>
        </p:txBody>
      </p:sp>
      <p:sp>
        <p:nvSpPr>
          <p:cNvPr id="4" name="Slide Number Placeholder 3"/>
          <p:cNvSpPr>
            <a:spLocks noGrp="1"/>
          </p:cNvSpPr>
          <p:nvPr>
            <p:ph type="sldNum" sz="quarter" idx="5"/>
          </p:nvPr>
        </p:nvSpPr>
        <p:spPr/>
        <p:txBody>
          <a:bodyPr/>
          <a:lstStyle/>
          <a:p>
            <a:fld id="{94D0FD8A-5DF6-4509-B927-55EB1802D495}" type="slidenum">
              <a:rPr lang="en-US" smtClean="0"/>
              <a:t>6</a:t>
            </a:fld>
            <a:endParaRPr lang="en-US" dirty="0"/>
          </a:p>
        </p:txBody>
      </p:sp>
    </p:spTree>
    <p:extLst>
      <p:ext uri="{BB962C8B-B14F-4D97-AF65-F5344CB8AC3E}">
        <p14:creationId xmlns:p14="http://schemas.microsoft.com/office/powerpoint/2010/main" val="4231092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Women in a hospital ward with malaria bed nets in Bunia, the Democratic Republic of the Congo.</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7</a:t>
            </a:fld>
            <a:endParaRPr lang="en-US" dirty="0"/>
          </a:p>
        </p:txBody>
      </p:sp>
    </p:spTree>
    <p:extLst>
      <p:ext uri="{BB962C8B-B14F-4D97-AF65-F5344CB8AC3E}">
        <p14:creationId xmlns:p14="http://schemas.microsoft.com/office/powerpoint/2010/main" val="1617228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Malaria has causal relationships that span scales – it is not just one particular scale that is important, but all of them. You could include the spatial and temporal domains that define ecology and evolution, as the co-evolution of the malarial parasite, mosquitoes, and the human immune system are also a key part of understanding how to lessen the burden of malaria. </a:t>
            </a:r>
          </a:p>
        </p:txBody>
      </p:sp>
      <p:sp>
        <p:nvSpPr>
          <p:cNvPr id="4" name="Slide Number Placeholder 3"/>
          <p:cNvSpPr>
            <a:spLocks noGrp="1"/>
          </p:cNvSpPr>
          <p:nvPr>
            <p:ph type="sldNum" sz="quarter" idx="5"/>
          </p:nvPr>
        </p:nvSpPr>
        <p:spPr/>
        <p:txBody>
          <a:bodyPr/>
          <a:lstStyle/>
          <a:p>
            <a:fld id="{94D0FD8A-5DF6-4509-B927-55EB1802D495}" type="slidenum">
              <a:rPr lang="en-US" smtClean="0"/>
              <a:t>8</a:t>
            </a:fld>
            <a:endParaRPr lang="en-US" dirty="0"/>
          </a:p>
        </p:txBody>
      </p:sp>
    </p:spTree>
    <p:extLst>
      <p:ext uri="{BB962C8B-B14F-4D97-AF65-F5344CB8AC3E}">
        <p14:creationId xmlns:p14="http://schemas.microsoft.com/office/powerpoint/2010/main" val="2924846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Even with a country, county, or city, health disparities can be extreme.  On the map above, life expectancy can vary by several years as a result of local conditions of poverty, unemployment, and exposure to environmental hazards like air pollution.</a:t>
            </a:r>
            <a:br>
              <a:rPr lang="en-US" dirty="0"/>
            </a:br>
            <a:br>
              <a:rPr lang="en-US" dirty="0"/>
            </a:br>
            <a:r>
              <a:rPr lang="en-US" dirty="0"/>
              <a:t>In Lexington, life expectancy can be expected to vary by up to 15 years (85 versus 70) depending upon your where you live around the city.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9</a:t>
            </a:fld>
            <a:endParaRPr lang="en-US" dirty="0"/>
          </a:p>
        </p:txBody>
      </p:sp>
    </p:spTree>
    <p:extLst>
      <p:ext uri="{BB962C8B-B14F-4D97-AF65-F5344CB8AC3E}">
        <p14:creationId xmlns:p14="http://schemas.microsoft.com/office/powerpoint/2010/main" val="489619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Kang, J. </a:t>
            </a:r>
            <a:r>
              <a:rPr lang="en-US" sz="1200" b="0" i="1" u="none" strike="noStrike" kern="1200" baseline="0" dirty="0">
                <a:solidFill>
                  <a:schemeClr val="tx1"/>
                </a:solidFill>
                <a:latin typeface="+mn-lt"/>
                <a:ea typeface="+mn-ea"/>
                <a:cs typeface="+mn-cs"/>
              </a:rPr>
              <a:t>et al</a:t>
            </a:r>
            <a:r>
              <a:rPr lang="en-US" sz="1200" b="0" i="0" u="none" strike="noStrike" kern="1200" baseline="0" dirty="0">
                <a:solidFill>
                  <a:schemeClr val="tx1"/>
                </a:solidFill>
                <a:latin typeface="+mn-lt"/>
                <a:ea typeface="+mn-ea"/>
                <a:cs typeface="+mn-cs"/>
              </a:rPr>
              <a:t>. Mapping drivers of life expectancy change in Asia from 1990 to 2023. </a:t>
            </a:r>
            <a:r>
              <a:rPr lang="en-US" sz="1200" b="0" i="1" u="none" strike="noStrike" kern="1200" baseline="0" dirty="0">
                <a:solidFill>
                  <a:schemeClr val="tx1"/>
                </a:solidFill>
                <a:latin typeface="+mn-lt"/>
                <a:ea typeface="+mn-ea"/>
                <a:cs typeface="+mn-cs"/>
              </a:rPr>
              <a:t>Nature </a:t>
            </a:r>
            <a:r>
              <a:rPr lang="en-US" sz="1200" b="0" i="0" u="none" strike="noStrike" kern="1200" baseline="0" dirty="0">
                <a:solidFill>
                  <a:schemeClr val="tx1"/>
                </a:solidFill>
                <a:latin typeface="+mn-lt"/>
                <a:ea typeface="+mn-ea"/>
                <a:cs typeface="+mn-cs"/>
              </a:rPr>
              <a:t>https://doi.org/10.1038/s41586-026-10739-6 (2026).</a:t>
            </a: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10</a:t>
            </a:fld>
            <a:endParaRPr lang="en-US" dirty="0"/>
          </a:p>
        </p:txBody>
      </p:sp>
    </p:spTree>
    <p:extLst>
      <p:ext uri="{BB962C8B-B14F-4D97-AF65-F5344CB8AC3E}">
        <p14:creationId xmlns:p14="http://schemas.microsoft.com/office/powerpoint/2010/main" val="1340401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HPV is the human papilloma virus. It causes cervical cancer. A vaccine is available to inoculate women and prevent cervical cancer.  </a:t>
            </a:r>
            <a:br>
              <a:rPr lang="en-US" dirty="0"/>
            </a:br>
            <a:br>
              <a:rPr lang="en-US" dirty="0"/>
            </a:br>
            <a:r>
              <a:rPr lang="en-US" dirty="0"/>
              <a:t>Even though overall incidence of cervical cancer is high in Africa, some countries, like Rwanda. have been successful with HPV vaccination programs and stand apart from their neighbors. </a:t>
            </a:r>
          </a:p>
        </p:txBody>
      </p:sp>
      <p:sp>
        <p:nvSpPr>
          <p:cNvPr id="4" name="Slide Number Placeholder 3"/>
          <p:cNvSpPr>
            <a:spLocks noGrp="1"/>
          </p:cNvSpPr>
          <p:nvPr>
            <p:ph type="sldNum" sz="quarter" idx="5"/>
          </p:nvPr>
        </p:nvSpPr>
        <p:spPr/>
        <p:txBody>
          <a:bodyPr/>
          <a:lstStyle/>
          <a:p>
            <a:fld id="{94D0FD8A-5DF6-4509-B927-55EB1802D495}" type="slidenum">
              <a:rPr lang="en-US" smtClean="0"/>
              <a:t>11</a:t>
            </a:fld>
            <a:endParaRPr lang="en-US" dirty="0"/>
          </a:p>
        </p:txBody>
      </p:sp>
    </p:spTree>
    <p:extLst>
      <p:ext uri="{BB962C8B-B14F-4D97-AF65-F5344CB8AC3E}">
        <p14:creationId xmlns:p14="http://schemas.microsoft.com/office/powerpoint/2010/main" val="350126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Hanta virus outbreak on a cruise ship provides an example of all four types of globalization. </a:t>
            </a:r>
            <a:br>
              <a:rPr lang="en-US" dirty="0"/>
            </a:br>
            <a:br>
              <a:rPr lang="en-US" dirty="0"/>
            </a:br>
            <a:r>
              <a:rPr lang="en-US" dirty="0"/>
              <a:t>https://www.cnn.com/us/maps-hantavirus-cruise-outbreak-vis</a:t>
            </a:r>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13</a:t>
            </a:fld>
            <a:endParaRPr lang="en-US" dirty="0"/>
          </a:p>
        </p:txBody>
      </p:sp>
    </p:spTree>
    <p:extLst>
      <p:ext uri="{BB962C8B-B14F-4D97-AF65-F5344CB8AC3E}">
        <p14:creationId xmlns:p14="http://schemas.microsoft.com/office/powerpoint/2010/main" val="2865928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F6077-3299-E8AF-BC77-8CC65B7BC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A2DF6-40A0-CDB3-AF72-81317801D8C2}"/>
              </a:ext>
            </a:extLst>
          </p:cNvPr>
          <p:cNvSpPr>
            <a:spLocks noGrp="1" noRot="1" noChangeAspect="1"/>
          </p:cNvSpPr>
          <p:nvPr>
            <p:ph type="sldImg"/>
          </p:nvPr>
        </p:nvSpPr>
        <p:spPr>
          <a:xfrm>
            <a:off x="717550" y="1162050"/>
            <a:ext cx="5575300" cy="3136900"/>
          </a:xfrm>
        </p:spPr>
        <p:txBody>
          <a:bodyPr/>
          <a:lstStyle/>
          <a:p>
            <a:endParaRPr lang="en-US" dirty="0"/>
          </a:p>
        </p:txBody>
      </p:sp>
      <p:sp>
        <p:nvSpPr>
          <p:cNvPr id="3" name="Notes Placeholder 2">
            <a:extLst>
              <a:ext uri="{FF2B5EF4-FFF2-40B4-BE49-F238E27FC236}">
                <a16:creationId xmlns:a16="http://schemas.microsoft.com/office/drawing/2014/main" id="{7413078A-D56F-CC9D-3C5F-713BAC2527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Hanta virus outbreak on a cruise ship provides an example of all four types of globalization. </a:t>
            </a:r>
            <a:br>
              <a:rPr lang="en-US" dirty="0"/>
            </a:br>
            <a:br>
              <a:rPr lang="en-US" dirty="0"/>
            </a:br>
            <a:r>
              <a:rPr lang="en-US" dirty="0"/>
              <a:t>https://www.cnn.com/us/maps-hantavirus-cruise-outbreak-vis</a:t>
            </a:r>
          </a:p>
          <a:p>
            <a:endParaRPr lang="en-US" dirty="0"/>
          </a:p>
        </p:txBody>
      </p:sp>
      <p:sp>
        <p:nvSpPr>
          <p:cNvPr id="4" name="Slide Number Placeholder 3">
            <a:extLst>
              <a:ext uri="{FF2B5EF4-FFF2-40B4-BE49-F238E27FC236}">
                <a16:creationId xmlns:a16="http://schemas.microsoft.com/office/drawing/2014/main" id="{63E95177-2C44-A2C6-37DC-4FA1A3FB73AD}"/>
              </a:ext>
            </a:extLst>
          </p:cNvPr>
          <p:cNvSpPr>
            <a:spLocks noGrp="1"/>
          </p:cNvSpPr>
          <p:nvPr>
            <p:ph type="sldNum" sz="quarter" idx="10"/>
          </p:nvPr>
        </p:nvSpPr>
        <p:spPr/>
        <p:txBody>
          <a:bodyPr/>
          <a:lstStyle/>
          <a:p>
            <a:fld id="{94D0FD8A-5DF6-4509-B927-55EB1802D495}" type="slidenum">
              <a:rPr lang="en-US" smtClean="0"/>
              <a:t>14</a:t>
            </a:fld>
            <a:endParaRPr lang="en-US" dirty="0"/>
          </a:p>
        </p:txBody>
      </p:sp>
    </p:spTree>
    <p:extLst>
      <p:ext uri="{BB962C8B-B14F-4D97-AF65-F5344CB8AC3E}">
        <p14:creationId xmlns:p14="http://schemas.microsoft.com/office/powerpoint/2010/main" val="607946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p:cNvSpPr>
            <a:spLocks noGrp="1"/>
          </p:cNvSpPr>
          <p:nvPr>
            <p:ph type="body" idx="1"/>
          </p:nvPr>
        </p:nvSpPr>
        <p:spPr/>
        <p:txBody>
          <a:bodyPr/>
          <a:lstStyle/>
          <a:p>
            <a:r>
              <a:rPr lang="en-US" dirty="0"/>
              <a:t>Evolution, ecology, and environment shape global health</a:t>
            </a:r>
            <a:br>
              <a:rPr lang="en-US" dirty="0"/>
            </a:br>
            <a:br>
              <a:rPr lang="en-US" dirty="0"/>
            </a:br>
            <a:r>
              <a:rPr lang="en-US" dirty="0"/>
              <a:t>Even heart disease has an evolutionary explanation</a:t>
            </a:r>
            <a:br>
              <a:rPr lang="en-US" dirty="0"/>
            </a:br>
            <a:endParaRPr lang="en-US" dirty="0"/>
          </a:p>
          <a:p>
            <a:r>
              <a:rPr lang="en-US" dirty="0"/>
              <a:t>In response to infections, the immune system unleashes a powerful response called inflammation. In extreme forms, such as after catching the flu, inflammation can set the body ablaze and is our best means to keep us sterile and free of infection. Inflammation also plays an important role when someone gets hurt and the barrier between the body and the world outside is breached. Inflammatory cells unleash a cascade that results in blood clots forming to quickly plug nicks and cuts.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institution of better public hygiene, inflammation, no longer busy with outsiders, turned inward. Inflammation is responsible for every important step in the story of atherosclerosis, from its birth as fatty streaks in the lining of the blood vessels, to the dramatic eruption of cholesterol-laden plaques in blood vessels supplying the heart, brain and legs, that activate our clotting cascade, leading to blockages that cause heart attacks, strokes and blood-choked limbs needing amputation.</a:t>
            </a:r>
            <a:br>
              <a:rPr lang="en-US" dirty="0"/>
            </a:br>
            <a:endParaRPr lang="en-US" dirty="0"/>
          </a:p>
          <a:p>
            <a:r>
              <a:rPr lang="en-US" dirty="0"/>
              <a:t>https://www.nytimes.com/2019/08/06/opinion/evolution-heart-disease.html?smid=nytcore-ios-share</a:t>
            </a:r>
            <a:br>
              <a:rPr lang="en-US" dirty="0"/>
            </a:br>
            <a:r>
              <a:rPr lang="en-US" dirty="0"/>
              <a:t>http://tsimane.anth.ucsb.edu/tsimaneinfo.html</a:t>
            </a:r>
          </a:p>
          <a:p>
            <a:r>
              <a:rPr lang="en-US" dirty="0"/>
              <a:t>https://doi.org/10.1016/S0140-6736(17)30752-3</a:t>
            </a:r>
          </a:p>
          <a:p>
            <a:endParaRPr lang="en-US" dirty="0"/>
          </a:p>
          <a:p>
            <a:r>
              <a:rPr lang="en-US" dirty="0"/>
              <a:t>Kaplan, H., Thompson, R. C., Trumble, B. C., Wann, L. S., Allam, A. H., Beheim, B., ... &amp; Rodriguez, D. E. (2017). Coronary atherosclerosis in indigenous South American Tsimane: a cross-sectional cohort study. </a:t>
            </a:r>
            <a:r>
              <a:rPr lang="en-US" i="1" dirty="0"/>
              <a:t>The Lancet</a:t>
            </a:r>
            <a:r>
              <a:rPr lang="en-US" dirty="0"/>
              <a:t>, </a:t>
            </a:r>
            <a:r>
              <a:rPr lang="en-US" i="1" dirty="0"/>
              <a:t>389</a:t>
            </a:r>
            <a:r>
              <a:rPr lang="en-US" dirty="0"/>
              <a:t>(10080), 1730-1739.</a:t>
            </a:r>
          </a:p>
        </p:txBody>
      </p:sp>
      <p:sp>
        <p:nvSpPr>
          <p:cNvPr id="4" name="Slide Number Placeholder 3"/>
          <p:cNvSpPr>
            <a:spLocks noGrp="1"/>
          </p:cNvSpPr>
          <p:nvPr>
            <p:ph type="sldNum" sz="quarter" idx="10"/>
          </p:nvPr>
        </p:nvSpPr>
        <p:spPr/>
        <p:txBody>
          <a:bodyPr/>
          <a:lstStyle/>
          <a:p>
            <a:fld id="{94D0FD8A-5DF6-4509-B927-55EB1802D495}" type="slidenum">
              <a:rPr lang="en-US" smtClean="0"/>
              <a:t>15</a:t>
            </a:fld>
            <a:endParaRPr lang="en-US" dirty="0"/>
          </a:p>
        </p:txBody>
      </p:sp>
    </p:spTree>
    <p:extLst>
      <p:ext uri="{BB962C8B-B14F-4D97-AF65-F5344CB8AC3E}">
        <p14:creationId xmlns:p14="http://schemas.microsoft.com/office/powerpoint/2010/main" val="2925271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https://www.nature.com/immersive/d41586-021-00943-x/index.html</a:t>
            </a:r>
            <a:br>
              <a:rPr lang="en-US" dirty="0"/>
            </a:br>
            <a:br>
              <a:rPr lang="en-US" dirty="0"/>
            </a:br>
            <a:r>
              <a:rPr lang="en-US" dirty="0"/>
              <a:t>Social and cultural factors rather than physical racial differences account for health differences</a:t>
            </a:r>
            <a:br>
              <a:rPr lang="en-US" dirty="0"/>
            </a:br>
            <a:br>
              <a:rPr lang="en-US" dirty="0"/>
            </a:br>
            <a:r>
              <a:rPr lang="en-US" dirty="0"/>
              <a:t>Hypertension is high blood pressure</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16</a:t>
            </a:fld>
            <a:endParaRPr lang="en-US" dirty="0"/>
          </a:p>
        </p:txBody>
      </p:sp>
    </p:spTree>
    <p:extLst>
      <p:ext uri="{BB962C8B-B14F-4D97-AF65-F5344CB8AC3E}">
        <p14:creationId xmlns:p14="http://schemas.microsoft.com/office/powerpoint/2010/main" val="2483190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defTabSz="931774">
              <a:defRPr/>
            </a:pPr>
            <a:r>
              <a:rPr lang="en-US" dirty="0">
                <a:latin typeface="+mj-lt"/>
              </a:rPr>
              <a:t>An example of the resocializing disciplines in global health: the translational gap</a:t>
            </a:r>
            <a:br>
              <a:rPr lang="en-US" dirty="0">
                <a:latin typeface="+mj-lt"/>
              </a:rPr>
            </a:br>
            <a:br>
              <a:rPr lang="en-US" dirty="0">
                <a:latin typeface="+mj-lt"/>
              </a:rPr>
            </a:br>
            <a:r>
              <a:rPr lang="en-US" dirty="0">
                <a:latin typeface="+mj-lt"/>
              </a:rPr>
              <a:t>Randomized controlled trials are useful for developing new drugs, but they tend to downweight individual variability so that more of the drug’s or treatment effects can be discerned </a:t>
            </a:r>
          </a:p>
          <a:p>
            <a:pPr defTabSz="931774">
              <a:defRPr/>
            </a:pPr>
            <a:br>
              <a:rPr lang="en-US" dirty="0">
                <a:latin typeface="+mj-lt"/>
              </a:rPr>
            </a:br>
            <a:r>
              <a:rPr lang="en-US" dirty="0">
                <a:latin typeface="+mj-lt"/>
              </a:rPr>
              <a:t>Translational gap here means the distance spanning the objective identification of a drug or treatment and how it might actually work (or not) when you start deploying it in many different contexts of where and how people live</a:t>
            </a:r>
          </a:p>
          <a:p>
            <a:pPr defTabSz="931774">
              <a:defRPr/>
            </a:pPr>
            <a:endParaRPr lang="en-US" dirty="0">
              <a:latin typeface="+mj-lt"/>
            </a:endParaRPr>
          </a:p>
          <a:p>
            <a:pPr defTabSz="931774">
              <a:defRPr/>
            </a:pPr>
            <a:r>
              <a:rPr lang="en-US" dirty="0">
                <a:latin typeface="+mj-lt"/>
              </a:rPr>
              <a:t>More social knowledge about how people live, and how they live differently, matter for medicine, even medicine that we consider scientific and built on principals of genetics, biochemistry, and physiology. We need to record biographical narratives for individual patients to bridge the ‘translational gap’</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17</a:t>
            </a:fld>
            <a:endParaRPr lang="en-US" dirty="0"/>
          </a:p>
        </p:txBody>
      </p:sp>
    </p:spTree>
    <p:extLst>
      <p:ext uri="{BB962C8B-B14F-4D97-AF65-F5344CB8AC3E}">
        <p14:creationId xmlns:p14="http://schemas.microsoft.com/office/powerpoint/2010/main" val="477797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8A9B-8906-A97A-3D3D-08ACA64BA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A5F16-4B8A-A46F-BE33-C1147F0E5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7B51C-C720-0B59-F2C2-B1635D806A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E70306-0269-1582-8D7E-797014CB4B75}"/>
              </a:ext>
            </a:extLst>
          </p:cNvPr>
          <p:cNvSpPr>
            <a:spLocks noGrp="1"/>
          </p:cNvSpPr>
          <p:nvPr>
            <p:ph type="sldNum" sz="quarter" idx="5"/>
          </p:nvPr>
        </p:nvSpPr>
        <p:spPr/>
        <p:txBody>
          <a:bodyPr/>
          <a:lstStyle/>
          <a:p>
            <a:fld id="{94D0FD8A-5DF6-4509-B927-55EB1802D495}" type="slidenum">
              <a:rPr lang="en-US" smtClean="0"/>
              <a:t>18</a:t>
            </a:fld>
            <a:endParaRPr lang="en-US" dirty="0"/>
          </a:p>
        </p:txBody>
      </p:sp>
    </p:spTree>
    <p:extLst>
      <p:ext uri="{BB962C8B-B14F-4D97-AF65-F5344CB8AC3E}">
        <p14:creationId xmlns:p14="http://schemas.microsoft.com/office/powerpoint/2010/main" val="42464367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origins of global health are in colonial era medicine. </a:t>
            </a:r>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19</a:t>
            </a:fld>
            <a:endParaRPr lang="en-US" dirty="0"/>
          </a:p>
        </p:txBody>
      </p:sp>
    </p:spTree>
    <p:extLst>
      <p:ext uri="{BB962C8B-B14F-4D97-AF65-F5344CB8AC3E}">
        <p14:creationId xmlns:p14="http://schemas.microsoft.com/office/powerpoint/2010/main" val="4107346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20</a:t>
            </a:fld>
            <a:endParaRPr lang="en-US" dirty="0"/>
          </a:p>
        </p:txBody>
      </p:sp>
    </p:spTree>
    <p:extLst>
      <p:ext uri="{BB962C8B-B14F-4D97-AF65-F5344CB8AC3E}">
        <p14:creationId xmlns:p14="http://schemas.microsoft.com/office/powerpoint/2010/main" val="3461348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21</a:t>
            </a:fld>
            <a:endParaRPr lang="en-US" dirty="0"/>
          </a:p>
        </p:txBody>
      </p:sp>
    </p:spTree>
    <p:extLst>
      <p:ext uri="{BB962C8B-B14F-4D97-AF65-F5344CB8AC3E}">
        <p14:creationId xmlns:p14="http://schemas.microsoft.com/office/powerpoint/2010/main" val="1776586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During the colonial period, the practice of “Doctory” or Western medicine gained momentum in India, buoyed with the support of the British as well as Western-educated Indians. Many Indians were trained in Western medicine and employed by the administration as “native doctors” in the medical service for Indians. However, the superior medical service by and large comprised Europeans.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Indian and British medical personnel that lived outside of the major colonial cities were the basis for the first field-based public health programs</a:t>
            </a:r>
            <a:br>
              <a:rPr lang="en-US" sz="1200"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Saini, A. (2016). Physicians of colonial India (1757–1900). </a:t>
            </a:r>
            <a:r>
              <a:rPr lang="en-US" i="1" dirty="0"/>
              <a:t>Journal of Family Medicine and Primary Care</a:t>
            </a:r>
            <a:r>
              <a:rPr lang="en-US" dirty="0"/>
              <a:t>, </a:t>
            </a:r>
            <a:r>
              <a:rPr lang="en-US" i="1" dirty="0"/>
              <a:t>5</a:t>
            </a:r>
            <a:r>
              <a:rPr lang="en-US" dirty="0"/>
              <a:t>(3), 528.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Photo of woman missionary in India in 1900s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paternalistic stance – we will take care of you – was common</a:t>
            </a:r>
            <a:r>
              <a:rPr lang="en-US" baseline="0" dirty="0"/>
              <a:t> for many colonial relationships</a:t>
            </a:r>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24</a:t>
            </a:fld>
            <a:endParaRPr lang="en-US" dirty="0"/>
          </a:p>
        </p:txBody>
      </p:sp>
    </p:spTree>
    <p:extLst>
      <p:ext uri="{BB962C8B-B14F-4D97-AF65-F5344CB8AC3E}">
        <p14:creationId xmlns:p14="http://schemas.microsoft.com/office/powerpoint/2010/main" val="3445849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https://www.crouchrarebooks.com/maps/view/distribution-of-malaria-in-british-india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Map is from 1880 – malaria was a serious illness for the British in India and in many of their tropical colonies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Formation of the London School of Tropical Medicine in 1899 was meant to foster this kind of imperial medicine.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25</a:t>
            </a:fld>
            <a:endParaRPr lang="en-US" dirty="0"/>
          </a:p>
        </p:txBody>
      </p:sp>
    </p:spTree>
    <p:extLst>
      <p:ext uri="{BB962C8B-B14F-4D97-AF65-F5344CB8AC3E}">
        <p14:creationId xmlns:p14="http://schemas.microsoft.com/office/powerpoint/2010/main" val="2126772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https://news.cornell.edu/stories/2018/10/acclimate-or-die-book-examines-disease-british-empire</a:t>
            </a:r>
          </a:p>
        </p:txBody>
      </p:sp>
      <p:sp>
        <p:nvSpPr>
          <p:cNvPr id="4" name="Slide Number Placeholder 3"/>
          <p:cNvSpPr>
            <a:spLocks noGrp="1"/>
          </p:cNvSpPr>
          <p:nvPr>
            <p:ph type="sldNum" sz="quarter" idx="10"/>
          </p:nvPr>
        </p:nvSpPr>
        <p:spPr/>
        <p:txBody>
          <a:bodyPr/>
          <a:lstStyle/>
          <a:p>
            <a:fld id="{94D0FD8A-5DF6-4509-B927-55EB1802D495}" type="slidenum">
              <a:rPr lang="en-US" smtClean="0"/>
              <a:t>26</a:t>
            </a:fld>
            <a:endParaRPr lang="en-US" dirty="0"/>
          </a:p>
        </p:txBody>
      </p:sp>
    </p:spTree>
    <p:extLst>
      <p:ext uri="{BB962C8B-B14F-4D97-AF65-F5344CB8AC3E}">
        <p14:creationId xmlns:p14="http://schemas.microsoft.com/office/powerpoint/2010/main" val="2624412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https://www.nytimes.com/interactive/2019/08/14/magazine/racial-differences-doctors.html?smid=nytcore-ios-share</a:t>
            </a:r>
            <a:br>
              <a:rPr lang="en-US" dirty="0"/>
            </a:br>
            <a:br>
              <a:rPr lang="en-US" dirty="0"/>
            </a:br>
            <a:r>
              <a:rPr lang="en-US" dirty="0"/>
              <a:t>The pain myth still exists: </a:t>
            </a:r>
            <a:br>
              <a:rPr lang="en-US" dirty="0"/>
            </a:br>
            <a:r>
              <a:rPr lang="en-US" dirty="0"/>
              <a:t>https://www.nytimes.com/2019/11/25/upshot/opioid-epidemic-blacks.html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27</a:t>
            </a:fld>
            <a:endParaRPr lang="en-US" dirty="0"/>
          </a:p>
        </p:txBody>
      </p:sp>
    </p:spTree>
    <p:extLst>
      <p:ext uri="{BB962C8B-B14F-4D97-AF65-F5344CB8AC3E}">
        <p14:creationId xmlns:p14="http://schemas.microsoft.com/office/powerpoint/2010/main" val="485751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US" dirty="0"/>
              <a:t>Another example of the translational gap, this time for a medical instrument.  There are some differences in biology that need to be taken into account, like this failure of the designers of the oximeters to account for skin color, but often it is the social context, and issues of power and inequity, that account for differences in disease more than any biological difference.  Just keep in mind that not everything is cultural nor is everything biological, they can each contribute. </a:t>
            </a:r>
            <a:br>
              <a:rPr lang="en-US" dirty="0"/>
            </a:br>
            <a:br>
              <a:rPr lang="en-US" dirty="0"/>
            </a:br>
            <a:r>
              <a:rPr lang="en-US" dirty="0"/>
              <a:t>A study published in the New England Journal of Medicine in 2020 found that Black patients were nearly three times as likely as white patients to have occult hypoxemia (low oxygen levels that are not detected by pulse oximeters). Another study published in the Journal of the American Medical Association (JAMA) in 2022 supported these findings, highlighting the need for improved pulse oximeter technology that accounts for skin pigmentation.</a:t>
            </a:r>
            <a:br>
              <a:rPr lang="en-US" dirty="0"/>
            </a:br>
            <a:br>
              <a:rPr lang="en-US" dirty="0"/>
            </a:br>
            <a:r>
              <a:rPr lang="en-US" dirty="0"/>
              <a:t>Sjoding, M. W., Dickson, R. P., Iwashyna, T. J., Gay, S. E., &amp; Valley, T. S. (2020). Racial Bias in Pulse Oximetry Measurement. </a:t>
            </a:r>
            <a:r>
              <a:rPr lang="en-US" i="1" dirty="0"/>
              <a:t>New England Journal of Medicine, 383</a:t>
            </a:r>
            <a:r>
              <a:rPr lang="en-US" dirty="0"/>
              <a:t>(25), 2477-2478. DOI: 10.1056/NEJMc2029240</a:t>
            </a:r>
          </a:p>
          <a:p>
            <a:pPr>
              <a:buFont typeface="Arial" panose="020B0604020202020204" pitchFamily="34" charset="0"/>
              <a:buChar char="•"/>
            </a:pPr>
            <a:endParaRPr lang="en-US" dirty="0"/>
          </a:p>
          <a:p>
            <a:pPr>
              <a:buFont typeface="Arial" panose="020B0604020202020204" pitchFamily="34" charset="0"/>
              <a:buNone/>
            </a:pPr>
            <a:r>
              <a:rPr lang="en-US" dirty="0"/>
              <a:t>Valbuena, V. S. M., Seelye, S., Sjoding, M. W., et al. (2022). Racial Disparities in the Accuracy of Pulse Oximetry and Clinical Outcomes in Patients With COVID-19 Infection. </a:t>
            </a:r>
            <a:r>
              <a:rPr lang="en-US" i="1" dirty="0"/>
              <a:t>JAMA Internal Medicine</a:t>
            </a:r>
            <a:r>
              <a:rPr lang="en-US" dirty="0"/>
              <a:t>. DOI: 10.1001/jamainternmed.2022.1906</a:t>
            </a:r>
          </a:p>
          <a:p>
            <a:pPr>
              <a:buFont typeface="Arial" panose="020B0604020202020204" pitchFamily="34" charset="0"/>
              <a:buNone/>
            </a:pPr>
            <a:endParaRPr lang="en-US" dirty="0"/>
          </a:p>
          <a:p>
            <a:pPr>
              <a:buFont typeface="Arial" panose="020B0604020202020204" pitchFamily="34" charset="0"/>
              <a:buNone/>
            </a:pPr>
            <a:r>
              <a:rPr lang="en-US" dirty="0"/>
              <a:t>https://www.nhlbi.nih.gov/news/2023/updating-pulse-oximeters</a:t>
            </a:r>
            <a:br>
              <a:rPr lang="en-US" dirty="0"/>
            </a:br>
            <a:r>
              <a:rPr lang="en-US" dirty="0"/>
              <a:t>New ‘green’ light oximeters can accommodate skin color differences</a:t>
            </a:r>
          </a:p>
          <a:p>
            <a:pPr>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28</a:t>
            </a:fld>
            <a:endParaRPr lang="en-US" dirty="0"/>
          </a:p>
        </p:txBody>
      </p:sp>
    </p:spTree>
    <p:extLst>
      <p:ext uri="{BB962C8B-B14F-4D97-AF65-F5344CB8AC3E}">
        <p14:creationId xmlns:p14="http://schemas.microsoft.com/office/powerpoint/2010/main" val="646636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Imperial medicine aimed to make it safe for Europeans to travel to other parts of the world. </a:t>
            </a:r>
          </a:p>
        </p:txBody>
      </p:sp>
      <p:sp>
        <p:nvSpPr>
          <p:cNvPr id="4" name="Slide Number Placeholder 3"/>
          <p:cNvSpPr>
            <a:spLocks noGrp="1"/>
          </p:cNvSpPr>
          <p:nvPr>
            <p:ph type="sldNum" sz="quarter" idx="10"/>
          </p:nvPr>
        </p:nvSpPr>
        <p:spPr/>
        <p:txBody>
          <a:bodyPr/>
          <a:lstStyle/>
          <a:p>
            <a:fld id="{94D0FD8A-5DF6-4509-B927-55EB1802D495}" type="slidenum">
              <a:rPr lang="en-US" smtClean="0"/>
              <a:t>29</a:t>
            </a:fld>
            <a:endParaRPr lang="en-US" dirty="0"/>
          </a:p>
        </p:txBody>
      </p:sp>
    </p:spTree>
    <p:extLst>
      <p:ext uri="{BB962C8B-B14F-4D97-AF65-F5344CB8AC3E}">
        <p14:creationId xmlns:p14="http://schemas.microsoft.com/office/powerpoint/2010/main" val="200467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30</a:t>
            </a:fld>
            <a:endParaRPr lang="en-US" dirty="0"/>
          </a:p>
        </p:txBody>
      </p:sp>
    </p:spTree>
    <p:extLst>
      <p:ext uri="{BB962C8B-B14F-4D97-AF65-F5344CB8AC3E}">
        <p14:creationId xmlns:p14="http://schemas.microsoft.com/office/powerpoint/2010/main" val="1204612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Smallman-Raynor, M., &amp; Cliff, A. D. (2016). The diffusion of cholera in Egypt, 1947: a time-space analysis of one of the largest single outbreaks in the twentieth century. </a:t>
            </a:r>
            <a:r>
              <a:rPr lang="en-US" i="1" dirty="0"/>
              <a:t>Journal of Historical Geography</a:t>
            </a:r>
            <a:r>
              <a:rPr lang="en-US" dirty="0"/>
              <a:t>, </a:t>
            </a:r>
            <a:r>
              <a:rPr lang="en-US" i="1" dirty="0"/>
              <a:t>54</a:t>
            </a:r>
            <a:r>
              <a:rPr lang="en-US" dirty="0"/>
              <a:t>, 24-37.</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32</a:t>
            </a:fld>
            <a:endParaRPr lang="en-US" dirty="0"/>
          </a:p>
        </p:txBody>
      </p:sp>
    </p:spTree>
    <p:extLst>
      <p:ext uri="{BB962C8B-B14F-4D97-AF65-F5344CB8AC3E}">
        <p14:creationId xmlns:p14="http://schemas.microsoft.com/office/powerpoint/2010/main" val="3416596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34</a:t>
            </a:fld>
            <a:endParaRPr lang="en-US" dirty="0"/>
          </a:p>
        </p:txBody>
      </p:sp>
    </p:spTree>
    <p:extLst>
      <p:ext uri="{BB962C8B-B14F-4D97-AF65-F5344CB8AC3E}">
        <p14:creationId xmlns:p14="http://schemas.microsoft.com/office/powerpoint/2010/main" val="35181908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https://www.npr.org/sections/goatsandsoda/2019/12/30/784392315/opinion-its-time-to-end-the-colonial-mindset-in-global-health</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37</a:t>
            </a:fld>
            <a:endParaRPr lang="en-US" dirty="0"/>
          </a:p>
        </p:txBody>
      </p:sp>
    </p:spTree>
    <p:extLst>
      <p:ext uri="{BB962C8B-B14F-4D97-AF65-F5344CB8AC3E}">
        <p14:creationId xmlns:p14="http://schemas.microsoft.com/office/powerpoint/2010/main" val="42400957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https://www.persuasion.community/p/the-problem-with-decolonizing-global</a:t>
            </a:r>
          </a:p>
        </p:txBody>
      </p:sp>
      <p:sp>
        <p:nvSpPr>
          <p:cNvPr id="4" name="Slide Number Placeholder 3"/>
          <p:cNvSpPr>
            <a:spLocks noGrp="1"/>
          </p:cNvSpPr>
          <p:nvPr>
            <p:ph type="sldNum" sz="quarter" idx="5"/>
          </p:nvPr>
        </p:nvSpPr>
        <p:spPr/>
        <p:txBody>
          <a:bodyPr/>
          <a:lstStyle/>
          <a:p>
            <a:fld id="{94D0FD8A-5DF6-4509-B927-55EB1802D495}" type="slidenum">
              <a:rPr lang="en-US" smtClean="0"/>
              <a:t>38</a:t>
            </a:fld>
            <a:endParaRPr lang="en-US" dirty="0"/>
          </a:p>
        </p:txBody>
      </p:sp>
    </p:spTree>
    <p:extLst>
      <p:ext uri="{BB962C8B-B14F-4D97-AF65-F5344CB8AC3E}">
        <p14:creationId xmlns:p14="http://schemas.microsoft.com/office/powerpoint/2010/main" val="854991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Mutapi, Francisca. "Africa should set its own health-research agenda." </a:t>
            </a:r>
            <a:r>
              <a:rPr lang="en-US" i="1" dirty="0"/>
              <a:t>Nature</a:t>
            </a:r>
            <a:r>
              <a:rPr lang="en-US" dirty="0"/>
              <a:t> 575.7784 (2019): 567.</a:t>
            </a:r>
          </a:p>
          <a:p>
            <a:endParaRPr lang="en-US" dirty="0"/>
          </a:p>
          <a:p>
            <a:r>
              <a:rPr lang="en-US" dirty="0"/>
              <a:t>https://www.nature.com/articles/d41586-019-03627-9</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39</a:t>
            </a:fld>
            <a:endParaRPr lang="en-US" dirty="0"/>
          </a:p>
        </p:txBody>
      </p:sp>
    </p:spTree>
    <p:extLst>
      <p:ext uri="{BB962C8B-B14F-4D97-AF65-F5344CB8AC3E}">
        <p14:creationId xmlns:p14="http://schemas.microsoft.com/office/powerpoint/2010/main" val="2388576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B0D3AB-057F-4492-B053-8D2FB1B99E0E}" type="datetime1">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4004654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58B850-09A5-434B-B315-24BF2DF36218}" type="datetime1">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2400" b="1">
                <a:latin typeface="+mn-lt"/>
              </a:defRPr>
            </a:lvl1pPr>
          </a:lstStyle>
          <a:p>
            <a:fld id="{91F5D5B3-D24A-42EA-B582-81E5372869F6}" type="slidenum">
              <a:rPr lang="en-US" smtClean="0"/>
              <a:pPr/>
              <a:t>‹#›</a:t>
            </a:fld>
            <a:endParaRPr lang="en-US" dirty="0"/>
          </a:p>
        </p:txBody>
      </p:sp>
    </p:spTree>
    <p:extLst>
      <p:ext uri="{BB962C8B-B14F-4D97-AF65-F5344CB8AC3E}">
        <p14:creationId xmlns:p14="http://schemas.microsoft.com/office/powerpoint/2010/main" val="157215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9B2563-8FF4-4ACA-AAA2-94545FDA7F8E}" type="datetime1">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434830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26C5EF-DE58-40BB-951C-75C4A0CD4626}" type="datetime1">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3818423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BD3B93-4260-4FD1-9EB1-D8D82FFE054C}" type="datetime1">
              <a:rPr lang="en-US" smtClean="0"/>
              <a:t>8/27/2026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00832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0CAD1B-B742-41F9-BD5F-FC56781B597E}" type="datetime1">
              <a:rPr lang="en-US" smtClean="0"/>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2844734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1D4895-7493-447F-BF0C-2D1ECBDABE2C}" type="datetime1">
              <a:rPr lang="en-US" smtClean="0"/>
              <a:t>8/27/2026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272948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E3A8E1-DB1D-401D-B51C-AA762EC567C4}" type="datetime1">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69648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735F63-0117-4573-A299-87C15F66FEE5}" type="datetime1">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304327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B315F-2A89-4DD4-908C-5A50C0C71CFF}" type="datetime1">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15229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334F22-1A4A-459C-9767-09D442580710}" type="datetime1">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290319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8961EA-BC3A-4A39-9578-C80CE6DE4238}" type="datetime1">
              <a:rPr lang="en-US" smtClean="0"/>
              <a:t>8/27/2026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F5D5B3-D24A-42EA-B582-81E5372869F6}" type="slidenum">
              <a:rPr lang="en-US" smtClean="0"/>
              <a:t>‹#›</a:t>
            </a:fld>
            <a:endParaRPr lang="en-US" dirty="0"/>
          </a:p>
        </p:txBody>
      </p:sp>
    </p:spTree>
    <p:extLst>
      <p:ext uri="{BB962C8B-B14F-4D97-AF65-F5344CB8AC3E}">
        <p14:creationId xmlns:p14="http://schemas.microsoft.com/office/powerpoint/2010/main" val="26819719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nytimes.com/interactive/2020/03/22/world/coronavirus-spread.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ytimes.com/2020/11/10/business/biontech-covid-vaccine.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biontech.de/"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cdc.gov/nchs/data-visualization/life-expectanc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SYlMX1u6DWs?feature=oembed" TargetMode="External"/><Relationship Id="rId5" Type="http://schemas.openxmlformats.org/officeDocument/2006/relationships/image" Target="../media/image14.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slideLayout" Target="../slideLayouts/slideLayout2.xml"/><Relationship Id="rId1" Type="http://schemas.openxmlformats.org/officeDocument/2006/relationships/video" Target="https://www.youtube.com/embed/edkkZyQhJ6k?feature=oembed" TargetMode="Externa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nytimes.com/2019/08/06/opinion/evolution-heart-disease.html?smid=nytcore-ios-shar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tsimane.anth.ucsb.edu/tsimaneinfo.html" TargetMode="External"/><Relationship Id="rId5" Type="http://schemas.openxmlformats.org/officeDocument/2006/relationships/image" Target="../media/image20.jp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nytimes.com/interactive/2019/08/14/magazine/racial-differences-doctors.html?smid=nytcore-ios-share"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lshtm.ac.uk/"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paho.org/hq/index.php?lang=en"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31.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npr.org/sections/goatsandsoda/2019/12/30/784392315/opinion-its-time-to-end-the-colonial-mindset-in-global-health"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hyperlink" Target="https://www.persuasion.community/p/the-problem-with-decolonizing-globa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hyperlink" Target="https://www.nature.com/articles/d41586-019-03627-9"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861" y="457133"/>
            <a:ext cx="5519786" cy="1384729"/>
          </a:xfrm>
        </p:spPr>
        <p:txBody>
          <a:bodyPr>
            <a:noAutofit/>
          </a:bodyPr>
          <a:lstStyle/>
          <a:p>
            <a:pPr algn="ctr"/>
            <a:r>
              <a:rPr lang="en-US" sz="4050" dirty="0"/>
              <a:t>The </a:t>
            </a:r>
            <a:r>
              <a:rPr lang="en-US" sz="4050" b="1" dirty="0"/>
              <a:t>tradeoffs </a:t>
            </a:r>
            <a:r>
              <a:rPr lang="en-US" sz="4050" dirty="0"/>
              <a:t>of globalization</a:t>
            </a:r>
          </a:p>
        </p:txBody>
      </p:sp>
      <p:sp>
        <p:nvSpPr>
          <p:cNvPr id="3" name="Content Placeholder 2"/>
          <p:cNvSpPr>
            <a:spLocks noGrp="1"/>
          </p:cNvSpPr>
          <p:nvPr>
            <p:ph idx="1"/>
          </p:nvPr>
        </p:nvSpPr>
        <p:spPr>
          <a:xfrm>
            <a:off x="294860" y="2069449"/>
            <a:ext cx="5519787" cy="5154309"/>
          </a:xfrm>
        </p:spPr>
        <p:txBody>
          <a:bodyPr>
            <a:normAutofit lnSpcReduction="10000"/>
          </a:bodyPr>
          <a:lstStyle/>
          <a:p>
            <a:r>
              <a:rPr lang="en-US" sz="3000" dirty="0"/>
              <a:t>Globalized economies have benefits: among the wealthiest with high rates of literacy and longer life spans</a:t>
            </a:r>
          </a:p>
          <a:p>
            <a:r>
              <a:rPr lang="en-US" sz="3000" dirty="0"/>
              <a:t>However, there are </a:t>
            </a:r>
            <a:r>
              <a:rPr lang="en-US" sz="3000" i="1" dirty="0"/>
              <a:t>costs or harms</a:t>
            </a:r>
            <a:r>
              <a:rPr lang="en-US" sz="3000" dirty="0"/>
              <a:t>: globalization can also produce poverty and new health and environmental problems</a:t>
            </a:r>
          </a:p>
          <a:p>
            <a:r>
              <a:rPr lang="en-US" sz="3000" dirty="0"/>
              <a:t>Benefits and harms from globalization can be experienced unevenly and in complex ways</a:t>
            </a:r>
          </a:p>
          <a:p>
            <a:pPr marL="0" indent="0">
              <a:buNone/>
            </a:pPr>
            <a:r>
              <a:rPr lang="en-US" sz="2700" dirty="0">
                <a:latin typeface="+mj-lt"/>
              </a:rPr>
              <a:t> </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7620" r="19127"/>
          <a:stretch/>
        </p:blipFill>
        <p:spPr>
          <a:xfrm>
            <a:off x="5814647" y="216904"/>
            <a:ext cx="6274685" cy="6424192"/>
          </a:xfrm>
          <a:prstGeom prst="rect">
            <a:avLst/>
          </a:prstGeom>
        </p:spPr>
      </p:pic>
      <p:sp>
        <p:nvSpPr>
          <p:cNvPr id="5" name="Slide Number Placeholder 4">
            <a:extLst>
              <a:ext uri="{FF2B5EF4-FFF2-40B4-BE49-F238E27FC236}">
                <a16:creationId xmlns:a16="http://schemas.microsoft.com/office/drawing/2014/main" id="{57571FE9-1CE7-44EE-B08A-076F0E00E507}"/>
              </a:ext>
            </a:extLst>
          </p:cNvPr>
          <p:cNvSpPr>
            <a:spLocks noGrp="1"/>
          </p:cNvSpPr>
          <p:nvPr>
            <p:ph type="sldNum" sz="quarter" idx="12"/>
          </p:nvPr>
        </p:nvSpPr>
        <p:spPr/>
        <p:txBody>
          <a:bodyPr/>
          <a:lstStyle/>
          <a:p>
            <a:fld id="{91F5D5B3-D24A-42EA-B582-81E5372869F6}" type="slidenum">
              <a:rPr lang="en-US" smtClean="0"/>
              <a:t>1</a:t>
            </a:fld>
            <a:endParaRPr lang="en-US" dirty="0"/>
          </a:p>
        </p:txBody>
      </p:sp>
    </p:spTree>
    <p:extLst>
      <p:ext uri="{BB962C8B-B14F-4D97-AF65-F5344CB8AC3E}">
        <p14:creationId xmlns:p14="http://schemas.microsoft.com/office/powerpoint/2010/main" val="222216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9140" y="580466"/>
            <a:ext cx="4610570" cy="5697068"/>
          </a:xfrm>
        </p:spPr>
        <p:txBody>
          <a:bodyPr>
            <a:normAutofit lnSpcReduction="10000"/>
          </a:bodyPr>
          <a:lstStyle/>
          <a:p>
            <a:r>
              <a:rPr lang="en-US" sz="3200" dirty="0">
                <a:latin typeface="Calibri Light" panose="020F0302020204030204" pitchFamily="34" charset="0"/>
                <a:cs typeface="Calibri Light" panose="020F0302020204030204" pitchFamily="34" charset="0"/>
              </a:rPr>
              <a:t>Infectious (communicable) diseases like may decrease as countries globalize </a:t>
            </a:r>
          </a:p>
          <a:p>
            <a:r>
              <a:rPr lang="en-US" sz="3200" dirty="0">
                <a:latin typeface="Calibri Light" panose="020F0302020204030204" pitchFamily="34" charset="0"/>
                <a:cs typeface="Calibri Light" panose="020F0302020204030204" pitchFamily="34" charset="0"/>
              </a:rPr>
              <a:t>They often then experience increases in non-communicable diseases of affluence as countries develop economically, enter the global economy, and experience shifts in the types of foods consumed</a:t>
            </a:r>
          </a:p>
        </p:txBody>
      </p:sp>
      <p:pic>
        <p:nvPicPr>
          <p:cNvPr id="4" name="Picture 3"/>
          <p:cNvPicPr>
            <a:picLocks noChangeAspect="1"/>
          </p:cNvPicPr>
          <p:nvPr/>
        </p:nvPicPr>
        <p:blipFill>
          <a:blip r:embed="rId3"/>
          <a:stretch>
            <a:fillRect/>
          </a:stretch>
        </p:blipFill>
        <p:spPr>
          <a:xfrm>
            <a:off x="5109710" y="0"/>
            <a:ext cx="6675272" cy="6373905"/>
          </a:xfrm>
          <a:prstGeom prst="rect">
            <a:avLst/>
          </a:prstGeom>
        </p:spPr>
      </p:pic>
      <p:sp>
        <p:nvSpPr>
          <p:cNvPr id="2" name="Slide Number Placeholder 1">
            <a:extLst>
              <a:ext uri="{FF2B5EF4-FFF2-40B4-BE49-F238E27FC236}">
                <a16:creationId xmlns:a16="http://schemas.microsoft.com/office/drawing/2014/main" id="{80BC8239-DCCA-44E7-9694-A34780EC64C7}"/>
              </a:ext>
            </a:extLst>
          </p:cNvPr>
          <p:cNvSpPr>
            <a:spLocks noGrp="1"/>
          </p:cNvSpPr>
          <p:nvPr>
            <p:ph type="sldNum" sz="quarter" idx="12"/>
          </p:nvPr>
        </p:nvSpPr>
        <p:spPr/>
        <p:txBody>
          <a:bodyPr/>
          <a:lstStyle/>
          <a:p>
            <a:fld id="{91F5D5B3-D24A-42EA-B582-81E5372869F6}" type="slidenum">
              <a:rPr lang="en-US" smtClean="0"/>
              <a:t>2</a:t>
            </a:fld>
            <a:endParaRPr lang="en-US" dirty="0"/>
          </a:p>
        </p:txBody>
      </p:sp>
    </p:spTree>
    <p:extLst>
      <p:ext uri="{BB962C8B-B14F-4D97-AF65-F5344CB8AC3E}">
        <p14:creationId xmlns:p14="http://schemas.microsoft.com/office/powerpoint/2010/main" val="24913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6696C-4961-443C-A258-E0219F9F33A1}"/>
              </a:ext>
            </a:extLst>
          </p:cNvPr>
          <p:cNvSpPr>
            <a:spLocks noGrp="1"/>
          </p:cNvSpPr>
          <p:nvPr>
            <p:ph type="title"/>
          </p:nvPr>
        </p:nvSpPr>
        <p:spPr>
          <a:xfrm>
            <a:off x="242597" y="273050"/>
            <a:ext cx="11793892" cy="1325563"/>
          </a:xfrm>
        </p:spPr>
        <p:txBody>
          <a:bodyPr>
            <a:normAutofit/>
          </a:bodyPr>
          <a:lstStyle/>
          <a:p>
            <a:pPr algn="ctr"/>
            <a:r>
              <a:rPr lang="en-US" dirty="0"/>
              <a:t>The Covid (SARS-CoV2) pandemic illustrates the complex tradeoffs of globalization</a:t>
            </a:r>
          </a:p>
        </p:txBody>
      </p:sp>
      <p:sp>
        <p:nvSpPr>
          <p:cNvPr id="3" name="Content Placeholder 2">
            <a:extLst>
              <a:ext uri="{FF2B5EF4-FFF2-40B4-BE49-F238E27FC236}">
                <a16:creationId xmlns:a16="http://schemas.microsoft.com/office/drawing/2014/main" id="{CC8FAE04-FF67-45B6-899C-E40B90B18EF3}"/>
              </a:ext>
            </a:extLst>
          </p:cNvPr>
          <p:cNvSpPr>
            <a:spLocks noGrp="1"/>
          </p:cNvSpPr>
          <p:nvPr>
            <p:ph idx="1"/>
          </p:nvPr>
        </p:nvSpPr>
        <p:spPr>
          <a:xfrm>
            <a:off x="242597" y="1934314"/>
            <a:ext cx="4116043" cy="4466485"/>
          </a:xfrm>
        </p:spPr>
        <p:txBody>
          <a:bodyPr>
            <a:normAutofit/>
          </a:bodyPr>
          <a:lstStyle/>
          <a:p>
            <a:r>
              <a:rPr lang="en-US" dirty="0"/>
              <a:t>Globalization fueled the growth of urban areas and the high population densities that enhanced the spread of coronavirus SARS-CoV-2</a:t>
            </a:r>
          </a:p>
          <a:p>
            <a:r>
              <a:rPr lang="en-US" dirty="0"/>
              <a:t>Hyperconnectivity through air travel enhanced the spread of the virus</a:t>
            </a:r>
          </a:p>
          <a:p>
            <a:pPr marL="0" indent="0">
              <a:buNone/>
            </a:pPr>
            <a:endParaRPr lang="en-US" dirty="0"/>
          </a:p>
        </p:txBody>
      </p:sp>
      <p:pic>
        <p:nvPicPr>
          <p:cNvPr id="5" name="Picture 4">
            <a:hlinkClick r:id="rId2"/>
            <a:extLst>
              <a:ext uri="{FF2B5EF4-FFF2-40B4-BE49-F238E27FC236}">
                <a16:creationId xmlns:a16="http://schemas.microsoft.com/office/drawing/2014/main" id="{268FF547-4F6D-470F-BD06-D11E549E6A15}"/>
              </a:ext>
            </a:extLst>
          </p:cNvPr>
          <p:cNvPicPr>
            <a:picLocks noChangeAspect="1"/>
          </p:cNvPicPr>
          <p:nvPr/>
        </p:nvPicPr>
        <p:blipFill rotWithShape="1">
          <a:blip r:embed="rId3"/>
          <a:srcRect l="19402" t="11701" r="10171"/>
          <a:stretch/>
        </p:blipFill>
        <p:spPr>
          <a:xfrm>
            <a:off x="4746170" y="1934314"/>
            <a:ext cx="7203233" cy="4130783"/>
          </a:xfrm>
          <a:prstGeom prst="rect">
            <a:avLst/>
          </a:prstGeom>
          <a:ln w="47625">
            <a:solidFill>
              <a:schemeClr val="accent1"/>
            </a:solidFill>
          </a:ln>
        </p:spPr>
      </p:pic>
      <p:sp>
        <p:nvSpPr>
          <p:cNvPr id="4" name="Slide Number Placeholder 3">
            <a:extLst>
              <a:ext uri="{FF2B5EF4-FFF2-40B4-BE49-F238E27FC236}">
                <a16:creationId xmlns:a16="http://schemas.microsoft.com/office/drawing/2014/main" id="{BD1FA037-B93C-4037-8D5D-87622FA4C6BF}"/>
              </a:ext>
            </a:extLst>
          </p:cNvPr>
          <p:cNvSpPr>
            <a:spLocks noGrp="1"/>
          </p:cNvSpPr>
          <p:nvPr>
            <p:ph type="sldNum" sz="quarter" idx="12"/>
          </p:nvPr>
        </p:nvSpPr>
        <p:spPr/>
        <p:txBody>
          <a:bodyPr/>
          <a:lstStyle/>
          <a:p>
            <a:fld id="{91F5D5B3-D24A-42EA-B582-81E5372869F6}" type="slidenum">
              <a:rPr lang="en-US" smtClean="0"/>
              <a:t>3</a:t>
            </a:fld>
            <a:endParaRPr lang="en-US" dirty="0"/>
          </a:p>
        </p:txBody>
      </p:sp>
    </p:spTree>
    <p:extLst>
      <p:ext uri="{BB962C8B-B14F-4D97-AF65-F5344CB8AC3E}">
        <p14:creationId xmlns:p14="http://schemas.microsoft.com/office/powerpoint/2010/main" val="267717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A85DC-4293-47A2-A7F7-7276CBE921B4}"/>
              </a:ext>
            </a:extLst>
          </p:cNvPr>
          <p:cNvSpPr>
            <a:spLocks noGrp="1"/>
          </p:cNvSpPr>
          <p:nvPr>
            <p:ph type="title"/>
          </p:nvPr>
        </p:nvSpPr>
        <p:spPr>
          <a:xfrm>
            <a:off x="459956" y="365125"/>
            <a:ext cx="11010900" cy="1325563"/>
          </a:xfrm>
        </p:spPr>
        <p:txBody>
          <a:bodyPr>
            <a:normAutofit/>
          </a:bodyPr>
          <a:lstStyle/>
          <a:p>
            <a:pPr algn="ctr"/>
            <a:r>
              <a:rPr lang="en-US" dirty="0"/>
              <a:t>Global cooperation aided design and manufacture of mRNA Covid vaccines</a:t>
            </a:r>
          </a:p>
        </p:txBody>
      </p:sp>
      <p:pic>
        <p:nvPicPr>
          <p:cNvPr id="5" name="Content Placeholder 4">
            <a:extLst>
              <a:ext uri="{FF2B5EF4-FFF2-40B4-BE49-F238E27FC236}">
                <a16:creationId xmlns:a16="http://schemas.microsoft.com/office/drawing/2014/main" id="{5C202F22-5FCE-4041-B1F6-6B5D11F991AF}"/>
              </a:ext>
            </a:extLst>
          </p:cNvPr>
          <p:cNvPicPr>
            <a:picLocks noGrp="1" noChangeAspect="1"/>
          </p:cNvPicPr>
          <p:nvPr>
            <p:ph idx="1"/>
          </p:nvPr>
        </p:nvPicPr>
        <p:blipFill>
          <a:blip r:embed="rId3"/>
          <a:stretch>
            <a:fillRect/>
          </a:stretch>
        </p:blipFill>
        <p:spPr>
          <a:xfrm>
            <a:off x="3783208" y="1865578"/>
            <a:ext cx="8677310" cy="4627297"/>
          </a:xfrm>
        </p:spPr>
      </p:pic>
      <p:sp>
        <p:nvSpPr>
          <p:cNvPr id="3" name="Rectangle 2">
            <a:extLst>
              <a:ext uri="{FF2B5EF4-FFF2-40B4-BE49-F238E27FC236}">
                <a16:creationId xmlns:a16="http://schemas.microsoft.com/office/drawing/2014/main" id="{9E18D254-E7C1-488A-BDF3-8D237EDC2A50}"/>
              </a:ext>
            </a:extLst>
          </p:cNvPr>
          <p:cNvSpPr/>
          <p:nvPr/>
        </p:nvSpPr>
        <p:spPr>
          <a:xfrm>
            <a:off x="3548743" y="5606143"/>
            <a:ext cx="1001486" cy="489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ntent Placeholder 2">
            <a:extLst>
              <a:ext uri="{FF2B5EF4-FFF2-40B4-BE49-F238E27FC236}">
                <a16:creationId xmlns:a16="http://schemas.microsoft.com/office/drawing/2014/main" id="{C61972A7-B2E2-4845-84A3-9A6890F62F8F}"/>
              </a:ext>
            </a:extLst>
          </p:cNvPr>
          <p:cNvSpPr txBox="1">
            <a:spLocks/>
          </p:cNvSpPr>
          <p:nvPr/>
        </p:nvSpPr>
        <p:spPr>
          <a:xfrm>
            <a:off x="171321" y="1865578"/>
            <a:ext cx="3509428" cy="462729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Pfizer (US) mRNA vaccine took less than a year to bring to market.</a:t>
            </a:r>
          </a:p>
          <a:p>
            <a:r>
              <a:rPr lang="en-US" dirty="0"/>
              <a:t>Prior, fastest development of a vaccine was for mumps, which took four years</a:t>
            </a:r>
          </a:p>
          <a:p>
            <a:r>
              <a:rPr lang="en-US" dirty="0"/>
              <a:t>Collaboration across countries around the world were necessary to do this</a:t>
            </a:r>
          </a:p>
        </p:txBody>
      </p:sp>
    </p:spTree>
    <p:extLst>
      <p:ext uri="{BB962C8B-B14F-4D97-AF65-F5344CB8AC3E}">
        <p14:creationId xmlns:p14="http://schemas.microsoft.com/office/powerpoint/2010/main" val="9232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12E94A94-BAEE-49BE-9459-C27901B864AC}"/>
              </a:ext>
            </a:extLst>
          </p:cNvPr>
          <p:cNvPicPr>
            <a:picLocks noGrp="1" noChangeAspect="1"/>
          </p:cNvPicPr>
          <p:nvPr>
            <p:ph idx="1"/>
          </p:nvPr>
        </p:nvPicPr>
        <p:blipFill>
          <a:blip r:embed="rId4"/>
          <a:stretch>
            <a:fillRect/>
          </a:stretch>
        </p:blipFill>
        <p:spPr>
          <a:xfrm>
            <a:off x="764721" y="1865092"/>
            <a:ext cx="10308771" cy="4747389"/>
          </a:xfrm>
          <a:ln w="69850">
            <a:solidFill>
              <a:schemeClr val="accent1"/>
            </a:solidFill>
          </a:ln>
        </p:spPr>
      </p:pic>
      <p:sp>
        <p:nvSpPr>
          <p:cNvPr id="4" name="Title 1">
            <a:extLst>
              <a:ext uri="{FF2B5EF4-FFF2-40B4-BE49-F238E27FC236}">
                <a16:creationId xmlns:a16="http://schemas.microsoft.com/office/drawing/2014/main" id="{696071C3-CB7D-4681-B92C-EFB836F0F3E3}"/>
              </a:ext>
            </a:extLst>
          </p:cNvPr>
          <p:cNvSpPr>
            <a:spLocks noGrp="1"/>
          </p:cNvSpPr>
          <p:nvPr>
            <p:ph type="title"/>
          </p:nvPr>
        </p:nvSpPr>
        <p:spPr>
          <a:xfrm>
            <a:off x="413657" y="365125"/>
            <a:ext cx="11010900" cy="1325563"/>
          </a:xfrm>
        </p:spPr>
        <p:txBody>
          <a:bodyPr>
            <a:normAutofit fontScale="90000"/>
          </a:bodyPr>
          <a:lstStyle/>
          <a:p>
            <a:pPr algn="ctr"/>
            <a:r>
              <a:rPr lang="en-US" dirty="0"/>
              <a:t>Pfizer mRNA vaccine developed by German company </a:t>
            </a:r>
            <a:r>
              <a:rPr lang="en-US" dirty="0">
                <a:hlinkClick r:id="rId5"/>
              </a:rPr>
              <a:t>BioNTech</a:t>
            </a:r>
            <a:r>
              <a:rPr lang="en-US" dirty="0"/>
              <a:t> started by Turkish immigrants </a:t>
            </a:r>
          </a:p>
        </p:txBody>
      </p:sp>
    </p:spTree>
    <p:extLst>
      <p:ext uri="{BB962C8B-B14F-4D97-AF65-F5344CB8AC3E}">
        <p14:creationId xmlns:p14="http://schemas.microsoft.com/office/powerpoint/2010/main" val="3313587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4964905-4134-4708-9309-F4AD2220F3D2}"/>
              </a:ext>
            </a:extLst>
          </p:cNvPr>
          <p:cNvPicPr>
            <a:picLocks noChangeAspect="1"/>
          </p:cNvPicPr>
          <p:nvPr/>
        </p:nvPicPr>
        <p:blipFill>
          <a:blip r:embed="rId3"/>
          <a:stretch>
            <a:fillRect/>
          </a:stretch>
        </p:blipFill>
        <p:spPr>
          <a:xfrm>
            <a:off x="7409328" y="0"/>
            <a:ext cx="3711390" cy="3081537"/>
          </a:xfrm>
          <a:prstGeom prst="rect">
            <a:avLst/>
          </a:prstGeom>
        </p:spPr>
      </p:pic>
      <p:sp>
        <p:nvSpPr>
          <p:cNvPr id="2" name="Title 1"/>
          <p:cNvSpPr>
            <a:spLocks noGrp="1"/>
          </p:cNvSpPr>
          <p:nvPr>
            <p:ph type="title"/>
          </p:nvPr>
        </p:nvSpPr>
        <p:spPr>
          <a:xfrm>
            <a:off x="573829" y="334108"/>
            <a:ext cx="6468035" cy="994172"/>
          </a:xfrm>
        </p:spPr>
        <p:txBody>
          <a:bodyPr>
            <a:normAutofit fontScale="90000"/>
          </a:bodyPr>
          <a:lstStyle/>
          <a:p>
            <a:r>
              <a:rPr lang="en-US" dirty="0"/>
              <a:t> Global health is multi-scalar</a:t>
            </a:r>
          </a:p>
        </p:txBody>
      </p:sp>
      <p:sp>
        <p:nvSpPr>
          <p:cNvPr id="3" name="Content Placeholder 2"/>
          <p:cNvSpPr>
            <a:spLocks noGrp="1"/>
          </p:cNvSpPr>
          <p:nvPr>
            <p:ph idx="1"/>
          </p:nvPr>
        </p:nvSpPr>
        <p:spPr>
          <a:xfrm>
            <a:off x="573829" y="1328280"/>
            <a:ext cx="6602417" cy="5393195"/>
          </a:xfrm>
        </p:spPr>
        <p:txBody>
          <a:bodyPr>
            <a:normAutofit/>
          </a:bodyPr>
          <a:lstStyle/>
          <a:p>
            <a:r>
              <a:rPr lang="en-US" sz="3200" dirty="0">
                <a:latin typeface="+mj-lt"/>
              </a:rPr>
              <a:t>Health is shaped by processes occurring at multiple scales time and space. </a:t>
            </a:r>
          </a:p>
          <a:p>
            <a:r>
              <a:rPr lang="en-US" sz="3200" dirty="0">
                <a:latin typeface="+mj-lt"/>
              </a:rPr>
              <a:t>The scales we choose shape how we attribute causality and designate a response</a:t>
            </a:r>
          </a:p>
          <a:p>
            <a:r>
              <a:rPr lang="en-US" sz="3200" dirty="0">
                <a:latin typeface="+mj-lt"/>
              </a:rPr>
              <a:t>For example, clinicians (medical doctors and nurses), epidemiologists, and planners associate causes of disease and ways to counter it that is scale dependent </a:t>
            </a:r>
          </a:p>
          <a:p>
            <a:pPr marL="0" indent="0">
              <a:buNone/>
            </a:pPr>
            <a:endParaRPr lang="en-US" dirty="0">
              <a:latin typeface="+mj-lt"/>
            </a:endParaRPr>
          </a:p>
        </p:txBody>
      </p:sp>
      <p:pic>
        <p:nvPicPr>
          <p:cNvPr id="8" name="Picture 7" descr="A picture containing implement, board, plastic, surface&#10;&#10;Description automatically generated">
            <a:extLst>
              <a:ext uri="{FF2B5EF4-FFF2-40B4-BE49-F238E27FC236}">
                <a16:creationId xmlns:a16="http://schemas.microsoft.com/office/drawing/2014/main" id="{AF2BFC04-FB5D-40CF-AD2A-82962E139A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9328" y="2095545"/>
            <a:ext cx="3711390" cy="2404981"/>
          </a:xfrm>
          <a:prstGeom prst="rect">
            <a:avLst/>
          </a:prstGeom>
        </p:spPr>
      </p:pic>
      <p:pic>
        <p:nvPicPr>
          <p:cNvPr id="10" name="Picture 9" descr="A picture containing outdoor, child, building, boy&#10;&#10;Description automatically generated">
            <a:extLst>
              <a:ext uri="{FF2B5EF4-FFF2-40B4-BE49-F238E27FC236}">
                <a16:creationId xmlns:a16="http://schemas.microsoft.com/office/drawing/2014/main" id="{5F7C074D-0480-4BE8-AFD3-469429D874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09329" y="4264009"/>
            <a:ext cx="3711389" cy="2476193"/>
          </a:xfrm>
          <a:prstGeom prst="rect">
            <a:avLst/>
          </a:prstGeom>
        </p:spPr>
      </p:pic>
      <p:sp>
        <p:nvSpPr>
          <p:cNvPr id="4" name="Slide Number Placeholder 3">
            <a:extLst>
              <a:ext uri="{FF2B5EF4-FFF2-40B4-BE49-F238E27FC236}">
                <a16:creationId xmlns:a16="http://schemas.microsoft.com/office/drawing/2014/main" id="{72998A67-FB3F-4D26-8F49-D9F729F7D5BA}"/>
              </a:ext>
            </a:extLst>
          </p:cNvPr>
          <p:cNvSpPr>
            <a:spLocks noGrp="1"/>
          </p:cNvSpPr>
          <p:nvPr>
            <p:ph type="sldNum" sz="quarter" idx="12"/>
          </p:nvPr>
        </p:nvSpPr>
        <p:spPr/>
        <p:txBody>
          <a:bodyPr/>
          <a:lstStyle/>
          <a:p>
            <a:fld id="{91F5D5B3-D24A-42EA-B582-81E5372869F6}" type="slidenum">
              <a:rPr lang="en-US" smtClean="0"/>
              <a:t>6</a:t>
            </a:fld>
            <a:endParaRPr lang="en-US" dirty="0"/>
          </a:p>
        </p:txBody>
      </p:sp>
    </p:spTree>
    <p:extLst>
      <p:ext uri="{BB962C8B-B14F-4D97-AF65-F5344CB8AC3E}">
        <p14:creationId xmlns:p14="http://schemas.microsoft.com/office/powerpoint/2010/main" val="2229632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2334-4150-4FDF-B82D-CF77E34034B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78D7FD2-EE92-4B88-B2AA-11AC8A57A5C7}"/>
              </a:ext>
            </a:extLst>
          </p:cNvPr>
          <p:cNvSpPr>
            <a:spLocks noGrp="1"/>
          </p:cNvSpPr>
          <p:nvPr>
            <p:ph idx="1"/>
          </p:nvPr>
        </p:nvSpPr>
        <p:spPr/>
        <p:txBody>
          <a:bodyPr/>
          <a:lstStyle/>
          <a:p>
            <a:endParaRPr lang="en-US" dirty="0"/>
          </a:p>
        </p:txBody>
      </p:sp>
      <p:pic>
        <p:nvPicPr>
          <p:cNvPr id="4" name="Picture 3" descr="A group of people in a room&#10;&#10;Description automatically generated">
            <a:extLst>
              <a:ext uri="{FF2B5EF4-FFF2-40B4-BE49-F238E27FC236}">
                <a16:creationId xmlns:a16="http://schemas.microsoft.com/office/drawing/2014/main" id="{77603F76-CE6A-4631-B8D1-579AB5C89D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50" y="290512"/>
            <a:ext cx="11163300" cy="6276975"/>
          </a:xfrm>
          <a:prstGeom prst="rect">
            <a:avLst/>
          </a:prstGeom>
        </p:spPr>
      </p:pic>
      <p:sp>
        <p:nvSpPr>
          <p:cNvPr id="5" name="Slide Number Placeholder 4">
            <a:extLst>
              <a:ext uri="{FF2B5EF4-FFF2-40B4-BE49-F238E27FC236}">
                <a16:creationId xmlns:a16="http://schemas.microsoft.com/office/drawing/2014/main" id="{20C1819A-13CF-4849-B20E-96012A49CAFE}"/>
              </a:ext>
            </a:extLst>
          </p:cNvPr>
          <p:cNvSpPr>
            <a:spLocks noGrp="1"/>
          </p:cNvSpPr>
          <p:nvPr>
            <p:ph type="sldNum" sz="quarter" idx="12"/>
          </p:nvPr>
        </p:nvSpPr>
        <p:spPr/>
        <p:txBody>
          <a:bodyPr/>
          <a:lstStyle/>
          <a:p>
            <a:fld id="{91F5D5B3-D24A-42EA-B582-81E5372869F6}" type="slidenum">
              <a:rPr lang="en-US" smtClean="0"/>
              <a:t>7</a:t>
            </a:fld>
            <a:endParaRPr lang="en-US" dirty="0"/>
          </a:p>
        </p:txBody>
      </p:sp>
    </p:spTree>
    <p:extLst>
      <p:ext uri="{BB962C8B-B14F-4D97-AF65-F5344CB8AC3E}">
        <p14:creationId xmlns:p14="http://schemas.microsoft.com/office/powerpoint/2010/main" val="1976610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‘Treating’ malaria is multi-scalar</a:t>
            </a:r>
          </a:p>
        </p:txBody>
      </p:sp>
      <p:sp>
        <p:nvSpPr>
          <p:cNvPr id="3" name="Content Placeholder 2"/>
          <p:cNvSpPr>
            <a:spLocks noGrp="1"/>
          </p:cNvSpPr>
          <p:nvPr>
            <p:ph idx="1"/>
          </p:nvPr>
        </p:nvSpPr>
        <p:spPr>
          <a:xfrm>
            <a:off x="500743" y="1892362"/>
            <a:ext cx="10417628" cy="4350177"/>
          </a:xfrm>
        </p:spPr>
        <p:txBody>
          <a:bodyPr>
            <a:normAutofit/>
          </a:bodyPr>
          <a:lstStyle/>
          <a:p>
            <a:r>
              <a:rPr lang="en-US" sz="3200" dirty="0">
                <a:latin typeface="Calibri Light" panose="020F0302020204030204" pitchFamily="34" charset="0"/>
                <a:cs typeface="Calibri Light" panose="020F0302020204030204" pitchFamily="34" charset="0"/>
              </a:rPr>
              <a:t>For clinical doctors, the cause of malaria is the parasite </a:t>
            </a:r>
            <a:r>
              <a:rPr lang="en-US" sz="3200" i="1" dirty="0">
                <a:latin typeface="Calibri Light" panose="020F0302020204030204" pitchFamily="34" charset="0"/>
                <a:cs typeface="Calibri Light" panose="020F0302020204030204" pitchFamily="34" charset="0"/>
              </a:rPr>
              <a:t>Plasmodium</a:t>
            </a:r>
            <a:r>
              <a:rPr lang="en-US" sz="3200" dirty="0">
                <a:latin typeface="Calibri Light" panose="020F0302020204030204" pitchFamily="34" charset="0"/>
                <a:cs typeface="Calibri Light" panose="020F0302020204030204" pitchFamily="34" charset="0"/>
              </a:rPr>
              <a:t> and treatments are artemisinin-based drugs</a:t>
            </a:r>
          </a:p>
          <a:p>
            <a:r>
              <a:rPr lang="en-US" sz="3200" dirty="0">
                <a:latin typeface="Calibri Light" panose="020F0302020204030204" pitchFamily="34" charset="0"/>
                <a:cs typeface="Calibri Light" panose="020F0302020204030204" pitchFamily="34" charset="0"/>
              </a:rPr>
              <a:t>Epidemiologists, public health planners, and environmental scientists might focus on standing water that breeds mosquitoes. Better drainage, insecticides and mosquito nets would be their recommendation.</a:t>
            </a:r>
          </a:p>
          <a:p>
            <a:r>
              <a:rPr lang="en-US" sz="3200" dirty="0">
                <a:latin typeface="Calibri Light" panose="020F0302020204030204" pitchFamily="34" charset="0"/>
                <a:cs typeface="Calibri Light" panose="020F0302020204030204" pitchFamily="34" charset="0"/>
              </a:rPr>
              <a:t>Sociologists, economists, historians, and geographers may lean toward causes related to unequal access to adequate housing</a:t>
            </a:r>
          </a:p>
          <a:p>
            <a:pPr marL="0" indent="0">
              <a:buNone/>
            </a:pPr>
            <a:endParaRPr lang="en-US" dirty="0">
              <a:latin typeface="+mj-lt"/>
            </a:endParaRPr>
          </a:p>
        </p:txBody>
      </p:sp>
      <p:sp>
        <p:nvSpPr>
          <p:cNvPr id="4" name="Slide Number Placeholder 3">
            <a:extLst>
              <a:ext uri="{FF2B5EF4-FFF2-40B4-BE49-F238E27FC236}">
                <a16:creationId xmlns:a16="http://schemas.microsoft.com/office/drawing/2014/main" id="{31ABEA7B-48EE-4024-8B63-FA25022B4DB0}"/>
              </a:ext>
            </a:extLst>
          </p:cNvPr>
          <p:cNvSpPr>
            <a:spLocks noGrp="1"/>
          </p:cNvSpPr>
          <p:nvPr>
            <p:ph type="sldNum" sz="quarter" idx="12"/>
          </p:nvPr>
        </p:nvSpPr>
        <p:spPr/>
        <p:txBody>
          <a:bodyPr/>
          <a:lstStyle/>
          <a:p>
            <a:fld id="{91F5D5B3-D24A-42EA-B582-81E5372869F6}" type="slidenum">
              <a:rPr lang="en-US" smtClean="0"/>
              <a:t>8</a:t>
            </a:fld>
            <a:endParaRPr lang="en-US" dirty="0"/>
          </a:p>
        </p:txBody>
      </p:sp>
    </p:spTree>
    <p:extLst>
      <p:ext uri="{BB962C8B-B14F-4D97-AF65-F5344CB8AC3E}">
        <p14:creationId xmlns:p14="http://schemas.microsoft.com/office/powerpoint/2010/main" val="2522281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D4953-E24C-44E6-9215-D649EBEBC55C}"/>
              </a:ext>
            </a:extLst>
          </p:cNvPr>
          <p:cNvSpPr>
            <a:spLocks noGrp="1"/>
          </p:cNvSpPr>
          <p:nvPr>
            <p:ph type="title"/>
          </p:nvPr>
        </p:nvSpPr>
        <p:spPr>
          <a:xfrm>
            <a:off x="838200" y="217714"/>
            <a:ext cx="11132069" cy="1647315"/>
          </a:xfrm>
        </p:spPr>
        <p:txBody>
          <a:bodyPr>
            <a:normAutofit/>
          </a:bodyPr>
          <a:lstStyle/>
          <a:p>
            <a:pPr algn="ctr"/>
            <a:r>
              <a:rPr lang="en-US" dirty="0"/>
              <a:t>Patterns of health and disease are multi-scalar</a:t>
            </a:r>
          </a:p>
        </p:txBody>
      </p:sp>
      <p:sp>
        <p:nvSpPr>
          <p:cNvPr id="5" name="Slide Number Placeholder 4">
            <a:extLst>
              <a:ext uri="{FF2B5EF4-FFF2-40B4-BE49-F238E27FC236}">
                <a16:creationId xmlns:a16="http://schemas.microsoft.com/office/drawing/2014/main" id="{2E0BDDAE-B4C6-4279-862D-248B1F02F72D}"/>
              </a:ext>
            </a:extLst>
          </p:cNvPr>
          <p:cNvSpPr>
            <a:spLocks noGrp="1"/>
          </p:cNvSpPr>
          <p:nvPr>
            <p:ph type="sldNum" sz="quarter" idx="12"/>
          </p:nvPr>
        </p:nvSpPr>
        <p:spPr/>
        <p:txBody>
          <a:bodyPr/>
          <a:lstStyle/>
          <a:p>
            <a:fld id="{91F5D5B3-D24A-42EA-B582-81E5372869F6}" type="slidenum">
              <a:rPr lang="en-US" smtClean="0"/>
              <a:t>9</a:t>
            </a:fld>
            <a:endParaRPr lang="en-US" dirty="0"/>
          </a:p>
        </p:txBody>
      </p:sp>
      <p:pic>
        <p:nvPicPr>
          <p:cNvPr id="8" name="Content Placeholder 7">
            <a:hlinkClick r:id="rId3"/>
            <a:extLst>
              <a:ext uri="{FF2B5EF4-FFF2-40B4-BE49-F238E27FC236}">
                <a16:creationId xmlns:a16="http://schemas.microsoft.com/office/drawing/2014/main" id="{25C74F00-0B27-191D-4243-74977D4DDEBE}"/>
              </a:ext>
            </a:extLst>
          </p:cNvPr>
          <p:cNvPicPr>
            <a:picLocks noGrp="1" noChangeAspect="1"/>
          </p:cNvPicPr>
          <p:nvPr>
            <p:ph idx="1"/>
          </p:nvPr>
        </p:nvPicPr>
        <p:blipFill>
          <a:blip r:embed="rId4"/>
          <a:srcRect t="25159" b="6366"/>
          <a:stretch>
            <a:fillRect/>
          </a:stretch>
        </p:blipFill>
        <p:spPr>
          <a:xfrm>
            <a:off x="2156112" y="1934320"/>
            <a:ext cx="7413787" cy="3155576"/>
          </a:xfrm>
        </p:spPr>
      </p:pic>
      <p:pic>
        <p:nvPicPr>
          <p:cNvPr id="10" name="Picture 9">
            <a:extLst>
              <a:ext uri="{FF2B5EF4-FFF2-40B4-BE49-F238E27FC236}">
                <a16:creationId xmlns:a16="http://schemas.microsoft.com/office/drawing/2014/main" id="{0488AAB3-B288-4266-D3C3-C0A9341846F5}"/>
              </a:ext>
            </a:extLst>
          </p:cNvPr>
          <p:cNvPicPr>
            <a:picLocks noChangeAspect="1"/>
          </p:cNvPicPr>
          <p:nvPr/>
        </p:nvPicPr>
        <p:blipFill>
          <a:blip r:embed="rId5"/>
          <a:stretch>
            <a:fillRect/>
          </a:stretch>
        </p:blipFill>
        <p:spPr>
          <a:xfrm>
            <a:off x="1160565" y="5154705"/>
            <a:ext cx="10193235" cy="1497479"/>
          </a:xfrm>
          <a:prstGeom prst="rect">
            <a:avLst/>
          </a:prstGeom>
        </p:spPr>
      </p:pic>
    </p:spTree>
    <p:extLst>
      <p:ext uri="{BB962C8B-B14F-4D97-AF65-F5344CB8AC3E}">
        <p14:creationId xmlns:p14="http://schemas.microsoft.com/office/powerpoint/2010/main" val="136079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The image depicts a line chart showing the trends in life expectancy at birth from 1990 to 2020 for various Asian regions and countries, with shaded ribbons indicating 95% confidence intervals.&#10;&#10;AI-generated content may be incorrect.">
            <a:extLst>
              <a:ext uri="{FF2B5EF4-FFF2-40B4-BE49-F238E27FC236}">
                <a16:creationId xmlns:a16="http://schemas.microsoft.com/office/drawing/2014/main" id="{05A7E16C-6670-EC10-422D-7B37B8017EB0}"/>
              </a:ext>
            </a:extLst>
          </p:cNvPr>
          <p:cNvPicPr>
            <a:picLocks noGrp="1" noChangeAspect="1"/>
          </p:cNvPicPr>
          <p:nvPr>
            <p:ph idx="1"/>
          </p:nvPr>
        </p:nvPicPr>
        <p:blipFill>
          <a:blip r:embed="rId3"/>
          <a:stretch>
            <a:fillRect/>
          </a:stretch>
        </p:blipFill>
        <p:spPr>
          <a:xfrm>
            <a:off x="1868149" y="136525"/>
            <a:ext cx="8455702" cy="6612527"/>
          </a:xfrm>
          <a:prstGeom prst="rect">
            <a:avLst/>
          </a:prstGeom>
        </p:spPr>
      </p:pic>
      <p:sp>
        <p:nvSpPr>
          <p:cNvPr id="4" name="Slide Number Placeholder 3">
            <a:extLst>
              <a:ext uri="{FF2B5EF4-FFF2-40B4-BE49-F238E27FC236}">
                <a16:creationId xmlns:a16="http://schemas.microsoft.com/office/drawing/2014/main" id="{01E041E8-D714-4924-D2CB-94B547EDE251}"/>
              </a:ext>
            </a:extLst>
          </p:cNvPr>
          <p:cNvSpPr>
            <a:spLocks noGrp="1"/>
          </p:cNvSpPr>
          <p:nvPr>
            <p:ph type="sldNum" sz="quarter" idx="12"/>
          </p:nvPr>
        </p:nvSpPr>
        <p:spPr/>
        <p:txBody>
          <a:bodyPr/>
          <a:lstStyle/>
          <a:p>
            <a:fld id="{91F5D5B3-D24A-42EA-B582-81E5372869F6}" type="slidenum">
              <a:rPr lang="en-US" smtClean="0"/>
              <a:pPr/>
              <a:t>10</a:t>
            </a:fld>
            <a:endParaRPr lang="en-US" dirty="0"/>
          </a:p>
        </p:txBody>
      </p:sp>
    </p:spTree>
    <p:extLst>
      <p:ext uri="{BB962C8B-B14F-4D97-AF65-F5344CB8AC3E}">
        <p14:creationId xmlns:p14="http://schemas.microsoft.com/office/powerpoint/2010/main" val="2158474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D3A43C-568F-40E4-9051-82F0966323DA}"/>
              </a:ext>
            </a:extLst>
          </p:cNvPr>
          <p:cNvSpPr>
            <a:spLocks noGrp="1"/>
          </p:cNvSpPr>
          <p:nvPr>
            <p:ph type="title"/>
          </p:nvPr>
        </p:nvSpPr>
        <p:spPr>
          <a:xfrm>
            <a:off x="838199" y="365125"/>
            <a:ext cx="10974859" cy="1325563"/>
          </a:xfrm>
        </p:spPr>
        <p:txBody>
          <a:bodyPr>
            <a:normAutofit/>
          </a:bodyPr>
          <a:lstStyle/>
          <a:p>
            <a:pPr algn="ctr"/>
            <a:r>
              <a:rPr lang="en-US" sz="4000" dirty="0"/>
              <a:t>Global, continental, and national averages can obscure local differences in health</a:t>
            </a:r>
          </a:p>
        </p:txBody>
      </p:sp>
      <p:pic>
        <p:nvPicPr>
          <p:cNvPr id="4" name="Content Placeholder 3">
            <a:extLst>
              <a:ext uri="{FF2B5EF4-FFF2-40B4-BE49-F238E27FC236}">
                <a16:creationId xmlns:a16="http://schemas.microsoft.com/office/drawing/2014/main" id="{21BEADD5-205F-43E6-9FCC-54C69E900862}"/>
              </a:ext>
            </a:extLst>
          </p:cNvPr>
          <p:cNvPicPr>
            <a:picLocks noGrp="1" noChangeAspect="1"/>
          </p:cNvPicPr>
          <p:nvPr>
            <p:ph idx="1"/>
          </p:nvPr>
        </p:nvPicPr>
        <p:blipFill rotWithShape="1">
          <a:blip r:embed="rId4"/>
          <a:srcRect r="15650"/>
          <a:stretch/>
        </p:blipFill>
        <p:spPr>
          <a:xfrm>
            <a:off x="41279" y="2096371"/>
            <a:ext cx="6054721" cy="3467013"/>
          </a:xfrm>
          <a:prstGeom prst="rect">
            <a:avLst/>
          </a:prstGeom>
          <a:solidFill>
            <a:schemeClr val="bg1"/>
          </a:solidFill>
          <a:ln w="47625">
            <a:noFill/>
          </a:ln>
        </p:spPr>
      </p:pic>
      <p:sp>
        <p:nvSpPr>
          <p:cNvPr id="6" name="TextBox 5">
            <a:extLst>
              <a:ext uri="{FF2B5EF4-FFF2-40B4-BE49-F238E27FC236}">
                <a16:creationId xmlns:a16="http://schemas.microsoft.com/office/drawing/2014/main" id="{F54117EF-09AD-4809-9AF1-6437491A170F}"/>
              </a:ext>
            </a:extLst>
          </p:cNvPr>
          <p:cNvSpPr txBox="1"/>
          <p:nvPr/>
        </p:nvSpPr>
        <p:spPr>
          <a:xfrm>
            <a:off x="10895114" y="2441023"/>
            <a:ext cx="1013419" cy="523220"/>
          </a:xfrm>
          <a:prstGeom prst="rect">
            <a:avLst/>
          </a:prstGeom>
          <a:solidFill>
            <a:srgbClr val="00B050"/>
          </a:solidFill>
          <a:ln>
            <a:solidFill>
              <a:schemeClr val="tx1"/>
            </a:solidFill>
          </a:ln>
        </p:spPr>
        <p:txBody>
          <a:bodyPr wrap="none" rtlCol="0">
            <a:spAutoFit/>
          </a:bodyPr>
          <a:lstStyle/>
          <a:p>
            <a:r>
              <a:rPr lang="en-US" sz="2800" dirty="0"/>
              <a:t>Video</a:t>
            </a:r>
          </a:p>
        </p:txBody>
      </p:sp>
      <p:sp>
        <p:nvSpPr>
          <p:cNvPr id="5" name="Slide Number Placeholder 4">
            <a:extLst>
              <a:ext uri="{FF2B5EF4-FFF2-40B4-BE49-F238E27FC236}">
                <a16:creationId xmlns:a16="http://schemas.microsoft.com/office/drawing/2014/main" id="{9462FBA4-D2BE-45C2-AEB2-A115664E42E4}"/>
              </a:ext>
            </a:extLst>
          </p:cNvPr>
          <p:cNvSpPr>
            <a:spLocks noGrp="1"/>
          </p:cNvSpPr>
          <p:nvPr>
            <p:ph type="sldNum" sz="quarter" idx="12"/>
          </p:nvPr>
        </p:nvSpPr>
        <p:spPr/>
        <p:txBody>
          <a:bodyPr/>
          <a:lstStyle/>
          <a:p>
            <a:fld id="{91F5D5B3-D24A-42EA-B582-81E5372869F6}" type="slidenum">
              <a:rPr lang="en-US" smtClean="0"/>
              <a:t>11</a:t>
            </a:fld>
            <a:endParaRPr lang="en-US" dirty="0"/>
          </a:p>
        </p:txBody>
      </p:sp>
      <p:pic>
        <p:nvPicPr>
          <p:cNvPr id="9" name="Online Media 8" title="Rwanda ramps up screening for Cervical Cancer with new device">
            <a:hlinkClick r:id="" action="ppaction://media"/>
            <a:extLst>
              <a:ext uri="{FF2B5EF4-FFF2-40B4-BE49-F238E27FC236}">
                <a16:creationId xmlns:a16="http://schemas.microsoft.com/office/drawing/2014/main" id="{76D472D7-BC91-BD7B-60F4-F8681BE980B2}"/>
              </a:ext>
            </a:extLst>
          </p:cNvPr>
          <p:cNvPicPr>
            <a:picLocks noRot="1" noChangeAspect="1"/>
          </p:cNvPicPr>
          <p:nvPr>
            <a:videoFile r:link="rId1"/>
          </p:nvPr>
        </p:nvPicPr>
        <p:blipFill>
          <a:blip r:embed="rId5"/>
          <a:stretch>
            <a:fillRect/>
          </a:stretch>
        </p:blipFill>
        <p:spPr>
          <a:xfrm>
            <a:off x="6096000" y="2096371"/>
            <a:ext cx="6141108" cy="3467013"/>
          </a:xfrm>
          <a:prstGeom prst="rect">
            <a:avLst/>
          </a:prstGeom>
        </p:spPr>
      </p:pic>
    </p:spTree>
    <p:extLst>
      <p:ext uri="{BB962C8B-B14F-4D97-AF65-F5344CB8AC3E}">
        <p14:creationId xmlns:p14="http://schemas.microsoft.com/office/powerpoint/2010/main" val="14231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204733-A306-49B8-438F-181F3CF5F3B3}"/>
              </a:ext>
            </a:extLst>
          </p:cNvPr>
          <p:cNvSpPr>
            <a:spLocks noGrp="1"/>
          </p:cNvSpPr>
          <p:nvPr>
            <p:ph type="sldNum" sz="quarter" idx="12"/>
          </p:nvPr>
        </p:nvSpPr>
        <p:spPr/>
        <p:txBody>
          <a:bodyPr/>
          <a:lstStyle/>
          <a:p>
            <a:fld id="{91F5D5B3-D24A-42EA-B582-81E5372869F6}" type="slidenum">
              <a:rPr lang="en-US" smtClean="0"/>
              <a:pPr/>
              <a:t>12</a:t>
            </a:fld>
            <a:endParaRPr lang="en-US" dirty="0"/>
          </a:p>
        </p:txBody>
      </p:sp>
      <p:sp>
        <p:nvSpPr>
          <p:cNvPr id="8" name="Title 1">
            <a:extLst>
              <a:ext uri="{FF2B5EF4-FFF2-40B4-BE49-F238E27FC236}">
                <a16:creationId xmlns:a16="http://schemas.microsoft.com/office/drawing/2014/main" id="{377ACC92-F9F8-4ED8-51DC-93ADD7C75241}"/>
              </a:ext>
            </a:extLst>
          </p:cNvPr>
          <p:cNvSpPr>
            <a:spLocks noGrp="1"/>
          </p:cNvSpPr>
          <p:nvPr>
            <p:ph type="title"/>
          </p:nvPr>
        </p:nvSpPr>
        <p:spPr>
          <a:xfrm>
            <a:off x="691115" y="512679"/>
            <a:ext cx="10983433" cy="994172"/>
          </a:xfrm>
        </p:spPr>
        <p:txBody>
          <a:bodyPr>
            <a:noAutofit/>
          </a:bodyPr>
          <a:lstStyle/>
          <a:p>
            <a:pPr algn="ctr"/>
            <a:r>
              <a:rPr lang="en-US" sz="4000" dirty="0"/>
              <a:t>Global health incorporates the evolutionary and ecological contexts of disease</a:t>
            </a:r>
          </a:p>
        </p:txBody>
      </p:sp>
      <p:pic>
        <p:nvPicPr>
          <p:cNvPr id="9" name="Picture 8" descr="First Local Detection of Hantavirus in 2025 | News | San Diego County News  Center">
            <a:extLst>
              <a:ext uri="{FF2B5EF4-FFF2-40B4-BE49-F238E27FC236}">
                <a16:creationId xmlns:a16="http://schemas.microsoft.com/office/drawing/2014/main" id="{7DC47460-20CE-805C-DF10-91EC46F5843C}"/>
              </a:ext>
            </a:extLst>
          </p:cNvPr>
          <p:cNvPicPr>
            <a:picLocks noChangeAspect="1"/>
          </p:cNvPicPr>
          <p:nvPr/>
        </p:nvPicPr>
        <p:blipFill>
          <a:blip r:embed="rId3"/>
          <a:srcRect l="5970" r="27250"/>
          <a:stretch>
            <a:fillRect/>
          </a:stretch>
        </p:blipFill>
        <p:spPr>
          <a:xfrm>
            <a:off x="0" y="2005012"/>
            <a:ext cx="5199178" cy="4351338"/>
          </a:xfrm>
          <a:prstGeom prst="rect">
            <a:avLst/>
          </a:prstGeom>
        </p:spPr>
      </p:pic>
      <p:pic>
        <p:nvPicPr>
          <p:cNvPr id="5" name="Online Media 4" title="Hantavirus cruise : Luxury ship with deadly outbreak sails to Spain">
            <a:hlinkClick r:id="" action="ppaction://media"/>
            <a:extLst>
              <a:ext uri="{FF2B5EF4-FFF2-40B4-BE49-F238E27FC236}">
                <a16:creationId xmlns:a16="http://schemas.microsoft.com/office/drawing/2014/main" id="{E85BA82E-253D-F04E-2EDC-4B0C1B51100A}"/>
              </a:ext>
            </a:extLst>
          </p:cNvPr>
          <p:cNvPicPr>
            <a:picLocks noGrp="1" noRot="1" noChangeAspect="1"/>
          </p:cNvPicPr>
          <p:nvPr>
            <p:ph idx="1"/>
            <a:videoFile r:link="rId1"/>
          </p:nvPr>
        </p:nvPicPr>
        <p:blipFill>
          <a:blip r:embed="rId4"/>
          <a:stretch>
            <a:fillRect/>
          </a:stretch>
        </p:blipFill>
        <p:spPr>
          <a:xfrm>
            <a:off x="4417101" y="2005012"/>
            <a:ext cx="7707313" cy="4351338"/>
          </a:xfrm>
          <a:prstGeom prst="rect">
            <a:avLst/>
          </a:prstGeom>
        </p:spPr>
      </p:pic>
    </p:spTree>
    <p:extLst>
      <p:ext uri="{BB962C8B-B14F-4D97-AF65-F5344CB8AC3E}">
        <p14:creationId xmlns:p14="http://schemas.microsoft.com/office/powerpoint/2010/main" val="277887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B93FE1-566A-4A50-A1CE-94B0F28AE60A}"/>
              </a:ext>
            </a:extLst>
          </p:cNvPr>
          <p:cNvSpPr>
            <a:spLocks noGrp="1"/>
          </p:cNvSpPr>
          <p:nvPr>
            <p:ph type="sldNum" sz="quarter" idx="12"/>
          </p:nvPr>
        </p:nvSpPr>
        <p:spPr/>
        <p:txBody>
          <a:bodyPr/>
          <a:lstStyle/>
          <a:p>
            <a:fld id="{91F5D5B3-D24A-42EA-B582-81E5372869F6}" type="slidenum">
              <a:rPr lang="en-US" smtClean="0"/>
              <a:t>13</a:t>
            </a:fld>
            <a:endParaRPr lang="en-US" dirty="0"/>
          </a:p>
        </p:txBody>
      </p:sp>
      <p:sp>
        <p:nvSpPr>
          <p:cNvPr id="4" name="Content Placeholder 2">
            <a:extLst>
              <a:ext uri="{FF2B5EF4-FFF2-40B4-BE49-F238E27FC236}">
                <a16:creationId xmlns:a16="http://schemas.microsoft.com/office/drawing/2014/main" id="{705CD571-1862-D1CC-41B3-1F56057FB49A}"/>
              </a:ext>
            </a:extLst>
          </p:cNvPr>
          <p:cNvSpPr>
            <a:spLocks noGrp="1"/>
          </p:cNvSpPr>
          <p:nvPr>
            <p:ph idx="1"/>
          </p:nvPr>
        </p:nvSpPr>
        <p:spPr>
          <a:xfrm>
            <a:off x="479685" y="463463"/>
            <a:ext cx="5849397" cy="6012288"/>
          </a:xfrm>
        </p:spPr>
        <p:txBody>
          <a:bodyPr>
            <a:normAutofit/>
          </a:bodyPr>
          <a:lstStyle/>
          <a:p>
            <a:r>
              <a:rPr lang="en-US" sz="3200" dirty="0"/>
              <a:t>First case brought on board from person who contracted it from exposure to infected small </a:t>
            </a:r>
            <a:r>
              <a:rPr lang="en-US" sz="3200" b="1" dirty="0"/>
              <a:t>wild</a:t>
            </a:r>
            <a:r>
              <a:rPr lang="en-US" sz="3200" dirty="0"/>
              <a:t> rodents that shed the virus in their urine, feces, and saliva</a:t>
            </a:r>
          </a:p>
          <a:p>
            <a:r>
              <a:rPr lang="en-US" sz="3200" dirty="0"/>
              <a:t>Environmental factors like deforestation, habitat fragmentation, and climate variability significantly influence rodent populations and likelihood of human exposure</a:t>
            </a:r>
          </a:p>
          <a:p>
            <a:pPr lvl="1"/>
            <a:endParaRPr lang="en-US" sz="2800" dirty="0"/>
          </a:p>
        </p:txBody>
      </p:sp>
      <p:pic>
        <p:nvPicPr>
          <p:cNvPr id="10" name="Picture 9" descr="How to keep mice away from shelters and tents while hiking?">
            <a:extLst>
              <a:ext uri="{FF2B5EF4-FFF2-40B4-BE49-F238E27FC236}">
                <a16:creationId xmlns:a16="http://schemas.microsoft.com/office/drawing/2014/main" id="{F8DF26D5-7083-82B6-895A-A660869CD28F}"/>
              </a:ext>
            </a:extLst>
          </p:cNvPr>
          <p:cNvPicPr>
            <a:picLocks noChangeAspect="1"/>
          </p:cNvPicPr>
          <p:nvPr/>
        </p:nvPicPr>
        <p:blipFill>
          <a:blip r:embed="rId3"/>
          <a:stretch>
            <a:fillRect/>
          </a:stretch>
        </p:blipFill>
        <p:spPr>
          <a:xfrm>
            <a:off x="7106654" y="360905"/>
            <a:ext cx="4718634" cy="6291512"/>
          </a:xfrm>
          <a:prstGeom prst="rect">
            <a:avLst/>
          </a:prstGeom>
        </p:spPr>
      </p:pic>
    </p:spTree>
    <p:extLst>
      <p:ext uri="{BB962C8B-B14F-4D97-AF65-F5344CB8AC3E}">
        <p14:creationId xmlns:p14="http://schemas.microsoft.com/office/powerpoint/2010/main" val="295198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1C08-F3A9-1A6B-BB07-F80ADF69BD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88D850-2542-0C26-937F-9716EC8EF231}"/>
              </a:ext>
            </a:extLst>
          </p:cNvPr>
          <p:cNvSpPr>
            <a:spLocks noGrp="1"/>
          </p:cNvSpPr>
          <p:nvPr>
            <p:ph type="sldNum" sz="quarter" idx="12"/>
          </p:nvPr>
        </p:nvSpPr>
        <p:spPr/>
        <p:txBody>
          <a:bodyPr/>
          <a:lstStyle/>
          <a:p>
            <a:fld id="{91F5D5B3-D24A-42EA-B582-81E5372869F6}" type="slidenum">
              <a:rPr lang="en-US" smtClean="0"/>
              <a:t>14</a:t>
            </a:fld>
            <a:endParaRPr lang="en-US" dirty="0"/>
          </a:p>
        </p:txBody>
      </p:sp>
      <p:sp>
        <p:nvSpPr>
          <p:cNvPr id="4" name="Content Placeholder 2">
            <a:extLst>
              <a:ext uri="{FF2B5EF4-FFF2-40B4-BE49-F238E27FC236}">
                <a16:creationId xmlns:a16="http://schemas.microsoft.com/office/drawing/2014/main" id="{232B346B-BD73-7CCB-76D0-DD1F097E1170}"/>
              </a:ext>
            </a:extLst>
          </p:cNvPr>
          <p:cNvSpPr>
            <a:spLocks noGrp="1"/>
          </p:cNvSpPr>
          <p:nvPr>
            <p:ph idx="1"/>
          </p:nvPr>
        </p:nvSpPr>
        <p:spPr>
          <a:xfrm>
            <a:off x="605118" y="545432"/>
            <a:ext cx="5490882" cy="6485128"/>
          </a:xfrm>
        </p:spPr>
        <p:txBody>
          <a:bodyPr>
            <a:normAutofit/>
          </a:bodyPr>
          <a:lstStyle/>
          <a:p>
            <a:r>
              <a:rPr lang="en-US" sz="3200" dirty="0"/>
              <a:t>The specific Andes virus strain responsible for the cruise outbreak possesses unique evolutionary capability to spread via limited human-to-human transmission. </a:t>
            </a:r>
          </a:p>
          <a:p>
            <a:r>
              <a:rPr lang="en-US" sz="3200" dirty="0" err="1"/>
              <a:t>Hanta</a:t>
            </a:r>
            <a:r>
              <a:rPr lang="en-US" sz="3200" dirty="0"/>
              <a:t> virus variants in the Americas show unique ecological flexibility allowing the virus to adapt and circulate among broader ranges of species before spilling over into humans</a:t>
            </a:r>
          </a:p>
          <a:p>
            <a:pPr lvl="1"/>
            <a:endParaRPr lang="en-US" sz="2800" dirty="0"/>
          </a:p>
        </p:txBody>
      </p:sp>
      <p:pic>
        <p:nvPicPr>
          <p:cNvPr id="9" name="Picture 8" descr="The diagram illustrates the harrowing journey of the MV Hondius, a ship carrying 175 people, which resulted in the deaths of three victims from a hantavirus outbreak, with the remaining passengers being evacuated across various locations including Rotterdam, Tenerife, Cape Verde, Ascension Island, St. Helena, Tristan da Cunha, and South Africa.&#10;&#10;AI-generated content may be incorrect.">
            <a:extLst>
              <a:ext uri="{FF2B5EF4-FFF2-40B4-BE49-F238E27FC236}">
                <a16:creationId xmlns:a16="http://schemas.microsoft.com/office/drawing/2014/main" id="{E37481CD-D822-0064-0BD0-5F44405C4C47}"/>
              </a:ext>
            </a:extLst>
          </p:cNvPr>
          <p:cNvPicPr>
            <a:picLocks noChangeAspect="1"/>
          </p:cNvPicPr>
          <p:nvPr/>
        </p:nvPicPr>
        <p:blipFill>
          <a:blip r:embed="rId3"/>
          <a:stretch>
            <a:fillRect/>
          </a:stretch>
        </p:blipFill>
        <p:spPr>
          <a:xfrm>
            <a:off x="6280956" y="832049"/>
            <a:ext cx="5490883" cy="5193901"/>
          </a:xfrm>
          <a:prstGeom prst="rect">
            <a:avLst/>
          </a:prstGeom>
        </p:spPr>
      </p:pic>
    </p:spTree>
    <p:extLst>
      <p:ext uri="{BB962C8B-B14F-4D97-AF65-F5344CB8AC3E}">
        <p14:creationId xmlns:p14="http://schemas.microsoft.com/office/powerpoint/2010/main" val="1471224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7A9D76-1D07-426A-9177-268BE263E7C5}"/>
              </a:ext>
            </a:extLst>
          </p:cNvPr>
          <p:cNvSpPr>
            <a:spLocks noGrp="1"/>
          </p:cNvSpPr>
          <p:nvPr>
            <p:ph type="title"/>
          </p:nvPr>
        </p:nvSpPr>
        <p:spPr>
          <a:xfrm>
            <a:off x="87683" y="550655"/>
            <a:ext cx="6008318" cy="1325563"/>
          </a:xfrm>
        </p:spPr>
        <p:txBody>
          <a:bodyPr>
            <a:normAutofit fontScale="90000"/>
          </a:bodyPr>
          <a:lstStyle/>
          <a:p>
            <a:pPr algn="ctr"/>
            <a:r>
              <a:rPr lang="en-US" dirty="0"/>
              <a:t>Evolutionary and ecological global dimensions of heart disease</a:t>
            </a:r>
          </a:p>
        </p:txBody>
      </p:sp>
      <p:pic>
        <p:nvPicPr>
          <p:cNvPr id="4" name="Content Placeholder 3">
            <a:hlinkClick r:id="rId3"/>
          </p:cNvPr>
          <p:cNvPicPr>
            <a:picLocks noGrp="1" noChangeAspect="1"/>
          </p:cNvPicPr>
          <p:nvPr>
            <p:ph idx="1"/>
          </p:nvPr>
        </p:nvPicPr>
        <p:blipFill>
          <a:blip r:embed="rId4"/>
          <a:stretch>
            <a:fillRect/>
          </a:stretch>
        </p:blipFill>
        <p:spPr>
          <a:xfrm>
            <a:off x="265465" y="2662950"/>
            <a:ext cx="5735940" cy="3826716"/>
          </a:xfrm>
          <a:prstGeom prst="rect">
            <a:avLst/>
          </a:prstGeom>
          <a:ln w="25400">
            <a:solidFill>
              <a:schemeClr val="accent1"/>
            </a:solidFill>
          </a:ln>
        </p:spPr>
      </p:pic>
      <p:pic>
        <p:nvPicPr>
          <p:cNvPr id="3" name="Picture 2" descr="A group of people posing for a photo&#10;&#10;Description automatically generated">
            <a:extLst>
              <a:ext uri="{FF2B5EF4-FFF2-40B4-BE49-F238E27FC236}">
                <a16:creationId xmlns:a16="http://schemas.microsoft.com/office/drawing/2014/main" id="{B5DDE8A9-446C-4092-A196-84F5646EC8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1535" y="283708"/>
            <a:ext cx="5715000" cy="4292600"/>
          </a:xfrm>
          <a:prstGeom prst="rect">
            <a:avLst/>
          </a:prstGeom>
        </p:spPr>
      </p:pic>
      <p:sp>
        <p:nvSpPr>
          <p:cNvPr id="2" name="Rectangle 1">
            <a:extLst>
              <a:ext uri="{FF2B5EF4-FFF2-40B4-BE49-F238E27FC236}">
                <a16:creationId xmlns:a16="http://schemas.microsoft.com/office/drawing/2014/main" id="{A6EBC714-CFAD-495C-977A-149AC33B18F9}"/>
              </a:ext>
            </a:extLst>
          </p:cNvPr>
          <p:cNvSpPr/>
          <p:nvPr/>
        </p:nvSpPr>
        <p:spPr>
          <a:xfrm>
            <a:off x="6211535" y="4692587"/>
            <a:ext cx="5735940" cy="2031325"/>
          </a:xfrm>
          <a:prstGeom prst="rect">
            <a:avLst/>
          </a:prstGeom>
        </p:spPr>
        <p:txBody>
          <a:bodyPr wrap="square">
            <a:spAutoFit/>
          </a:bodyPr>
          <a:lstStyle/>
          <a:p>
            <a:r>
              <a:rPr lang="en-US" dirty="0"/>
              <a:t>The </a:t>
            </a:r>
            <a:r>
              <a:rPr lang="en-US" dirty="0">
                <a:hlinkClick r:id="rId6"/>
              </a:rPr>
              <a:t>Tsimane</a:t>
            </a:r>
            <a:r>
              <a:rPr lang="en-US" dirty="0"/>
              <a:t>, a remote people living in the Bolivian rain forest.  They experience very low levels of atherosclerosis (hardening of the arteries) because of frequent exposures to infectious agents. Their immune systems do not readily trigger the inflammation that underlies the initial stages of atherosclerosis because of these constant environmental exposures.</a:t>
            </a:r>
          </a:p>
        </p:txBody>
      </p:sp>
      <p:sp>
        <p:nvSpPr>
          <p:cNvPr id="5" name="Slide Number Placeholder 4">
            <a:extLst>
              <a:ext uri="{FF2B5EF4-FFF2-40B4-BE49-F238E27FC236}">
                <a16:creationId xmlns:a16="http://schemas.microsoft.com/office/drawing/2014/main" id="{963245FB-A400-4A52-ABFB-7D7BF6AB0012}"/>
              </a:ext>
            </a:extLst>
          </p:cNvPr>
          <p:cNvSpPr>
            <a:spLocks noGrp="1"/>
          </p:cNvSpPr>
          <p:nvPr>
            <p:ph type="sldNum" sz="quarter" idx="12"/>
          </p:nvPr>
        </p:nvSpPr>
        <p:spPr/>
        <p:txBody>
          <a:bodyPr/>
          <a:lstStyle/>
          <a:p>
            <a:fld id="{91F5D5B3-D24A-42EA-B582-81E5372869F6}" type="slidenum">
              <a:rPr lang="en-US" smtClean="0"/>
              <a:t>15</a:t>
            </a:fld>
            <a:endParaRPr lang="en-US" dirty="0"/>
          </a:p>
        </p:txBody>
      </p:sp>
    </p:spTree>
    <p:extLst>
      <p:ext uri="{BB962C8B-B14F-4D97-AF65-F5344CB8AC3E}">
        <p14:creationId xmlns:p14="http://schemas.microsoft.com/office/powerpoint/2010/main" val="2018848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2A5EE5-A94B-4DCE-81B2-CF5E5727A377}"/>
              </a:ext>
            </a:extLst>
          </p:cNvPr>
          <p:cNvSpPr>
            <a:spLocks noGrp="1"/>
          </p:cNvSpPr>
          <p:nvPr>
            <p:ph idx="1"/>
          </p:nvPr>
        </p:nvSpPr>
        <p:spPr>
          <a:xfrm>
            <a:off x="243839" y="673767"/>
            <a:ext cx="6440705" cy="6644089"/>
          </a:xfrm>
        </p:spPr>
        <p:txBody>
          <a:bodyPr>
            <a:normAutofit/>
          </a:bodyPr>
          <a:lstStyle/>
          <a:p>
            <a:r>
              <a:rPr lang="en-US" sz="3200" dirty="0"/>
              <a:t>Account for how the environment is shaped by social factors that in turn shape health</a:t>
            </a:r>
          </a:p>
          <a:p>
            <a:pPr lvl="1"/>
            <a:r>
              <a:rPr lang="en-US" sz="2800" dirty="0"/>
              <a:t>Black Americans have higher rates of hypertension (high blood pressure)</a:t>
            </a:r>
          </a:p>
          <a:p>
            <a:pPr lvl="1"/>
            <a:r>
              <a:rPr lang="en-US" sz="2800" dirty="0"/>
              <a:t>This disparity shaped largely by social determinants of health — more likely to have less access to healthy food, adequate health insurance, while experiencing more chronic stress. </a:t>
            </a:r>
          </a:p>
          <a:p>
            <a:pPr lvl="1"/>
            <a:r>
              <a:rPr lang="en-US" sz="2800" dirty="0"/>
              <a:t>Disparity should not be treated as a genetic difference between racial groups</a:t>
            </a:r>
          </a:p>
        </p:txBody>
      </p:sp>
      <p:sp>
        <p:nvSpPr>
          <p:cNvPr id="4" name="Slide Number Placeholder 3">
            <a:extLst>
              <a:ext uri="{FF2B5EF4-FFF2-40B4-BE49-F238E27FC236}">
                <a16:creationId xmlns:a16="http://schemas.microsoft.com/office/drawing/2014/main" id="{461774CC-BE24-45DB-91CF-11577D50E63A}"/>
              </a:ext>
            </a:extLst>
          </p:cNvPr>
          <p:cNvSpPr>
            <a:spLocks noGrp="1"/>
          </p:cNvSpPr>
          <p:nvPr>
            <p:ph type="sldNum" sz="quarter" idx="12"/>
          </p:nvPr>
        </p:nvSpPr>
        <p:spPr/>
        <p:txBody>
          <a:bodyPr/>
          <a:lstStyle/>
          <a:p>
            <a:fld id="{91F5D5B3-D24A-42EA-B582-81E5372869F6}" type="slidenum">
              <a:rPr lang="en-US" smtClean="0"/>
              <a:pPr/>
              <a:t>16</a:t>
            </a:fld>
            <a:endParaRPr lang="en-US" dirty="0"/>
          </a:p>
        </p:txBody>
      </p:sp>
      <p:sp>
        <p:nvSpPr>
          <p:cNvPr id="8" name="Title 1">
            <a:extLst>
              <a:ext uri="{FF2B5EF4-FFF2-40B4-BE49-F238E27FC236}">
                <a16:creationId xmlns:a16="http://schemas.microsoft.com/office/drawing/2014/main" id="{E024B9F8-BA0E-224A-F36C-D45E21DF4868}"/>
              </a:ext>
            </a:extLst>
          </p:cNvPr>
          <p:cNvSpPr>
            <a:spLocks noGrp="1"/>
          </p:cNvSpPr>
          <p:nvPr>
            <p:ph type="title"/>
          </p:nvPr>
        </p:nvSpPr>
        <p:spPr>
          <a:xfrm>
            <a:off x="6684545" y="387893"/>
            <a:ext cx="5165558" cy="1325563"/>
          </a:xfrm>
        </p:spPr>
        <p:txBody>
          <a:bodyPr>
            <a:normAutofit/>
          </a:bodyPr>
          <a:lstStyle/>
          <a:p>
            <a:pPr algn="ctr"/>
            <a:r>
              <a:rPr lang="en-US" dirty="0"/>
              <a:t>Social determinants of health</a:t>
            </a:r>
          </a:p>
        </p:txBody>
      </p:sp>
      <p:pic>
        <p:nvPicPr>
          <p:cNvPr id="2" name="Picture 1" descr="Social Determinants of Health | NKY Health FY23-FY27 CHA/CHIP">
            <a:extLst>
              <a:ext uri="{FF2B5EF4-FFF2-40B4-BE49-F238E27FC236}">
                <a16:creationId xmlns:a16="http://schemas.microsoft.com/office/drawing/2014/main" id="{EA3E3894-71FF-2AE6-3E1C-6D45D5F25348}"/>
              </a:ext>
            </a:extLst>
          </p:cNvPr>
          <p:cNvPicPr>
            <a:picLocks noChangeAspect="1"/>
          </p:cNvPicPr>
          <p:nvPr/>
        </p:nvPicPr>
        <p:blipFill>
          <a:blip r:embed="rId3"/>
          <a:srcRect l="-643" t="4562" r="643" b="13218"/>
          <a:stretch>
            <a:fillRect/>
          </a:stretch>
        </p:blipFill>
        <p:spPr>
          <a:xfrm>
            <a:off x="6771012" y="1713456"/>
            <a:ext cx="4992624" cy="4510881"/>
          </a:xfrm>
          <a:prstGeom prst="rect">
            <a:avLst/>
          </a:prstGeom>
        </p:spPr>
      </p:pic>
    </p:spTree>
    <p:extLst>
      <p:ext uri="{BB962C8B-B14F-4D97-AF65-F5344CB8AC3E}">
        <p14:creationId xmlns:p14="http://schemas.microsoft.com/office/powerpoint/2010/main" val="3784385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351EF-FA4F-4F32-8444-4345CE03A674}"/>
              </a:ext>
            </a:extLst>
          </p:cNvPr>
          <p:cNvSpPr>
            <a:spLocks noGrp="1"/>
          </p:cNvSpPr>
          <p:nvPr>
            <p:ph type="title"/>
          </p:nvPr>
        </p:nvSpPr>
        <p:spPr>
          <a:xfrm>
            <a:off x="5247458" y="86438"/>
            <a:ext cx="6726284" cy="1325563"/>
          </a:xfrm>
        </p:spPr>
        <p:txBody>
          <a:bodyPr/>
          <a:lstStyle/>
          <a:p>
            <a:pPr algn="ctr"/>
            <a:r>
              <a:rPr lang="en-US" dirty="0"/>
              <a:t>The ‘translational gap’</a:t>
            </a:r>
          </a:p>
        </p:txBody>
      </p:sp>
      <p:sp>
        <p:nvSpPr>
          <p:cNvPr id="3" name="Content Placeholder 2">
            <a:extLst>
              <a:ext uri="{FF2B5EF4-FFF2-40B4-BE49-F238E27FC236}">
                <a16:creationId xmlns:a16="http://schemas.microsoft.com/office/drawing/2014/main" id="{58419AC2-96B6-4227-B615-47D632BF67A1}"/>
              </a:ext>
            </a:extLst>
          </p:cNvPr>
          <p:cNvSpPr>
            <a:spLocks noGrp="1"/>
          </p:cNvSpPr>
          <p:nvPr>
            <p:ph idx="1"/>
          </p:nvPr>
        </p:nvSpPr>
        <p:spPr>
          <a:xfrm>
            <a:off x="407314" y="365125"/>
            <a:ext cx="5414988" cy="6356350"/>
          </a:xfrm>
        </p:spPr>
        <p:txBody>
          <a:bodyPr>
            <a:normAutofit lnSpcReduction="10000"/>
          </a:bodyPr>
          <a:lstStyle/>
          <a:p>
            <a:pPr algn="l"/>
            <a:r>
              <a:rPr lang="en-US" dirty="0">
                <a:latin typeface="+mj-lt"/>
              </a:rPr>
              <a:t>Effectiveness of medicines and treatments, can be greatly dependent upon an individual’s social determinants of health</a:t>
            </a:r>
            <a:endParaRPr lang="en-US" b="0" i="0" u="none" strike="noStrike" baseline="0" dirty="0">
              <a:latin typeface="+mj-lt"/>
            </a:endParaRPr>
          </a:p>
          <a:p>
            <a:pPr algn="l"/>
            <a:r>
              <a:rPr lang="en-US" b="0" i="0" u="none" strike="noStrike" baseline="0" dirty="0">
                <a:latin typeface="+mj-lt"/>
              </a:rPr>
              <a:t>For example, even among genetically homogeneous Berber people of Morocco, urban and rural Berber communities had large differences in what genes were expressed due to different diets, exposure to microbes in the environment, and everyday social and psychological stress. </a:t>
            </a:r>
          </a:p>
          <a:p>
            <a:pPr algn="l"/>
            <a:r>
              <a:rPr lang="en-US" b="0" i="0" u="none" strike="noStrike" baseline="0" dirty="0">
                <a:latin typeface="+mj-lt"/>
              </a:rPr>
              <a:t>Medicines and treatments may not work uniformly ‘translate’ among all people</a:t>
            </a:r>
          </a:p>
        </p:txBody>
      </p:sp>
      <p:sp>
        <p:nvSpPr>
          <p:cNvPr id="4" name="Slide Number Placeholder 3">
            <a:extLst>
              <a:ext uri="{FF2B5EF4-FFF2-40B4-BE49-F238E27FC236}">
                <a16:creationId xmlns:a16="http://schemas.microsoft.com/office/drawing/2014/main" id="{C1267C16-CD33-4DA8-85D0-1F5850CD1F22}"/>
              </a:ext>
            </a:extLst>
          </p:cNvPr>
          <p:cNvSpPr>
            <a:spLocks noGrp="1"/>
          </p:cNvSpPr>
          <p:nvPr>
            <p:ph type="sldNum" sz="quarter" idx="12"/>
          </p:nvPr>
        </p:nvSpPr>
        <p:spPr/>
        <p:txBody>
          <a:bodyPr/>
          <a:lstStyle/>
          <a:p>
            <a:fld id="{91F5D5B3-D24A-42EA-B582-81E5372869F6}" type="slidenum">
              <a:rPr lang="en-US" smtClean="0"/>
              <a:pPr/>
              <a:t>17</a:t>
            </a:fld>
            <a:endParaRPr lang="en-US" dirty="0"/>
          </a:p>
        </p:txBody>
      </p:sp>
      <p:pic>
        <p:nvPicPr>
          <p:cNvPr id="8" name="Picture 7" descr="A group of children posing for a photo&#10;&#10;Description automatically generated with medium confidence">
            <a:extLst>
              <a:ext uri="{FF2B5EF4-FFF2-40B4-BE49-F238E27FC236}">
                <a16:creationId xmlns:a16="http://schemas.microsoft.com/office/drawing/2014/main" id="{A58B4A77-6CB5-4282-8700-6698C3DD674F}"/>
              </a:ext>
            </a:extLst>
          </p:cNvPr>
          <p:cNvPicPr>
            <a:picLocks noChangeAspect="1"/>
          </p:cNvPicPr>
          <p:nvPr/>
        </p:nvPicPr>
        <p:blipFill rotWithShape="1">
          <a:blip r:embed="rId3">
            <a:extLst>
              <a:ext uri="{28A0092B-C50C-407E-A947-70E740481C1C}">
                <a14:useLocalDpi xmlns:a14="http://schemas.microsoft.com/office/drawing/2010/main" val="0"/>
              </a:ext>
            </a:extLst>
          </a:blip>
          <a:srcRect l="32629" t="24728" r="23602" b="9658"/>
          <a:stretch/>
        </p:blipFill>
        <p:spPr>
          <a:xfrm>
            <a:off x="6069802" y="1319682"/>
            <a:ext cx="5283998" cy="5278820"/>
          </a:xfrm>
          <a:prstGeom prst="rect">
            <a:avLst/>
          </a:prstGeom>
        </p:spPr>
      </p:pic>
    </p:spTree>
    <p:extLst>
      <p:ext uri="{BB962C8B-B14F-4D97-AF65-F5344CB8AC3E}">
        <p14:creationId xmlns:p14="http://schemas.microsoft.com/office/powerpoint/2010/main" val="2183285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77C1A-92F6-F0E0-0D6D-3DF8FE80F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862EB-43BC-187C-B0AE-22D13F8DE8D5}"/>
              </a:ext>
            </a:extLst>
          </p:cNvPr>
          <p:cNvSpPr>
            <a:spLocks noGrp="1"/>
          </p:cNvSpPr>
          <p:nvPr>
            <p:ph type="title"/>
          </p:nvPr>
        </p:nvSpPr>
        <p:spPr>
          <a:xfrm>
            <a:off x="373224" y="136525"/>
            <a:ext cx="11818776" cy="1325563"/>
          </a:xfrm>
        </p:spPr>
        <p:txBody>
          <a:bodyPr>
            <a:normAutofit/>
          </a:bodyPr>
          <a:lstStyle/>
          <a:p>
            <a:pPr algn="ctr"/>
            <a:r>
              <a:rPr lang="en-US" dirty="0"/>
              <a:t>The origins of global health</a:t>
            </a:r>
          </a:p>
        </p:txBody>
      </p:sp>
      <p:sp>
        <p:nvSpPr>
          <p:cNvPr id="4" name="Slide Number Placeholder 3">
            <a:extLst>
              <a:ext uri="{FF2B5EF4-FFF2-40B4-BE49-F238E27FC236}">
                <a16:creationId xmlns:a16="http://schemas.microsoft.com/office/drawing/2014/main" id="{399DB617-5E45-3EDB-F43E-771647FE137A}"/>
              </a:ext>
            </a:extLst>
          </p:cNvPr>
          <p:cNvSpPr>
            <a:spLocks noGrp="1"/>
          </p:cNvSpPr>
          <p:nvPr>
            <p:ph type="sldNum" sz="quarter" idx="12"/>
          </p:nvPr>
        </p:nvSpPr>
        <p:spPr/>
        <p:txBody>
          <a:bodyPr/>
          <a:lstStyle/>
          <a:p>
            <a:fld id="{91F5D5B3-D24A-42EA-B582-81E5372869F6}" type="slidenum">
              <a:rPr lang="en-US" smtClean="0"/>
              <a:pPr/>
              <a:t>18</a:t>
            </a:fld>
            <a:endParaRPr lang="en-US" dirty="0"/>
          </a:p>
        </p:txBody>
      </p:sp>
      <p:pic>
        <p:nvPicPr>
          <p:cNvPr id="6" name="Picture 5">
            <a:extLst>
              <a:ext uri="{FF2B5EF4-FFF2-40B4-BE49-F238E27FC236}">
                <a16:creationId xmlns:a16="http://schemas.microsoft.com/office/drawing/2014/main" id="{52C815BF-8D92-C93E-20E5-0FA13FF5F64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027" t="12603" r="2370" b="5637"/>
          <a:stretch/>
        </p:blipFill>
        <p:spPr>
          <a:xfrm>
            <a:off x="1874850" y="1465491"/>
            <a:ext cx="8815524" cy="4890859"/>
          </a:xfrm>
          <a:prstGeom prst="rect">
            <a:avLst/>
          </a:prstGeom>
        </p:spPr>
      </p:pic>
    </p:spTree>
    <p:extLst>
      <p:ext uri="{BB962C8B-B14F-4D97-AF65-F5344CB8AC3E}">
        <p14:creationId xmlns:p14="http://schemas.microsoft.com/office/powerpoint/2010/main" val="223070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The origins of global health: European colonization and colonial medicine</a:t>
            </a:r>
          </a:p>
        </p:txBody>
      </p:sp>
      <p:sp>
        <p:nvSpPr>
          <p:cNvPr id="3" name="Content Placeholder 2"/>
          <p:cNvSpPr>
            <a:spLocks noGrp="1"/>
          </p:cNvSpPr>
          <p:nvPr>
            <p:ph idx="1"/>
          </p:nvPr>
        </p:nvSpPr>
        <p:spPr/>
        <p:txBody>
          <a:bodyPr>
            <a:noAutofit/>
          </a:bodyPr>
          <a:lstStyle/>
          <a:p>
            <a:r>
              <a:rPr lang="en-US" sz="3200" dirty="0">
                <a:latin typeface="+mj-lt"/>
              </a:rPr>
              <a:t>Colonial power expanded rapidly in the 15</a:t>
            </a:r>
            <a:r>
              <a:rPr lang="en-US" sz="3200" baseline="30000" dirty="0">
                <a:latin typeface="+mj-lt"/>
              </a:rPr>
              <a:t>th</a:t>
            </a:r>
            <a:r>
              <a:rPr lang="en-US" sz="3200" dirty="0">
                <a:latin typeface="+mj-lt"/>
              </a:rPr>
              <a:t> century with the advent of ocean navigational innovations. </a:t>
            </a:r>
          </a:p>
          <a:p>
            <a:r>
              <a:rPr lang="en-US" sz="3200" dirty="0">
                <a:latin typeface="+mj-lt"/>
              </a:rPr>
              <a:t>Lands and people in Africa, Central and South America, and the Caribbean fell under the rule of colonial powers emanating from England, France, Germany, Italy, Spain and Portugal, and the U.S. up through the middle of the 20</a:t>
            </a:r>
            <a:r>
              <a:rPr lang="en-US" sz="3200" baseline="30000" dirty="0">
                <a:latin typeface="+mj-lt"/>
              </a:rPr>
              <a:t>th</a:t>
            </a:r>
            <a:r>
              <a:rPr lang="en-US" sz="3200" dirty="0">
                <a:latin typeface="+mj-lt"/>
              </a:rPr>
              <a:t> century</a:t>
            </a:r>
          </a:p>
          <a:p>
            <a:r>
              <a:rPr lang="en-US" sz="3200" dirty="0">
                <a:latin typeface="+mj-lt"/>
              </a:rPr>
              <a:t>Many of the attributes of global health and medicine today were unintended consequences of the colonial era </a:t>
            </a:r>
          </a:p>
          <a:p>
            <a:r>
              <a:rPr lang="en-US" sz="900" dirty="0"/>
              <a:t>. </a:t>
            </a:r>
          </a:p>
          <a:p>
            <a:endParaRPr lang="en-US" sz="900" dirty="0"/>
          </a:p>
        </p:txBody>
      </p:sp>
      <p:sp>
        <p:nvSpPr>
          <p:cNvPr id="4" name="Slide Number Placeholder 3">
            <a:extLst>
              <a:ext uri="{FF2B5EF4-FFF2-40B4-BE49-F238E27FC236}">
                <a16:creationId xmlns:a16="http://schemas.microsoft.com/office/drawing/2014/main" id="{0C5CF9B7-B6FB-4C45-94EA-43380A242BE3}"/>
              </a:ext>
            </a:extLst>
          </p:cNvPr>
          <p:cNvSpPr>
            <a:spLocks noGrp="1"/>
          </p:cNvSpPr>
          <p:nvPr>
            <p:ph type="sldNum" sz="quarter" idx="12"/>
          </p:nvPr>
        </p:nvSpPr>
        <p:spPr/>
        <p:txBody>
          <a:bodyPr/>
          <a:lstStyle/>
          <a:p>
            <a:fld id="{91F5D5B3-D24A-42EA-B582-81E5372869F6}" type="slidenum">
              <a:rPr lang="en-US" smtClean="0"/>
              <a:t>19</a:t>
            </a:fld>
            <a:endParaRPr lang="en-US" dirty="0"/>
          </a:p>
        </p:txBody>
      </p:sp>
    </p:spTree>
    <p:extLst>
      <p:ext uri="{BB962C8B-B14F-4D97-AF65-F5344CB8AC3E}">
        <p14:creationId xmlns:p14="http://schemas.microsoft.com/office/powerpoint/2010/main" val="2862558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68793" y="136525"/>
            <a:ext cx="6767592" cy="994172"/>
          </a:xfrm>
        </p:spPr>
        <p:txBody>
          <a:bodyPr>
            <a:normAutofit/>
          </a:bodyPr>
          <a:lstStyle/>
          <a:p>
            <a:pPr algn="ctr"/>
            <a:r>
              <a:rPr lang="en-US" dirty="0"/>
              <a:t>The Columbian Exchange </a:t>
            </a:r>
          </a:p>
        </p:txBody>
      </p:sp>
      <p:sp>
        <p:nvSpPr>
          <p:cNvPr id="3" name="Content Placeholder 2"/>
          <p:cNvSpPr>
            <a:spLocks noGrp="1"/>
          </p:cNvSpPr>
          <p:nvPr>
            <p:ph idx="1"/>
          </p:nvPr>
        </p:nvSpPr>
        <p:spPr>
          <a:xfrm>
            <a:off x="212367" y="136525"/>
            <a:ext cx="4739068" cy="7369175"/>
          </a:xfrm>
        </p:spPr>
        <p:txBody>
          <a:bodyPr>
            <a:noAutofit/>
          </a:bodyPr>
          <a:lstStyle/>
          <a:p>
            <a:r>
              <a:rPr lang="en-US" dirty="0">
                <a:latin typeface="+mj-lt"/>
              </a:rPr>
              <a:t>Refers to the beginning of a transformation of the globe associated with Columbus and early European explorers reaching the Americas.</a:t>
            </a:r>
          </a:p>
          <a:p>
            <a:r>
              <a:rPr lang="en-US" dirty="0">
                <a:latin typeface="+mj-lt"/>
              </a:rPr>
              <a:t>The Columbian Exchange was a global movement of people, but also of animals, plants, and pathogens as European countries colonized the world</a:t>
            </a:r>
          </a:p>
          <a:p>
            <a:r>
              <a:rPr lang="en-US" dirty="0">
                <a:latin typeface="+mj-lt"/>
              </a:rPr>
              <a:t>Brought with it the global movement and exchange of disease-causing bacteria and viruses, as well as animals that served as a source of zoonotic diseases</a:t>
            </a:r>
          </a:p>
          <a:p>
            <a:pPr marL="257175" lvl="1" indent="-257175"/>
            <a:endParaRPr lang="en-US" dirty="0">
              <a:latin typeface="+mj-lt"/>
            </a:endParaRPr>
          </a:p>
          <a:p>
            <a:pPr marL="0" lvl="1" indent="0">
              <a:buNone/>
            </a:pPr>
            <a:endParaRPr lang="en-US" sz="1500" dirty="0">
              <a:latin typeface="+mj-lt"/>
            </a:endParaRPr>
          </a:p>
          <a:p>
            <a:endParaRPr lang="en-US" sz="1800" dirty="0">
              <a:latin typeface="+mj-lt"/>
            </a:endParaRPr>
          </a:p>
          <a:p>
            <a:endParaRPr lang="en-US" sz="1800" dirty="0">
              <a:latin typeface="+mj-lt"/>
            </a:endParaRPr>
          </a:p>
          <a:p>
            <a:endParaRPr lang="en-US" sz="1800" dirty="0">
              <a:latin typeface="+mj-lt"/>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471" t="2644" r="2435"/>
          <a:stretch/>
        </p:blipFill>
        <p:spPr>
          <a:xfrm>
            <a:off x="4951435" y="1187310"/>
            <a:ext cx="7028198" cy="5351602"/>
          </a:xfrm>
          <a:prstGeom prst="rect">
            <a:avLst/>
          </a:prstGeom>
        </p:spPr>
      </p:pic>
      <p:sp>
        <p:nvSpPr>
          <p:cNvPr id="5" name="Slide Number Placeholder 4">
            <a:extLst>
              <a:ext uri="{FF2B5EF4-FFF2-40B4-BE49-F238E27FC236}">
                <a16:creationId xmlns:a16="http://schemas.microsoft.com/office/drawing/2014/main" id="{785EE9E8-8AFE-4115-BCCA-9B1994CA2645}"/>
              </a:ext>
            </a:extLst>
          </p:cNvPr>
          <p:cNvSpPr>
            <a:spLocks noGrp="1"/>
          </p:cNvSpPr>
          <p:nvPr>
            <p:ph type="sldNum" sz="quarter" idx="12"/>
          </p:nvPr>
        </p:nvSpPr>
        <p:spPr/>
        <p:txBody>
          <a:bodyPr/>
          <a:lstStyle/>
          <a:p>
            <a:fld id="{91F5D5B3-D24A-42EA-B582-81E5372869F6}" type="slidenum">
              <a:rPr lang="en-US" smtClean="0"/>
              <a:t>20</a:t>
            </a:fld>
            <a:endParaRPr lang="en-US" dirty="0"/>
          </a:p>
        </p:txBody>
      </p:sp>
    </p:spTree>
    <p:extLst>
      <p:ext uri="{BB962C8B-B14F-4D97-AF65-F5344CB8AC3E}">
        <p14:creationId xmlns:p14="http://schemas.microsoft.com/office/powerpoint/2010/main" val="1872961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19657"/>
            <a:ext cx="4825999" cy="3263504"/>
          </a:xfrm>
        </p:spPr>
        <p:txBody>
          <a:bodyPr>
            <a:noAutofit/>
          </a:bodyPr>
          <a:lstStyle/>
          <a:p>
            <a:r>
              <a:rPr lang="en-US" dirty="0">
                <a:latin typeface="+mj-lt"/>
              </a:rPr>
              <a:t>Europeans brought measles, smallpox, and tuberculosis which killed millions in the Americas</a:t>
            </a:r>
          </a:p>
          <a:p>
            <a:r>
              <a:rPr lang="en-US" dirty="0">
                <a:latin typeface="+mj-lt"/>
              </a:rPr>
              <a:t>However, the indigenous people were also seen as a commodity by the Europeans, whose health was necessary in order to profit from their labor. </a:t>
            </a:r>
          </a:p>
          <a:p>
            <a:r>
              <a:rPr lang="en-US" dirty="0">
                <a:solidFill>
                  <a:srgbClr val="FF0000"/>
                </a:solidFill>
                <a:latin typeface="+mj-lt"/>
              </a:rPr>
              <a:t>This spurred research into how to maintain the health of those that were now ruled over and put into service to their colonial masters</a:t>
            </a:r>
            <a:r>
              <a:rPr lang="en-US" sz="825" dirty="0">
                <a:solidFill>
                  <a:srgbClr val="FF0000"/>
                </a:solidFill>
                <a:latin typeface="+mj-lt"/>
              </a:rPr>
              <a:t>. </a:t>
            </a:r>
            <a:endParaRPr lang="en-US" sz="900" dirty="0">
              <a:solidFill>
                <a:srgbClr val="FF0000"/>
              </a:solidFill>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1801" y="160305"/>
            <a:ext cx="5524498" cy="309371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1800" y="3357499"/>
            <a:ext cx="5524499" cy="3340196"/>
          </a:xfrm>
          <a:prstGeom prst="rect">
            <a:avLst/>
          </a:prstGeom>
        </p:spPr>
      </p:pic>
      <p:sp>
        <p:nvSpPr>
          <p:cNvPr id="2" name="Slide Number Placeholder 1">
            <a:extLst>
              <a:ext uri="{FF2B5EF4-FFF2-40B4-BE49-F238E27FC236}">
                <a16:creationId xmlns:a16="http://schemas.microsoft.com/office/drawing/2014/main" id="{8AC4DD65-DEE2-429A-A192-3587CB4F35E7}"/>
              </a:ext>
            </a:extLst>
          </p:cNvPr>
          <p:cNvSpPr>
            <a:spLocks noGrp="1"/>
          </p:cNvSpPr>
          <p:nvPr>
            <p:ph type="sldNum" sz="quarter" idx="12"/>
          </p:nvPr>
        </p:nvSpPr>
        <p:spPr/>
        <p:txBody>
          <a:bodyPr/>
          <a:lstStyle/>
          <a:p>
            <a:fld id="{91F5D5B3-D24A-42EA-B582-81E5372869F6}" type="slidenum">
              <a:rPr lang="en-US" smtClean="0"/>
              <a:t>21</a:t>
            </a:fld>
            <a:endParaRPr lang="en-US" dirty="0"/>
          </a:p>
        </p:txBody>
      </p:sp>
    </p:spTree>
    <p:extLst>
      <p:ext uri="{BB962C8B-B14F-4D97-AF65-F5344CB8AC3E}">
        <p14:creationId xmlns:p14="http://schemas.microsoft.com/office/powerpoint/2010/main" val="4281259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801" y="165496"/>
            <a:ext cx="3390899" cy="3263504"/>
          </a:xfrm>
        </p:spPr>
        <p:txBody>
          <a:bodyPr>
            <a:noAutofit/>
          </a:bodyPr>
          <a:lstStyle/>
          <a:p>
            <a:r>
              <a:rPr lang="en-US" dirty="0">
                <a:latin typeface="+mj-lt"/>
              </a:rPr>
              <a:t>European encountered new tropical diseases as they travelled around the world. </a:t>
            </a:r>
          </a:p>
          <a:p>
            <a:r>
              <a:rPr lang="en-US" dirty="0">
                <a:latin typeface="+mj-lt"/>
              </a:rPr>
              <a:t>Mortality of Europeans along the Gold Coast of West Africa was 300-700 per 1000 colonizers in early 1800's.</a:t>
            </a:r>
          </a:p>
          <a:p>
            <a:r>
              <a:rPr lang="en-US" dirty="0">
                <a:latin typeface="+mj-lt"/>
              </a:rPr>
              <a:t> </a:t>
            </a:r>
            <a:r>
              <a:rPr lang="en-US" dirty="0">
                <a:solidFill>
                  <a:srgbClr val="FF0000"/>
                </a:solidFill>
                <a:latin typeface="+mj-lt"/>
              </a:rPr>
              <a:t>This spurred research into the causes of disease among the colonizers.</a:t>
            </a:r>
            <a:endParaRPr lang="en-US" sz="2400" dirty="0">
              <a:solidFill>
                <a:srgbClr val="FF0000"/>
              </a:solidFill>
              <a:latin typeface="+mj-lt"/>
            </a:endParaRPr>
          </a:p>
          <a:p>
            <a:endParaRPr lang="en-US" sz="1800" dirty="0"/>
          </a:p>
          <a:p>
            <a:pPr marL="342900" lvl="1" indent="0">
              <a:buNone/>
            </a:pPr>
            <a:r>
              <a:rPr lang="en-US" sz="750" dirty="0"/>
              <a:t>. </a:t>
            </a:r>
            <a:endParaRPr lang="en-US" sz="788"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6587"/>
          <a:stretch/>
        </p:blipFill>
        <p:spPr>
          <a:xfrm>
            <a:off x="3975259" y="165496"/>
            <a:ext cx="8049961" cy="6362304"/>
          </a:xfrm>
          <a:prstGeom prst="rect">
            <a:avLst/>
          </a:prstGeom>
        </p:spPr>
      </p:pic>
      <p:sp>
        <p:nvSpPr>
          <p:cNvPr id="2" name="Slide Number Placeholder 1">
            <a:extLst>
              <a:ext uri="{FF2B5EF4-FFF2-40B4-BE49-F238E27FC236}">
                <a16:creationId xmlns:a16="http://schemas.microsoft.com/office/drawing/2014/main" id="{F58ADF50-7961-4718-B98A-524B0911A0DA}"/>
              </a:ext>
            </a:extLst>
          </p:cNvPr>
          <p:cNvSpPr>
            <a:spLocks noGrp="1"/>
          </p:cNvSpPr>
          <p:nvPr>
            <p:ph type="sldNum" sz="quarter" idx="12"/>
          </p:nvPr>
        </p:nvSpPr>
        <p:spPr/>
        <p:txBody>
          <a:bodyPr/>
          <a:lstStyle/>
          <a:p>
            <a:fld id="{91F5D5B3-D24A-42EA-B582-81E5372869F6}" type="slidenum">
              <a:rPr lang="en-US" smtClean="0"/>
              <a:t>22</a:t>
            </a:fld>
            <a:endParaRPr lang="en-US" dirty="0"/>
          </a:p>
        </p:txBody>
      </p:sp>
    </p:spTree>
    <p:extLst>
      <p:ext uri="{BB962C8B-B14F-4D97-AF65-F5344CB8AC3E}">
        <p14:creationId xmlns:p14="http://schemas.microsoft.com/office/powerpoint/2010/main" val="2015649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369277"/>
            <a:ext cx="4572000" cy="3263504"/>
          </a:xfrm>
        </p:spPr>
        <p:txBody>
          <a:bodyPr>
            <a:noAutofit/>
          </a:bodyPr>
          <a:lstStyle/>
          <a:p>
            <a:r>
              <a:rPr lang="en-US" sz="2600" dirty="0">
                <a:latin typeface="+mj-lt"/>
              </a:rPr>
              <a:t>Disease traveled back to Europe from colonized countries in Asia and Africa.</a:t>
            </a:r>
          </a:p>
          <a:p>
            <a:r>
              <a:rPr lang="en-US" sz="2600" dirty="0">
                <a:latin typeface="+mj-lt"/>
              </a:rPr>
              <a:t> Indian Ocean shipping lanes of the British Empire in the first decades of the 20</a:t>
            </a:r>
            <a:r>
              <a:rPr lang="en-US" sz="2600" baseline="30000" dirty="0">
                <a:latin typeface="+mj-lt"/>
              </a:rPr>
              <a:t>th</a:t>
            </a:r>
            <a:r>
              <a:rPr lang="en-US" sz="2600" dirty="0">
                <a:latin typeface="+mj-lt"/>
              </a:rPr>
              <a:t> century provided new routes for the transmission of cholera. </a:t>
            </a:r>
          </a:p>
          <a:p>
            <a:r>
              <a:rPr lang="en-US" sz="2600" dirty="0">
                <a:latin typeface="+mj-lt"/>
              </a:rPr>
              <a:t>Cholera that began in India could now impact the manufacturing towns of France and England</a:t>
            </a:r>
          </a:p>
          <a:p>
            <a:r>
              <a:rPr lang="en-US" sz="2600" dirty="0">
                <a:solidFill>
                  <a:srgbClr val="FF0000"/>
                </a:solidFill>
                <a:latin typeface="+mj-lt"/>
              </a:rPr>
              <a:t>Thus the health of others in distant land was realized as being important for the health of others far away. </a:t>
            </a:r>
          </a:p>
          <a:p>
            <a:endParaRPr lang="en-US" sz="1800" dirty="0"/>
          </a:p>
          <a:p>
            <a:pPr marL="342900" lvl="1" indent="0">
              <a:buNone/>
            </a:pPr>
            <a:r>
              <a:rPr lang="en-US" sz="750" dirty="0"/>
              <a:t>. </a:t>
            </a:r>
            <a:endParaRPr lang="en-US" sz="788" dirty="0"/>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4237" t="18121" r="14770" b="20077"/>
          <a:stretch/>
        </p:blipFill>
        <p:spPr>
          <a:xfrm>
            <a:off x="5118100" y="3594496"/>
            <a:ext cx="6113905" cy="3263504"/>
          </a:xfrm>
          <a:prstGeom prst="rect">
            <a:avLst/>
          </a:prstGeom>
        </p:spPr>
      </p:pic>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t="9005"/>
          <a:stretch/>
        </p:blipFill>
        <p:spPr>
          <a:xfrm>
            <a:off x="5118100" y="0"/>
            <a:ext cx="6113904" cy="3533618"/>
          </a:xfrm>
          <a:prstGeom prst="rect">
            <a:avLst/>
          </a:prstGeom>
        </p:spPr>
      </p:pic>
      <p:sp>
        <p:nvSpPr>
          <p:cNvPr id="2" name="Slide Number Placeholder 1">
            <a:extLst>
              <a:ext uri="{FF2B5EF4-FFF2-40B4-BE49-F238E27FC236}">
                <a16:creationId xmlns:a16="http://schemas.microsoft.com/office/drawing/2014/main" id="{C26BC992-A7D9-4C16-9E92-FF498EC6534D}"/>
              </a:ext>
            </a:extLst>
          </p:cNvPr>
          <p:cNvSpPr>
            <a:spLocks noGrp="1"/>
          </p:cNvSpPr>
          <p:nvPr>
            <p:ph type="sldNum" sz="quarter" idx="12"/>
          </p:nvPr>
        </p:nvSpPr>
        <p:spPr/>
        <p:txBody>
          <a:bodyPr/>
          <a:lstStyle/>
          <a:p>
            <a:fld id="{91F5D5B3-D24A-42EA-B582-81E5372869F6}" type="slidenum">
              <a:rPr lang="en-US" smtClean="0"/>
              <a:t>23</a:t>
            </a:fld>
            <a:endParaRPr lang="en-US" dirty="0"/>
          </a:p>
        </p:txBody>
      </p:sp>
    </p:spTree>
    <p:extLst>
      <p:ext uri="{BB962C8B-B14F-4D97-AF65-F5344CB8AC3E}">
        <p14:creationId xmlns:p14="http://schemas.microsoft.com/office/powerpoint/2010/main" val="3942609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1114" y="312127"/>
            <a:ext cx="5837081" cy="1501420"/>
          </a:xfrm>
        </p:spPr>
        <p:txBody>
          <a:bodyPr>
            <a:normAutofit/>
          </a:bodyPr>
          <a:lstStyle/>
          <a:p>
            <a:pPr algn="ctr"/>
            <a:r>
              <a:rPr lang="en-US" dirty="0"/>
              <a:t>Medicine was used as a pretext for colonial rule</a:t>
            </a:r>
          </a:p>
        </p:txBody>
      </p:sp>
      <p:sp>
        <p:nvSpPr>
          <p:cNvPr id="3" name="Content Placeholder 2"/>
          <p:cNvSpPr>
            <a:spLocks noGrp="1"/>
          </p:cNvSpPr>
          <p:nvPr>
            <p:ph idx="1"/>
          </p:nvPr>
        </p:nvSpPr>
        <p:spPr>
          <a:xfrm>
            <a:off x="315686" y="312127"/>
            <a:ext cx="5414338" cy="6545873"/>
          </a:xfrm>
        </p:spPr>
        <p:txBody>
          <a:bodyPr>
            <a:normAutofit/>
          </a:bodyPr>
          <a:lstStyle/>
          <a:p>
            <a:r>
              <a:rPr lang="en-US" sz="3200" dirty="0"/>
              <a:t>The imperialism as helpful argument</a:t>
            </a:r>
          </a:p>
          <a:p>
            <a:pPr lvl="1"/>
            <a:r>
              <a:rPr lang="en-US" sz="2800" dirty="0"/>
              <a:t>Holds that one of the aims of colonization should be medical.</a:t>
            </a:r>
          </a:p>
          <a:p>
            <a:pPr lvl="1"/>
            <a:r>
              <a:rPr lang="en-US" sz="2800" dirty="0"/>
              <a:t>Colonialism could be presented as beneficial, it helped the locals. </a:t>
            </a:r>
          </a:p>
          <a:p>
            <a:pPr lvl="1"/>
            <a:r>
              <a:rPr lang="en-US" sz="2800" dirty="0">
                <a:solidFill>
                  <a:srgbClr val="FF0000"/>
                </a:solidFill>
              </a:rPr>
              <a:t>However, colonial medicine became an agent of penetration and pacification. </a:t>
            </a:r>
          </a:p>
          <a:p>
            <a:pPr lvl="1"/>
            <a:r>
              <a:rPr lang="en-US" sz="2800" dirty="0">
                <a:solidFill>
                  <a:srgbClr val="FF0000"/>
                </a:solidFill>
              </a:rPr>
              <a:t>Often medical care was limited to those who agreed to be ruled or who provided labor and other services readily</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12653"/>
          <a:stretch/>
        </p:blipFill>
        <p:spPr>
          <a:xfrm>
            <a:off x="6145693" y="1813547"/>
            <a:ext cx="5730621" cy="4732326"/>
          </a:xfrm>
          <a:prstGeom prst="rect">
            <a:avLst/>
          </a:prstGeom>
        </p:spPr>
      </p:pic>
      <p:sp>
        <p:nvSpPr>
          <p:cNvPr id="5" name="Slide Number Placeholder 4">
            <a:extLst>
              <a:ext uri="{FF2B5EF4-FFF2-40B4-BE49-F238E27FC236}">
                <a16:creationId xmlns:a16="http://schemas.microsoft.com/office/drawing/2014/main" id="{060F245F-6000-4C33-9AF4-F5F9690953F7}"/>
              </a:ext>
            </a:extLst>
          </p:cNvPr>
          <p:cNvSpPr>
            <a:spLocks noGrp="1"/>
          </p:cNvSpPr>
          <p:nvPr>
            <p:ph type="sldNum" sz="quarter" idx="12"/>
          </p:nvPr>
        </p:nvSpPr>
        <p:spPr/>
        <p:txBody>
          <a:bodyPr/>
          <a:lstStyle/>
          <a:p>
            <a:fld id="{91F5D5B3-D24A-42EA-B582-81E5372869F6}" type="slidenum">
              <a:rPr lang="en-US" smtClean="0"/>
              <a:t>24</a:t>
            </a:fld>
            <a:endParaRPr lang="en-US" dirty="0"/>
          </a:p>
        </p:txBody>
      </p:sp>
    </p:spTree>
    <p:extLst>
      <p:ext uri="{BB962C8B-B14F-4D97-AF65-F5344CB8AC3E}">
        <p14:creationId xmlns:p14="http://schemas.microsoft.com/office/powerpoint/2010/main" val="1230463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863" y="368567"/>
            <a:ext cx="5651500" cy="6489433"/>
          </a:xfrm>
        </p:spPr>
        <p:txBody>
          <a:bodyPr>
            <a:noAutofit/>
          </a:bodyPr>
          <a:lstStyle/>
          <a:p>
            <a:pPr lvl="1"/>
            <a:r>
              <a:rPr lang="en-US" sz="3200" dirty="0"/>
              <a:t>The infrastructure of imperialism argument</a:t>
            </a:r>
          </a:p>
          <a:p>
            <a:pPr lvl="2"/>
            <a:r>
              <a:rPr lang="en-US" sz="3200" dirty="0"/>
              <a:t>Medical care and doctors were needed to keep the military and administrative officers of the ruling power healthy, as well as the ruled citizenry who labored in the service of empire. </a:t>
            </a:r>
          </a:p>
          <a:p>
            <a:pPr lvl="2"/>
            <a:r>
              <a:rPr lang="en-US" sz="3200" dirty="0">
                <a:solidFill>
                  <a:srgbClr val="FF0000"/>
                </a:solidFill>
              </a:rPr>
              <a:t>Medical care was essential to maintaining power of the colonize</a:t>
            </a:r>
          </a:p>
          <a:p>
            <a:pPr marL="914400" lvl="2" indent="0">
              <a:buNone/>
            </a:pPr>
            <a:endParaRPr lang="en-US" sz="2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638" y="25666"/>
            <a:ext cx="5592712" cy="6489433"/>
          </a:xfrm>
          <a:prstGeom prst="rect">
            <a:avLst/>
          </a:prstGeom>
        </p:spPr>
      </p:pic>
      <p:sp>
        <p:nvSpPr>
          <p:cNvPr id="2" name="Slide Number Placeholder 1">
            <a:extLst>
              <a:ext uri="{FF2B5EF4-FFF2-40B4-BE49-F238E27FC236}">
                <a16:creationId xmlns:a16="http://schemas.microsoft.com/office/drawing/2014/main" id="{FA31AAAD-3A03-4850-904F-F69EEE19F217}"/>
              </a:ext>
            </a:extLst>
          </p:cNvPr>
          <p:cNvSpPr>
            <a:spLocks noGrp="1"/>
          </p:cNvSpPr>
          <p:nvPr>
            <p:ph type="sldNum" sz="quarter" idx="12"/>
          </p:nvPr>
        </p:nvSpPr>
        <p:spPr/>
        <p:txBody>
          <a:bodyPr/>
          <a:lstStyle/>
          <a:p>
            <a:fld id="{91F5D5B3-D24A-42EA-B582-81E5372869F6}" type="slidenum">
              <a:rPr lang="en-US" smtClean="0"/>
              <a:t>25</a:t>
            </a:fld>
            <a:endParaRPr lang="en-US" dirty="0"/>
          </a:p>
        </p:txBody>
      </p:sp>
    </p:spTree>
    <p:extLst>
      <p:ext uri="{BB962C8B-B14F-4D97-AF65-F5344CB8AC3E}">
        <p14:creationId xmlns:p14="http://schemas.microsoft.com/office/powerpoint/2010/main" val="661926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6900" y="395012"/>
            <a:ext cx="10756900" cy="994172"/>
          </a:xfrm>
        </p:spPr>
        <p:txBody>
          <a:bodyPr>
            <a:normAutofit fontScale="90000"/>
          </a:bodyPr>
          <a:lstStyle/>
          <a:p>
            <a:pPr algn="ctr"/>
            <a:r>
              <a:rPr lang="en-US" dirty="0"/>
              <a:t>Examples of the discourses about health used to justify the actions of the colonizers</a:t>
            </a:r>
          </a:p>
        </p:txBody>
      </p:sp>
      <p:sp>
        <p:nvSpPr>
          <p:cNvPr id="3" name="Content Placeholder 2"/>
          <p:cNvSpPr>
            <a:spLocks noGrp="1"/>
          </p:cNvSpPr>
          <p:nvPr>
            <p:ph idx="1"/>
          </p:nvPr>
        </p:nvSpPr>
        <p:spPr>
          <a:xfrm>
            <a:off x="445477" y="1389184"/>
            <a:ext cx="6964230" cy="5666936"/>
          </a:xfrm>
        </p:spPr>
        <p:txBody>
          <a:bodyPr>
            <a:normAutofit lnSpcReduction="10000"/>
          </a:bodyPr>
          <a:lstStyle/>
          <a:p>
            <a:endParaRPr lang="en-US" sz="2600" dirty="0"/>
          </a:p>
          <a:p>
            <a:r>
              <a:rPr lang="en-US" sz="2600" dirty="0"/>
              <a:t>British mortality rates in 1835 were 12:1000 in the United Kingdom, but 500:1000 when stationed in west Africa. </a:t>
            </a:r>
          </a:p>
          <a:p>
            <a:r>
              <a:rPr lang="en-US" sz="2600" dirty="0"/>
              <a:t>Africans did not have these high mortality rates</a:t>
            </a:r>
          </a:p>
          <a:p>
            <a:r>
              <a:rPr lang="en-US" sz="2600" dirty="0"/>
              <a:t>This gave way to the discourse that the native bodies were better suited or ‘seasoned’ to labor in these hot climates, in Africa and in the slave trade in the Americas. </a:t>
            </a:r>
          </a:p>
          <a:p>
            <a:r>
              <a:rPr lang="en-US" sz="2600" dirty="0"/>
              <a:t>Slavery was also justified by the socially-constructed idea that Africans did not feel pain like white people</a:t>
            </a:r>
          </a:p>
          <a:p>
            <a:r>
              <a:rPr lang="en-US" sz="2600" dirty="0"/>
              <a:t>Even today, myths still remain about racial differences</a:t>
            </a:r>
          </a:p>
        </p:txBody>
      </p:sp>
      <p:pic>
        <p:nvPicPr>
          <p:cNvPr id="4" name="Picture 3"/>
          <p:cNvPicPr>
            <a:picLocks noChangeAspect="1"/>
          </p:cNvPicPr>
          <p:nvPr/>
        </p:nvPicPr>
        <p:blipFill>
          <a:blip r:embed="rId3"/>
          <a:stretch>
            <a:fillRect/>
          </a:stretch>
        </p:blipFill>
        <p:spPr>
          <a:xfrm>
            <a:off x="7409707" y="1491336"/>
            <a:ext cx="3422866" cy="5230139"/>
          </a:xfrm>
          <a:prstGeom prst="rect">
            <a:avLst/>
          </a:prstGeom>
        </p:spPr>
      </p:pic>
      <p:sp>
        <p:nvSpPr>
          <p:cNvPr id="5" name="Slide Number Placeholder 4">
            <a:extLst>
              <a:ext uri="{FF2B5EF4-FFF2-40B4-BE49-F238E27FC236}">
                <a16:creationId xmlns:a16="http://schemas.microsoft.com/office/drawing/2014/main" id="{C9FEAED7-43D0-4DC5-8306-C51447E16D8F}"/>
              </a:ext>
            </a:extLst>
          </p:cNvPr>
          <p:cNvSpPr>
            <a:spLocks noGrp="1"/>
          </p:cNvSpPr>
          <p:nvPr>
            <p:ph type="sldNum" sz="quarter" idx="12"/>
          </p:nvPr>
        </p:nvSpPr>
        <p:spPr/>
        <p:txBody>
          <a:bodyPr/>
          <a:lstStyle/>
          <a:p>
            <a:fld id="{91F5D5B3-D24A-42EA-B582-81E5372869F6}" type="slidenum">
              <a:rPr lang="en-US" smtClean="0"/>
              <a:t>26</a:t>
            </a:fld>
            <a:endParaRPr lang="en-US" dirty="0"/>
          </a:p>
        </p:txBody>
      </p:sp>
    </p:spTree>
    <p:extLst>
      <p:ext uri="{BB962C8B-B14F-4D97-AF65-F5344CB8AC3E}">
        <p14:creationId xmlns:p14="http://schemas.microsoft.com/office/powerpoint/2010/main" val="4046238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hlinkClick r:id="rId3"/>
            <a:extLst>
              <a:ext uri="{FF2B5EF4-FFF2-40B4-BE49-F238E27FC236}">
                <a16:creationId xmlns:a16="http://schemas.microsoft.com/office/drawing/2014/main" id="{CD55746E-EF0C-4951-97D5-76389C22EA68}"/>
              </a:ext>
            </a:extLst>
          </p:cNvPr>
          <p:cNvPicPr>
            <a:picLocks noGrp="1" noChangeAspect="1"/>
          </p:cNvPicPr>
          <p:nvPr>
            <p:ph idx="1"/>
          </p:nvPr>
        </p:nvPicPr>
        <p:blipFill>
          <a:blip r:embed="rId4"/>
          <a:stretch>
            <a:fillRect/>
          </a:stretch>
        </p:blipFill>
        <p:spPr>
          <a:xfrm>
            <a:off x="375688" y="742827"/>
            <a:ext cx="11440623" cy="5372345"/>
          </a:xfrm>
          <a:prstGeom prst="rect">
            <a:avLst/>
          </a:prstGeom>
          <a:ln w="47625">
            <a:solidFill>
              <a:schemeClr val="accent1"/>
            </a:solidFill>
          </a:ln>
        </p:spPr>
      </p:pic>
      <p:sp>
        <p:nvSpPr>
          <p:cNvPr id="2" name="Slide Number Placeholder 1">
            <a:extLst>
              <a:ext uri="{FF2B5EF4-FFF2-40B4-BE49-F238E27FC236}">
                <a16:creationId xmlns:a16="http://schemas.microsoft.com/office/drawing/2014/main" id="{1DF60F3C-6F05-4420-AD3C-84C9BAC69FB3}"/>
              </a:ext>
            </a:extLst>
          </p:cNvPr>
          <p:cNvSpPr>
            <a:spLocks noGrp="1"/>
          </p:cNvSpPr>
          <p:nvPr>
            <p:ph type="sldNum" sz="quarter" idx="12"/>
          </p:nvPr>
        </p:nvSpPr>
        <p:spPr/>
        <p:txBody>
          <a:bodyPr/>
          <a:lstStyle/>
          <a:p>
            <a:fld id="{91F5D5B3-D24A-42EA-B582-81E5372869F6}" type="slidenum">
              <a:rPr lang="en-US" smtClean="0"/>
              <a:t>27</a:t>
            </a:fld>
            <a:endParaRPr lang="en-US" dirty="0"/>
          </a:p>
        </p:txBody>
      </p:sp>
    </p:spTree>
    <p:extLst>
      <p:ext uri="{BB962C8B-B14F-4D97-AF65-F5344CB8AC3E}">
        <p14:creationId xmlns:p14="http://schemas.microsoft.com/office/powerpoint/2010/main" val="1697993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AB9C-246B-008C-6840-3B2A67631961}"/>
              </a:ext>
            </a:extLst>
          </p:cNvPr>
          <p:cNvSpPr>
            <a:spLocks noGrp="1"/>
          </p:cNvSpPr>
          <p:nvPr>
            <p:ph type="title"/>
          </p:nvPr>
        </p:nvSpPr>
        <p:spPr>
          <a:xfrm>
            <a:off x="666206" y="256965"/>
            <a:ext cx="11079479" cy="1325563"/>
          </a:xfrm>
        </p:spPr>
        <p:txBody>
          <a:bodyPr/>
          <a:lstStyle/>
          <a:p>
            <a:r>
              <a:rPr lang="en-US" dirty="0"/>
              <a:t>Pulse oximeters</a:t>
            </a:r>
          </a:p>
        </p:txBody>
      </p:sp>
      <p:sp>
        <p:nvSpPr>
          <p:cNvPr id="3" name="Content Placeholder 2">
            <a:extLst>
              <a:ext uri="{FF2B5EF4-FFF2-40B4-BE49-F238E27FC236}">
                <a16:creationId xmlns:a16="http://schemas.microsoft.com/office/drawing/2014/main" id="{79561422-CB16-FDB3-5378-67A5ACA611CE}"/>
              </a:ext>
            </a:extLst>
          </p:cNvPr>
          <p:cNvSpPr>
            <a:spLocks noGrp="1"/>
          </p:cNvSpPr>
          <p:nvPr>
            <p:ph idx="1"/>
          </p:nvPr>
        </p:nvSpPr>
        <p:spPr>
          <a:xfrm>
            <a:off x="446315" y="1582528"/>
            <a:ext cx="5840185" cy="5138948"/>
          </a:xfrm>
        </p:spPr>
        <p:txBody>
          <a:bodyPr>
            <a:normAutofit lnSpcReduction="10000"/>
          </a:bodyPr>
          <a:lstStyle/>
          <a:p>
            <a:r>
              <a:rPr lang="en-US" dirty="0"/>
              <a:t>Measure oxygen levels</a:t>
            </a:r>
          </a:p>
          <a:p>
            <a:r>
              <a:rPr lang="en-US" dirty="0"/>
              <a:t>Variations in skin pigmentation can affect the accuracy of these readings.</a:t>
            </a:r>
          </a:p>
          <a:p>
            <a:r>
              <a:rPr lang="en-US" dirty="0"/>
              <a:t>Darker skin contains more melanin, which can interfere with the absorption of light</a:t>
            </a:r>
          </a:p>
          <a:p>
            <a:r>
              <a:rPr lang="en-US" dirty="0"/>
              <a:t>This can lead to overestimation of oxygen saturation and the delay of intervention for people with darker skin</a:t>
            </a:r>
          </a:p>
          <a:p>
            <a:r>
              <a:rPr lang="en-US" dirty="0"/>
              <a:t>Newer and more sophisticated oximeters do not have this problem</a:t>
            </a:r>
          </a:p>
        </p:txBody>
      </p:sp>
      <p:sp>
        <p:nvSpPr>
          <p:cNvPr id="4" name="Slide Number Placeholder 3">
            <a:extLst>
              <a:ext uri="{FF2B5EF4-FFF2-40B4-BE49-F238E27FC236}">
                <a16:creationId xmlns:a16="http://schemas.microsoft.com/office/drawing/2014/main" id="{E876C17F-8D63-2BDE-B7E9-0B098DCEE69F}"/>
              </a:ext>
            </a:extLst>
          </p:cNvPr>
          <p:cNvSpPr>
            <a:spLocks noGrp="1"/>
          </p:cNvSpPr>
          <p:nvPr>
            <p:ph type="sldNum" sz="quarter" idx="12"/>
          </p:nvPr>
        </p:nvSpPr>
        <p:spPr/>
        <p:txBody>
          <a:bodyPr/>
          <a:lstStyle/>
          <a:p>
            <a:fld id="{91F5D5B3-D24A-42EA-B582-81E5372869F6}" type="slidenum">
              <a:rPr lang="en-US" smtClean="0"/>
              <a:pPr/>
              <a:t>28</a:t>
            </a:fld>
            <a:endParaRPr lang="en-US" dirty="0"/>
          </a:p>
        </p:txBody>
      </p:sp>
      <p:pic>
        <p:nvPicPr>
          <p:cNvPr id="6" name="Picture 5" descr="A close-up of a person holding a pulse oximeter&#10;&#10;Description automatically generated">
            <a:extLst>
              <a:ext uri="{FF2B5EF4-FFF2-40B4-BE49-F238E27FC236}">
                <a16:creationId xmlns:a16="http://schemas.microsoft.com/office/drawing/2014/main" id="{B68A3776-8321-0975-3394-1DA82F1B940F}"/>
              </a:ext>
            </a:extLst>
          </p:cNvPr>
          <p:cNvPicPr>
            <a:picLocks noChangeAspect="1"/>
          </p:cNvPicPr>
          <p:nvPr/>
        </p:nvPicPr>
        <p:blipFill rotWithShape="1">
          <a:blip r:embed="rId3">
            <a:extLst>
              <a:ext uri="{28A0092B-C50C-407E-A947-70E740481C1C}">
                <a14:useLocalDpi xmlns:a14="http://schemas.microsoft.com/office/drawing/2010/main" val="0"/>
              </a:ext>
            </a:extLst>
          </a:blip>
          <a:srcRect l="34300"/>
          <a:stretch/>
        </p:blipFill>
        <p:spPr>
          <a:xfrm>
            <a:off x="6547757" y="1690688"/>
            <a:ext cx="5323114" cy="4557502"/>
          </a:xfrm>
          <a:prstGeom prst="rect">
            <a:avLst/>
          </a:prstGeom>
        </p:spPr>
      </p:pic>
    </p:spTree>
    <p:extLst>
      <p:ext uri="{BB962C8B-B14F-4D97-AF65-F5344CB8AC3E}">
        <p14:creationId xmlns:p14="http://schemas.microsoft.com/office/powerpoint/2010/main" val="2808030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What are specific historical events leading to the emergence of global health?</a:t>
            </a:r>
          </a:p>
        </p:txBody>
      </p:sp>
      <p:sp>
        <p:nvSpPr>
          <p:cNvPr id="3" name="Content Placeholder 2"/>
          <p:cNvSpPr>
            <a:spLocks noGrp="1"/>
          </p:cNvSpPr>
          <p:nvPr>
            <p:ph idx="1"/>
          </p:nvPr>
        </p:nvSpPr>
        <p:spPr>
          <a:xfrm>
            <a:off x="749300" y="1828800"/>
            <a:ext cx="10693400" cy="5381784"/>
          </a:xfrm>
        </p:spPr>
        <p:txBody>
          <a:bodyPr>
            <a:normAutofit/>
          </a:bodyPr>
          <a:lstStyle/>
          <a:p>
            <a:r>
              <a:rPr lang="en-US" sz="2875" dirty="0">
                <a:latin typeface="+mj-lt"/>
              </a:rPr>
              <a:t>Through expeditions in Egypt and India, the microbiologist Robert Koch isolated </a:t>
            </a:r>
            <a:r>
              <a:rPr lang="en-US" sz="2875" i="1" dirty="0">
                <a:latin typeface="+mj-lt"/>
              </a:rPr>
              <a:t>Vibrio cholerae </a:t>
            </a:r>
            <a:r>
              <a:rPr lang="en-US" sz="2875" dirty="0">
                <a:latin typeface="+mj-lt"/>
              </a:rPr>
              <a:t>in 1883, proving that heat and humidity were not barriers to tropical colonization – at the time it was thought that the ‘bad air’ of the tropics caused cholera</a:t>
            </a:r>
          </a:p>
          <a:p>
            <a:r>
              <a:rPr lang="en-US" sz="2875" dirty="0">
                <a:latin typeface="+mj-lt"/>
              </a:rPr>
              <a:t>The still relatively new idea of germ theory developed by Pasteur also implied that addressing the problem of germs </a:t>
            </a:r>
            <a:r>
              <a:rPr lang="en-US" sz="2875" b="1" dirty="0">
                <a:latin typeface="+mj-lt"/>
              </a:rPr>
              <a:t>would allow new tropical lands to be made more accessible.  </a:t>
            </a:r>
          </a:p>
          <a:p>
            <a:r>
              <a:rPr lang="en-US" sz="2875" dirty="0">
                <a:latin typeface="+mj-lt"/>
              </a:rPr>
              <a:t>Formation of the </a:t>
            </a:r>
            <a:r>
              <a:rPr lang="en-US" sz="2875" dirty="0">
                <a:latin typeface="+mj-lt"/>
                <a:hlinkClick r:id="rId3"/>
              </a:rPr>
              <a:t>London School of Tropical Medicine </a:t>
            </a:r>
            <a:r>
              <a:rPr lang="en-US" sz="2875" dirty="0">
                <a:latin typeface="+mj-lt"/>
              </a:rPr>
              <a:t>in 1899 was meant to foster this kind of </a:t>
            </a:r>
            <a:r>
              <a:rPr lang="en-US" sz="2875" b="1" dirty="0">
                <a:latin typeface="+mj-lt"/>
              </a:rPr>
              <a:t>imperial medicine. </a:t>
            </a:r>
            <a:r>
              <a:rPr lang="en-US" sz="2875" dirty="0">
                <a:latin typeface="+mj-lt"/>
              </a:rPr>
              <a:t>This is another way in which global health had its origins in colonialism.</a:t>
            </a:r>
          </a:p>
        </p:txBody>
      </p:sp>
      <p:sp>
        <p:nvSpPr>
          <p:cNvPr id="4" name="Slide Number Placeholder 3">
            <a:extLst>
              <a:ext uri="{FF2B5EF4-FFF2-40B4-BE49-F238E27FC236}">
                <a16:creationId xmlns:a16="http://schemas.microsoft.com/office/drawing/2014/main" id="{1C892821-4239-4756-869E-505FEDF9AFC0}"/>
              </a:ext>
            </a:extLst>
          </p:cNvPr>
          <p:cNvSpPr>
            <a:spLocks noGrp="1"/>
          </p:cNvSpPr>
          <p:nvPr>
            <p:ph type="sldNum" sz="quarter" idx="12"/>
          </p:nvPr>
        </p:nvSpPr>
        <p:spPr/>
        <p:txBody>
          <a:bodyPr/>
          <a:lstStyle/>
          <a:p>
            <a:fld id="{91F5D5B3-D24A-42EA-B582-81E5372869F6}" type="slidenum">
              <a:rPr lang="en-US" smtClean="0"/>
              <a:t>29</a:t>
            </a:fld>
            <a:endParaRPr lang="en-US" dirty="0"/>
          </a:p>
        </p:txBody>
      </p:sp>
    </p:spTree>
    <p:extLst>
      <p:ext uri="{BB962C8B-B14F-4D97-AF65-F5344CB8AC3E}">
        <p14:creationId xmlns:p14="http://schemas.microsoft.com/office/powerpoint/2010/main" val="3209015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28264"/>
            <a:ext cx="3997855" cy="6757550"/>
          </a:xfrm>
        </p:spPr>
        <p:txBody>
          <a:bodyPr>
            <a:normAutofit/>
          </a:bodyPr>
          <a:lstStyle/>
          <a:p>
            <a:endParaRPr lang="en-US" dirty="0"/>
          </a:p>
          <a:p>
            <a:pPr lvl="1"/>
            <a:r>
              <a:rPr lang="en-US" sz="2800" dirty="0">
                <a:latin typeface="+mj-lt"/>
              </a:rPr>
              <a:t>The Pan American Sanitary Bureau (the </a:t>
            </a:r>
            <a:r>
              <a:rPr lang="en-US" sz="2800" dirty="0">
                <a:latin typeface="+mj-lt"/>
                <a:hlinkClick r:id="rId3"/>
              </a:rPr>
              <a:t>Pan American Health Organization </a:t>
            </a:r>
            <a:r>
              <a:rPr lang="en-US" sz="2800" dirty="0">
                <a:latin typeface="+mj-lt"/>
              </a:rPr>
              <a:t>today) was formed to coordinate the ultimately successful international effort to control yellow fever during the construction of the canal (1903-1914) </a:t>
            </a:r>
          </a:p>
          <a:p>
            <a:endParaRPr lang="en-US" sz="33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6403" y="936989"/>
            <a:ext cx="7585241" cy="3982252"/>
          </a:xfrm>
          <a:prstGeom prst="rect">
            <a:avLst/>
          </a:prstGeom>
        </p:spPr>
      </p:pic>
      <p:sp>
        <p:nvSpPr>
          <p:cNvPr id="2" name="Slide Number Placeholder 1">
            <a:extLst>
              <a:ext uri="{FF2B5EF4-FFF2-40B4-BE49-F238E27FC236}">
                <a16:creationId xmlns:a16="http://schemas.microsoft.com/office/drawing/2014/main" id="{8369263E-8CD4-4263-8A4F-A4FE64CDD6CF}"/>
              </a:ext>
            </a:extLst>
          </p:cNvPr>
          <p:cNvSpPr>
            <a:spLocks noGrp="1"/>
          </p:cNvSpPr>
          <p:nvPr>
            <p:ph type="sldNum" sz="quarter" idx="12"/>
          </p:nvPr>
        </p:nvSpPr>
        <p:spPr/>
        <p:txBody>
          <a:bodyPr/>
          <a:lstStyle/>
          <a:p>
            <a:fld id="{91F5D5B3-D24A-42EA-B582-81E5372869F6}" type="slidenum">
              <a:rPr lang="en-US" smtClean="0"/>
              <a:t>30</a:t>
            </a:fld>
            <a:endParaRPr lang="en-US" dirty="0"/>
          </a:p>
        </p:txBody>
      </p:sp>
    </p:spTree>
    <p:extLst>
      <p:ext uri="{BB962C8B-B14F-4D97-AF65-F5344CB8AC3E}">
        <p14:creationId xmlns:p14="http://schemas.microsoft.com/office/powerpoint/2010/main" val="2881759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248" y="336039"/>
            <a:ext cx="4389843" cy="6521961"/>
          </a:xfrm>
        </p:spPr>
        <p:txBody>
          <a:bodyPr>
            <a:noAutofit/>
          </a:bodyPr>
          <a:lstStyle/>
          <a:p>
            <a:r>
              <a:rPr lang="en-US" sz="2600" dirty="0">
                <a:latin typeface="Calibri Light" panose="020F0302020204030204" pitchFamily="34" charset="0"/>
              </a:rPr>
              <a:t>After World War 2, colonial power weakens throughout Asia and Africa and the era of colonial revolutions and self-determination begins. </a:t>
            </a:r>
          </a:p>
          <a:p>
            <a:r>
              <a:rPr lang="en-US" sz="2600" dirty="0">
                <a:latin typeface="Calibri Light" panose="020F0302020204030204" pitchFamily="34" charset="0"/>
              </a:rPr>
              <a:t>Global political and economic power becomes focused on contrasts in development among wealthier and more recently formed and poorer countries</a:t>
            </a:r>
          </a:p>
          <a:p>
            <a:r>
              <a:rPr lang="en-US" sz="2600" dirty="0">
                <a:latin typeface="Calibri Light" panose="020F0302020204030204" pitchFamily="34" charset="0"/>
              </a:rPr>
              <a:t>Internationalization of health along issues of health equity became more important under the newly formed </a:t>
            </a:r>
            <a:r>
              <a:rPr lang="en-US" sz="2600" b="1" dirty="0">
                <a:latin typeface="Calibri Light" panose="020F0302020204030204" pitchFamily="34" charset="0"/>
              </a:rPr>
              <a:t>United Nations in 1945 </a:t>
            </a:r>
          </a:p>
        </p:txBody>
      </p:sp>
      <p:pic>
        <p:nvPicPr>
          <p:cNvPr id="4" name="Picture 3" descr="A picture containing toy, colorful&#10;&#10;Description automatically generated">
            <a:extLst>
              <a:ext uri="{FF2B5EF4-FFF2-40B4-BE49-F238E27FC236}">
                <a16:creationId xmlns:a16="http://schemas.microsoft.com/office/drawing/2014/main" id="{D798C192-83E2-4B93-8030-94F4287357D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807" t="6558" b="6230"/>
          <a:stretch/>
        </p:blipFill>
        <p:spPr>
          <a:xfrm>
            <a:off x="5152722" y="136525"/>
            <a:ext cx="6201078" cy="6521961"/>
          </a:xfrm>
          <a:prstGeom prst="rect">
            <a:avLst/>
          </a:prstGeom>
        </p:spPr>
      </p:pic>
      <p:sp>
        <p:nvSpPr>
          <p:cNvPr id="2" name="Slide Number Placeholder 1">
            <a:extLst>
              <a:ext uri="{FF2B5EF4-FFF2-40B4-BE49-F238E27FC236}">
                <a16:creationId xmlns:a16="http://schemas.microsoft.com/office/drawing/2014/main" id="{480B1FF4-F0B8-44E5-94E2-E3B88BC85A77}"/>
              </a:ext>
            </a:extLst>
          </p:cNvPr>
          <p:cNvSpPr>
            <a:spLocks noGrp="1"/>
          </p:cNvSpPr>
          <p:nvPr>
            <p:ph type="sldNum" sz="quarter" idx="12"/>
          </p:nvPr>
        </p:nvSpPr>
        <p:spPr/>
        <p:txBody>
          <a:bodyPr/>
          <a:lstStyle/>
          <a:p>
            <a:fld id="{91F5D5B3-D24A-42EA-B582-81E5372869F6}" type="slidenum">
              <a:rPr lang="en-US" smtClean="0"/>
              <a:t>31</a:t>
            </a:fld>
            <a:endParaRPr lang="en-US" dirty="0"/>
          </a:p>
        </p:txBody>
      </p:sp>
    </p:spTree>
    <p:extLst>
      <p:ext uri="{BB962C8B-B14F-4D97-AF65-F5344CB8AC3E}">
        <p14:creationId xmlns:p14="http://schemas.microsoft.com/office/powerpoint/2010/main" val="1651941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374" y="496890"/>
            <a:ext cx="4533214" cy="5942010"/>
          </a:xfrm>
        </p:spPr>
        <p:txBody>
          <a:bodyPr>
            <a:noAutofit/>
          </a:bodyPr>
          <a:lstStyle/>
          <a:p>
            <a:r>
              <a:rPr lang="en-US" sz="2400" dirty="0">
                <a:latin typeface="Calibri Light" panose="020F0302020204030204" pitchFamily="34" charset="0"/>
              </a:rPr>
              <a:t>Planning for the </a:t>
            </a:r>
            <a:r>
              <a:rPr lang="en-US" sz="2400" b="1" dirty="0">
                <a:latin typeface="Calibri Light" panose="020F0302020204030204" pitchFamily="34" charset="0"/>
              </a:rPr>
              <a:t>World Health Organization</a:t>
            </a:r>
            <a:r>
              <a:rPr lang="en-US" sz="2400" dirty="0">
                <a:latin typeface="Calibri Light" panose="020F0302020204030204" pitchFamily="34" charset="0"/>
              </a:rPr>
              <a:t> began at a 1945 meeting of the United Nations</a:t>
            </a:r>
          </a:p>
          <a:p>
            <a:r>
              <a:rPr lang="en-US" sz="2400" dirty="0">
                <a:latin typeface="Calibri Light" panose="020F0302020204030204" pitchFamily="34" charset="0"/>
              </a:rPr>
              <a:t>WHO originally promoted by Brazil and China (not the U.S. or Europe) </a:t>
            </a:r>
          </a:p>
          <a:p>
            <a:r>
              <a:rPr lang="en-US" sz="2400" dirty="0">
                <a:latin typeface="Calibri Light" panose="020F0302020204030204" pitchFamily="34" charset="0"/>
              </a:rPr>
              <a:t>WHO aimed to have global membership</a:t>
            </a:r>
          </a:p>
          <a:p>
            <a:r>
              <a:rPr lang="en-US" sz="2400" dirty="0">
                <a:latin typeface="Calibri Light" panose="020F0302020204030204" pitchFamily="34" charset="0"/>
              </a:rPr>
              <a:t>1947 saw the first crisis of WHO, a cholera outbreak in Egypt. WHO succeeded in preventing neighboring countries from imposing damaging quarantines;  provided rehydration treatments, deployed sanitation measures and vaccination.</a:t>
            </a:r>
          </a:p>
        </p:txBody>
      </p:sp>
      <p:pic>
        <p:nvPicPr>
          <p:cNvPr id="4" name="Picture 3">
            <a:extLst>
              <a:ext uri="{FF2B5EF4-FFF2-40B4-BE49-F238E27FC236}">
                <a16:creationId xmlns:a16="http://schemas.microsoft.com/office/drawing/2014/main" id="{F3F5974F-6366-4EB3-8ADF-1AD6BF38003B}"/>
              </a:ext>
            </a:extLst>
          </p:cNvPr>
          <p:cNvPicPr>
            <a:picLocks noChangeAspect="1"/>
          </p:cNvPicPr>
          <p:nvPr/>
        </p:nvPicPr>
        <p:blipFill>
          <a:blip r:embed="rId3"/>
          <a:stretch>
            <a:fillRect/>
          </a:stretch>
        </p:blipFill>
        <p:spPr>
          <a:xfrm>
            <a:off x="5008588" y="-93689"/>
            <a:ext cx="7391400" cy="6553200"/>
          </a:xfrm>
          <a:prstGeom prst="rect">
            <a:avLst/>
          </a:prstGeom>
        </p:spPr>
      </p:pic>
      <p:sp>
        <p:nvSpPr>
          <p:cNvPr id="2" name="Slide Number Placeholder 1">
            <a:extLst>
              <a:ext uri="{FF2B5EF4-FFF2-40B4-BE49-F238E27FC236}">
                <a16:creationId xmlns:a16="http://schemas.microsoft.com/office/drawing/2014/main" id="{3FBAE788-6992-4F8A-A979-24040FB4A730}"/>
              </a:ext>
            </a:extLst>
          </p:cNvPr>
          <p:cNvSpPr>
            <a:spLocks noGrp="1"/>
          </p:cNvSpPr>
          <p:nvPr>
            <p:ph type="sldNum" sz="quarter" idx="12"/>
          </p:nvPr>
        </p:nvSpPr>
        <p:spPr/>
        <p:txBody>
          <a:bodyPr/>
          <a:lstStyle/>
          <a:p>
            <a:fld id="{91F5D5B3-D24A-42EA-B582-81E5372869F6}" type="slidenum">
              <a:rPr lang="en-US" smtClean="0"/>
              <a:t>32</a:t>
            </a:fld>
            <a:endParaRPr lang="en-US" dirty="0"/>
          </a:p>
        </p:txBody>
      </p:sp>
    </p:spTree>
    <p:extLst>
      <p:ext uri="{BB962C8B-B14F-4D97-AF65-F5344CB8AC3E}">
        <p14:creationId xmlns:p14="http://schemas.microsoft.com/office/powerpoint/2010/main" val="3957025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97405" y="324091"/>
            <a:ext cx="4951041" cy="3605485"/>
          </a:xfrm>
        </p:spPr>
        <p:txBody>
          <a:bodyPr>
            <a:noAutofit/>
          </a:bodyPr>
          <a:lstStyle/>
          <a:p>
            <a:r>
              <a:rPr lang="en-US" dirty="0"/>
              <a:t>With greater international legitimacy, WHO was formally established in 1948.</a:t>
            </a:r>
          </a:p>
          <a:p>
            <a:r>
              <a:rPr lang="en-US" dirty="0"/>
              <a:t>1955 WHO proposed global eradication of malaria, a disease most common in tropical countries of former colonies of Africa, Asia, and South America, although this attempt failed</a:t>
            </a:r>
          </a:p>
          <a:p>
            <a:r>
              <a:rPr lang="en-US" dirty="0"/>
              <a:t>1967 WHO began drive to eradicate smallpox, which was ultimately successful, twelve years later, in 1979</a:t>
            </a:r>
          </a:p>
        </p:txBody>
      </p:sp>
      <p:pic>
        <p:nvPicPr>
          <p:cNvPr id="4" name="Picture 3" descr="A close up of a sign&#10;&#10;Description automatically generated">
            <a:extLst>
              <a:ext uri="{FF2B5EF4-FFF2-40B4-BE49-F238E27FC236}">
                <a16:creationId xmlns:a16="http://schemas.microsoft.com/office/drawing/2014/main" id="{7700C181-1275-43C5-BD6D-E566F8D15B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0139" y="666071"/>
            <a:ext cx="5514456" cy="5866443"/>
          </a:xfrm>
          <a:prstGeom prst="rect">
            <a:avLst/>
          </a:prstGeom>
        </p:spPr>
      </p:pic>
      <p:sp>
        <p:nvSpPr>
          <p:cNvPr id="2" name="Slide Number Placeholder 1">
            <a:extLst>
              <a:ext uri="{FF2B5EF4-FFF2-40B4-BE49-F238E27FC236}">
                <a16:creationId xmlns:a16="http://schemas.microsoft.com/office/drawing/2014/main" id="{674E1883-E124-4DB1-A4C4-5406DC96DFAA}"/>
              </a:ext>
            </a:extLst>
          </p:cNvPr>
          <p:cNvSpPr>
            <a:spLocks noGrp="1"/>
          </p:cNvSpPr>
          <p:nvPr>
            <p:ph type="sldNum" sz="quarter" idx="12"/>
          </p:nvPr>
        </p:nvSpPr>
        <p:spPr/>
        <p:txBody>
          <a:bodyPr/>
          <a:lstStyle/>
          <a:p>
            <a:fld id="{91F5D5B3-D24A-42EA-B582-81E5372869F6}" type="slidenum">
              <a:rPr lang="en-US" smtClean="0"/>
              <a:t>33</a:t>
            </a:fld>
            <a:endParaRPr lang="en-US" dirty="0"/>
          </a:p>
        </p:txBody>
      </p:sp>
    </p:spTree>
    <p:extLst>
      <p:ext uri="{BB962C8B-B14F-4D97-AF65-F5344CB8AC3E}">
        <p14:creationId xmlns:p14="http://schemas.microsoft.com/office/powerpoint/2010/main" val="4067125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The broad legacies of colonialism in global health</a:t>
            </a:r>
          </a:p>
        </p:txBody>
      </p:sp>
      <p:sp>
        <p:nvSpPr>
          <p:cNvPr id="3" name="Content Placeholder 2"/>
          <p:cNvSpPr>
            <a:spLocks noGrp="1"/>
          </p:cNvSpPr>
          <p:nvPr>
            <p:ph idx="1"/>
          </p:nvPr>
        </p:nvSpPr>
        <p:spPr>
          <a:xfrm>
            <a:off x="838200" y="1825625"/>
            <a:ext cx="10515600" cy="4874113"/>
          </a:xfrm>
        </p:spPr>
        <p:txBody>
          <a:bodyPr>
            <a:normAutofit fontScale="92500"/>
          </a:bodyPr>
          <a:lstStyle/>
          <a:p>
            <a:pPr marL="514350" indent="-514350">
              <a:buFont typeface="+mj-lt"/>
              <a:buAutoNum type="arabicPeriod"/>
            </a:pPr>
            <a:r>
              <a:rPr lang="en-US" dirty="0">
                <a:latin typeface="Calibri Light" panose="020F0302020204030204" pitchFamily="34" charset="0"/>
                <a:cs typeface="Calibri Light" panose="020F0302020204030204" pitchFamily="34" charset="0"/>
              </a:rPr>
              <a:t>“Command-and-control” top-down administration of responses to global health issues: wealthier countries and global health institutions often dictate terms to poorer countries </a:t>
            </a:r>
          </a:p>
          <a:p>
            <a:pPr marL="514350" indent="-514350">
              <a:buFont typeface="+mj-lt"/>
              <a:buAutoNum type="arabicPeriod"/>
            </a:pPr>
            <a:r>
              <a:rPr lang="en-US" dirty="0">
                <a:latin typeface="Calibri Light" panose="020F0302020204030204" pitchFamily="34" charset="0"/>
                <a:cs typeface="Calibri Light" panose="020F0302020204030204" pitchFamily="34" charset="0"/>
              </a:rPr>
              <a:t>Eradication of a disease often stressed more than the long-term efforts to strengthen existing health systems and address the social and economic origins of disease in poor countries</a:t>
            </a:r>
          </a:p>
          <a:p>
            <a:pPr marL="514350" indent="-514350">
              <a:buFont typeface="+mj-lt"/>
              <a:buAutoNum type="arabicPeriod"/>
            </a:pPr>
            <a:r>
              <a:rPr lang="en-US" dirty="0">
                <a:latin typeface="Calibri Light" panose="020F0302020204030204" pitchFamily="34" charset="0"/>
                <a:cs typeface="Calibri Light" panose="020F0302020204030204" pitchFamily="34" charset="0"/>
              </a:rPr>
              <a:t>Although wealthier nations now extend health care help in a global context, their former colonial governments aimed to keep developing nations less economically empowered, sometimes for centuries </a:t>
            </a:r>
          </a:p>
          <a:p>
            <a:pPr marL="514350" indent="-514350">
              <a:buFont typeface="+mj-lt"/>
              <a:buAutoNum type="arabicPeriod"/>
            </a:pPr>
            <a:r>
              <a:rPr lang="en-US" dirty="0">
                <a:latin typeface="Calibri Light" panose="020F0302020204030204" pitchFamily="34" charset="0"/>
                <a:cs typeface="Calibri Light" panose="020F0302020204030204" pitchFamily="34" charset="0"/>
              </a:rPr>
              <a:t>Call have been made over the past several decades to </a:t>
            </a:r>
            <a:r>
              <a:rPr lang="en-US" b="1" dirty="0">
                <a:latin typeface="Calibri Light" panose="020F0302020204030204" pitchFamily="34" charset="0"/>
                <a:cs typeface="Calibri Light" panose="020F0302020204030204" pitchFamily="34" charset="0"/>
              </a:rPr>
              <a:t>‘</a:t>
            </a:r>
            <a:r>
              <a:rPr lang="en-US" dirty="0">
                <a:latin typeface="Calibri Light" panose="020F0302020204030204" pitchFamily="34" charset="0"/>
                <a:cs typeface="Calibri Light" panose="020F0302020204030204" pitchFamily="34" charset="0"/>
              </a:rPr>
              <a:t>decolonize’ global health, to invest in the independence of the health care systems of former colonized countries. </a:t>
            </a:r>
          </a:p>
          <a:p>
            <a:endParaRPr lang="en-US" dirty="0"/>
          </a:p>
          <a:p>
            <a:endParaRPr lang="en-US" dirty="0"/>
          </a:p>
        </p:txBody>
      </p:sp>
      <p:sp>
        <p:nvSpPr>
          <p:cNvPr id="4" name="Slide Number Placeholder 3">
            <a:extLst>
              <a:ext uri="{FF2B5EF4-FFF2-40B4-BE49-F238E27FC236}">
                <a16:creationId xmlns:a16="http://schemas.microsoft.com/office/drawing/2014/main" id="{7F598D04-FCA9-48B2-BB32-A3D21F164042}"/>
              </a:ext>
            </a:extLst>
          </p:cNvPr>
          <p:cNvSpPr>
            <a:spLocks noGrp="1"/>
          </p:cNvSpPr>
          <p:nvPr>
            <p:ph type="sldNum" sz="quarter" idx="12"/>
          </p:nvPr>
        </p:nvSpPr>
        <p:spPr/>
        <p:txBody>
          <a:bodyPr/>
          <a:lstStyle/>
          <a:p>
            <a:fld id="{91F5D5B3-D24A-42EA-B582-81E5372869F6}" type="slidenum">
              <a:rPr lang="en-US" smtClean="0"/>
              <a:t>34</a:t>
            </a:fld>
            <a:endParaRPr lang="en-US" dirty="0"/>
          </a:p>
        </p:txBody>
      </p:sp>
    </p:spTree>
    <p:extLst>
      <p:ext uri="{BB962C8B-B14F-4D97-AF65-F5344CB8AC3E}">
        <p14:creationId xmlns:p14="http://schemas.microsoft.com/office/powerpoint/2010/main" val="762181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7E91-E81E-ABD1-4B50-DF790A4E0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974D1-AE9B-AB1D-5341-DDBF750692F9}"/>
              </a:ext>
            </a:extLst>
          </p:cNvPr>
          <p:cNvSpPr>
            <a:spLocks noGrp="1"/>
          </p:cNvSpPr>
          <p:nvPr>
            <p:ph type="title"/>
          </p:nvPr>
        </p:nvSpPr>
        <p:spPr/>
        <p:txBody>
          <a:bodyPr>
            <a:normAutofit/>
          </a:bodyPr>
          <a:lstStyle/>
          <a:p>
            <a:pPr algn="ctr"/>
            <a:r>
              <a:rPr lang="en-US" dirty="0"/>
              <a:t>The types of colonial institutions differed in how they extracted wealth</a:t>
            </a:r>
            <a:endParaRPr dirty="0"/>
          </a:p>
        </p:txBody>
      </p:sp>
      <p:sp>
        <p:nvSpPr>
          <p:cNvPr id="3" name="Content Placeholder 2">
            <a:extLst>
              <a:ext uri="{FF2B5EF4-FFF2-40B4-BE49-F238E27FC236}">
                <a16:creationId xmlns:a16="http://schemas.microsoft.com/office/drawing/2014/main" id="{19A9E8B4-64CA-F6C6-8ACC-C9EED5455256}"/>
              </a:ext>
            </a:extLst>
          </p:cNvPr>
          <p:cNvSpPr>
            <a:spLocks noGrp="1"/>
          </p:cNvSpPr>
          <p:nvPr>
            <p:ph idx="1"/>
          </p:nvPr>
        </p:nvSpPr>
        <p:spPr/>
        <p:txBody>
          <a:bodyPr>
            <a:normAutofit/>
          </a:bodyPr>
          <a:lstStyle/>
          <a:p>
            <a:pPr marL="514350" indent="-514350">
              <a:buFont typeface="+mj-lt"/>
              <a:buAutoNum type="arabicPeriod"/>
            </a:pPr>
            <a:r>
              <a:rPr lang="en-US" dirty="0"/>
              <a:t>Institutions of s</a:t>
            </a:r>
            <a:r>
              <a:rPr dirty="0"/>
              <a:t>ettler </a:t>
            </a:r>
            <a:r>
              <a:rPr lang="en-US" dirty="0"/>
              <a:t>c</a:t>
            </a:r>
            <a:r>
              <a:rPr dirty="0"/>
              <a:t>olonies </a:t>
            </a:r>
            <a:r>
              <a:rPr lang="en-US" dirty="0"/>
              <a:t>(</a:t>
            </a:r>
            <a:r>
              <a:rPr dirty="0"/>
              <a:t>U.S., Canada, Australia)</a:t>
            </a:r>
          </a:p>
          <a:p>
            <a:pPr lvl="1"/>
            <a:r>
              <a:rPr lang="en-US" dirty="0"/>
              <a:t>L</a:t>
            </a:r>
            <a:r>
              <a:rPr dirty="0"/>
              <a:t>ow </a:t>
            </a:r>
            <a:r>
              <a:rPr lang="en-US" dirty="0"/>
              <a:t>indigenous </a:t>
            </a:r>
            <a:r>
              <a:rPr dirty="0"/>
              <a:t>population density</a:t>
            </a:r>
            <a:r>
              <a:rPr lang="en-US" dirty="0"/>
              <a:t> and l</a:t>
            </a:r>
            <a:r>
              <a:rPr dirty="0"/>
              <a:t>ow mortality for Europeans</a:t>
            </a:r>
            <a:r>
              <a:rPr lang="en-US" dirty="0"/>
              <a:t>, so E</a:t>
            </a:r>
            <a:r>
              <a:rPr dirty="0"/>
              <a:t>uropeans settled in large numbers</a:t>
            </a:r>
            <a:r>
              <a:rPr lang="en-US" dirty="0"/>
              <a:t>. The colonial countries b</a:t>
            </a:r>
            <a:r>
              <a:rPr dirty="0"/>
              <a:t>uilt inclusive institutions</a:t>
            </a:r>
            <a:r>
              <a:rPr lang="en-US" dirty="0"/>
              <a:t> to motivate settlers through the inclusion of </a:t>
            </a:r>
            <a:r>
              <a:rPr dirty="0"/>
              <a:t>property rights</a:t>
            </a:r>
            <a:r>
              <a:rPr lang="en-US" dirty="0"/>
              <a:t> and a</a:t>
            </a:r>
            <a:r>
              <a:rPr dirty="0"/>
              <a:t> rule of law</a:t>
            </a:r>
            <a:r>
              <a:rPr lang="en-US" dirty="0"/>
              <a:t>. These colonies contributed less wealth to their European rulers. </a:t>
            </a:r>
          </a:p>
          <a:p>
            <a:pPr marL="514350" indent="-514350">
              <a:buFont typeface="+mj-lt"/>
              <a:buAutoNum type="arabicPeriod"/>
            </a:pPr>
            <a:r>
              <a:rPr lang="en-US" dirty="0"/>
              <a:t>Institutions of e</a:t>
            </a:r>
            <a:r>
              <a:rPr dirty="0"/>
              <a:t>xtractive </a:t>
            </a:r>
            <a:r>
              <a:rPr lang="en-US" dirty="0"/>
              <a:t>c</a:t>
            </a:r>
            <a:r>
              <a:rPr dirty="0"/>
              <a:t>olonies (Congo, India, Peru)</a:t>
            </a:r>
          </a:p>
          <a:p>
            <a:pPr lvl="1"/>
            <a:r>
              <a:rPr dirty="0"/>
              <a:t>High</a:t>
            </a:r>
            <a:r>
              <a:rPr lang="en-US" dirty="0"/>
              <a:t> indigenous </a:t>
            </a:r>
            <a:r>
              <a:rPr dirty="0"/>
              <a:t>population density</a:t>
            </a:r>
            <a:r>
              <a:rPr lang="en-US" dirty="0"/>
              <a:t> and h</a:t>
            </a:r>
            <a:r>
              <a:rPr dirty="0"/>
              <a:t>igh settler mortality </a:t>
            </a:r>
            <a:r>
              <a:rPr lang="en-US" dirty="0"/>
              <a:t>due to disease led to fewer European settlers. Goal became to extract resources using local labor with minimal settler involvement. This led to the creation of </a:t>
            </a:r>
            <a:r>
              <a:rPr dirty="0"/>
              <a:t>extractive</a:t>
            </a:r>
            <a:r>
              <a:rPr lang="en-US" dirty="0"/>
              <a:t> colonial</a:t>
            </a:r>
            <a:r>
              <a:rPr dirty="0"/>
              <a:t> institutions: coercion, </a:t>
            </a:r>
            <a:r>
              <a:rPr lang="en-US" dirty="0"/>
              <a:t>and </a:t>
            </a:r>
            <a:r>
              <a:rPr dirty="0"/>
              <a:t>centralized </a:t>
            </a:r>
            <a:r>
              <a:rPr lang="en-US" dirty="0"/>
              <a:t>power in </a:t>
            </a:r>
            <a:r>
              <a:rPr dirty="0"/>
              <a:t>elites</a:t>
            </a:r>
            <a:r>
              <a:rPr lang="en-US" dirty="0"/>
              <a:t>. These colonies and their institutions generated large amounts of wealth for the colonizers. </a:t>
            </a:r>
          </a:p>
          <a:p>
            <a:endParaRPr dirty="0"/>
          </a:p>
        </p:txBody>
      </p:sp>
    </p:spTree>
    <p:extLst>
      <p:ext uri="{BB962C8B-B14F-4D97-AF65-F5344CB8AC3E}">
        <p14:creationId xmlns:p14="http://schemas.microsoft.com/office/powerpoint/2010/main" val="3301696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CD03C-02C4-081F-C545-2B54604C0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67150-3FEA-E0B3-430B-A3D920B00E5C}"/>
              </a:ext>
            </a:extLst>
          </p:cNvPr>
          <p:cNvSpPr>
            <a:spLocks noGrp="1"/>
          </p:cNvSpPr>
          <p:nvPr>
            <p:ph type="title"/>
          </p:nvPr>
        </p:nvSpPr>
        <p:spPr/>
        <p:txBody>
          <a:bodyPr>
            <a:normAutofit/>
          </a:bodyPr>
          <a:lstStyle/>
          <a:p>
            <a:pPr algn="ctr"/>
            <a:r>
              <a:rPr lang="en-US" dirty="0"/>
              <a:t>This in turn influenced post-colonial development and public health</a:t>
            </a:r>
            <a:endParaRPr dirty="0"/>
          </a:p>
        </p:txBody>
      </p:sp>
      <p:sp>
        <p:nvSpPr>
          <p:cNvPr id="3" name="Content Placeholder 2">
            <a:extLst>
              <a:ext uri="{FF2B5EF4-FFF2-40B4-BE49-F238E27FC236}">
                <a16:creationId xmlns:a16="http://schemas.microsoft.com/office/drawing/2014/main" id="{FA2EE401-5361-E0D4-752B-7A4547970F19}"/>
              </a:ext>
            </a:extLst>
          </p:cNvPr>
          <p:cNvSpPr>
            <a:spLocks noGrp="1"/>
          </p:cNvSpPr>
          <p:nvPr>
            <p:ph idx="1"/>
          </p:nvPr>
        </p:nvSpPr>
        <p:spPr/>
        <p:txBody>
          <a:bodyPr>
            <a:normAutofit lnSpcReduction="10000"/>
          </a:bodyPr>
          <a:lstStyle/>
          <a:p>
            <a:r>
              <a:rPr dirty="0"/>
              <a:t>In 1500, densely populated regions</a:t>
            </a:r>
            <a:r>
              <a:rPr lang="en-US" dirty="0"/>
              <a:t> in South America (Inca), India (Mughal) and Mexico (Aztec) were centers of extractive wealth for the colonizers (Type 2 institution)</a:t>
            </a:r>
          </a:p>
          <a:p>
            <a:r>
              <a:rPr lang="en-US" dirty="0"/>
              <a:t>Today these </a:t>
            </a:r>
            <a:r>
              <a:rPr dirty="0"/>
              <a:t>formerly rich regions </a:t>
            </a:r>
            <a:r>
              <a:rPr lang="en-US" dirty="0"/>
              <a:t>are more </a:t>
            </a:r>
            <a:r>
              <a:rPr dirty="0"/>
              <a:t>often poorer</a:t>
            </a:r>
            <a:r>
              <a:rPr lang="en-US" dirty="0"/>
              <a:t>. This is because e</a:t>
            </a:r>
            <a:r>
              <a:rPr dirty="0"/>
              <a:t>xtractive institutions </a:t>
            </a:r>
            <a:r>
              <a:rPr lang="en-US" dirty="0"/>
              <a:t>(mining, labor-intensive agriculture) </a:t>
            </a:r>
            <a:r>
              <a:rPr dirty="0"/>
              <a:t>persisted after independence</a:t>
            </a:r>
            <a:r>
              <a:rPr lang="en-US" dirty="0"/>
              <a:t> from colonizers</a:t>
            </a:r>
          </a:p>
          <a:p>
            <a:r>
              <a:rPr lang="en-US" dirty="0"/>
              <a:t>Type 1 colonial </a:t>
            </a:r>
            <a:r>
              <a:rPr dirty="0"/>
              <a:t>institutions</a:t>
            </a:r>
            <a:r>
              <a:rPr lang="en-US" dirty="0"/>
              <a:t> were more likely to facilitate </a:t>
            </a:r>
            <a:r>
              <a:rPr dirty="0"/>
              <a:t>economic growth and innovation</a:t>
            </a:r>
            <a:r>
              <a:rPr lang="en-US" dirty="0"/>
              <a:t> in the post-colonial period. No long term intensive extractive industries</a:t>
            </a:r>
            <a:endParaRPr dirty="0"/>
          </a:p>
          <a:p>
            <a:r>
              <a:rPr dirty="0"/>
              <a:t>Today’s global inequality</a:t>
            </a:r>
            <a:r>
              <a:rPr lang="en-US" dirty="0"/>
              <a:t> in health and wealth</a:t>
            </a:r>
            <a:r>
              <a:rPr dirty="0"/>
              <a:t> reflects </a:t>
            </a:r>
            <a:r>
              <a:rPr lang="en-US" dirty="0"/>
              <a:t>these </a:t>
            </a:r>
            <a:r>
              <a:rPr dirty="0"/>
              <a:t>path-dependent colonial </a:t>
            </a:r>
            <a:r>
              <a:rPr lang="en-US" dirty="0"/>
              <a:t>institutional frameworks</a:t>
            </a:r>
            <a:endParaRPr dirty="0"/>
          </a:p>
        </p:txBody>
      </p:sp>
    </p:spTree>
    <p:extLst>
      <p:ext uri="{BB962C8B-B14F-4D97-AF65-F5344CB8AC3E}">
        <p14:creationId xmlns:p14="http://schemas.microsoft.com/office/powerpoint/2010/main" val="1203053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6898-9898-49B5-A2D2-7C724F17B7AE}"/>
              </a:ext>
            </a:extLst>
          </p:cNvPr>
          <p:cNvSpPr>
            <a:spLocks noGrp="1"/>
          </p:cNvSpPr>
          <p:nvPr>
            <p:ph type="title"/>
          </p:nvPr>
        </p:nvSpPr>
        <p:spPr/>
        <p:txBody>
          <a:bodyPr/>
          <a:lstStyle/>
          <a:p>
            <a:pPr algn="ctr"/>
            <a:r>
              <a:rPr lang="en-US" dirty="0"/>
              <a:t>What does “decolonializing” global health mean?</a:t>
            </a:r>
          </a:p>
        </p:txBody>
      </p:sp>
      <p:pic>
        <p:nvPicPr>
          <p:cNvPr id="4" name="Content Placeholder 3">
            <a:hlinkClick r:id="rId3"/>
            <a:extLst>
              <a:ext uri="{FF2B5EF4-FFF2-40B4-BE49-F238E27FC236}">
                <a16:creationId xmlns:a16="http://schemas.microsoft.com/office/drawing/2014/main" id="{0D538BEE-1037-4FF3-B4B6-4B0CE119BF8A}"/>
              </a:ext>
            </a:extLst>
          </p:cNvPr>
          <p:cNvPicPr>
            <a:picLocks noGrp="1" noChangeAspect="1"/>
          </p:cNvPicPr>
          <p:nvPr>
            <p:ph idx="1"/>
          </p:nvPr>
        </p:nvPicPr>
        <p:blipFill>
          <a:blip r:embed="rId4"/>
          <a:stretch>
            <a:fillRect/>
          </a:stretch>
        </p:blipFill>
        <p:spPr>
          <a:xfrm>
            <a:off x="7404483" y="1847850"/>
            <a:ext cx="4542495" cy="4351338"/>
          </a:xfrm>
          <a:prstGeom prst="rect">
            <a:avLst/>
          </a:prstGeom>
          <a:ln w="47625">
            <a:solidFill>
              <a:schemeClr val="accent1"/>
            </a:solidFill>
          </a:ln>
        </p:spPr>
      </p:pic>
      <p:sp>
        <p:nvSpPr>
          <p:cNvPr id="5" name="Content Placeholder 2">
            <a:extLst>
              <a:ext uri="{FF2B5EF4-FFF2-40B4-BE49-F238E27FC236}">
                <a16:creationId xmlns:a16="http://schemas.microsoft.com/office/drawing/2014/main" id="{7351428C-9C34-4A92-8E18-07C784E5AFDB}"/>
              </a:ext>
            </a:extLst>
          </p:cNvPr>
          <p:cNvSpPr txBox="1">
            <a:spLocks/>
          </p:cNvSpPr>
          <p:nvPr/>
        </p:nvSpPr>
        <p:spPr>
          <a:xfrm>
            <a:off x="245022" y="1690688"/>
            <a:ext cx="6739102" cy="4874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latin typeface="Calibri Light" panose="020F0302020204030204" pitchFamily="34" charset="0"/>
                <a:cs typeface="Calibri Light" panose="020F0302020204030204" pitchFamily="34" charset="0"/>
              </a:rPr>
              <a:t>Addressing the legacy of power and control left by colonialism on global health</a:t>
            </a:r>
          </a:p>
          <a:p>
            <a:pPr lvl="1"/>
            <a:r>
              <a:rPr lang="en-US" sz="2800" dirty="0">
                <a:latin typeface="Calibri Light" panose="020F0302020204030204" pitchFamily="34" charset="0"/>
                <a:cs typeface="Calibri Light" panose="020F0302020204030204" pitchFamily="34" charset="0"/>
              </a:rPr>
              <a:t>Global health research largely dominated by Western researchers building their careers off studies of people who may not benefit from their participation</a:t>
            </a:r>
            <a:endParaRPr lang="en-US" sz="2600" dirty="0">
              <a:latin typeface="Calibri Light" panose="020F0302020204030204" pitchFamily="34" charset="0"/>
              <a:cs typeface="Calibri Light" panose="020F0302020204030204" pitchFamily="34" charset="0"/>
            </a:endParaRPr>
          </a:p>
          <a:p>
            <a:pPr lvl="1"/>
            <a:r>
              <a:rPr lang="en-US" sz="2800" dirty="0">
                <a:latin typeface="Calibri Light" panose="020F0302020204030204" pitchFamily="34" charset="0"/>
                <a:cs typeface="Calibri Light" panose="020F0302020204030204" pitchFamily="34" charset="0"/>
              </a:rPr>
              <a:t>Relationships within global health are still heavily dominated by the idea that the Global North is "helping" the Global South.</a:t>
            </a:r>
          </a:p>
          <a:p>
            <a:pPr marL="457200" lvl="1" indent="0">
              <a:buNone/>
            </a:pPr>
            <a:endParaRPr lang="en-US" sz="2800" dirty="0">
              <a:latin typeface="Calibri Light" panose="020F0302020204030204" pitchFamily="34" charset="0"/>
              <a:cs typeface="Calibri Light" panose="020F0302020204030204" pitchFamily="34" charset="0"/>
            </a:endParaRPr>
          </a:p>
          <a:p>
            <a:pPr marL="457200" lvl="1" indent="0">
              <a:buNone/>
            </a:pPr>
            <a:endParaRPr lang="en-US" sz="2800" dirty="0"/>
          </a:p>
          <a:p>
            <a:endParaRPr lang="en-US" dirty="0"/>
          </a:p>
        </p:txBody>
      </p:sp>
      <p:sp>
        <p:nvSpPr>
          <p:cNvPr id="3" name="Slide Number Placeholder 2">
            <a:extLst>
              <a:ext uri="{FF2B5EF4-FFF2-40B4-BE49-F238E27FC236}">
                <a16:creationId xmlns:a16="http://schemas.microsoft.com/office/drawing/2014/main" id="{69CAA523-1894-4CFD-B9AF-D4DBDE9A3009}"/>
              </a:ext>
            </a:extLst>
          </p:cNvPr>
          <p:cNvSpPr>
            <a:spLocks noGrp="1"/>
          </p:cNvSpPr>
          <p:nvPr>
            <p:ph type="sldNum" sz="quarter" idx="12"/>
          </p:nvPr>
        </p:nvSpPr>
        <p:spPr/>
        <p:txBody>
          <a:bodyPr/>
          <a:lstStyle/>
          <a:p>
            <a:fld id="{91F5D5B3-D24A-42EA-B582-81E5372869F6}" type="slidenum">
              <a:rPr lang="en-US" smtClean="0"/>
              <a:t>37</a:t>
            </a:fld>
            <a:endParaRPr lang="en-US" dirty="0"/>
          </a:p>
        </p:txBody>
      </p:sp>
    </p:spTree>
    <p:extLst>
      <p:ext uri="{BB962C8B-B14F-4D97-AF65-F5344CB8AC3E}">
        <p14:creationId xmlns:p14="http://schemas.microsoft.com/office/powerpoint/2010/main" val="3838786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hlinkClick r:id="rId3"/>
            <a:extLst>
              <a:ext uri="{FF2B5EF4-FFF2-40B4-BE49-F238E27FC236}">
                <a16:creationId xmlns:a16="http://schemas.microsoft.com/office/drawing/2014/main" id="{4B3EE1F4-A2E4-8A49-9E00-11F4C8F4D28C}"/>
              </a:ext>
            </a:extLst>
          </p:cNvPr>
          <p:cNvPicPr>
            <a:picLocks noGrp="1" noChangeAspect="1"/>
          </p:cNvPicPr>
          <p:nvPr>
            <p:ph idx="1"/>
          </p:nvPr>
        </p:nvPicPr>
        <p:blipFill>
          <a:blip r:embed="rId4"/>
          <a:stretch>
            <a:fillRect/>
          </a:stretch>
        </p:blipFill>
        <p:spPr>
          <a:xfrm>
            <a:off x="5411544" y="358548"/>
            <a:ext cx="6398112" cy="6140903"/>
          </a:xfrm>
          <a:ln w="47625">
            <a:solidFill>
              <a:schemeClr val="accent1"/>
            </a:solidFill>
          </a:ln>
        </p:spPr>
      </p:pic>
      <p:sp>
        <p:nvSpPr>
          <p:cNvPr id="4" name="Slide Number Placeholder 3">
            <a:extLst>
              <a:ext uri="{FF2B5EF4-FFF2-40B4-BE49-F238E27FC236}">
                <a16:creationId xmlns:a16="http://schemas.microsoft.com/office/drawing/2014/main" id="{F3F3C008-8B9B-90E9-71CB-51BBE9843384}"/>
              </a:ext>
            </a:extLst>
          </p:cNvPr>
          <p:cNvSpPr>
            <a:spLocks noGrp="1"/>
          </p:cNvSpPr>
          <p:nvPr>
            <p:ph type="sldNum" sz="quarter" idx="12"/>
          </p:nvPr>
        </p:nvSpPr>
        <p:spPr/>
        <p:txBody>
          <a:bodyPr/>
          <a:lstStyle/>
          <a:p>
            <a:fld id="{91F5D5B3-D24A-42EA-B582-81E5372869F6}" type="slidenum">
              <a:rPr lang="en-US" smtClean="0"/>
              <a:pPr/>
              <a:t>38</a:t>
            </a:fld>
            <a:endParaRPr lang="en-US" dirty="0"/>
          </a:p>
        </p:txBody>
      </p:sp>
      <p:sp>
        <p:nvSpPr>
          <p:cNvPr id="2" name="Content Placeholder 2">
            <a:extLst>
              <a:ext uri="{FF2B5EF4-FFF2-40B4-BE49-F238E27FC236}">
                <a16:creationId xmlns:a16="http://schemas.microsoft.com/office/drawing/2014/main" id="{67F25FAB-8AA4-EE5A-D931-C443C91E64EB}"/>
              </a:ext>
            </a:extLst>
          </p:cNvPr>
          <p:cNvSpPr txBox="1">
            <a:spLocks/>
          </p:cNvSpPr>
          <p:nvPr/>
        </p:nvSpPr>
        <p:spPr>
          <a:xfrm>
            <a:off x="245022" y="580572"/>
            <a:ext cx="4776921" cy="598423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latin typeface="Calibri Light" panose="020F0302020204030204" pitchFamily="34" charset="0"/>
                <a:cs typeface="Calibri Light" panose="020F0302020204030204" pitchFamily="34" charset="0"/>
              </a:rPr>
              <a:t>Extreme advocates of the decolonization of global health have gone so far as to call for the field of global health to be dismantled altogether.</a:t>
            </a:r>
          </a:p>
          <a:p>
            <a:r>
              <a:rPr lang="en-US" sz="3200" dirty="0">
                <a:latin typeface="Calibri Light" panose="020F0302020204030204" pitchFamily="34" charset="0"/>
                <a:cs typeface="Calibri Light" panose="020F0302020204030204" pitchFamily="34" charset="0"/>
              </a:rPr>
              <a:t>They criticize it as being ‘safari science’</a:t>
            </a:r>
          </a:p>
          <a:p>
            <a:r>
              <a:rPr lang="en-US" sz="3200" dirty="0">
                <a:latin typeface="Calibri Light" panose="020F0302020204030204" pitchFamily="34" charset="0"/>
                <a:cs typeface="Calibri Light" panose="020F0302020204030204" pitchFamily="34" charset="0"/>
              </a:rPr>
              <a:t>The danger is that in efforts to remedy lingering impacts of colonialism, some of the benefits of a global viewpoint on health could be lost</a:t>
            </a:r>
          </a:p>
          <a:p>
            <a:pPr marL="0" indent="0">
              <a:buNone/>
            </a:pPr>
            <a:endParaRPr lang="en-US" sz="3200" dirty="0">
              <a:latin typeface="Calibri Light" panose="020F0302020204030204" pitchFamily="34" charset="0"/>
              <a:cs typeface="Calibri Light" panose="020F0302020204030204" pitchFamily="34" charset="0"/>
            </a:endParaRPr>
          </a:p>
          <a:p>
            <a:pPr marL="457200" lvl="1" indent="0">
              <a:buNone/>
            </a:pPr>
            <a:endParaRPr lang="en-US" sz="2800" dirty="0">
              <a:latin typeface="Calibri Light" panose="020F0302020204030204" pitchFamily="34" charset="0"/>
              <a:cs typeface="Calibri Light" panose="020F0302020204030204" pitchFamily="34" charset="0"/>
            </a:endParaRPr>
          </a:p>
          <a:p>
            <a:pPr marL="457200" lvl="1" indent="0">
              <a:buNone/>
            </a:pPr>
            <a:endParaRPr lang="en-US" sz="2800" dirty="0"/>
          </a:p>
          <a:p>
            <a:endParaRPr lang="en-US" dirty="0"/>
          </a:p>
        </p:txBody>
      </p:sp>
    </p:spTree>
    <p:extLst>
      <p:ext uri="{BB962C8B-B14F-4D97-AF65-F5344CB8AC3E}">
        <p14:creationId xmlns:p14="http://schemas.microsoft.com/office/powerpoint/2010/main" val="3061220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D29B-EB2A-4926-A1FE-C1D40B9924AE}"/>
              </a:ext>
            </a:extLst>
          </p:cNvPr>
          <p:cNvSpPr>
            <a:spLocks noGrp="1"/>
          </p:cNvSpPr>
          <p:nvPr>
            <p:ph type="title"/>
          </p:nvPr>
        </p:nvSpPr>
        <p:spPr>
          <a:xfrm>
            <a:off x="6419168" y="-61175"/>
            <a:ext cx="5827940" cy="1325563"/>
          </a:xfrm>
        </p:spPr>
        <p:txBody>
          <a:bodyPr/>
          <a:lstStyle/>
          <a:p>
            <a:r>
              <a:rPr lang="en-US" dirty="0"/>
              <a:t>What is ‘safari science’?</a:t>
            </a:r>
          </a:p>
        </p:txBody>
      </p:sp>
      <p:sp>
        <p:nvSpPr>
          <p:cNvPr id="5" name="Content Placeholder 2">
            <a:extLst>
              <a:ext uri="{FF2B5EF4-FFF2-40B4-BE49-F238E27FC236}">
                <a16:creationId xmlns:a16="http://schemas.microsoft.com/office/drawing/2014/main" id="{018D6CC7-FA88-40C0-8FD0-9C23D9F04900}"/>
              </a:ext>
            </a:extLst>
          </p:cNvPr>
          <p:cNvSpPr txBox="1">
            <a:spLocks/>
          </p:cNvSpPr>
          <p:nvPr/>
        </p:nvSpPr>
        <p:spPr>
          <a:xfrm>
            <a:off x="384849" y="300942"/>
            <a:ext cx="5827941" cy="630571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Derogatory label given to ‘extractive’ scientific studies that take place in developing world by scientists from wealthier nations</a:t>
            </a:r>
          </a:p>
          <a:p>
            <a:pPr lvl="1"/>
            <a:r>
              <a:rPr lang="en-US" dirty="0"/>
              <a:t>Local investigators in low-income countries (LIC) function more as data collectors and translators than fully vested collaborators.</a:t>
            </a:r>
          </a:p>
          <a:p>
            <a:pPr lvl="1"/>
            <a:r>
              <a:rPr lang="en-US" dirty="0"/>
              <a:t>Funding originates from high-income countries (HIC) and most money goes to researchers and labs of these countries</a:t>
            </a:r>
          </a:p>
          <a:p>
            <a:pPr lvl="1"/>
            <a:r>
              <a:rPr lang="en-US" dirty="0"/>
              <a:t>Research questions guided by agencies in HIC rather than by LIC priorities</a:t>
            </a:r>
          </a:p>
          <a:p>
            <a:pPr lvl="1"/>
            <a:r>
              <a:rPr lang="en-US" dirty="0"/>
              <a:t>Samples and data are extracted and housed outside of the countries where they originated</a:t>
            </a:r>
          </a:p>
          <a:p>
            <a:pPr lvl="1"/>
            <a:r>
              <a:rPr lang="en-US" dirty="0"/>
              <a:t>Benefits may not prioritize the countries where the research took place</a:t>
            </a:r>
          </a:p>
          <a:p>
            <a:endParaRPr lang="en-US" dirty="0"/>
          </a:p>
        </p:txBody>
      </p:sp>
      <p:pic>
        <p:nvPicPr>
          <p:cNvPr id="7" name="Picture 6">
            <a:hlinkClick r:id="rId3"/>
            <a:extLst>
              <a:ext uri="{FF2B5EF4-FFF2-40B4-BE49-F238E27FC236}">
                <a16:creationId xmlns:a16="http://schemas.microsoft.com/office/drawing/2014/main" id="{32CBF576-1C6E-4742-856A-AFBD48CC1D38}"/>
              </a:ext>
            </a:extLst>
          </p:cNvPr>
          <p:cNvPicPr>
            <a:picLocks noChangeAspect="1"/>
          </p:cNvPicPr>
          <p:nvPr/>
        </p:nvPicPr>
        <p:blipFill>
          <a:blip r:embed="rId4"/>
          <a:stretch>
            <a:fillRect/>
          </a:stretch>
        </p:blipFill>
        <p:spPr>
          <a:xfrm>
            <a:off x="6666140" y="1160655"/>
            <a:ext cx="5333996" cy="4987897"/>
          </a:xfrm>
          <a:prstGeom prst="rect">
            <a:avLst/>
          </a:prstGeom>
          <a:ln w="22225">
            <a:solidFill>
              <a:schemeClr val="accent1"/>
            </a:solidFill>
          </a:ln>
        </p:spPr>
      </p:pic>
      <p:sp>
        <p:nvSpPr>
          <p:cNvPr id="3" name="Slide Number Placeholder 2">
            <a:extLst>
              <a:ext uri="{FF2B5EF4-FFF2-40B4-BE49-F238E27FC236}">
                <a16:creationId xmlns:a16="http://schemas.microsoft.com/office/drawing/2014/main" id="{7B5728FE-F3A1-43EC-8BEB-2DB721EA9A2C}"/>
              </a:ext>
            </a:extLst>
          </p:cNvPr>
          <p:cNvSpPr>
            <a:spLocks noGrp="1"/>
          </p:cNvSpPr>
          <p:nvPr>
            <p:ph type="sldNum" sz="quarter" idx="12"/>
          </p:nvPr>
        </p:nvSpPr>
        <p:spPr/>
        <p:txBody>
          <a:bodyPr/>
          <a:lstStyle/>
          <a:p>
            <a:fld id="{91F5D5B3-D24A-42EA-B582-81E5372869F6}" type="slidenum">
              <a:rPr lang="en-US" smtClean="0"/>
              <a:t>39</a:t>
            </a:fld>
            <a:endParaRPr lang="en-US" dirty="0"/>
          </a:p>
        </p:txBody>
      </p:sp>
    </p:spTree>
    <p:extLst>
      <p:ext uri="{BB962C8B-B14F-4D97-AF65-F5344CB8AC3E}">
        <p14:creationId xmlns:p14="http://schemas.microsoft.com/office/powerpoint/2010/main" val="3539475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0CCD5-43F9-64D2-DBCF-53D765E8C6B2}"/>
              </a:ext>
            </a:extLst>
          </p:cNvPr>
          <p:cNvSpPr>
            <a:spLocks noGrp="1"/>
          </p:cNvSpPr>
          <p:nvPr>
            <p:ph type="title"/>
          </p:nvPr>
        </p:nvSpPr>
        <p:spPr/>
        <p:txBody>
          <a:bodyPr/>
          <a:lstStyle/>
          <a:p>
            <a:r>
              <a:rPr lang="en-US" dirty="0"/>
              <a:t>Global health after 2025: the old model broke</a:t>
            </a:r>
          </a:p>
        </p:txBody>
      </p:sp>
      <p:sp>
        <p:nvSpPr>
          <p:cNvPr id="3" name="Content Placeholder 2">
            <a:extLst>
              <a:ext uri="{FF2B5EF4-FFF2-40B4-BE49-F238E27FC236}">
                <a16:creationId xmlns:a16="http://schemas.microsoft.com/office/drawing/2014/main" id="{F6D22207-B585-861E-7EEC-E2D22F847F93}"/>
              </a:ext>
            </a:extLst>
          </p:cNvPr>
          <p:cNvSpPr>
            <a:spLocks noGrp="1"/>
          </p:cNvSpPr>
          <p:nvPr>
            <p:ph idx="1"/>
          </p:nvPr>
        </p:nvSpPr>
        <p:spPr/>
        <p:txBody>
          <a:bodyPr>
            <a:normAutofit lnSpcReduction="10000"/>
          </a:bodyPr>
          <a:lstStyle/>
          <a:p>
            <a:r>
              <a:rPr lang="en-US" dirty="0"/>
              <a:t>For decades, global health depended on a U.S.-anchored model: USAID, PEPFAR, WHO, Gavi, the Global Fund, and U.S.-backed NGOs kept clinics open, paid health workers, bought drugs, supported surveillance, and coordinated outbreak response.</a:t>
            </a:r>
          </a:p>
          <a:p>
            <a:r>
              <a:rPr lang="en-US" dirty="0"/>
              <a:t>In 2025, US froze foreign assistance, moved to withdraw from WHO, dismantled much of USAID, cancelled large numbers of global health awards, reduced support for HIV programs, and moved away from vaccine and multilateral health funding.</a:t>
            </a:r>
          </a:p>
          <a:p>
            <a:r>
              <a:rPr lang="en-US" dirty="0"/>
              <a:t>Contracts stopped, staff were laid off, clinics closed, drug procurement was interrupted, country programs lost technical support, and multilateral agencies had to cut budgets.</a:t>
            </a:r>
          </a:p>
          <a:p>
            <a:endParaRPr lang="en-US" dirty="0"/>
          </a:p>
        </p:txBody>
      </p:sp>
      <p:sp>
        <p:nvSpPr>
          <p:cNvPr id="4" name="Slide Number Placeholder 3">
            <a:extLst>
              <a:ext uri="{FF2B5EF4-FFF2-40B4-BE49-F238E27FC236}">
                <a16:creationId xmlns:a16="http://schemas.microsoft.com/office/drawing/2014/main" id="{885EC857-EAA5-C6AC-F6D4-F248690E2F05}"/>
              </a:ext>
            </a:extLst>
          </p:cNvPr>
          <p:cNvSpPr>
            <a:spLocks noGrp="1"/>
          </p:cNvSpPr>
          <p:nvPr>
            <p:ph type="sldNum" sz="quarter" idx="12"/>
          </p:nvPr>
        </p:nvSpPr>
        <p:spPr/>
        <p:txBody>
          <a:bodyPr/>
          <a:lstStyle/>
          <a:p>
            <a:fld id="{91F5D5B3-D24A-42EA-B582-81E5372869F6}" type="slidenum">
              <a:rPr lang="en-US" smtClean="0"/>
              <a:pPr/>
              <a:t>40</a:t>
            </a:fld>
            <a:endParaRPr lang="en-US" dirty="0"/>
          </a:p>
        </p:txBody>
      </p:sp>
    </p:spTree>
    <p:extLst>
      <p:ext uri="{BB962C8B-B14F-4D97-AF65-F5344CB8AC3E}">
        <p14:creationId xmlns:p14="http://schemas.microsoft.com/office/powerpoint/2010/main" val="39929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FFAB-67F6-A947-5E9E-F34EC8DF7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9765F-0596-8B22-30BB-C38C3D20B007}"/>
              </a:ext>
            </a:extLst>
          </p:cNvPr>
          <p:cNvSpPr>
            <a:spLocks noGrp="1"/>
          </p:cNvSpPr>
          <p:nvPr>
            <p:ph type="title"/>
          </p:nvPr>
        </p:nvSpPr>
        <p:spPr/>
        <p:txBody>
          <a:bodyPr/>
          <a:lstStyle/>
          <a:p>
            <a:r>
              <a:rPr lang="en-US" dirty="0"/>
              <a:t>Global health after 2025: the old model broke</a:t>
            </a:r>
          </a:p>
        </p:txBody>
      </p:sp>
      <p:sp>
        <p:nvSpPr>
          <p:cNvPr id="3" name="Content Placeholder 2">
            <a:extLst>
              <a:ext uri="{FF2B5EF4-FFF2-40B4-BE49-F238E27FC236}">
                <a16:creationId xmlns:a16="http://schemas.microsoft.com/office/drawing/2014/main" id="{A80DCC1C-A122-7340-F4EC-31381ADFFFAB}"/>
              </a:ext>
            </a:extLst>
          </p:cNvPr>
          <p:cNvSpPr>
            <a:spLocks noGrp="1"/>
          </p:cNvSpPr>
          <p:nvPr>
            <p:ph idx="1"/>
          </p:nvPr>
        </p:nvSpPr>
        <p:spPr/>
        <p:txBody>
          <a:bodyPr>
            <a:normAutofit lnSpcReduction="10000"/>
          </a:bodyPr>
          <a:lstStyle/>
          <a:p>
            <a:r>
              <a:rPr lang="en-US" dirty="0"/>
              <a:t>Other donors did not fill the gap. Many European governments were also cutting aid because of defense spending, Ukraine, domestic budget pressure, migration politics, and a broader turn toward national-interest aid. </a:t>
            </a:r>
          </a:p>
          <a:p>
            <a:r>
              <a:rPr lang="en-US" dirty="0"/>
              <a:t>Global health initiatives from the US are now organizing around a for-profit model. </a:t>
            </a:r>
          </a:p>
          <a:p>
            <a:r>
              <a:rPr lang="en-US" dirty="0"/>
              <a:t>Bottom line: global health is no longer organized around predictable U.S.-led internationalism. It has shifted toward a fragmented, underfunded, nationally self-interested system in which low- and middle-income countries are being forced to absorb costs faster than their health systems can adapt.</a:t>
            </a:r>
          </a:p>
          <a:p>
            <a:endParaRPr lang="en-US" dirty="0"/>
          </a:p>
        </p:txBody>
      </p:sp>
      <p:sp>
        <p:nvSpPr>
          <p:cNvPr id="4" name="Slide Number Placeholder 3">
            <a:extLst>
              <a:ext uri="{FF2B5EF4-FFF2-40B4-BE49-F238E27FC236}">
                <a16:creationId xmlns:a16="http://schemas.microsoft.com/office/drawing/2014/main" id="{0268A1F6-F845-3886-AD3B-9FD7D019E2F1}"/>
              </a:ext>
            </a:extLst>
          </p:cNvPr>
          <p:cNvSpPr>
            <a:spLocks noGrp="1"/>
          </p:cNvSpPr>
          <p:nvPr>
            <p:ph type="sldNum" sz="quarter" idx="12"/>
          </p:nvPr>
        </p:nvSpPr>
        <p:spPr/>
        <p:txBody>
          <a:bodyPr/>
          <a:lstStyle/>
          <a:p>
            <a:fld id="{91F5D5B3-D24A-42EA-B582-81E5372869F6}" type="slidenum">
              <a:rPr lang="en-US" smtClean="0"/>
              <a:pPr/>
              <a:t>41</a:t>
            </a:fld>
            <a:endParaRPr lang="en-US" dirty="0"/>
          </a:p>
        </p:txBody>
      </p:sp>
    </p:spTree>
    <p:extLst>
      <p:ext uri="{BB962C8B-B14F-4D97-AF65-F5344CB8AC3E}">
        <p14:creationId xmlns:p14="http://schemas.microsoft.com/office/powerpoint/2010/main" val="5722660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9225</TotalTime>
  <Words>4463</Words>
  <Application>Microsoft Office PowerPoint</Application>
  <PresentationFormat>Widescreen</PresentationFormat>
  <Paragraphs>279</Paragraphs>
  <Slides>41</Slides>
  <Notes>31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Office Theme</vt:lpstr>
      <vt:lpstr>The tradeoffs of globalization</vt:lpstr>
      <vt:lpstr>PowerPoint Presentation</vt:lpstr>
      <vt:lpstr>The Covid (SARS-CoV2) pandemic illustrates the complex tradeoffs of globalization</vt:lpstr>
      <vt:lpstr>Global cooperation aided design and manufacture of mRNA Covid vaccines</vt:lpstr>
      <vt:lpstr>Pfizer mRNA vaccine developed by German company BioNTech started by Turkish immigrants </vt:lpstr>
      <vt:lpstr> Global health is multi-scalar</vt:lpstr>
      <vt:lpstr>PowerPoint Presentation</vt:lpstr>
      <vt:lpstr>‘Treating’ malaria is multi-scalar</vt:lpstr>
      <vt:lpstr>Patterns of health and disease are multi-scalar</vt:lpstr>
      <vt:lpstr>PowerPoint Presentation</vt:lpstr>
      <vt:lpstr>Global, continental, and national averages can obscure local differences in health</vt:lpstr>
      <vt:lpstr>Global health incorporates the evolutionary and ecological contexts of disease</vt:lpstr>
      <vt:lpstr>PowerPoint Presentation</vt:lpstr>
      <vt:lpstr>PowerPoint Presentation</vt:lpstr>
      <vt:lpstr>Evolutionary and ecological global dimensions of heart disease</vt:lpstr>
      <vt:lpstr>Social determinants of health</vt:lpstr>
      <vt:lpstr>The ‘translational gap’</vt:lpstr>
      <vt:lpstr>The origins of global health</vt:lpstr>
      <vt:lpstr>The origins of global health: European colonization and colonial medicine</vt:lpstr>
      <vt:lpstr>The Columbian Exchange </vt:lpstr>
      <vt:lpstr>PowerPoint Presentation</vt:lpstr>
      <vt:lpstr>PowerPoint Presentation</vt:lpstr>
      <vt:lpstr>PowerPoint Presentation</vt:lpstr>
      <vt:lpstr>Medicine was used as a pretext for colonial rule</vt:lpstr>
      <vt:lpstr>PowerPoint Presentation</vt:lpstr>
      <vt:lpstr>Examples of the discourses about health used to justify the actions of the colonizers</vt:lpstr>
      <vt:lpstr>PowerPoint Presentation</vt:lpstr>
      <vt:lpstr>Pulse oximeters</vt:lpstr>
      <vt:lpstr>What are specific historical events leading to the emergence of global health?</vt:lpstr>
      <vt:lpstr>PowerPoint Presentation</vt:lpstr>
      <vt:lpstr>PowerPoint Presentation</vt:lpstr>
      <vt:lpstr>PowerPoint Presentation</vt:lpstr>
      <vt:lpstr>PowerPoint Presentation</vt:lpstr>
      <vt:lpstr>The broad legacies of colonialism in global health</vt:lpstr>
      <vt:lpstr>The types of colonial institutions differed in how they extracted wealth</vt:lpstr>
      <vt:lpstr>This in turn influenced post-colonial development and public health</vt:lpstr>
      <vt:lpstr>What does “decolonializing” global health mean?</vt:lpstr>
      <vt:lpstr>PowerPoint Presentation</vt:lpstr>
      <vt:lpstr>What is ‘safari science’?</vt:lpstr>
      <vt:lpstr>Global health after 2025: the old model broke</vt:lpstr>
      <vt:lpstr>Global health after 2025: the old model broke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Stallins</dc:creator>
  <cp:lastModifiedBy>Stallins, Jon A.</cp:lastModifiedBy>
  <cp:revision>446</cp:revision>
  <dcterms:created xsi:type="dcterms:W3CDTF">2019-05-17T22:49:13Z</dcterms:created>
  <dcterms:modified xsi:type="dcterms:W3CDTF">2026-08-27T18:10:41Z</dcterms:modified>
</cp:coreProperties>
</file>