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6"/>
  </p:notesMasterIdLst>
  <p:sldIdLst>
    <p:sldId id="705" r:id="rId2"/>
    <p:sldId id="290" r:id="rId3"/>
    <p:sldId id="291" r:id="rId4"/>
    <p:sldId id="292" r:id="rId5"/>
    <p:sldId id="367" r:id="rId6"/>
    <p:sldId id="368" r:id="rId7"/>
    <p:sldId id="295" r:id="rId8"/>
    <p:sldId id="369" r:id="rId9"/>
    <p:sldId id="296" r:id="rId10"/>
    <p:sldId id="404" r:id="rId11"/>
    <p:sldId id="695" r:id="rId12"/>
    <p:sldId id="375" r:id="rId13"/>
    <p:sldId id="301" r:id="rId14"/>
    <p:sldId id="305" r:id="rId15"/>
    <p:sldId id="306" r:id="rId16"/>
    <p:sldId id="374" r:id="rId17"/>
    <p:sldId id="269" r:id="rId18"/>
    <p:sldId id="256" r:id="rId19"/>
    <p:sldId id="257" r:id="rId20"/>
    <p:sldId id="418" r:id="rId21"/>
    <p:sldId id="703" r:id="rId22"/>
    <p:sldId id="403" r:id="rId23"/>
    <p:sldId id="706" r:id="rId24"/>
    <p:sldId id="707"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C5A1"/>
    <a:srgbClr val="99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3103" autoAdjust="0"/>
    <p:restoredTop sz="60256" autoAdjust="0"/>
  </p:normalViewPr>
  <p:slideViewPr>
    <p:cSldViewPr snapToGrid="0" showGuides="1">
      <p:cViewPr varScale="1">
        <p:scale>
          <a:sx n="52" d="100"/>
          <a:sy n="52" d="100"/>
        </p:scale>
        <p:origin x="888" y="53"/>
      </p:cViewPr>
      <p:guideLst>
        <p:guide orient="horz" pos="2160"/>
        <p:guide pos="3840"/>
      </p:guideLst>
    </p:cSldViewPr>
  </p:slideViewPr>
  <p:outlineViewPr>
    <p:cViewPr>
      <p:scale>
        <a:sx n="33" d="100"/>
        <a:sy n="33" d="100"/>
      </p:scale>
      <p:origin x="0" y="-37824"/>
    </p:cViewPr>
  </p:outlineViewPr>
  <p:notesTextViewPr>
    <p:cViewPr>
      <p:scale>
        <a:sx n="125" d="100"/>
        <a:sy n="125"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F5EB7F-4F0B-4EF6-AB2A-4BE2AA86CEC9}" type="datetimeFigureOut">
              <a:rPr lang="en-US" smtClean="0"/>
              <a:t>6/24/2026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D0FD8A-5DF6-4509-B927-55EB1802D495}" type="slidenum">
              <a:rPr lang="en-US" smtClean="0"/>
              <a:t>‹#›</a:t>
            </a:fld>
            <a:endParaRPr lang="en-US" dirty="0"/>
          </a:p>
        </p:txBody>
      </p:sp>
    </p:spTree>
    <p:extLst>
      <p:ext uri="{BB962C8B-B14F-4D97-AF65-F5344CB8AC3E}">
        <p14:creationId xmlns:p14="http://schemas.microsoft.com/office/powerpoint/2010/main" val="23465221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78A9B-8906-A97A-3D3D-08ACA64BAD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1A5F16-4B8A-A46F-BE33-C1147F0E57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D7B51C-C720-0B59-F2C2-B1635D806A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E70306-0269-1582-8D7E-797014CB4B75}"/>
              </a:ext>
            </a:extLst>
          </p:cNvPr>
          <p:cNvSpPr>
            <a:spLocks noGrp="1"/>
          </p:cNvSpPr>
          <p:nvPr>
            <p:ph type="sldNum" sz="quarter" idx="5"/>
          </p:nvPr>
        </p:nvSpPr>
        <p:spPr/>
        <p:txBody>
          <a:bodyPr/>
          <a:lstStyle/>
          <a:p>
            <a:fld id="{94D0FD8A-5DF6-4509-B927-55EB1802D495}" type="slidenum">
              <a:rPr lang="en-US" smtClean="0"/>
              <a:t>1</a:t>
            </a:fld>
            <a:endParaRPr lang="en-US" dirty="0"/>
          </a:p>
        </p:txBody>
      </p:sp>
    </p:spTree>
    <p:extLst>
      <p:ext uri="{BB962C8B-B14F-4D97-AF65-F5344CB8AC3E}">
        <p14:creationId xmlns:p14="http://schemas.microsoft.com/office/powerpoint/2010/main" val="42464367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The origins of global health are in colonial era medicine. </a:t>
            </a:r>
          </a:p>
          <a:p>
            <a:endParaRPr lang="en-US" dirty="0"/>
          </a:p>
        </p:txBody>
      </p:sp>
      <p:sp>
        <p:nvSpPr>
          <p:cNvPr id="4" name="Slide Number Placeholder 3"/>
          <p:cNvSpPr>
            <a:spLocks noGrp="1"/>
          </p:cNvSpPr>
          <p:nvPr>
            <p:ph type="sldNum" sz="quarter" idx="10"/>
          </p:nvPr>
        </p:nvSpPr>
        <p:spPr/>
        <p:txBody>
          <a:bodyPr/>
          <a:lstStyle/>
          <a:p>
            <a:fld id="{94D0FD8A-5DF6-4509-B927-55EB1802D495}" type="slidenum">
              <a:rPr lang="en-US" smtClean="0"/>
              <a:t>2</a:t>
            </a:fld>
            <a:endParaRPr lang="en-US" dirty="0"/>
          </a:p>
        </p:txBody>
      </p:sp>
    </p:spTree>
    <p:extLst>
      <p:ext uri="{BB962C8B-B14F-4D97-AF65-F5344CB8AC3E}">
        <p14:creationId xmlns:p14="http://schemas.microsoft.com/office/powerpoint/2010/main" val="41073460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3</a:t>
            </a:fld>
            <a:endParaRPr lang="en-US" dirty="0"/>
          </a:p>
        </p:txBody>
      </p:sp>
    </p:spTree>
    <p:extLst>
      <p:ext uri="{BB962C8B-B14F-4D97-AF65-F5344CB8AC3E}">
        <p14:creationId xmlns:p14="http://schemas.microsoft.com/office/powerpoint/2010/main" val="34613484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4D0FD8A-5DF6-4509-B927-55EB1802D495}" type="slidenum">
              <a:rPr lang="en-US" smtClean="0"/>
              <a:t>4</a:t>
            </a:fld>
            <a:endParaRPr lang="en-US" dirty="0"/>
          </a:p>
        </p:txBody>
      </p:sp>
    </p:spTree>
    <p:extLst>
      <p:ext uri="{BB962C8B-B14F-4D97-AF65-F5344CB8AC3E}">
        <p14:creationId xmlns:p14="http://schemas.microsoft.com/office/powerpoint/2010/main" val="17765868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During the colonial period, the practice of “Doctory” or Western medicine gained momentum in India, buoyed with the support of the British as well as Western-educated Indians. Many Indians were trained in Western medicine and employed by the administration as “native doctors” in the medical service for Indians. However, the superior medical service by and large comprised Europeans.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The Indian and British medical personnel that lived outside of the major colonial cities were the basis for the first field-based public health programs</a:t>
            </a:r>
            <a:br>
              <a:rPr lang="en-US" sz="1200" dirty="0"/>
            </a:b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Saini, A. (2016). Physicians of colonial India (1757–1900). </a:t>
            </a:r>
            <a:r>
              <a:rPr lang="en-US" i="1" dirty="0"/>
              <a:t>Journal of Family Medicine and Primary Care</a:t>
            </a:r>
            <a:r>
              <a:rPr lang="en-US" dirty="0"/>
              <a:t>, </a:t>
            </a:r>
            <a:r>
              <a:rPr lang="en-US" i="1" dirty="0"/>
              <a:t>5</a:t>
            </a:r>
            <a:r>
              <a:rPr lang="en-US" dirty="0"/>
              <a:t>(3), 528.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Photo of woman missionary in India in 1900s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paternalistic stance – we will take care of you – was common</a:t>
            </a:r>
            <a:r>
              <a:rPr lang="en-US" baseline="0" dirty="0"/>
              <a:t> for many colonial relationships</a:t>
            </a:r>
            <a:endParaRPr lang="en-US" dirty="0"/>
          </a:p>
        </p:txBody>
      </p:sp>
      <p:sp>
        <p:nvSpPr>
          <p:cNvPr id="4" name="Slide Number Placeholder 3"/>
          <p:cNvSpPr>
            <a:spLocks noGrp="1"/>
          </p:cNvSpPr>
          <p:nvPr>
            <p:ph type="sldNum" sz="quarter" idx="10"/>
          </p:nvPr>
        </p:nvSpPr>
        <p:spPr/>
        <p:txBody>
          <a:bodyPr/>
          <a:lstStyle/>
          <a:p>
            <a:fld id="{94D0FD8A-5DF6-4509-B927-55EB1802D495}" type="slidenum">
              <a:rPr lang="en-US" smtClean="0"/>
              <a:t>7</a:t>
            </a:fld>
            <a:endParaRPr lang="en-US" dirty="0"/>
          </a:p>
        </p:txBody>
      </p:sp>
    </p:spTree>
    <p:extLst>
      <p:ext uri="{BB962C8B-B14F-4D97-AF65-F5344CB8AC3E}">
        <p14:creationId xmlns:p14="http://schemas.microsoft.com/office/powerpoint/2010/main" val="34458495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https://www.crouchrarebooks.com/maps/view/distribution-of-malaria-in-british-india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Map is from 1880 – malaria was a serious illness for the British in India and in many of their tropical colonies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Formation of the London School of Tropical Medicine in 1899 was meant to foster this kind of imperial medicine. </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br>
              <a:rPr lang="en-US" dirty="0"/>
            </a:br>
            <a:endParaRPr lang="en-US" dirty="0"/>
          </a:p>
        </p:txBody>
      </p:sp>
      <p:sp>
        <p:nvSpPr>
          <p:cNvPr id="4" name="Slide Number Placeholder 3"/>
          <p:cNvSpPr>
            <a:spLocks noGrp="1"/>
          </p:cNvSpPr>
          <p:nvPr>
            <p:ph type="sldNum" sz="quarter" idx="10"/>
          </p:nvPr>
        </p:nvSpPr>
        <p:spPr/>
        <p:txBody>
          <a:bodyPr/>
          <a:lstStyle/>
          <a:p>
            <a:fld id="{94D0FD8A-5DF6-4509-B927-55EB1802D495}" type="slidenum">
              <a:rPr lang="en-US" smtClean="0"/>
              <a:t>8</a:t>
            </a:fld>
            <a:endParaRPr lang="en-US" dirty="0"/>
          </a:p>
        </p:txBody>
      </p:sp>
    </p:spTree>
    <p:extLst>
      <p:ext uri="{BB962C8B-B14F-4D97-AF65-F5344CB8AC3E}">
        <p14:creationId xmlns:p14="http://schemas.microsoft.com/office/powerpoint/2010/main" val="21267723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https://news.cornell.edu/stories/2018/10/acclimate-or-die-book-examines-disease-british-empire</a:t>
            </a:r>
          </a:p>
        </p:txBody>
      </p:sp>
      <p:sp>
        <p:nvSpPr>
          <p:cNvPr id="4" name="Slide Number Placeholder 3"/>
          <p:cNvSpPr>
            <a:spLocks noGrp="1"/>
          </p:cNvSpPr>
          <p:nvPr>
            <p:ph type="sldNum" sz="quarter" idx="10"/>
          </p:nvPr>
        </p:nvSpPr>
        <p:spPr/>
        <p:txBody>
          <a:bodyPr/>
          <a:lstStyle/>
          <a:p>
            <a:fld id="{94D0FD8A-5DF6-4509-B927-55EB1802D495}" type="slidenum">
              <a:rPr lang="en-US" smtClean="0"/>
              <a:t>9</a:t>
            </a:fld>
            <a:endParaRPr lang="en-US" dirty="0"/>
          </a:p>
        </p:txBody>
      </p:sp>
    </p:spTree>
    <p:extLst>
      <p:ext uri="{BB962C8B-B14F-4D97-AF65-F5344CB8AC3E}">
        <p14:creationId xmlns:p14="http://schemas.microsoft.com/office/powerpoint/2010/main" val="26244126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https://www.nytimes.com/interactive/2019/08/14/magazine/racial-differences-doctors.html?smid=nytcore-ios-share</a:t>
            </a:r>
            <a:br>
              <a:rPr lang="en-US" dirty="0"/>
            </a:br>
            <a:br>
              <a:rPr lang="en-US" dirty="0"/>
            </a:br>
            <a:r>
              <a:rPr lang="en-US" dirty="0"/>
              <a:t>The pain myth still exists: </a:t>
            </a:r>
            <a:br>
              <a:rPr lang="en-US" dirty="0"/>
            </a:br>
            <a:r>
              <a:rPr lang="en-US" dirty="0"/>
              <a:t>https://www.nytimes.com/2019/11/25/upshot/opioid-epidemic-blacks.html </a:t>
            </a:r>
            <a:br>
              <a:rPr lang="en-US" dirty="0"/>
            </a:br>
            <a:br>
              <a:rPr lang="en-US" dirty="0"/>
            </a:br>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10</a:t>
            </a:fld>
            <a:endParaRPr lang="en-US" dirty="0"/>
          </a:p>
        </p:txBody>
      </p:sp>
    </p:spTree>
    <p:extLst>
      <p:ext uri="{BB962C8B-B14F-4D97-AF65-F5344CB8AC3E}">
        <p14:creationId xmlns:p14="http://schemas.microsoft.com/office/powerpoint/2010/main" val="4857514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None/>
            </a:pPr>
            <a:r>
              <a:rPr lang="en-US" dirty="0"/>
              <a:t>Another example of the translational gap, this time for a medical instrument.  There are some differences in biology that need to be taken into account, like this failure of the designers of the oximeters to account for skin color, but often it is the social context, and issues of power and inequity, that account for differences in disease more than any biological difference.  Just keep in mind that not everything is cultural nor is everything biological, they can each contribute. </a:t>
            </a:r>
            <a:br>
              <a:rPr lang="en-US" dirty="0"/>
            </a:br>
            <a:br>
              <a:rPr lang="en-US" dirty="0"/>
            </a:br>
            <a:r>
              <a:rPr lang="en-US" dirty="0"/>
              <a:t>A study published in the New England Journal of Medicine in 2020 found that Black patients were nearly three times as likely as white patients to have occult hypoxemia (low oxygen levels that are not detected by pulse oximeters). Another study published in the Journal of the American Medical Association (JAMA) in 2022 supported these findings, highlighting the need for improved pulse oximeter technology that accounts for skin pigmentation.</a:t>
            </a:r>
            <a:br>
              <a:rPr lang="en-US" dirty="0"/>
            </a:br>
            <a:br>
              <a:rPr lang="en-US" dirty="0"/>
            </a:br>
            <a:r>
              <a:rPr lang="en-US" dirty="0"/>
              <a:t>Sjoding, M. W., Dickson, R. P., Iwashyna, T. J., Gay, S. E., &amp; Valley, T. S. (2020). Racial Bias in Pulse Oximetry Measurement. </a:t>
            </a:r>
            <a:r>
              <a:rPr lang="en-US" i="1" dirty="0"/>
              <a:t>New England Journal of Medicine, 383</a:t>
            </a:r>
            <a:r>
              <a:rPr lang="en-US" dirty="0"/>
              <a:t>(25), 2477-2478. DOI: 10.1056/NEJMc2029240</a:t>
            </a:r>
          </a:p>
          <a:p>
            <a:pPr>
              <a:buFont typeface="Arial" panose="020B0604020202020204" pitchFamily="34" charset="0"/>
              <a:buChar char="•"/>
            </a:pPr>
            <a:endParaRPr lang="en-US" dirty="0"/>
          </a:p>
          <a:p>
            <a:pPr>
              <a:buFont typeface="Arial" panose="020B0604020202020204" pitchFamily="34" charset="0"/>
              <a:buNone/>
            </a:pPr>
            <a:r>
              <a:rPr lang="en-US" dirty="0"/>
              <a:t>Valbuena, V. S. M., Seelye, S., Sjoding, M. W., et al. (2022). Racial Disparities in the Accuracy of Pulse Oximetry and Clinical Outcomes in Patients With COVID-19 Infection. </a:t>
            </a:r>
            <a:r>
              <a:rPr lang="en-US" i="1" dirty="0"/>
              <a:t>JAMA Internal Medicine</a:t>
            </a:r>
            <a:r>
              <a:rPr lang="en-US" dirty="0"/>
              <a:t>. DOI: 10.1001/jamainternmed.2022.1906</a:t>
            </a:r>
          </a:p>
          <a:p>
            <a:pPr>
              <a:buFont typeface="Arial" panose="020B0604020202020204" pitchFamily="34" charset="0"/>
              <a:buNone/>
            </a:pPr>
            <a:endParaRPr lang="en-US" dirty="0"/>
          </a:p>
          <a:p>
            <a:pPr>
              <a:buFont typeface="Arial" panose="020B0604020202020204" pitchFamily="34" charset="0"/>
              <a:buNone/>
            </a:pPr>
            <a:r>
              <a:rPr lang="en-US" dirty="0"/>
              <a:t>https://www.nhlbi.nih.gov/news/2023/updating-pulse-oximeters</a:t>
            </a:r>
            <a:br>
              <a:rPr lang="en-US" dirty="0"/>
            </a:br>
            <a:r>
              <a:rPr lang="en-US" dirty="0"/>
              <a:t>New ‘green’ light oximeters can accommodate skin color differences</a:t>
            </a:r>
          </a:p>
          <a:p>
            <a:pPr>
              <a:buFont typeface="Arial" panose="020B0604020202020204" pitchFamily="34" charset="0"/>
              <a:buNone/>
            </a:pPr>
            <a:endParaRPr lang="en-US" dirty="0"/>
          </a:p>
          <a:p>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11</a:t>
            </a:fld>
            <a:endParaRPr lang="en-US" dirty="0"/>
          </a:p>
        </p:txBody>
      </p:sp>
    </p:spTree>
    <p:extLst>
      <p:ext uri="{BB962C8B-B14F-4D97-AF65-F5344CB8AC3E}">
        <p14:creationId xmlns:p14="http://schemas.microsoft.com/office/powerpoint/2010/main" val="6466361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Imperial medicine aimed to make it safe for Europeans to travel to other parts of the world. </a:t>
            </a:r>
          </a:p>
        </p:txBody>
      </p:sp>
      <p:sp>
        <p:nvSpPr>
          <p:cNvPr id="4" name="Slide Number Placeholder 3"/>
          <p:cNvSpPr>
            <a:spLocks noGrp="1"/>
          </p:cNvSpPr>
          <p:nvPr>
            <p:ph type="sldNum" sz="quarter" idx="10"/>
          </p:nvPr>
        </p:nvSpPr>
        <p:spPr/>
        <p:txBody>
          <a:bodyPr/>
          <a:lstStyle/>
          <a:p>
            <a:fld id="{94D0FD8A-5DF6-4509-B927-55EB1802D495}" type="slidenum">
              <a:rPr lang="en-US" smtClean="0"/>
              <a:t>12</a:t>
            </a:fld>
            <a:endParaRPr lang="en-US" dirty="0"/>
          </a:p>
        </p:txBody>
      </p:sp>
    </p:spTree>
    <p:extLst>
      <p:ext uri="{BB962C8B-B14F-4D97-AF65-F5344CB8AC3E}">
        <p14:creationId xmlns:p14="http://schemas.microsoft.com/office/powerpoint/2010/main" val="2004676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4D0FD8A-5DF6-4509-B927-55EB1802D495}" type="slidenum">
              <a:rPr lang="en-US" smtClean="0"/>
              <a:t>13</a:t>
            </a:fld>
            <a:endParaRPr lang="en-US" dirty="0"/>
          </a:p>
        </p:txBody>
      </p:sp>
    </p:spTree>
    <p:extLst>
      <p:ext uri="{BB962C8B-B14F-4D97-AF65-F5344CB8AC3E}">
        <p14:creationId xmlns:p14="http://schemas.microsoft.com/office/powerpoint/2010/main" val="12046128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Smallman-Raynor, M., &amp; Cliff, A. D. (2016). The diffusion of cholera in Egypt, 1947: a time-space analysis of one of the largest single outbreaks in the twentieth century. </a:t>
            </a:r>
            <a:r>
              <a:rPr lang="en-US" i="1" dirty="0"/>
              <a:t>Journal of Historical Geography</a:t>
            </a:r>
            <a:r>
              <a:rPr lang="en-US" dirty="0"/>
              <a:t>, </a:t>
            </a:r>
            <a:r>
              <a:rPr lang="en-US" i="1" dirty="0"/>
              <a:t>54</a:t>
            </a:r>
            <a:r>
              <a:rPr lang="en-US" dirty="0"/>
              <a:t>, 24-37.</a:t>
            </a:r>
            <a:br>
              <a:rPr lang="en-US" dirty="0"/>
            </a:br>
            <a:br>
              <a:rPr lang="en-US" dirty="0"/>
            </a:br>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15</a:t>
            </a:fld>
            <a:endParaRPr lang="en-US" dirty="0"/>
          </a:p>
        </p:txBody>
      </p:sp>
    </p:spTree>
    <p:extLst>
      <p:ext uri="{BB962C8B-B14F-4D97-AF65-F5344CB8AC3E}">
        <p14:creationId xmlns:p14="http://schemas.microsoft.com/office/powerpoint/2010/main" val="34165962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17</a:t>
            </a:fld>
            <a:endParaRPr lang="en-US" dirty="0"/>
          </a:p>
        </p:txBody>
      </p:sp>
    </p:spTree>
    <p:extLst>
      <p:ext uri="{BB962C8B-B14F-4D97-AF65-F5344CB8AC3E}">
        <p14:creationId xmlns:p14="http://schemas.microsoft.com/office/powerpoint/2010/main" val="35181908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31774">
              <a:defRPr/>
            </a:pPr>
            <a:r>
              <a:rPr lang="en-US" dirty="0"/>
              <a:t>https://www.npr.org/sections/goatsandsoda/2019/12/30/784392315/opinion-its-time-to-end-the-colonial-mindset-in-global-health</a:t>
            </a:r>
          </a:p>
          <a:p>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20</a:t>
            </a:fld>
            <a:endParaRPr lang="en-US" dirty="0"/>
          </a:p>
        </p:txBody>
      </p:sp>
    </p:spTree>
    <p:extLst>
      <p:ext uri="{BB962C8B-B14F-4D97-AF65-F5344CB8AC3E}">
        <p14:creationId xmlns:p14="http://schemas.microsoft.com/office/powerpoint/2010/main" val="42400957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https://www.persuasion.community/p/the-problem-with-decolonizing-global</a:t>
            </a:r>
          </a:p>
        </p:txBody>
      </p:sp>
      <p:sp>
        <p:nvSpPr>
          <p:cNvPr id="4" name="Slide Number Placeholder 3"/>
          <p:cNvSpPr>
            <a:spLocks noGrp="1"/>
          </p:cNvSpPr>
          <p:nvPr>
            <p:ph type="sldNum" sz="quarter" idx="5"/>
          </p:nvPr>
        </p:nvSpPr>
        <p:spPr/>
        <p:txBody>
          <a:bodyPr/>
          <a:lstStyle/>
          <a:p>
            <a:fld id="{94D0FD8A-5DF6-4509-B927-55EB1802D495}" type="slidenum">
              <a:rPr lang="en-US" smtClean="0"/>
              <a:t>21</a:t>
            </a:fld>
            <a:endParaRPr lang="en-US" dirty="0"/>
          </a:p>
        </p:txBody>
      </p:sp>
    </p:spTree>
    <p:extLst>
      <p:ext uri="{BB962C8B-B14F-4D97-AF65-F5344CB8AC3E}">
        <p14:creationId xmlns:p14="http://schemas.microsoft.com/office/powerpoint/2010/main" val="8549919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Mutapi, Francisca. "Africa should set its own health-research agenda." </a:t>
            </a:r>
            <a:r>
              <a:rPr lang="en-US" i="1" dirty="0"/>
              <a:t>Nature</a:t>
            </a:r>
            <a:r>
              <a:rPr lang="en-US" dirty="0"/>
              <a:t> 575.7784 (2019): 567.</a:t>
            </a:r>
          </a:p>
          <a:p>
            <a:endParaRPr lang="en-US" dirty="0"/>
          </a:p>
          <a:p>
            <a:r>
              <a:rPr lang="en-US" dirty="0"/>
              <a:t>https://www.nature.com/articles/d41586-019-03627-9</a:t>
            </a:r>
          </a:p>
          <a:p>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22</a:t>
            </a:fld>
            <a:endParaRPr lang="en-US" dirty="0"/>
          </a:p>
        </p:txBody>
      </p:sp>
    </p:spTree>
    <p:extLst>
      <p:ext uri="{BB962C8B-B14F-4D97-AF65-F5344CB8AC3E}">
        <p14:creationId xmlns:p14="http://schemas.microsoft.com/office/powerpoint/2010/main" val="23885760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2B0D3AB-057F-4492-B053-8D2FB1B99E0E}" type="datetime1">
              <a:rPr lang="en-US" smtClean="0"/>
              <a:t>6/24/2026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4004654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58B850-09A5-434B-B315-24BF2DF36218}" type="datetime1">
              <a:rPr lang="en-US" smtClean="0"/>
              <a:t>6/24/2026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lvl1pPr>
              <a:defRPr sz="2400" b="1">
                <a:latin typeface="+mn-lt"/>
              </a:defRPr>
            </a:lvl1pPr>
          </a:lstStyle>
          <a:p>
            <a:fld id="{91F5D5B3-D24A-42EA-B582-81E5372869F6}" type="slidenum">
              <a:rPr lang="en-US" smtClean="0"/>
              <a:pPr/>
              <a:t>‹#›</a:t>
            </a:fld>
            <a:endParaRPr lang="en-US" dirty="0"/>
          </a:p>
        </p:txBody>
      </p:sp>
    </p:spTree>
    <p:extLst>
      <p:ext uri="{BB962C8B-B14F-4D97-AF65-F5344CB8AC3E}">
        <p14:creationId xmlns:p14="http://schemas.microsoft.com/office/powerpoint/2010/main" val="1572150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B9B2563-8FF4-4ACA-AAA2-94545FDA7F8E}" type="datetime1">
              <a:rPr lang="en-US" smtClean="0"/>
              <a:t>6/24/2026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14348308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226C5EF-DE58-40BB-951C-75C4A0CD4626}" type="datetime1">
              <a:rPr lang="en-US" smtClean="0"/>
              <a:t>6/24/2026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38184236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6BD3B93-4260-4FD1-9EB1-D8D82FFE054C}" type="datetime1">
              <a:rPr lang="en-US" smtClean="0"/>
              <a:t>6/24/2026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1008327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00CAD1B-B742-41F9-BD5F-FC56781B597E}" type="datetime1">
              <a:rPr lang="en-US" smtClean="0"/>
              <a:t>6/24/2026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28447349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41D4895-7493-447F-BF0C-2D1ECBDABE2C}" type="datetime1">
              <a:rPr lang="en-US" smtClean="0"/>
              <a:t>6/24/2026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12729487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CE3A8E1-DB1D-401D-B51C-AA762EC567C4}" type="datetime1">
              <a:rPr lang="en-US" smtClean="0"/>
              <a:t>6/24/2026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6964855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3735F63-0117-4573-A299-87C15F66FEE5}" type="datetime1">
              <a:rPr lang="en-US" smtClean="0"/>
              <a:t>6/24/2026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304327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0B315F-2A89-4DD4-908C-5A50C0C71CFF}" type="datetime1">
              <a:rPr lang="en-US" smtClean="0"/>
              <a:t>6/24/2026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11522988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A334F22-1A4A-459C-9767-09D442580710}" type="datetime1">
              <a:rPr lang="en-US" smtClean="0"/>
              <a:t>6/24/2026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2903195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58961EA-BC3A-4A39-9578-C80CE6DE4238}" type="datetime1">
              <a:rPr lang="en-US" smtClean="0"/>
              <a:t>6/24/2026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F5D5B3-D24A-42EA-B582-81E5372869F6}" type="slidenum">
              <a:rPr lang="en-US" smtClean="0"/>
              <a:t>‹#›</a:t>
            </a:fld>
            <a:endParaRPr lang="en-US" dirty="0"/>
          </a:p>
        </p:txBody>
      </p:sp>
    </p:spTree>
    <p:extLst>
      <p:ext uri="{BB962C8B-B14F-4D97-AF65-F5344CB8AC3E}">
        <p14:creationId xmlns:p14="http://schemas.microsoft.com/office/powerpoint/2010/main" val="268197193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nytimes.com/interactive/2019/08/14/magazine/racial-differences-doctors.html?smid=nytcore-ios-shar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lshtm.ac.uk/"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paho.org/hq/index.php?lang=en"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2.jpg"/></Relationships>
</file>

<file path=ppt/slides/_rels/slide14.xml.rels><?xml version="1.0" encoding="UTF-8" standalone="yes"?>
<Relationships xmlns="http://schemas.openxmlformats.org/package/2006/relationships"><Relationship Id="rId2" Type="http://schemas.openxmlformats.org/officeDocument/2006/relationships/image" Target="../media/image13.gi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www.npr.org/sections/goatsandsoda/2019/12/30/784392315/opinion-its-time-to-end-the-colonial-mindset-in-global-health"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hyperlink" Target="https://www.persuasion.community/p/the-problem-with-decolonizing-global"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hyperlink" Target="https://www.nature.com/articles/d41586-019-03627-9"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B77C1A-92F6-F0E0-0D6D-3DF8FE80F5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A862EB-43BC-187C-B0AE-22D13F8DE8D5}"/>
              </a:ext>
            </a:extLst>
          </p:cNvPr>
          <p:cNvSpPr>
            <a:spLocks noGrp="1"/>
          </p:cNvSpPr>
          <p:nvPr>
            <p:ph type="title"/>
          </p:nvPr>
        </p:nvSpPr>
        <p:spPr>
          <a:xfrm>
            <a:off x="373224" y="136525"/>
            <a:ext cx="11818776" cy="1325563"/>
          </a:xfrm>
        </p:spPr>
        <p:txBody>
          <a:bodyPr>
            <a:normAutofit/>
          </a:bodyPr>
          <a:lstStyle/>
          <a:p>
            <a:pPr algn="ctr"/>
            <a:r>
              <a:rPr lang="en-US" dirty="0"/>
              <a:t>The origins of global health</a:t>
            </a:r>
          </a:p>
        </p:txBody>
      </p:sp>
      <p:sp>
        <p:nvSpPr>
          <p:cNvPr id="4" name="Slide Number Placeholder 3">
            <a:extLst>
              <a:ext uri="{FF2B5EF4-FFF2-40B4-BE49-F238E27FC236}">
                <a16:creationId xmlns:a16="http://schemas.microsoft.com/office/drawing/2014/main" id="{399DB617-5E45-3EDB-F43E-771647FE137A}"/>
              </a:ext>
            </a:extLst>
          </p:cNvPr>
          <p:cNvSpPr>
            <a:spLocks noGrp="1"/>
          </p:cNvSpPr>
          <p:nvPr>
            <p:ph type="sldNum" sz="quarter" idx="12"/>
          </p:nvPr>
        </p:nvSpPr>
        <p:spPr/>
        <p:txBody>
          <a:bodyPr/>
          <a:lstStyle/>
          <a:p>
            <a:fld id="{91F5D5B3-D24A-42EA-B582-81E5372869F6}" type="slidenum">
              <a:rPr lang="en-US" smtClean="0"/>
              <a:pPr/>
              <a:t>1</a:t>
            </a:fld>
            <a:endParaRPr lang="en-US" dirty="0"/>
          </a:p>
        </p:txBody>
      </p:sp>
      <p:pic>
        <p:nvPicPr>
          <p:cNvPr id="6" name="Picture 5">
            <a:extLst>
              <a:ext uri="{FF2B5EF4-FFF2-40B4-BE49-F238E27FC236}">
                <a16:creationId xmlns:a16="http://schemas.microsoft.com/office/drawing/2014/main" id="{52C815BF-8D92-C93E-20E5-0FA13FF5F645}"/>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027" t="12603" r="2370" b="5637"/>
          <a:stretch/>
        </p:blipFill>
        <p:spPr>
          <a:xfrm>
            <a:off x="1874850" y="1465491"/>
            <a:ext cx="8815524" cy="4890859"/>
          </a:xfrm>
          <a:prstGeom prst="rect">
            <a:avLst/>
          </a:prstGeom>
        </p:spPr>
      </p:pic>
    </p:spTree>
    <p:extLst>
      <p:ext uri="{BB962C8B-B14F-4D97-AF65-F5344CB8AC3E}">
        <p14:creationId xmlns:p14="http://schemas.microsoft.com/office/powerpoint/2010/main" val="2230709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4000" dirty="0"/>
              <a:t>The origins of global health: European colonization and colonial medicine</a:t>
            </a:r>
          </a:p>
        </p:txBody>
      </p:sp>
      <p:sp>
        <p:nvSpPr>
          <p:cNvPr id="3" name="Content Placeholder 2"/>
          <p:cNvSpPr>
            <a:spLocks noGrp="1"/>
          </p:cNvSpPr>
          <p:nvPr>
            <p:ph idx="1"/>
          </p:nvPr>
        </p:nvSpPr>
        <p:spPr/>
        <p:txBody>
          <a:bodyPr>
            <a:noAutofit/>
          </a:bodyPr>
          <a:lstStyle/>
          <a:p>
            <a:r>
              <a:rPr lang="en-US" sz="3200" dirty="0">
                <a:latin typeface="+mj-lt"/>
              </a:rPr>
              <a:t>Colonial power expanded rapidly in the 15</a:t>
            </a:r>
            <a:r>
              <a:rPr lang="en-US" sz="3200" baseline="30000" dirty="0">
                <a:latin typeface="+mj-lt"/>
              </a:rPr>
              <a:t>th</a:t>
            </a:r>
            <a:r>
              <a:rPr lang="en-US" sz="3200" dirty="0">
                <a:latin typeface="+mj-lt"/>
              </a:rPr>
              <a:t> century with the advent of ocean navigational innovations. </a:t>
            </a:r>
          </a:p>
          <a:p>
            <a:r>
              <a:rPr lang="en-US" sz="3200" dirty="0">
                <a:latin typeface="+mj-lt"/>
              </a:rPr>
              <a:t>Lands and people in Africa, Central and South America, and the Caribbean fell under the rule of colonial powers emanating from England, France, Germany, Italy, Spain and Portugal, and the U.S. up through the middle of the 20</a:t>
            </a:r>
            <a:r>
              <a:rPr lang="en-US" sz="3200" baseline="30000" dirty="0">
                <a:latin typeface="+mj-lt"/>
              </a:rPr>
              <a:t>th</a:t>
            </a:r>
            <a:r>
              <a:rPr lang="en-US" sz="3200" dirty="0">
                <a:latin typeface="+mj-lt"/>
              </a:rPr>
              <a:t> century</a:t>
            </a:r>
          </a:p>
          <a:p>
            <a:r>
              <a:rPr lang="en-US" sz="3200" dirty="0">
                <a:latin typeface="+mj-lt"/>
              </a:rPr>
              <a:t>Many of the attributes of global health and medicine today were unintended consequences of the colonial era </a:t>
            </a:r>
          </a:p>
          <a:p>
            <a:r>
              <a:rPr lang="en-US" sz="900" dirty="0"/>
              <a:t>. </a:t>
            </a:r>
          </a:p>
          <a:p>
            <a:endParaRPr lang="en-US" sz="900" dirty="0"/>
          </a:p>
        </p:txBody>
      </p:sp>
      <p:sp>
        <p:nvSpPr>
          <p:cNvPr id="4" name="Slide Number Placeholder 3">
            <a:extLst>
              <a:ext uri="{FF2B5EF4-FFF2-40B4-BE49-F238E27FC236}">
                <a16:creationId xmlns:a16="http://schemas.microsoft.com/office/drawing/2014/main" id="{0C5CF9B7-B6FB-4C45-94EA-43380A242BE3}"/>
              </a:ext>
            </a:extLst>
          </p:cNvPr>
          <p:cNvSpPr>
            <a:spLocks noGrp="1"/>
          </p:cNvSpPr>
          <p:nvPr>
            <p:ph type="sldNum" sz="quarter" idx="12"/>
          </p:nvPr>
        </p:nvSpPr>
        <p:spPr/>
        <p:txBody>
          <a:bodyPr/>
          <a:lstStyle/>
          <a:p>
            <a:fld id="{91F5D5B3-D24A-42EA-B582-81E5372869F6}" type="slidenum">
              <a:rPr lang="en-US" smtClean="0"/>
              <a:t>2</a:t>
            </a:fld>
            <a:endParaRPr lang="en-US" dirty="0"/>
          </a:p>
        </p:txBody>
      </p:sp>
    </p:spTree>
    <p:extLst>
      <p:ext uri="{BB962C8B-B14F-4D97-AF65-F5344CB8AC3E}">
        <p14:creationId xmlns:p14="http://schemas.microsoft.com/office/powerpoint/2010/main" val="2862558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768793" y="136525"/>
            <a:ext cx="6767592" cy="994172"/>
          </a:xfrm>
        </p:spPr>
        <p:txBody>
          <a:bodyPr>
            <a:normAutofit/>
          </a:bodyPr>
          <a:lstStyle/>
          <a:p>
            <a:pPr algn="ctr"/>
            <a:r>
              <a:rPr lang="en-US" dirty="0"/>
              <a:t>The Columbian Exchange </a:t>
            </a:r>
          </a:p>
        </p:txBody>
      </p:sp>
      <p:sp>
        <p:nvSpPr>
          <p:cNvPr id="3" name="Content Placeholder 2"/>
          <p:cNvSpPr>
            <a:spLocks noGrp="1"/>
          </p:cNvSpPr>
          <p:nvPr>
            <p:ph idx="1"/>
          </p:nvPr>
        </p:nvSpPr>
        <p:spPr>
          <a:xfrm>
            <a:off x="212367" y="136525"/>
            <a:ext cx="4739068" cy="7369175"/>
          </a:xfrm>
        </p:spPr>
        <p:txBody>
          <a:bodyPr>
            <a:noAutofit/>
          </a:bodyPr>
          <a:lstStyle/>
          <a:p>
            <a:r>
              <a:rPr lang="en-US" dirty="0">
                <a:latin typeface="+mj-lt"/>
              </a:rPr>
              <a:t>Refers to the beginning of a transformation of the globe associated with Columbus and early European explorers reaching the Americas.</a:t>
            </a:r>
          </a:p>
          <a:p>
            <a:r>
              <a:rPr lang="en-US" dirty="0">
                <a:latin typeface="+mj-lt"/>
              </a:rPr>
              <a:t>The Columbian Exchange was a global movement of people, but also of animals, plants, and pathogens as European countries colonized the world</a:t>
            </a:r>
          </a:p>
          <a:p>
            <a:r>
              <a:rPr lang="en-US" dirty="0">
                <a:latin typeface="+mj-lt"/>
              </a:rPr>
              <a:t>Brought with it the global movement and exchange of disease-causing bacteria and viruses, as well as animals that served as a source of zoonotic diseases</a:t>
            </a:r>
          </a:p>
          <a:p>
            <a:pPr marL="257175" lvl="1" indent="-257175"/>
            <a:endParaRPr lang="en-US" dirty="0">
              <a:latin typeface="+mj-lt"/>
            </a:endParaRPr>
          </a:p>
          <a:p>
            <a:pPr marL="0" lvl="1" indent="0">
              <a:buNone/>
            </a:pPr>
            <a:endParaRPr lang="en-US" sz="1500" dirty="0">
              <a:latin typeface="+mj-lt"/>
            </a:endParaRPr>
          </a:p>
          <a:p>
            <a:endParaRPr lang="en-US" sz="1800" dirty="0">
              <a:latin typeface="+mj-lt"/>
            </a:endParaRPr>
          </a:p>
          <a:p>
            <a:endParaRPr lang="en-US" sz="1800" dirty="0">
              <a:latin typeface="+mj-lt"/>
            </a:endParaRPr>
          </a:p>
          <a:p>
            <a:endParaRPr lang="en-US" sz="1800" dirty="0">
              <a:latin typeface="+mj-lt"/>
            </a:endParaRPr>
          </a:p>
        </p:txBody>
      </p:sp>
      <p:pic>
        <p:nvPicPr>
          <p:cNvPr id="4" name="Picture 3"/>
          <p:cNvPicPr>
            <a:picLocks noChangeAspect="1"/>
          </p:cNvPicPr>
          <p:nvPr/>
        </p:nvPicPr>
        <p:blipFill rotWithShape="1">
          <a:blip r:embed="rId3">
            <a:extLst>
              <a:ext uri="{28A0092B-C50C-407E-A947-70E740481C1C}">
                <a14:useLocalDpi xmlns:a14="http://schemas.microsoft.com/office/drawing/2010/main" val="0"/>
              </a:ext>
            </a:extLst>
          </a:blip>
          <a:srcRect l="2471" t="2644" r="2435"/>
          <a:stretch/>
        </p:blipFill>
        <p:spPr>
          <a:xfrm>
            <a:off x="4951435" y="1187310"/>
            <a:ext cx="7028198" cy="5351602"/>
          </a:xfrm>
          <a:prstGeom prst="rect">
            <a:avLst/>
          </a:prstGeom>
        </p:spPr>
      </p:pic>
      <p:sp>
        <p:nvSpPr>
          <p:cNvPr id="5" name="Slide Number Placeholder 4">
            <a:extLst>
              <a:ext uri="{FF2B5EF4-FFF2-40B4-BE49-F238E27FC236}">
                <a16:creationId xmlns:a16="http://schemas.microsoft.com/office/drawing/2014/main" id="{785EE9E8-8AFE-4115-BCCA-9B1994CA2645}"/>
              </a:ext>
            </a:extLst>
          </p:cNvPr>
          <p:cNvSpPr>
            <a:spLocks noGrp="1"/>
          </p:cNvSpPr>
          <p:nvPr>
            <p:ph type="sldNum" sz="quarter" idx="12"/>
          </p:nvPr>
        </p:nvSpPr>
        <p:spPr/>
        <p:txBody>
          <a:bodyPr/>
          <a:lstStyle/>
          <a:p>
            <a:fld id="{91F5D5B3-D24A-42EA-B582-81E5372869F6}" type="slidenum">
              <a:rPr lang="en-US" smtClean="0"/>
              <a:t>3</a:t>
            </a:fld>
            <a:endParaRPr lang="en-US" dirty="0"/>
          </a:p>
        </p:txBody>
      </p:sp>
    </p:spTree>
    <p:extLst>
      <p:ext uri="{BB962C8B-B14F-4D97-AF65-F5344CB8AC3E}">
        <p14:creationId xmlns:p14="http://schemas.microsoft.com/office/powerpoint/2010/main" val="18729610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419657"/>
            <a:ext cx="4825999" cy="3263504"/>
          </a:xfrm>
        </p:spPr>
        <p:txBody>
          <a:bodyPr>
            <a:noAutofit/>
          </a:bodyPr>
          <a:lstStyle/>
          <a:p>
            <a:r>
              <a:rPr lang="en-US" dirty="0">
                <a:latin typeface="+mj-lt"/>
              </a:rPr>
              <a:t>Europeans brought measles, smallpox, and tuberculosis which killed millions in the Americas</a:t>
            </a:r>
          </a:p>
          <a:p>
            <a:r>
              <a:rPr lang="en-US" dirty="0">
                <a:latin typeface="+mj-lt"/>
              </a:rPr>
              <a:t>However, the indigenous people were also seen as a commodity by the Europeans, whose health was necessary in order to profit from their labor. </a:t>
            </a:r>
          </a:p>
          <a:p>
            <a:r>
              <a:rPr lang="en-US" dirty="0">
                <a:solidFill>
                  <a:srgbClr val="FF0000"/>
                </a:solidFill>
                <a:latin typeface="+mj-lt"/>
              </a:rPr>
              <a:t>This spurred research into how to maintain the health of those that were now ruled over and put into service to their colonial masters</a:t>
            </a:r>
            <a:r>
              <a:rPr lang="en-US" sz="825" dirty="0">
                <a:solidFill>
                  <a:srgbClr val="FF0000"/>
                </a:solidFill>
                <a:latin typeface="+mj-lt"/>
              </a:rPr>
              <a:t>. </a:t>
            </a:r>
            <a:endParaRPr lang="en-US" sz="900" dirty="0">
              <a:solidFill>
                <a:srgbClr val="FF0000"/>
              </a:solidFill>
              <a:latin typeface="+mj-lt"/>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11801" y="160305"/>
            <a:ext cx="5524498" cy="3093718"/>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11800" y="3357499"/>
            <a:ext cx="5524499" cy="3340196"/>
          </a:xfrm>
          <a:prstGeom prst="rect">
            <a:avLst/>
          </a:prstGeom>
        </p:spPr>
      </p:pic>
      <p:sp>
        <p:nvSpPr>
          <p:cNvPr id="2" name="Slide Number Placeholder 1">
            <a:extLst>
              <a:ext uri="{FF2B5EF4-FFF2-40B4-BE49-F238E27FC236}">
                <a16:creationId xmlns:a16="http://schemas.microsoft.com/office/drawing/2014/main" id="{8AC4DD65-DEE2-429A-A192-3587CB4F35E7}"/>
              </a:ext>
            </a:extLst>
          </p:cNvPr>
          <p:cNvSpPr>
            <a:spLocks noGrp="1"/>
          </p:cNvSpPr>
          <p:nvPr>
            <p:ph type="sldNum" sz="quarter" idx="12"/>
          </p:nvPr>
        </p:nvSpPr>
        <p:spPr/>
        <p:txBody>
          <a:bodyPr/>
          <a:lstStyle/>
          <a:p>
            <a:fld id="{91F5D5B3-D24A-42EA-B582-81E5372869F6}" type="slidenum">
              <a:rPr lang="en-US" smtClean="0"/>
              <a:t>4</a:t>
            </a:fld>
            <a:endParaRPr lang="en-US" dirty="0"/>
          </a:p>
        </p:txBody>
      </p:sp>
    </p:spTree>
    <p:extLst>
      <p:ext uri="{BB962C8B-B14F-4D97-AF65-F5344CB8AC3E}">
        <p14:creationId xmlns:p14="http://schemas.microsoft.com/office/powerpoint/2010/main" val="4281259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431801" y="165496"/>
            <a:ext cx="3390899" cy="3263504"/>
          </a:xfrm>
        </p:spPr>
        <p:txBody>
          <a:bodyPr>
            <a:noAutofit/>
          </a:bodyPr>
          <a:lstStyle/>
          <a:p>
            <a:r>
              <a:rPr lang="en-US" dirty="0">
                <a:latin typeface="+mj-lt"/>
              </a:rPr>
              <a:t>European encountered new tropical diseases as they travelled around the world. </a:t>
            </a:r>
          </a:p>
          <a:p>
            <a:r>
              <a:rPr lang="en-US" dirty="0">
                <a:latin typeface="+mj-lt"/>
              </a:rPr>
              <a:t>Mortality of Europeans along the Gold Coast of West Africa was 300-700 per 1000 colonizers in early 1800's.</a:t>
            </a:r>
          </a:p>
          <a:p>
            <a:r>
              <a:rPr lang="en-US" dirty="0">
                <a:latin typeface="+mj-lt"/>
              </a:rPr>
              <a:t> </a:t>
            </a:r>
            <a:r>
              <a:rPr lang="en-US" dirty="0">
                <a:solidFill>
                  <a:srgbClr val="FF0000"/>
                </a:solidFill>
                <a:latin typeface="+mj-lt"/>
              </a:rPr>
              <a:t>This spurred research into the causes of disease among the colonizers.</a:t>
            </a:r>
            <a:endParaRPr lang="en-US" sz="2400" dirty="0">
              <a:solidFill>
                <a:srgbClr val="FF0000"/>
              </a:solidFill>
              <a:latin typeface="+mj-lt"/>
            </a:endParaRPr>
          </a:p>
          <a:p>
            <a:endParaRPr lang="en-US" sz="1800" dirty="0"/>
          </a:p>
          <a:p>
            <a:pPr marL="342900" lvl="1" indent="0">
              <a:buNone/>
            </a:pPr>
            <a:r>
              <a:rPr lang="en-US" sz="750" dirty="0"/>
              <a:t>. </a:t>
            </a:r>
            <a:endParaRPr lang="en-US" sz="788" dirty="0"/>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6587"/>
          <a:stretch/>
        </p:blipFill>
        <p:spPr>
          <a:xfrm>
            <a:off x="3975259" y="165496"/>
            <a:ext cx="8049961" cy="6362304"/>
          </a:xfrm>
          <a:prstGeom prst="rect">
            <a:avLst/>
          </a:prstGeom>
        </p:spPr>
      </p:pic>
      <p:sp>
        <p:nvSpPr>
          <p:cNvPr id="2" name="Slide Number Placeholder 1">
            <a:extLst>
              <a:ext uri="{FF2B5EF4-FFF2-40B4-BE49-F238E27FC236}">
                <a16:creationId xmlns:a16="http://schemas.microsoft.com/office/drawing/2014/main" id="{F58ADF50-7961-4718-B98A-524B0911A0DA}"/>
              </a:ext>
            </a:extLst>
          </p:cNvPr>
          <p:cNvSpPr>
            <a:spLocks noGrp="1"/>
          </p:cNvSpPr>
          <p:nvPr>
            <p:ph type="sldNum" sz="quarter" idx="12"/>
          </p:nvPr>
        </p:nvSpPr>
        <p:spPr/>
        <p:txBody>
          <a:bodyPr/>
          <a:lstStyle/>
          <a:p>
            <a:fld id="{91F5D5B3-D24A-42EA-B582-81E5372869F6}" type="slidenum">
              <a:rPr lang="en-US" smtClean="0"/>
              <a:t>5</a:t>
            </a:fld>
            <a:endParaRPr lang="en-US" dirty="0"/>
          </a:p>
        </p:txBody>
      </p:sp>
    </p:spTree>
    <p:extLst>
      <p:ext uri="{BB962C8B-B14F-4D97-AF65-F5344CB8AC3E}">
        <p14:creationId xmlns:p14="http://schemas.microsoft.com/office/powerpoint/2010/main" val="20156490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203200" y="369277"/>
            <a:ext cx="4572000" cy="3263504"/>
          </a:xfrm>
        </p:spPr>
        <p:txBody>
          <a:bodyPr>
            <a:noAutofit/>
          </a:bodyPr>
          <a:lstStyle/>
          <a:p>
            <a:r>
              <a:rPr lang="en-US" sz="2600" dirty="0">
                <a:latin typeface="+mj-lt"/>
              </a:rPr>
              <a:t>Disease traveled back to Europe from colonized countries in Asia and Africa.</a:t>
            </a:r>
          </a:p>
          <a:p>
            <a:r>
              <a:rPr lang="en-US" sz="2600" dirty="0">
                <a:latin typeface="+mj-lt"/>
              </a:rPr>
              <a:t> Indian Ocean shipping lanes of the British Empire in the first decades of the 20</a:t>
            </a:r>
            <a:r>
              <a:rPr lang="en-US" sz="2600" baseline="30000" dirty="0">
                <a:latin typeface="+mj-lt"/>
              </a:rPr>
              <a:t>th</a:t>
            </a:r>
            <a:r>
              <a:rPr lang="en-US" sz="2600" dirty="0">
                <a:latin typeface="+mj-lt"/>
              </a:rPr>
              <a:t> century provided new routes for the transmission of cholera. </a:t>
            </a:r>
          </a:p>
          <a:p>
            <a:r>
              <a:rPr lang="en-US" sz="2600" dirty="0">
                <a:latin typeface="+mj-lt"/>
              </a:rPr>
              <a:t>Cholera that began in India could now impact the manufacturing towns of France and England</a:t>
            </a:r>
          </a:p>
          <a:p>
            <a:r>
              <a:rPr lang="en-US" sz="2600" dirty="0">
                <a:solidFill>
                  <a:srgbClr val="FF0000"/>
                </a:solidFill>
                <a:latin typeface="+mj-lt"/>
              </a:rPr>
              <a:t>Thus the health of others in distant land was realized as being important for the health of others far away. </a:t>
            </a:r>
          </a:p>
          <a:p>
            <a:endParaRPr lang="en-US" sz="1800" dirty="0"/>
          </a:p>
          <a:p>
            <a:pPr marL="342900" lvl="1" indent="0">
              <a:buNone/>
            </a:pPr>
            <a:r>
              <a:rPr lang="en-US" sz="750" dirty="0"/>
              <a:t>. </a:t>
            </a:r>
            <a:endParaRPr lang="en-US" sz="788" dirty="0"/>
          </a:p>
        </p:txBody>
      </p:sp>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14237" t="18121" r="14770" b="20077"/>
          <a:stretch/>
        </p:blipFill>
        <p:spPr>
          <a:xfrm>
            <a:off x="5118100" y="3594496"/>
            <a:ext cx="6113905" cy="3263504"/>
          </a:xfrm>
          <a:prstGeom prst="rect">
            <a:avLst/>
          </a:prstGeom>
        </p:spPr>
      </p:pic>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t="9005"/>
          <a:stretch/>
        </p:blipFill>
        <p:spPr>
          <a:xfrm>
            <a:off x="5118100" y="0"/>
            <a:ext cx="6113904" cy="3533618"/>
          </a:xfrm>
          <a:prstGeom prst="rect">
            <a:avLst/>
          </a:prstGeom>
        </p:spPr>
      </p:pic>
      <p:sp>
        <p:nvSpPr>
          <p:cNvPr id="2" name="Slide Number Placeholder 1">
            <a:extLst>
              <a:ext uri="{FF2B5EF4-FFF2-40B4-BE49-F238E27FC236}">
                <a16:creationId xmlns:a16="http://schemas.microsoft.com/office/drawing/2014/main" id="{C26BC992-A7D9-4C16-9E92-FF498EC6534D}"/>
              </a:ext>
            </a:extLst>
          </p:cNvPr>
          <p:cNvSpPr>
            <a:spLocks noGrp="1"/>
          </p:cNvSpPr>
          <p:nvPr>
            <p:ph type="sldNum" sz="quarter" idx="12"/>
          </p:nvPr>
        </p:nvSpPr>
        <p:spPr/>
        <p:txBody>
          <a:bodyPr/>
          <a:lstStyle/>
          <a:p>
            <a:fld id="{91F5D5B3-D24A-42EA-B582-81E5372869F6}" type="slidenum">
              <a:rPr lang="en-US" smtClean="0"/>
              <a:t>6</a:t>
            </a:fld>
            <a:endParaRPr lang="en-US" dirty="0"/>
          </a:p>
        </p:txBody>
      </p:sp>
    </p:spTree>
    <p:extLst>
      <p:ext uri="{BB962C8B-B14F-4D97-AF65-F5344CB8AC3E}">
        <p14:creationId xmlns:p14="http://schemas.microsoft.com/office/powerpoint/2010/main" val="39426099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81114" y="312127"/>
            <a:ext cx="5837081" cy="1501420"/>
          </a:xfrm>
        </p:spPr>
        <p:txBody>
          <a:bodyPr>
            <a:normAutofit/>
          </a:bodyPr>
          <a:lstStyle/>
          <a:p>
            <a:pPr algn="ctr"/>
            <a:r>
              <a:rPr lang="en-US" dirty="0"/>
              <a:t>Medicine was used as a pretext for colonial rule</a:t>
            </a:r>
          </a:p>
        </p:txBody>
      </p:sp>
      <p:sp>
        <p:nvSpPr>
          <p:cNvPr id="3" name="Content Placeholder 2"/>
          <p:cNvSpPr>
            <a:spLocks noGrp="1"/>
          </p:cNvSpPr>
          <p:nvPr>
            <p:ph idx="1"/>
          </p:nvPr>
        </p:nvSpPr>
        <p:spPr>
          <a:xfrm>
            <a:off x="315686" y="312127"/>
            <a:ext cx="5414338" cy="6545873"/>
          </a:xfrm>
        </p:spPr>
        <p:txBody>
          <a:bodyPr>
            <a:normAutofit/>
          </a:bodyPr>
          <a:lstStyle/>
          <a:p>
            <a:r>
              <a:rPr lang="en-US" sz="3200" dirty="0"/>
              <a:t>The imperialism as helpful argument</a:t>
            </a:r>
          </a:p>
          <a:p>
            <a:pPr lvl="1"/>
            <a:r>
              <a:rPr lang="en-US" sz="2800" dirty="0"/>
              <a:t>Holds that one of the aims of colonization should be medical.</a:t>
            </a:r>
          </a:p>
          <a:p>
            <a:pPr lvl="1"/>
            <a:r>
              <a:rPr lang="en-US" sz="2800" dirty="0"/>
              <a:t>Colonialism could be presented as beneficial, it helped the locals. </a:t>
            </a:r>
          </a:p>
          <a:p>
            <a:pPr lvl="1"/>
            <a:r>
              <a:rPr lang="en-US" sz="2800" dirty="0">
                <a:solidFill>
                  <a:srgbClr val="FF0000"/>
                </a:solidFill>
              </a:rPr>
              <a:t>However, colonial medicine became an agent of penetration and pacification. </a:t>
            </a:r>
          </a:p>
          <a:p>
            <a:pPr lvl="1"/>
            <a:r>
              <a:rPr lang="en-US" sz="2800" dirty="0">
                <a:solidFill>
                  <a:srgbClr val="FF0000"/>
                </a:solidFill>
              </a:rPr>
              <a:t>Often medical care was limited to those who agreed to be ruled or who provided labor and other services readily</a:t>
            </a:r>
          </a:p>
        </p:txBody>
      </p:sp>
      <p:pic>
        <p:nvPicPr>
          <p:cNvPr id="4" name="Picture 3"/>
          <p:cNvPicPr>
            <a:picLocks noChangeAspect="1"/>
          </p:cNvPicPr>
          <p:nvPr/>
        </p:nvPicPr>
        <p:blipFill rotWithShape="1">
          <a:blip r:embed="rId3">
            <a:extLst>
              <a:ext uri="{28A0092B-C50C-407E-A947-70E740481C1C}">
                <a14:useLocalDpi xmlns:a14="http://schemas.microsoft.com/office/drawing/2010/main" val="0"/>
              </a:ext>
            </a:extLst>
          </a:blip>
          <a:srcRect r="12653"/>
          <a:stretch/>
        </p:blipFill>
        <p:spPr>
          <a:xfrm>
            <a:off x="6145693" y="1813547"/>
            <a:ext cx="5730621" cy="4732326"/>
          </a:xfrm>
          <a:prstGeom prst="rect">
            <a:avLst/>
          </a:prstGeom>
        </p:spPr>
      </p:pic>
      <p:sp>
        <p:nvSpPr>
          <p:cNvPr id="5" name="Slide Number Placeholder 4">
            <a:extLst>
              <a:ext uri="{FF2B5EF4-FFF2-40B4-BE49-F238E27FC236}">
                <a16:creationId xmlns:a16="http://schemas.microsoft.com/office/drawing/2014/main" id="{060F245F-6000-4C33-9AF4-F5F9690953F7}"/>
              </a:ext>
            </a:extLst>
          </p:cNvPr>
          <p:cNvSpPr>
            <a:spLocks noGrp="1"/>
          </p:cNvSpPr>
          <p:nvPr>
            <p:ph type="sldNum" sz="quarter" idx="12"/>
          </p:nvPr>
        </p:nvSpPr>
        <p:spPr/>
        <p:txBody>
          <a:bodyPr/>
          <a:lstStyle/>
          <a:p>
            <a:fld id="{91F5D5B3-D24A-42EA-B582-81E5372869F6}" type="slidenum">
              <a:rPr lang="en-US" smtClean="0"/>
              <a:t>7</a:t>
            </a:fld>
            <a:endParaRPr lang="en-US" dirty="0"/>
          </a:p>
        </p:txBody>
      </p:sp>
    </p:spTree>
    <p:extLst>
      <p:ext uri="{BB962C8B-B14F-4D97-AF65-F5344CB8AC3E}">
        <p14:creationId xmlns:p14="http://schemas.microsoft.com/office/powerpoint/2010/main" val="12304634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259863" y="368567"/>
            <a:ext cx="5651500" cy="6489433"/>
          </a:xfrm>
        </p:spPr>
        <p:txBody>
          <a:bodyPr>
            <a:noAutofit/>
          </a:bodyPr>
          <a:lstStyle/>
          <a:p>
            <a:pPr lvl="1"/>
            <a:r>
              <a:rPr lang="en-US" sz="3200" dirty="0"/>
              <a:t>The infrastructure of imperialism argument</a:t>
            </a:r>
          </a:p>
          <a:p>
            <a:pPr lvl="2"/>
            <a:r>
              <a:rPr lang="en-US" sz="3200" dirty="0"/>
              <a:t>Medical care and doctors were needed to keep the military and administrative officers of the ruling power healthy, as well as the ruled citizenry who labored in the service of empire. </a:t>
            </a:r>
          </a:p>
          <a:p>
            <a:pPr lvl="2"/>
            <a:r>
              <a:rPr lang="en-US" sz="3200" dirty="0">
                <a:solidFill>
                  <a:srgbClr val="FF0000"/>
                </a:solidFill>
              </a:rPr>
              <a:t>Medical care was essential to maintaining power of the colonize</a:t>
            </a:r>
          </a:p>
          <a:p>
            <a:pPr marL="914400" lvl="2" indent="0">
              <a:buNone/>
            </a:pPr>
            <a:endParaRPr lang="en-US" sz="28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80638" y="25666"/>
            <a:ext cx="5592712" cy="6489433"/>
          </a:xfrm>
          <a:prstGeom prst="rect">
            <a:avLst/>
          </a:prstGeom>
        </p:spPr>
      </p:pic>
      <p:sp>
        <p:nvSpPr>
          <p:cNvPr id="2" name="Slide Number Placeholder 1">
            <a:extLst>
              <a:ext uri="{FF2B5EF4-FFF2-40B4-BE49-F238E27FC236}">
                <a16:creationId xmlns:a16="http://schemas.microsoft.com/office/drawing/2014/main" id="{FA31AAAD-3A03-4850-904F-F69EEE19F217}"/>
              </a:ext>
            </a:extLst>
          </p:cNvPr>
          <p:cNvSpPr>
            <a:spLocks noGrp="1"/>
          </p:cNvSpPr>
          <p:nvPr>
            <p:ph type="sldNum" sz="quarter" idx="12"/>
          </p:nvPr>
        </p:nvSpPr>
        <p:spPr/>
        <p:txBody>
          <a:bodyPr/>
          <a:lstStyle/>
          <a:p>
            <a:fld id="{91F5D5B3-D24A-42EA-B582-81E5372869F6}" type="slidenum">
              <a:rPr lang="en-US" smtClean="0"/>
              <a:t>8</a:t>
            </a:fld>
            <a:endParaRPr lang="en-US" dirty="0"/>
          </a:p>
        </p:txBody>
      </p:sp>
    </p:spTree>
    <p:extLst>
      <p:ext uri="{BB962C8B-B14F-4D97-AF65-F5344CB8AC3E}">
        <p14:creationId xmlns:p14="http://schemas.microsoft.com/office/powerpoint/2010/main" val="6619260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96900" y="395012"/>
            <a:ext cx="10756900" cy="994172"/>
          </a:xfrm>
        </p:spPr>
        <p:txBody>
          <a:bodyPr>
            <a:normAutofit fontScale="90000"/>
          </a:bodyPr>
          <a:lstStyle/>
          <a:p>
            <a:pPr algn="ctr"/>
            <a:r>
              <a:rPr lang="en-US" dirty="0"/>
              <a:t>Examples of the discourses about health used to justify the actions of the colonizers</a:t>
            </a:r>
          </a:p>
        </p:txBody>
      </p:sp>
      <p:sp>
        <p:nvSpPr>
          <p:cNvPr id="3" name="Content Placeholder 2"/>
          <p:cNvSpPr>
            <a:spLocks noGrp="1"/>
          </p:cNvSpPr>
          <p:nvPr>
            <p:ph idx="1"/>
          </p:nvPr>
        </p:nvSpPr>
        <p:spPr>
          <a:xfrm>
            <a:off x="445477" y="1389184"/>
            <a:ext cx="6964230" cy="5666936"/>
          </a:xfrm>
        </p:spPr>
        <p:txBody>
          <a:bodyPr>
            <a:normAutofit lnSpcReduction="10000"/>
          </a:bodyPr>
          <a:lstStyle/>
          <a:p>
            <a:endParaRPr lang="en-US" sz="2600" dirty="0"/>
          </a:p>
          <a:p>
            <a:r>
              <a:rPr lang="en-US" sz="2600" dirty="0"/>
              <a:t>British mortality rates in 1835 were 12:1000 in the United Kingdom, but 500:1000 when stationed in west Africa. </a:t>
            </a:r>
          </a:p>
          <a:p>
            <a:r>
              <a:rPr lang="en-US" sz="2600" dirty="0"/>
              <a:t>Africans did not have these high mortality rates</a:t>
            </a:r>
          </a:p>
          <a:p>
            <a:r>
              <a:rPr lang="en-US" sz="2600" dirty="0"/>
              <a:t>This gave way to the discourse that the native bodies were better suited or ‘seasoned’ to labor in these hot climates, in Africa and in the slave trade in the Americas. </a:t>
            </a:r>
          </a:p>
          <a:p>
            <a:r>
              <a:rPr lang="en-US" sz="2600" dirty="0"/>
              <a:t>Slavery was also justified by the socially-constructed idea that Africans did not feel pain like white people</a:t>
            </a:r>
          </a:p>
          <a:p>
            <a:r>
              <a:rPr lang="en-US" sz="2600" dirty="0"/>
              <a:t>Even today, myths still remain about racial differences</a:t>
            </a:r>
          </a:p>
        </p:txBody>
      </p:sp>
      <p:pic>
        <p:nvPicPr>
          <p:cNvPr id="4" name="Picture 3"/>
          <p:cNvPicPr>
            <a:picLocks noChangeAspect="1"/>
          </p:cNvPicPr>
          <p:nvPr/>
        </p:nvPicPr>
        <p:blipFill>
          <a:blip r:embed="rId3"/>
          <a:stretch>
            <a:fillRect/>
          </a:stretch>
        </p:blipFill>
        <p:spPr>
          <a:xfrm>
            <a:off x="7409707" y="1491336"/>
            <a:ext cx="3422866" cy="5230139"/>
          </a:xfrm>
          <a:prstGeom prst="rect">
            <a:avLst/>
          </a:prstGeom>
        </p:spPr>
      </p:pic>
      <p:sp>
        <p:nvSpPr>
          <p:cNvPr id="5" name="Slide Number Placeholder 4">
            <a:extLst>
              <a:ext uri="{FF2B5EF4-FFF2-40B4-BE49-F238E27FC236}">
                <a16:creationId xmlns:a16="http://schemas.microsoft.com/office/drawing/2014/main" id="{C9FEAED7-43D0-4DC5-8306-C51447E16D8F}"/>
              </a:ext>
            </a:extLst>
          </p:cNvPr>
          <p:cNvSpPr>
            <a:spLocks noGrp="1"/>
          </p:cNvSpPr>
          <p:nvPr>
            <p:ph type="sldNum" sz="quarter" idx="12"/>
          </p:nvPr>
        </p:nvSpPr>
        <p:spPr/>
        <p:txBody>
          <a:bodyPr/>
          <a:lstStyle/>
          <a:p>
            <a:fld id="{91F5D5B3-D24A-42EA-B582-81E5372869F6}" type="slidenum">
              <a:rPr lang="en-US" smtClean="0"/>
              <a:t>9</a:t>
            </a:fld>
            <a:endParaRPr lang="en-US" dirty="0"/>
          </a:p>
        </p:txBody>
      </p:sp>
    </p:spTree>
    <p:extLst>
      <p:ext uri="{BB962C8B-B14F-4D97-AF65-F5344CB8AC3E}">
        <p14:creationId xmlns:p14="http://schemas.microsoft.com/office/powerpoint/2010/main" val="40462386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Content Placeholder 3">
            <a:hlinkClick r:id="rId3"/>
            <a:extLst>
              <a:ext uri="{FF2B5EF4-FFF2-40B4-BE49-F238E27FC236}">
                <a16:creationId xmlns:a16="http://schemas.microsoft.com/office/drawing/2014/main" id="{CD55746E-EF0C-4951-97D5-76389C22EA68}"/>
              </a:ext>
            </a:extLst>
          </p:cNvPr>
          <p:cNvPicPr>
            <a:picLocks noGrp="1" noChangeAspect="1"/>
          </p:cNvPicPr>
          <p:nvPr>
            <p:ph idx="1"/>
          </p:nvPr>
        </p:nvPicPr>
        <p:blipFill>
          <a:blip r:embed="rId4"/>
          <a:stretch>
            <a:fillRect/>
          </a:stretch>
        </p:blipFill>
        <p:spPr>
          <a:xfrm>
            <a:off x="375688" y="742827"/>
            <a:ext cx="11440623" cy="5372345"/>
          </a:xfrm>
          <a:prstGeom prst="rect">
            <a:avLst/>
          </a:prstGeom>
          <a:ln w="47625">
            <a:solidFill>
              <a:schemeClr val="accent1"/>
            </a:solidFill>
          </a:ln>
        </p:spPr>
      </p:pic>
      <p:sp>
        <p:nvSpPr>
          <p:cNvPr id="2" name="Slide Number Placeholder 1">
            <a:extLst>
              <a:ext uri="{FF2B5EF4-FFF2-40B4-BE49-F238E27FC236}">
                <a16:creationId xmlns:a16="http://schemas.microsoft.com/office/drawing/2014/main" id="{1DF60F3C-6F05-4420-AD3C-84C9BAC69FB3}"/>
              </a:ext>
            </a:extLst>
          </p:cNvPr>
          <p:cNvSpPr>
            <a:spLocks noGrp="1"/>
          </p:cNvSpPr>
          <p:nvPr>
            <p:ph type="sldNum" sz="quarter" idx="12"/>
          </p:nvPr>
        </p:nvSpPr>
        <p:spPr/>
        <p:txBody>
          <a:bodyPr/>
          <a:lstStyle/>
          <a:p>
            <a:fld id="{91F5D5B3-D24A-42EA-B582-81E5372869F6}" type="slidenum">
              <a:rPr lang="en-US" smtClean="0"/>
              <a:t>10</a:t>
            </a:fld>
            <a:endParaRPr lang="en-US" dirty="0"/>
          </a:p>
        </p:txBody>
      </p:sp>
    </p:spTree>
    <p:extLst>
      <p:ext uri="{BB962C8B-B14F-4D97-AF65-F5344CB8AC3E}">
        <p14:creationId xmlns:p14="http://schemas.microsoft.com/office/powerpoint/2010/main" val="169799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01AB9C-246B-008C-6840-3B2A67631961}"/>
              </a:ext>
            </a:extLst>
          </p:cNvPr>
          <p:cNvSpPr>
            <a:spLocks noGrp="1"/>
          </p:cNvSpPr>
          <p:nvPr>
            <p:ph type="title"/>
          </p:nvPr>
        </p:nvSpPr>
        <p:spPr>
          <a:xfrm>
            <a:off x="666206" y="256965"/>
            <a:ext cx="11079479" cy="1325563"/>
          </a:xfrm>
        </p:spPr>
        <p:txBody>
          <a:bodyPr/>
          <a:lstStyle/>
          <a:p>
            <a:r>
              <a:rPr lang="en-US" dirty="0"/>
              <a:t>Pulse oximeters</a:t>
            </a:r>
          </a:p>
        </p:txBody>
      </p:sp>
      <p:sp>
        <p:nvSpPr>
          <p:cNvPr id="3" name="Content Placeholder 2">
            <a:extLst>
              <a:ext uri="{FF2B5EF4-FFF2-40B4-BE49-F238E27FC236}">
                <a16:creationId xmlns:a16="http://schemas.microsoft.com/office/drawing/2014/main" id="{79561422-CB16-FDB3-5378-67A5ACA611CE}"/>
              </a:ext>
            </a:extLst>
          </p:cNvPr>
          <p:cNvSpPr>
            <a:spLocks noGrp="1"/>
          </p:cNvSpPr>
          <p:nvPr>
            <p:ph idx="1"/>
          </p:nvPr>
        </p:nvSpPr>
        <p:spPr>
          <a:xfrm>
            <a:off x="446315" y="1582528"/>
            <a:ext cx="5840185" cy="5138948"/>
          </a:xfrm>
        </p:spPr>
        <p:txBody>
          <a:bodyPr>
            <a:normAutofit lnSpcReduction="10000"/>
          </a:bodyPr>
          <a:lstStyle/>
          <a:p>
            <a:r>
              <a:rPr lang="en-US" dirty="0"/>
              <a:t>Measure oxygen levels</a:t>
            </a:r>
          </a:p>
          <a:p>
            <a:r>
              <a:rPr lang="en-US" dirty="0"/>
              <a:t>Variations in skin pigmentation can affect the accuracy of these readings.</a:t>
            </a:r>
          </a:p>
          <a:p>
            <a:r>
              <a:rPr lang="en-US" dirty="0"/>
              <a:t>Darker skin contains more melanin, which can interfere with the absorption of light</a:t>
            </a:r>
          </a:p>
          <a:p>
            <a:r>
              <a:rPr lang="en-US" dirty="0"/>
              <a:t>This can lead to overestimation of oxygen saturation and the delay of intervention for people with darker skin</a:t>
            </a:r>
          </a:p>
          <a:p>
            <a:r>
              <a:rPr lang="en-US" dirty="0"/>
              <a:t>Newer and more sophisticated oximeters do not have this problem</a:t>
            </a:r>
          </a:p>
        </p:txBody>
      </p:sp>
      <p:sp>
        <p:nvSpPr>
          <p:cNvPr id="4" name="Slide Number Placeholder 3">
            <a:extLst>
              <a:ext uri="{FF2B5EF4-FFF2-40B4-BE49-F238E27FC236}">
                <a16:creationId xmlns:a16="http://schemas.microsoft.com/office/drawing/2014/main" id="{E876C17F-8D63-2BDE-B7E9-0B098DCEE69F}"/>
              </a:ext>
            </a:extLst>
          </p:cNvPr>
          <p:cNvSpPr>
            <a:spLocks noGrp="1"/>
          </p:cNvSpPr>
          <p:nvPr>
            <p:ph type="sldNum" sz="quarter" idx="12"/>
          </p:nvPr>
        </p:nvSpPr>
        <p:spPr/>
        <p:txBody>
          <a:bodyPr/>
          <a:lstStyle/>
          <a:p>
            <a:fld id="{91F5D5B3-D24A-42EA-B582-81E5372869F6}" type="slidenum">
              <a:rPr lang="en-US" smtClean="0"/>
              <a:pPr/>
              <a:t>11</a:t>
            </a:fld>
            <a:endParaRPr lang="en-US" dirty="0"/>
          </a:p>
        </p:txBody>
      </p:sp>
      <p:pic>
        <p:nvPicPr>
          <p:cNvPr id="6" name="Picture 5" descr="A close-up of a person holding a pulse oximeter&#10;&#10;Description automatically generated">
            <a:extLst>
              <a:ext uri="{FF2B5EF4-FFF2-40B4-BE49-F238E27FC236}">
                <a16:creationId xmlns:a16="http://schemas.microsoft.com/office/drawing/2014/main" id="{B68A3776-8321-0975-3394-1DA82F1B940F}"/>
              </a:ext>
            </a:extLst>
          </p:cNvPr>
          <p:cNvPicPr>
            <a:picLocks noChangeAspect="1"/>
          </p:cNvPicPr>
          <p:nvPr/>
        </p:nvPicPr>
        <p:blipFill rotWithShape="1">
          <a:blip r:embed="rId3">
            <a:extLst>
              <a:ext uri="{28A0092B-C50C-407E-A947-70E740481C1C}">
                <a14:useLocalDpi xmlns:a14="http://schemas.microsoft.com/office/drawing/2010/main" val="0"/>
              </a:ext>
            </a:extLst>
          </a:blip>
          <a:srcRect l="34300"/>
          <a:stretch/>
        </p:blipFill>
        <p:spPr>
          <a:xfrm>
            <a:off x="6547757" y="1690688"/>
            <a:ext cx="5323114" cy="4557502"/>
          </a:xfrm>
          <a:prstGeom prst="rect">
            <a:avLst/>
          </a:prstGeom>
        </p:spPr>
      </p:pic>
    </p:spTree>
    <p:extLst>
      <p:ext uri="{BB962C8B-B14F-4D97-AF65-F5344CB8AC3E}">
        <p14:creationId xmlns:p14="http://schemas.microsoft.com/office/powerpoint/2010/main" val="2808030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4000" dirty="0"/>
              <a:t>What are specific historical events leading to the emergence of global health?</a:t>
            </a:r>
          </a:p>
        </p:txBody>
      </p:sp>
      <p:sp>
        <p:nvSpPr>
          <p:cNvPr id="3" name="Content Placeholder 2"/>
          <p:cNvSpPr>
            <a:spLocks noGrp="1"/>
          </p:cNvSpPr>
          <p:nvPr>
            <p:ph idx="1"/>
          </p:nvPr>
        </p:nvSpPr>
        <p:spPr>
          <a:xfrm>
            <a:off x="749300" y="1828800"/>
            <a:ext cx="10693400" cy="5381784"/>
          </a:xfrm>
        </p:spPr>
        <p:txBody>
          <a:bodyPr>
            <a:normAutofit/>
          </a:bodyPr>
          <a:lstStyle/>
          <a:p>
            <a:r>
              <a:rPr lang="en-US" sz="2875" dirty="0">
                <a:latin typeface="+mj-lt"/>
              </a:rPr>
              <a:t>Through expeditions in Egypt and India, the microbiologist Robert Koch isolated </a:t>
            </a:r>
            <a:r>
              <a:rPr lang="en-US" sz="2875" i="1" dirty="0">
                <a:latin typeface="+mj-lt"/>
              </a:rPr>
              <a:t>Vibrio cholerae </a:t>
            </a:r>
            <a:r>
              <a:rPr lang="en-US" sz="2875" dirty="0">
                <a:latin typeface="+mj-lt"/>
              </a:rPr>
              <a:t>in 1883, proving that heat and humidity were not barriers to tropical colonization – at the time it was thought that the ‘bad air’ of the tropics caused cholera</a:t>
            </a:r>
          </a:p>
          <a:p>
            <a:r>
              <a:rPr lang="en-US" sz="2875" dirty="0">
                <a:latin typeface="+mj-lt"/>
              </a:rPr>
              <a:t>The still relatively new idea of germ theory developed by Pasteur also implied that addressing the problem of germs </a:t>
            </a:r>
            <a:r>
              <a:rPr lang="en-US" sz="2875" b="1" dirty="0">
                <a:latin typeface="+mj-lt"/>
              </a:rPr>
              <a:t>would allow new tropical lands to be made more accessible.  </a:t>
            </a:r>
          </a:p>
          <a:p>
            <a:r>
              <a:rPr lang="en-US" sz="2875" dirty="0">
                <a:latin typeface="+mj-lt"/>
              </a:rPr>
              <a:t>Formation of the </a:t>
            </a:r>
            <a:r>
              <a:rPr lang="en-US" sz="2875" dirty="0">
                <a:latin typeface="+mj-lt"/>
                <a:hlinkClick r:id="rId3"/>
              </a:rPr>
              <a:t>London School of Tropical Medicine </a:t>
            </a:r>
            <a:r>
              <a:rPr lang="en-US" sz="2875" dirty="0">
                <a:latin typeface="+mj-lt"/>
              </a:rPr>
              <a:t>in 1899 was meant to foster this kind of </a:t>
            </a:r>
            <a:r>
              <a:rPr lang="en-US" sz="2875" b="1" dirty="0">
                <a:latin typeface="+mj-lt"/>
              </a:rPr>
              <a:t>imperial medicine. </a:t>
            </a:r>
            <a:r>
              <a:rPr lang="en-US" sz="2875" dirty="0">
                <a:latin typeface="+mj-lt"/>
              </a:rPr>
              <a:t>This is another way in which global health had its origins in colonialism.</a:t>
            </a:r>
          </a:p>
        </p:txBody>
      </p:sp>
      <p:sp>
        <p:nvSpPr>
          <p:cNvPr id="4" name="Slide Number Placeholder 3">
            <a:extLst>
              <a:ext uri="{FF2B5EF4-FFF2-40B4-BE49-F238E27FC236}">
                <a16:creationId xmlns:a16="http://schemas.microsoft.com/office/drawing/2014/main" id="{1C892821-4239-4756-869E-505FEDF9AFC0}"/>
              </a:ext>
            </a:extLst>
          </p:cNvPr>
          <p:cNvSpPr>
            <a:spLocks noGrp="1"/>
          </p:cNvSpPr>
          <p:nvPr>
            <p:ph type="sldNum" sz="quarter" idx="12"/>
          </p:nvPr>
        </p:nvSpPr>
        <p:spPr/>
        <p:txBody>
          <a:bodyPr/>
          <a:lstStyle/>
          <a:p>
            <a:fld id="{91F5D5B3-D24A-42EA-B582-81E5372869F6}" type="slidenum">
              <a:rPr lang="en-US" smtClean="0"/>
              <a:t>12</a:t>
            </a:fld>
            <a:endParaRPr lang="en-US" dirty="0"/>
          </a:p>
        </p:txBody>
      </p:sp>
    </p:spTree>
    <p:extLst>
      <p:ext uri="{BB962C8B-B14F-4D97-AF65-F5344CB8AC3E}">
        <p14:creationId xmlns:p14="http://schemas.microsoft.com/office/powerpoint/2010/main" val="32090157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428264"/>
            <a:ext cx="3997855" cy="6757550"/>
          </a:xfrm>
        </p:spPr>
        <p:txBody>
          <a:bodyPr>
            <a:normAutofit/>
          </a:bodyPr>
          <a:lstStyle/>
          <a:p>
            <a:endParaRPr lang="en-US" dirty="0"/>
          </a:p>
          <a:p>
            <a:pPr lvl="1"/>
            <a:r>
              <a:rPr lang="en-US" sz="2800" dirty="0">
                <a:latin typeface="+mj-lt"/>
              </a:rPr>
              <a:t>The Pan American Sanitary Bureau (the </a:t>
            </a:r>
            <a:r>
              <a:rPr lang="en-US" sz="2800" dirty="0">
                <a:latin typeface="+mj-lt"/>
                <a:hlinkClick r:id="rId3"/>
              </a:rPr>
              <a:t>Pan American Health Organization </a:t>
            </a:r>
            <a:r>
              <a:rPr lang="en-US" sz="2800" dirty="0">
                <a:latin typeface="+mj-lt"/>
              </a:rPr>
              <a:t>today) was formed to coordinate the ultimately successful international effort to control yellow fever during the construction of the canal (1903-1914) </a:t>
            </a:r>
          </a:p>
          <a:p>
            <a:endParaRPr lang="en-US" sz="3300" dirty="0"/>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6403" y="936989"/>
            <a:ext cx="7585241" cy="3982252"/>
          </a:xfrm>
          <a:prstGeom prst="rect">
            <a:avLst/>
          </a:prstGeom>
        </p:spPr>
      </p:pic>
      <p:sp>
        <p:nvSpPr>
          <p:cNvPr id="2" name="Slide Number Placeholder 1">
            <a:extLst>
              <a:ext uri="{FF2B5EF4-FFF2-40B4-BE49-F238E27FC236}">
                <a16:creationId xmlns:a16="http://schemas.microsoft.com/office/drawing/2014/main" id="{8369263E-8CD4-4263-8A4F-A4FE64CDD6CF}"/>
              </a:ext>
            </a:extLst>
          </p:cNvPr>
          <p:cNvSpPr>
            <a:spLocks noGrp="1"/>
          </p:cNvSpPr>
          <p:nvPr>
            <p:ph type="sldNum" sz="quarter" idx="12"/>
          </p:nvPr>
        </p:nvSpPr>
        <p:spPr/>
        <p:txBody>
          <a:bodyPr/>
          <a:lstStyle/>
          <a:p>
            <a:fld id="{91F5D5B3-D24A-42EA-B582-81E5372869F6}" type="slidenum">
              <a:rPr lang="en-US" smtClean="0"/>
              <a:t>13</a:t>
            </a:fld>
            <a:endParaRPr lang="en-US" dirty="0"/>
          </a:p>
        </p:txBody>
      </p:sp>
    </p:spTree>
    <p:extLst>
      <p:ext uri="{BB962C8B-B14F-4D97-AF65-F5344CB8AC3E}">
        <p14:creationId xmlns:p14="http://schemas.microsoft.com/office/powerpoint/2010/main" val="28817594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06248" y="336039"/>
            <a:ext cx="4389843" cy="6521961"/>
          </a:xfrm>
        </p:spPr>
        <p:txBody>
          <a:bodyPr>
            <a:noAutofit/>
          </a:bodyPr>
          <a:lstStyle/>
          <a:p>
            <a:r>
              <a:rPr lang="en-US" sz="2600" dirty="0">
                <a:latin typeface="Calibri Light" panose="020F0302020204030204" pitchFamily="34" charset="0"/>
              </a:rPr>
              <a:t>After World War 2, colonial power weakens throughout Asia and Africa and the era of colonial revolutions and self-determination begins. </a:t>
            </a:r>
          </a:p>
          <a:p>
            <a:r>
              <a:rPr lang="en-US" sz="2600" dirty="0">
                <a:latin typeface="Calibri Light" panose="020F0302020204030204" pitchFamily="34" charset="0"/>
              </a:rPr>
              <a:t>Global political and economic power becomes focused on contrasts in development among wealthier and more recently formed and poorer countries</a:t>
            </a:r>
          </a:p>
          <a:p>
            <a:r>
              <a:rPr lang="en-US" sz="2600" dirty="0">
                <a:latin typeface="Calibri Light" panose="020F0302020204030204" pitchFamily="34" charset="0"/>
              </a:rPr>
              <a:t>Internationalization of health along issues of health equity became more important under the newly formed </a:t>
            </a:r>
            <a:r>
              <a:rPr lang="en-US" sz="2600" b="1" dirty="0">
                <a:latin typeface="Calibri Light" panose="020F0302020204030204" pitchFamily="34" charset="0"/>
              </a:rPr>
              <a:t>United Nations in 1945 </a:t>
            </a:r>
          </a:p>
        </p:txBody>
      </p:sp>
      <p:pic>
        <p:nvPicPr>
          <p:cNvPr id="4" name="Picture 3" descr="A picture containing toy, colorful&#10;&#10;Description automatically generated">
            <a:extLst>
              <a:ext uri="{FF2B5EF4-FFF2-40B4-BE49-F238E27FC236}">
                <a16:creationId xmlns:a16="http://schemas.microsoft.com/office/drawing/2014/main" id="{D798C192-83E2-4B93-8030-94F4287357D0}"/>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2807" t="6558" b="6230"/>
          <a:stretch/>
        </p:blipFill>
        <p:spPr>
          <a:xfrm>
            <a:off x="5152722" y="136525"/>
            <a:ext cx="6201078" cy="6521961"/>
          </a:xfrm>
          <a:prstGeom prst="rect">
            <a:avLst/>
          </a:prstGeom>
        </p:spPr>
      </p:pic>
      <p:sp>
        <p:nvSpPr>
          <p:cNvPr id="2" name="Slide Number Placeholder 1">
            <a:extLst>
              <a:ext uri="{FF2B5EF4-FFF2-40B4-BE49-F238E27FC236}">
                <a16:creationId xmlns:a16="http://schemas.microsoft.com/office/drawing/2014/main" id="{480B1FF4-F0B8-44E5-94E2-E3B88BC85A77}"/>
              </a:ext>
            </a:extLst>
          </p:cNvPr>
          <p:cNvSpPr>
            <a:spLocks noGrp="1"/>
          </p:cNvSpPr>
          <p:nvPr>
            <p:ph type="sldNum" sz="quarter" idx="12"/>
          </p:nvPr>
        </p:nvSpPr>
        <p:spPr/>
        <p:txBody>
          <a:bodyPr/>
          <a:lstStyle/>
          <a:p>
            <a:fld id="{91F5D5B3-D24A-42EA-B582-81E5372869F6}" type="slidenum">
              <a:rPr lang="en-US" smtClean="0"/>
              <a:t>14</a:t>
            </a:fld>
            <a:endParaRPr lang="en-US" dirty="0"/>
          </a:p>
        </p:txBody>
      </p:sp>
    </p:spTree>
    <p:extLst>
      <p:ext uri="{BB962C8B-B14F-4D97-AF65-F5344CB8AC3E}">
        <p14:creationId xmlns:p14="http://schemas.microsoft.com/office/powerpoint/2010/main" val="16519414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374" y="496890"/>
            <a:ext cx="4533214" cy="5942010"/>
          </a:xfrm>
        </p:spPr>
        <p:txBody>
          <a:bodyPr>
            <a:noAutofit/>
          </a:bodyPr>
          <a:lstStyle/>
          <a:p>
            <a:r>
              <a:rPr lang="en-US" sz="2400" dirty="0">
                <a:latin typeface="Calibri Light" panose="020F0302020204030204" pitchFamily="34" charset="0"/>
              </a:rPr>
              <a:t>Planning for the </a:t>
            </a:r>
            <a:r>
              <a:rPr lang="en-US" sz="2400" b="1" dirty="0">
                <a:latin typeface="Calibri Light" panose="020F0302020204030204" pitchFamily="34" charset="0"/>
              </a:rPr>
              <a:t>World Health Organization</a:t>
            </a:r>
            <a:r>
              <a:rPr lang="en-US" sz="2400" dirty="0">
                <a:latin typeface="Calibri Light" panose="020F0302020204030204" pitchFamily="34" charset="0"/>
              </a:rPr>
              <a:t> began at a 1945 meeting of the United Nations</a:t>
            </a:r>
          </a:p>
          <a:p>
            <a:r>
              <a:rPr lang="en-US" sz="2400" dirty="0">
                <a:latin typeface="Calibri Light" panose="020F0302020204030204" pitchFamily="34" charset="0"/>
              </a:rPr>
              <a:t>WHO originally promoted by Brazil and China (not the U.S. or Europe) </a:t>
            </a:r>
          </a:p>
          <a:p>
            <a:r>
              <a:rPr lang="en-US" sz="2400" dirty="0">
                <a:latin typeface="Calibri Light" panose="020F0302020204030204" pitchFamily="34" charset="0"/>
              </a:rPr>
              <a:t>WHO aimed to have global membership</a:t>
            </a:r>
          </a:p>
          <a:p>
            <a:r>
              <a:rPr lang="en-US" sz="2400" dirty="0">
                <a:latin typeface="Calibri Light" panose="020F0302020204030204" pitchFamily="34" charset="0"/>
              </a:rPr>
              <a:t>1947 saw the first crisis of WHO, a cholera outbreak in Egypt. WHO succeeded in preventing neighboring countries from imposing damaging quarantines;  provided rehydration treatments, deployed sanitation measures and vaccination.</a:t>
            </a:r>
          </a:p>
        </p:txBody>
      </p:sp>
      <p:pic>
        <p:nvPicPr>
          <p:cNvPr id="4" name="Picture 3">
            <a:extLst>
              <a:ext uri="{FF2B5EF4-FFF2-40B4-BE49-F238E27FC236}">
                <a16:creationId xmlns:a16="http://schemas.microsoft.com/office/drawing/2014/main" id="{F3F5974F-6366-4EB3-8ADF-1AD6BF38003B}"/>
              </a:ext>
            </a:extLst>
          </p:cNvPr>
          <p:cNvPicPr>
            <a:picLocks noChangeAspect="1"/>
          </p:cNvPicPr>
          <p:nvPr/>
        </p:nvPicPr>
        <p:blipFill>
          <a:blip r:embed="rId3"/>
          <a:stretch>
            <a:fillRect/>
          </a:stretch>
        </p:blipFill>
        <p:spPr>
          <a:xfrm>
            <a:off x="5008588" y="-93689"/>
            <a:ext cx="7391400" cy="6553200"/>
          </a:xfrm>
          <a:prstGeom prst="rect">
            <a:avLst/>
          </a:prstGeom>
        </p:spPr>
      </p:pic>
      <p:sp>
        <p:nvSpPr>
          <p:cNvPr id="2" name="Slide Number Placeholder 1">
            <a:extLst>
              <a:ext uri="{FF2B5EF4-FFF2-40B4-BE49-F238E27FC236}">
                <a16:creationId xmlns:a16="http://schemas.microsoft.com/office/drawing/2014/main" id="{3FBAE788-6992-4F8A-A979-24040FB4A730}"/>
              </a:ext>
            </a:extLst>
          </p:cNvPr>
          <p:cNvSpPr>
            <a:spLocks noGrp="1"/>
          </p:cNvSpPr>
          <p:nvPr>
            <p:ph type="sldNum" sz="quarter" idx="12"/>
          </p:nvPr>
        </p:nvSpPr>
        <p:spPr/>
        <p:txBody>
          <a:bodyPr/>
          <a:lstStyle/>
          <a:p>
            <a:fld id="{91F5D5B3-D24A-42EA-B582-81E5372869F6}" type="slidenum">
              <a:rPr lang="en-US" smtClean="0"/>
              <a:t>15</a:t>
            </a:fld>
            <a:endParaRPr lang="en-US" dirty="0"/>
          </a:p>
        </p:txBody>
      </p:sp>
    </p:spTree>
    <p:extLst>
      <p:ext uri="{BB962C8B-B14F-4D97-AF65-F5344CB8AC3E}">
        <p14:creationId xmlns:p14="http://schemas.microsoft.com/office/powerpoint/2010/main" val="39570256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697405" y="324091"/>
            <a:ext cx="4951041" cy="3605485"/>
          </a:xfrm>
        </p:spPr>
        <p:txBody>
          <a:bodyPr>
            <a:noAutofit/>
          </a:bodyPr>
          <a:lstStyle/>
          <a:p>
            <a:r>
              <a:rPr lang="en-US" dirty="0"/>
              <a:t>With greater international legitimacy, WHO was formally established in 1948.</a:t>
            </a:r>
          </a:p>
          <a:p>
            <a:r>
              <a:rPr lang="en-US" dirty="0"/>
              <a:t>1955 WHO proposed global eradication of malaria, a disease most common in tropical countries of former colonies of Africa, Asia, and South America, although this attempt failed</a:t>
            </a:r>
          </a:p>
          <a:p>
            <a:r>
              <a:rPr lang="en-US" dirty="0"/>
              <a:t>1967 WHO began drive to eradicate smallpox, which was ultimately successful, twelve years later, in 1979</a:t>
            </a:r>
          </a:p>
        </p:txBody>
      </p:sp>
      <p:pic>
        <p:nvPicPr>
          <p:cNvPr id="4" name="Picture 3" descr="A close up of a sign&#10;&#10;Description automatically generated">
            <a:extLst>
              <a:ext uri="{FF2B5EF4-FFF2-40B4-BE49-F238E27FC236}">
                <a16:creationId xmlns:a16="http://schemas.microsoft.com/office/drawing/2014/main" id="{7700C181-1275-43C5-BD6D-E566F8D15B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80139" y="666071"/>
            <a:ext cx="5514456" cy="5866443"/>
          </a:xfrm>
          <a:prstGeom prst="rect">
            <a:avLst/>
          </a:prstGeom>
        </p:spPr>
      </p:pic>
      <p:sp>
        <p:nvSpPr>
          <p:cNvPr id="2" name="Slide Number Placeholder 1">
            <a:extLst>
              <a:ext uri="{FF2B5EF4-FFF2-40B4-BE49-F238E27FC236}">
                <a16:creationId xmlns:a16="http://schemas.microsoft.com/office/drawing/2014/main" id="{674E1883-E124-4DB1-A4C4-5406DC96DFAA}"/>
              </a:ext>
            </a:extLst>
          </p:cNvPr>
          <p:cNvSpPr>
            <a:spLocks noGrp="1"/>
          </p:cNvSpPr>
          <p:nvPr>
            <p:ph type="sldNum" sz="quarter" idx="12"/>
          </p:nvPr>
        </p:nvSpPr>
        <p:spPr/>
        <p:txBody>
          <a:bodyPr/>
          <a:lstStyle/>
          <a:p>
            <a:fld id="{91F5D5B3-D24A-42EA-B582-81E5372869F6}" type="slidenum">
              <a:rPr lang="en-US" smtClean="0"/>
              <a:t>16</a:t>
            </a:fld>
            <a:endParaRPr lang="en-US" dirty="0"/>
          </a:p>
        </p:txBody>
      </p:sp>
    </p:spTree>
    <p:extLst>
      <p:ext uri="{BB962C8B-B14F-4D97-AF65-F5344CB8AC3E}">
        <p14:creationId xmlns:p14="http://schemas.microsoft.com/office/powerpoint/2010/main" val="40671253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4000" dirty="0"/>
              <a:t>The broad legacies of colonialism in global health</a:t>
            </a:r>
          </a:p>
        </p:txBody>
      </p:sp>
      <p:sp>
        <p:nvSpPr>
          <p:cNvPr id="3" name="Content Placeholder 2"/>
          <p:cNvSpPr>
            <a:spLocks noGrp="1"/>
          </p:cNvSpPr>
          <p:nvPr>
            <p:ph idx="1"/>
          </p:nvPr>
        </p:nvSpPr>
        <p:spPr>
          <a:xfrm>
            <a:off x="838200" y="1825625"/>
            <a:ext cx="10515600" cy="4874113"/>
          </a:xfrm>
        </p:spPr>
        <p:txBody>
          <a:bodyPr>
            <a:normAutofit fontScale="92500"/>
          </a:bodyPr>
          <a:lstStyle/>
          <a:p>
            <a:pPr marL="514350" indent="-514350">
              <a:buFont typeface="+mj-lt"/>
              <a:buAutoNum type="arabicPeriod"/>
            </a:pPr>
            <a:r>
              <a:rPr lang="en-US" dirty="0">
                <a:latin typeface="Calibri Light" panose="020F0302020204030204" pitchFamily="34" charset="0"/>
                <a:cs typeface="Calibri Light" panose="020F0302020204030204" pitchFamily="34" charset="0"/>
              </a:rPr>
              <a:t>“Command-and-control” top-down administration of responses to global health issues: wealthier countries and global health institutions often dictate terms to poorer countries </a:t>
            </a:r>
          </a:p>
          <a:p>
            <a:pPr marL="514350" indent="-514350">
              <a:buFont typeface="+mj-lt"/>
              <a:buAutoNum type="arabicPeriod"/>
            </a:pPr>
            <a:r>
              <a:rPr lang="en-US" dirty="0">
                <a:latin typeface="Calibri Light" panose="020F0302020204030204" pitchFamily="34" charset="0"/>
                <a:cs typeface="Calibri Light" panose="020F0302020204030204" pitchFamily="34" charset="0"/>
              </a:rPr>
              <a:t>Eradication of a disease often stressed more than the long-term efforts to strengthen existing health systems and address the social and economic origins of disease in poor countries</a:t>
            </a:r>
          </a:p>
          <a:p>
            <a:pPr marL="514350" indent="-514350">
              <a:buFont typeface="+mj-lt"/>
              <a:buAutoNum type="arabicPeriod"/>
            </a:pPr>
            <a:r>
              <a:rPr lang="en-US" dirty="0">
                <a:latin typeface="Calibri Light" panose="020F0302020204030204" pitchFamily="34" charset="0"/>
                <a:cs typeface="Calibri Light" panose="020F0302020204030204" pitchFamily="34" charset="0"/>
              </a:rPr>
              <a:t>Although wealthier nations now extend health care help in a global context, their former colonial governments aimed to keep developing nations less economically empowered, sometimes for centuries </a:t>
            </a:r>
          </a:p>
          <a:p>
            <a:pPr marL="514350" indent="-514350">
              <a:buFont typeface="+mj-lt"/>
              <a:buAutoNum type="arabicPeriod"/>
            </a:pPr>
            <a:r>
              <a:rPr lang="en-US" dirty="0">
                <a:latin typeface="Calibri Light" panose="020F0302020204030204" pitchFamily="34" charset="0"/>
                <a:cs typeface="Calibri Light" panose="020F0302020204030204" pitchFamily="34" charset="0"/>
              </a:rPr>
              <a:t>Call have been made over the past several decades to </a:t>
            </a:r>
            <a:r>
              <a:rPr lang="en-US" b="1" dirty="0">
                <a:latin typeface="Calibri Light" panose="020F0302020204030204" pitchFamily="34" charset="0"/>
                <a:cs typeface="Calibri Light" panose="020F0302020204030204" pitchFamily="34" charset="0"/>
              </a:rPr>
              <a:t>‘</a:t>
            </a:r>
            <a:r>
              <a:rPr lang="en-US" dirty="0">
                <a:latin typeface="Calibri Light" panose="020F0302020204030204" pitchFamily="34" charset="0"/>
                <a:cs typeface="Calibri Light" panose="020F0302020204030204" pitchFamily="34" charset="0"/>
              </a:rPr>
              <a:t>decolonize’ global health, to invest in the independence of the health care systems of former colonized countries. </a:t>
            </a:r>
          </a:p>
          <a:p>
            <a:endParaRPr lang="en-US" dirty="0"/>
          </a:p>
          <a:p>
            <a:endParaRPr lang="en-US" dirty="0"/>
          </a:p>
        </p:txBody>
      </p:sp>
      <p:sp>
        <p:nvSpPr>
          <p:cNvPr id="4" name="Slide Number Placeholder 3">
            <a:extLst>
              <a:ext uri="{FF2B5EF4-FFF2-40B4-BE49-F238E27FC236}">
                <a16:creationId xmlns:a16="http://schemas.microsoft.com/office/drawing/2014/main" id="{7F598D04-FCA9-48B2-BB32-A3D21F164042}"/>
              </a:ext>
            </a:extLst>
          </p:cNvPr>
          <p:cNvSpPr>
            <a:spLocks noGrp="1"/>
          </p:cNvSpPr>
          <p:nvPr>
            <p:ph type="sldNum" sz="quarter" idx="12"/>
          </p:nvPr>
        </p:nvSpPr>
        <p:spPr/>
        <p:txBody>
          <a:bodyPr/>
          <a:lstStyle/>
          <a:p>
            <a:fld id="{91F5D5B3-D24A-42EA-B582-81E5372869F6}" type="slidenum">
              <a:rPr lang="en-US" smtClean="0"/>
              <a:t>17</a:t>
            </a:fld>
            <a:endParaRPr lang="en-US" dirty="0"/>
          </a:p>
        </p:txBody>
      </p:sp>
    </p:spTree>
    <p:extLst>
      <p:ext uri="{BB962C8B-B14F-4D97-AF65-F5344CB8AC3E}">
        <p14:creationId xmlns:p14="http://schemas.microsoft.com/office/powerpoint/2010/main" val="762181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A7E91-E81E-ABD1-4B50-DF790A4E0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7974D1-AE9B-AB1D-5341-DDBF750692F9}"/>
              </a:ext>
            </a:extLst>
          </p:cNvPr>
          <p:cNvSpPr>
            <a:spLocks noGrp="1"/>
          </p:cNvSpPr>
          <p:nvPr>
            <p:ph type="title"/>
          </p:nvPr>
        </p:nvSpPr>
        <p:spPr/>
        <p:txBody>
          <a:bodyPr>
            <a:normAutofit/>
          </a:bodyPr>
          <a:lstStyle/>
          <a:p>
            <a:pPr algn="ctr"/>
            <a:r>
              <a:rPr lang="en-US" dirty="0"/>
              <a:t>The types of colonial institutions differed in how they extracted wealth</a:t>
            </a:r>
            <a:endParaRPr dirty="0"/>
          </a:p>
        </p:txBody>
      </p:sp>
      <p:sp>
        <p:nvSpPr>
          <p:cNvPr id="3" name="Content Placeholder 2">
            <a:extLst>
              <a:ext uri="{FF2B5EF4-FFF2-40B4-BE49-F238E27FC236}">
                <a16:creationId xmlns:a16="http://schemas.microsoft.com/office/drawing/2014/main" id="{19A9E8B4-64CA-F6C6-8ACC-C9EED5455256}"/>
              </a:ext>
            </a:extLst>
          </p:cNvPr>
          <p:cNvSpPr>
            <a:spLocks noGrp="1"/>
          </p:cNvSpPr>
          <p:nvPr>
            <p:ph idx="1"/>
          </p:nvPr>
        </p:nvSpPr>
        <p:spPr/>
        <p:txBody>
          <a:bodyPr>
            <a:normAutofit/>
          </a:bodyPr>
          <a:lstStyle/>
          <a:p>
            <a:pPr marL="514350" indent="-514350">
              <a:buFont typeface="+mj-lt"/>
              <a:buAutoNum type="arabicPeriod"/>
            </a:pPr>
            <a:r>
              <a:rPr lang="en-US" dirty="0"/>
              <a:t>Institutions of s</a:t>
            </a:r>
            <a:r>
              <a:rPr dirty="0"/>
              <a:t>ettler </a:t>
            </a:r>
            <a:r>
              <a:rPr lang="en-US" dirty="0"/>
              <a:t>c</a:t>
            </a:r>
            <a:r>
              <a:rPr dirty="0"/>
              <a:t>olonies </a:t>
            </a:r>
            <a:r>
              <a:rPr lang="en-US" dirty="0"/>
              <a:t>(</a:t>
            </a:r>
            <a:r>
              <a:rPr dirty="0"/>
              <a:t>U.S., Canada, Australia)</a:t>
            </a:r>
          </a:p>
          <a:p>
            <a:pPr lvl="1"/>
            <a:r>
              <a:rPr lang="en-US" dirty="0"/>
              <a:t>L</a:t>
            </a:r>
            <a:r>
              <a:rPr dirty="0"/>
              <a:t>ow </a:t>
            </a:r>
            <a:r>
              <a:rPr lang="en-US" dirty="0"/>
              <a:t>indigenous </a:t>
            </a:r>
            <a:r>
              <a:rPr dirty="0"/>
              <a:t>population density</a:t>
            </a:r>
            <a:r>
              <a:rPr lang="en-US" dirty="0"/>
              <a:t> and l</a:t>
            </a:r>
            <a:r>
              <a:rPr dirty="0"/>
              <a:t>ow mortality for Europeans</a:t>
            </a:r>
            <a:r>
              <a:rPr lang="en-US" dirty="0"/>
              <a:t>, so E</a:t>
            </a:r>
            <a:r>
              <a:rPr dirty="0"/>
              <a:t>uropeans settled in large numbers</a:t>
            </a:r>
            <a:r>
              <a:rPr lang="en-US" dirty="0"/>
              <a:t>. The colonial countries b</a:t>
            </a:r>
            <a:r>
              <a:rPr dirty="0"/>
              <a:t>uilt inclusive institutions</a:t>
            </a:r>
            <a:r>
              <a:rPr lang="en-US" dirty="0"/>
              <a:t> to motivate settlers through the inclusion of </a:t>
            </a:r>
            <a:r>
              <a:rPr dirty="0"/>
              <a:t>property rights</a:t>
            </a:r>
            <a:r>
              <a:rPr lang="en-US" dirty="0"/>
              <a:t> and a</a:t>
            </a:r>
            <a:r>
              <a:rPr dirty="0"/>
              <a:t> rule of law</a:t>
            </a:r>
            <a:r>
              <a:rPr lang="en-US" dirty="0"/>
              <a:t>. These colonies contributed less wealth to their European rulers. </a:t>
            </a:r>
          </a:p>
          <a:p>
            <a:pPr marL="514350" indent="-514350">
              <a:buFont typeface="+mj-lt"/>
              <a:buAutoNum type="arabicPeriod"/>
            </a:pPr>
            <a:r>
              <a:rPr lang="en-US" dirty="0"/>
              <a:t>Institutions of e</a:t>
            </a:r>
            <a:r>
              <a:rPr dirty="0"/>
              <a:t>xtractive </a:t>
            </a:r>
            <a:r>
              <a:rPr lang="en-US" dirty="0"/>
              <a:t>c</a:t>
            </a:r>
            <a:r>
              <a:rPr dirty="0"/>
              <a:t>olonies (Congo, India, Peru)</a:t>
            </a:r>
          </a:p>
          <a:p>
            <a:pPr lvl="1"/>
            <a:r>
              <a:rPr dirty="0"/>
              <a:t>High</a:t>
            </a:r>
            <a:r>
              <a:rPr lang="en-US" dirty="0"/>
              <a:t> indigenous </a:t>
            </a:r>
            <a:r>
              <a:rPr dirty="0"/>
              <a:t>population density</a:t>
            </a:r>
            <a:r>
              <a:rPr lang="en-US" dirty="0"/>
              <a:t> and h</a:t>
            </a:r>
            <a:r>
              <a:rPr dirty="0"/>
              <a:t>igh settler mortality </a:t>
            </a:r>
            <a:r>
              <a:rPr lang="en-US" dirty="0"/>
              <a:t>due to disease led to fewer European settlers. Goal became to extract resources using local labor with minimal settler involvement. This led to the creation of </a:t>
            </a:r>
            <a:r>
              <a:rPr dirty="0"/>
              <a:t>extractive</a:t>
            </a:r>
            <a:r>
              <a:rPr lang="en-US" dirty="0"/>
              <a:t> colonial</a:t>
            </a:r>
            <a:r>
              <a:rPr dirty="0"/>
              <a:t> institutions: coercion, </a:t>
            </a:r>
            <a:r>
              <a:rPr lang="en-US" dirty="0"/>
              <a:t>and </a:t>
            </a:r>
            <a:r>
              <a:rPr dirty="0"/>
              <a:t>centralized </a:t>
            </a:r>
            <a:r>
              <a:rPr lang="en-US" dirty="0"/>
              <a:t>power in </a:t>
            </a:r>
            <a:r>
              <a:rPr dirty="0"/>
              <a:t>elites</a:t>
            </a:r>
            <a:r>
              <a:rPr lang="en-US" dirty="0"/>
              <a:t>. These colonies and their institutions generated large amounts of wealth for the colonizers. </a:t>
            </a:r>
          </a:p>
          <a:p>
            <a:endParaRPr dirty="0"/>
          </a:p>
        </p:txBody>
      </p:sp>
    </p:spTree>
    <p:extLst>
      <p:ext uri="{BB962C8B-B14F-4D97-AF65-F5344CB8AC3E}">
        <p14:creationId xmlns:p14="http://schemas.microsoft.com/office/powerpoint/2010/main" val="33016960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CD03C-02C4-081F-C545-2B54604C06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367150-3FEA-E0B3-430B-A3D920B00E5C}"/>
              </a:ext>
            </a:extLst>
          </p:cNvPr>
          <p:cNvSpPr>
            <a:spLocks noGrp="1"/>
          </p:cNvSpPr>
          <p:nvPr>
            <p:ph type="title"/>
          </p:nvPr>
        </p:nvSpPr>
        <p:spPr/>
        <p:txBody>
          <a:bodyPr>
            <a:normAutofit/>
          </a:bodyPr>
          <a:lstStyle/>
          <a:p>
            <a:pPr algn="ctr"/>
            <a:r>
              <a:rPr lang="en-US" dirty="0"/>
              <a:t>This in turn influenced post-colonial development and public health</a:t>
            </a:r>
            <a:endParaRPr dirty="0"/>
          </a:p>
        </p:txBody>
      </p:sp>
      <p:sp>
        <p:nvSpPr>
          <p:cNvPr id="3" name="Content Placeholder 2">
            <a:extLst>
              <a:ext uri="{FF2B5EF4-FFF2-40B4-BE49-F238E27FC236}">
                <a16:creationId xmlns:a16="http://schemas.microsoft.com/office/drawing/2014/main" id="{FA2EE401-5361-E0D4-752B-7A4547970F19}"/>
              </a:ext>
            </a:extLst>
          </p:cNvPr>
          <p:cNvSpPr>
            <a:spLocks noGrp="1"/>
          </p:cNvSpPr>
          <p:nvPr>
            <p:ph idx="1"/>
          </p:nvPr>
        </p:nvSpPr>
        <p:spPr/>
        <p:txBody>
          <a:bodyPr>
            <a:normAutofit lnSpcReduction="10000"/>
          </a:bodyPr>
          <a:lstStyle/>
          <a:p>
            <a:r>
              <a:rPr dirty="0"/>
              <a:t>In 1500, densely populated regions</a:t>
            </a:r>
            <a:r>
              <a:rPr lang="en-US" dirty="0"/>
              <a:t> in South America (Inca), India (Mughal) and Mexico (Aztec) were centers of extractive wealth for the colonizers (Type 2 institution)</a:t>
            </a:r>
          </a:p>
          <a:p>
            <a:r>
              <a:rPr lang="en-US" dirty="0"/>
              <a:t>Today these </a:t>
            </a:r>
            <a:r>
              <a:rPr dirty="0"/>
              <a:t>formerly rich regions </a:t>
            </a:r>
            <a:r>
              <a:rPr lang="en-US" dirty="0"/>
              <a:t>are more </a:t>
            </a:r>
            <a:r>
              <a:rPr dirty="0"/>
              <a:t>often poorer</a:t>
            </a:r>
            <a:r>
              <a:rPr lang="en-US" dirty="0"/>
              <a:t>. This is because e</a:t>
            </a:r>
            <a:r>
              <a:rPr dirty="0"/>
              <a:t>xtractive institutions </a:t>
            </a:r>
            <a:r>
              <a:rPr lang="en-US" dirty="0"/>
              <a:t>(mining, labor-intensive agriculture) </a:t>
            </a:r>
            <a:r>
              <a:rPr dirty="0"/>
              <a:t>persisted after independence</a:t>
            </a:r>
            <a:r>
              <a:rPr lang="en-US" dirty="0"/>
              <a:t> from colonizers</a:t>
            </a:r>
          </a:p>
          <a:p>
            <a:r>
              <a:rPr lang="en-US" dirty="0"/>
              <a:t>Type 1 colonial </a:t>
            </a:r>
            <a:r>
              <a:rPr dirty="0"/>
              <a:t>institutions</a:t>
            </a:r>
            <a:r>
              <a:rPr lang="en-US" dirty="0"/>
              <a:t> were more likely to facilitate </a:t>
            </a:r>
            <a:r>
              <a:rPr dirty="0"/>
              <a:t>economic growth and innovation</a:t>
            </a:r>
            <a:r>
              <a:rPr lang="en-US" dirty="0"/>
              <a:t> in the post-colonial period. No long term intensive extractive industries</a:t>
            </a:r>
            <a:endParaRPr dirty="0"/>
          </a:p>
          <a:p>
            <a:r>
              <a:rPr dirty="0"/>
              <a:t>Today’s global inequality</a:t>
            </a:r>
            <a:r>
              <a:rPr lang="en-US" dirty="0"/>
              <a:t> in health and wealth</a:t>
            </a:r>
            <a:r>
              <a:rPr dirty="0"/>
              <a:t> reflects </a:t>
            </a:r>
            <a:r>
              <a:rPr lang="en-US" dirty="0"/>
              <a:t>these </a:t>
            </a:r>
            <a:r>
              <a:rPr dirty="0"/>
              <a:t>path-dependent colonial </a:t>
            </a:r>
            <a:r>
              <a:rPr lang="en-US" dirty="0"/>
              <a:t>institutional frameworks</a:t>
            </a:r>
            <a:endParaRPr dirty="0"/>
          </a:p>
        </p:txBody>
      </p:sp>
    </p:spTree>
    <p:extLst>
      <p:ext uri="{BB962C8B-B14F-4D97-AF65-F5344CB8AC3E}">
        <p14:creationId xmlns:p14="http://schemas.microsoft.com/office/powerpoint/2010/main" val="12030532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F6898-9898-49B5-A2D2-7C724F17B7AE}"/>
              </a:ext>
            </a:extLst>
          </p:cNvPr>
          <p:cNvSpPr>
            <a:spLocks noGrp="1"/>
          </p:cNvSpPr>
          <p:nvPr>
            <p:ph type="title"/>
          </p:nvPr>
        </p:nvSpPr>
        <p:spPr/>
        <p:txBody>
          <a:bodyPr/>
          <a:lstStyle/>
          <a:p>
            <a:pPr algn="ctr"/>
            <a:r>
              <a:rPr lang="en-US" dirty="0"/>
              <a:t>What does “decolonializing” global health mean?</a:t>
            </a:r>
          </a:p>
        </p:txBody>
      </p:sp>
      <p:pic>
        <p:nvPicPr>
          <p:cNvPr id="4" name="Content Placeholder 3">
            <a:hlinkClick r:id="rId3"/>
            <a:extLst>
              <a:ext uri="{FF2B5EF4-FFF2-40B4-BE49-F238E27FC236}">
                <a16:creationId xmlns:a16="http://schemas.microsoft.com/office/drawing/2014/main" id="{0D538BEE-1037-4FF3-B4B6-4B0CE119BF8A}"/>
              </a:ext>
            </a:extLst>
          </p:cNvPr>
          <p:cNvPicPr>
            <a:picLocks noGrp="1" noChangeAspect="1"/>
          </p:cNvPicPr>
          <p:nvPr>
            <p:ph idx="1"/>
          </p:nvPr>
        </p:nvPicPr>
        <p:blipFill>
          <a:blip r:embed="rId4"/>
          <a:stretch>
            <a:fillRect/>
          </a:stretch>
        </p:blipFill>
        <p:spPr>
          <a:xfrm>
            <a:off x="7404483" y="1847850"/>
            <a:ext cx="4542495" cy="4351338"/>
          </a:xfrm>
          <a:prstGeom prst="rect">
            <a:avLst/>
          </a:prstGeom>
          <a:ln w="47625">
            <a:solidFill>
              <a:schemeClr val="accent1"/>
            </a:solidFill>
          </a:ln>
        </p:spPr>
      </p:pic>
      <p:sp>
        <p:nvSpPr>
          <p:cNvPr id="5" name="Content Placeholder 2">
            <a:extLst>
              <a:ext uri="{FF2B5EF4-FFF2-40B4-BE49-F238E27FC236}">
                <a16:creationId xmlns:a16="http://schemas.microsoft.com/office/drawing/2014/main" id="{7351428C-9C34-4A92-8E18-07C784E5AFDB}"/>
              </a:ext>
            </a:extLst>
          </p:cNvPr>
          <p:cNvSpPr txBox="1">
            <a:spLocks/>
          </p:cNvSpPr>
          <p:nvPr/>
        </p:nvSpPr>
        <p:spPr>
          <a:xfrm>
            <a:off x="245022" y="1690688"/>
            <a:ext cx="6739102" cy="487411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latin typeface="Calibri Light" panose="020F0302020204030204" pitchFamily="34" charset="0"/>
                <a:cs typeface="Calibri Light" panose="020F0302020204030204" pitchFamily="34" charset="0"/>
              </a:rPr>
              <a:t>Addressing the legacy of power and control left by colonialism on global health</a:t>
            </a:r>
          </a:p>
          <a:p>
            <a:pPr lvl="1"/>
            <a:r>
              <a:rPr lang="en-US" sz="2800" dirty="0">
                <a:latin typeface="Calibri Light" panose="020F0302020204030204" pitchFamily="34" charset="0"/>
                <a:cs typeface="Calibri Light" panose="020F0302020204030204" pitchFamily="34" charset="0"/>
              </a:rPr>
              <a:t>Global health research largely dominated by Western researchers building their careers off studies of people who may not benefit from their participation</a:t>
            </a:r>
            <a:endParaRPr lang="en-US" sz="2600" dirty="0">
              <a:latin typeface="Calibri Light" panose="020F0302020204030204" pitchFamily="34" charset="0"/>
              <a:cs typeface="Calibri Light" panose="020F0302020204030204" pitchFamily="34" charset="0"/>
            </a:endParaRPr>
          </a:p>
          <a:p>
            <a:pPr lvl="1"/>
            <a:r>
              <a:rPr lang="en-US" sz="2800" dirty="0">
                <a:latin typeface="Calibri Light" panose="020F0302020204030204" pitchFamily="34" charset="0"/>
                <a:cs typeface="Calibri Light" panose="020F0302020204030204" pitchFamily="34" charset="0"/>
              </a:rPr>
              <a:t>Relationships within global health are still heavily dominated by the idea that the Global North is "helping" the Global South.</a:t>
            </a:r>
          </a:p>
          <a:p>
            <a:pPr marL="457200" lvl="1" indent="0">
              <a:buNone/>
            </a:pPr>
            <a:endParaRPr lang="en-US" sz="2800" dirty="0">
              <a:latin typeface="Calibri Light" panose="020F0302020204030204" pitchFamily="34" charset="0"/>
              <a:cs typeface="Calibri Light" panose="020F0302020204030204" pitchFamily="34" charset="0"/>
            </a:endParaRPr>
          </a:p>
          <a:p>
            <a:pPr marL="457200" lvl="1" indent="0">
              <a:buNone/>
            </a:pPr>
            <a:endParaRPr lang="en-US" sz="2800" dirty="0"/>
          </a:p>
          <a:p>
            <a:endParaRPr lang="en-US" dirty="0"/>
          </a:p>
        </p:txBody>
      </p:sp>
      <p:sp>
        <p:nvSpPr>
          <p:cNvPr id="3" name="Slide Number Placeholder 2">
            <a:extLst>
              <a:ext uri="{FF2B5EF4-FFF2-40B4-BE49-F238E27FC236}">
                <a16:creationId xmlns:a16="http://schemas.microsoft.com/office/drawing/2014/main" id="{69CAA523-1894-4CFD-B9AF-D4DBDE9A3009}"/>
              </a:ext>
            </a:extLst>
          </p:cNvPr>
          <p:cNvSpPr>
            <a:spLocks noGrp="1"/>
          </p:cNvSpPr>
          <p:nvPr>
            <p:ph type="sldNum" sz="quarter" idx="12"/>
          </p:nvPr>
        </p:nvSpPr>
        <p:spPr/>
        <p:txBody>
          <a:bodyPr/>
          <a:lstStyle/>
          <a:p>
            <a:fld id="{91F5D5B3-D24A-42EA-B582-81E5372869F6}" type="slidenum">
              <a:rPr lang="en-US" smtClean="0"/>
              <a:t>20</a:t>
            </a:fld>
            <a:endParaRPr lang="en-US" dirty="0"/>
          </a:p>
        </p:txBody>
      </p:sp>
    </p:spTree>
    <p:extLst>
      <p:ext uri="{BB962C8B-B14F-4D97-AF65-F5344CB8AC3E}">
        <p14:creationId xmlns:p14="http://schemas.microsoft.com/office/powerpoint/2010/main" val="3838786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hlinkClick r:id="rId3"/>
            <a:extLst>
              <a:ext uri="{FF2B5EF4-FFF2-40B4-BE49-F238E27FC236}">
                <a16:creationId xmlns:a16="http://schemas.microsoft.com/office/drawing/2014/main" id="{4B3EE1F4-A2E4-8A49-9E00-11F4C8F4D28C}"/>
              </a:ext>
            </a:extLst>
          </p:cNvPr>
          <p:cNvPicPr>
            <a:picLocks noGrp="1" noChangeAspect="1"/>
          </p:cNvPicPr>
          <p:nvPr>
            <p:ph idx="1"/>
          </p:nvPr>
        </p:nvPicPr>
        <p:blipFill>
          <a:blip r:embed="rId4"/>
          <a:stretch>
            <a:fillRect/>
          </a:stretch>
        </p:blipFill>
        <p:spPr>
          <a:xfrm>
            <a:off x="5411544" y="358548"/>
            <a:ext cx="6398112" cy="6140903"/>
          </a:xfrm>
          <a:ln w="47625">
            <a:solidFill>
              <a:schemeClr val="accent1"/>
            </a:solidFill>
          </a:ln>
        </p:spPr>
      </p:pic>
      <p:sp>
        <p:nvSpPr>
          <p:cNvPr id="4" name="Slide Number Placeholder 3">
            <a:extLst>
              <a:ext uri="{FF2B5EF4-FFF2-40B4-BE49-F238E27FC236}">
                <a16:creationId xmlns:a16="http://schemas.microsoft.com/office/drawing/2014/main" id="{F3F3C008-8B9B-90E9-71CB-51BBE9843384}"/>
              </a:ext>
            </a:extLst>
          </p:cNvPr>
          <p:cNvSpPr>
            <a:spLocks noGrp="1"/>
          </p:cNvSpPr>
          <p:nvPr>
            <p:ph type="sldNum" sz="quarter" idx="12"/>
          </p:nvPr>
        </p:nvSpPr>
        <p:spPr/>
        <p:txBody>
          <a:bodyPr/>
          <a:lstStyle/>
          <a:p>
            <a:fld id="{91F5D5B3-D24A-42EA-B582-81E5372869F6}" type="slidenum">
              <a:rPr lang="en-US" smtClean="0"/>
              <a:pPr/>
              <a:t>21</a:t>
            </a:fld>
            <a:endParaRPr lang="en-US" dirty="0"/>
          </a:p>
        </p:txBody>
      </p:sp>
      <p:sp>
        <p:nvSpPr>
          <p:cNvPr id="2" name="Content Placeholder 2">
            <a:extLst>
              <a:ext uri="{FF2B5EF4-FFF2-40B4-BE49-F238E27FC236}">
                <a16:creationId xmlns:a16="http://schemas.microsoft.com/office/drawing/2014/main" id="{67F25FAB-8AA4-EE5A-D931-C443C91E64EB}"/>
              </a:ext>
            </a:extLst>
          </p:cNvPr>
          <p:cNvSpPr txBox="1">
            <a:spLocks/>
          </p:cNvSpPr>
          <p:nvPr/>
        </p:nvSpPr>
        <p:spPr>
          <a:xfrm>
            <a:off x="245022" y="580572"/>
            <a:ext cx="4776921" cy="598423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latin typeface="Calibri Light" panose="020F0302020204030204" pitchFamily="34" charset="0"/>
                <a:cs typeface="Calibri Light" panose="020F0302020204030204" pitchFamily="34" charset="0"/>
              </a:rPr>
              <a:t>Extreme advocates of the decolonization of global health have gone so far as to call for the field of global health to be dismantled altogether.</a:t>
            </a:r>
          </a:p>
          <a:p>
            <a:r>
              <a:rPr lang="en-US" sz="3200" dirty="0">
                <a:latin typeface="Calibri Light" panose="020F0302020204030204" pitchFamily="34" charset="0"/>
                <a:cs typeface="Calibri Light" panose="020F0302020204030204" pitchFamily="34" charset="0"/>
              </a:rPr>
              <a:t>They criticize it as being ‘safari science’</a:t>
            </a:r>
          </a:p>
          <a:p>
            <a:r>
              <a:rPr lang="en-US" sz="3200" dirty="0">
                <a:latin typeface="Calibri Light" panose="020F0302020204030204" pitchFamily="34" charset="0"/>
                <a:cs typeface="Calibri Light" panose="020F0302020204030204" pitchFamily="34" charset="0"/>
              </a:rPr>
              <a:t>The danger is that in efforts to remedy lingering impacts of colonialism, some of the benefits of a global viewpoint on health could be lost</a:t>
            </a:r>
          </a:p>
          <a:p>
            <a:pPr marL="0" indent="0">
              <a:buNone/>
            </a:pPr>
            <a:endParaRPr lang="en-US" sz="3200" dirty="0">
              <a:latin typeface="Calibri Light" panose="020F0302020204030204" pitchFamily="34" charset="0"/>
              <a:cs typeface="Calibri Light" panose="020F0302020204030204" pitchFamily="34" charset="0"/>
            </a:endParaRPr>
          </a:p>
          <a:p>
            <a:pPr marL="457200" lvl="1" indent="0">
              <a:buNone/>
            </a:pPr>
            <a:endParaRPr lang="en-US" sz="2800" dirty="0">
              <a:latin typeface="Calibri Light" panose="020F0302020204030204" pitchFamily="34" charset="0"/>
              <a:cs typeface="Calibri Light" panose="020F0302020204030204" pitchFamily="34" charset="0"/>
            </a:endParaRPr>
          </a:p>
          <a:p>
            <a:pPr marL="457200" lvl="1" indent="0">
              <a:buNone/>
            </a:pPr>
            <a:endParaRPr lang="en-US" sz="2800" dirty="0"/>
          </a:p>
          <a:p>
            <a:endParaRPr lang="en-US" dirty="0"/>
          </a:p>
        </p:txBody>
      </p:sp>
    </p:spTree>
    <p:extLst>
      <p:ext uri="{BB962C8B-B14F-4D97-AF65-F5344CB8AC3E}">
        <p14:creationId xmlns:p14="http://schemas.microsoft.com/office/powerpoint/2010/main" val="30612205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4D29B-EB2A-4926-A1FE-C1D40B9924AE}"/>
              </a:ext>
            </a:extLst>
          </p:cNvPr>
          <p:cNvSpPr>
            <a:spLocks noGrp="1"/>
          </p:cNvSpPr>
          <p:nvPr>
            <p:ph type="title"/>
          </p:nvPr>
        </p:nvSpPr>
        <p:spPr>
          <a:xfrm>
            <a:off x="6419168" y="-61175"/>
            <a:ext cx="5827940" cy="1325563"/>
          </a:xfrm>
        </p:spPr>
        <p:txBody>
          <a:bodyPr/>
          <a:lstStyle/>
          <a:p>
            <a:r>
              <a:rPr lang="en-US" dirty="0"/>
              <a:t>What is ‘safari science’?</a:t>
            </a:r>
          </a:p>
        </p:txBody>
      </p:sp>
      <p:sp>
        <p:nvSpPr>
          <p:cNvPr id="5" name="Content Placeholder 2">
            <a:extLst>
              <a:ext uri="{FF2B5EF4-FFF2-40B4-BE49-F238E27FC236}">
                <a16:creationId xmlns:a16="http://schemas.microsoft.com/office/drawing/2014/main" id="{018D6CC7-FA88-40C0-8FD0-9C23D9F04900}"/>
              </a:ext>
            </a:extLst>
          </p:cNvPr>
          <p:cNvSpPr txBox="1">
            <a:spLocks/>
          </p:cNvSpPr>
          <p:nvPr/>
        </p:nvSpPr>
        <p:spPr>
          <a:xfrm>
            <a:off x="384849" y="300942"/>
            <a:ext cx="5827941" cy="6305717"/>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Derogatory label given to ‘extractive’ scientific studies that take place in developing world by scientists from wealthier nations</a:t>
            </a:r>
          </a:p>
          <a:p>
            <a:pPr lvl="1"/>
            <a:r>
              <a:rPr lang="en-US" dirty="0"/>
              <a:t>Local investigators in low-income countries (LIC) function more as data collectors and translators than fully vested collaborators.</a:t>
            </a:r>
          </a:p>
          <a:p>
            <a:pPr lvl="1"/>
            <a:r>
              <a:rPr lang="en-US" dirty="0"/>
              <a:t>Funding originates from high-income countries (HIC) and most money goes to researchers and labs of these countries</a:t>
            </a:r>
          </a:p>
          <a:p>
            <a:pPr lvl="1"/>
            <a:r>
              <a:rPr lang="en-US" dirty="0"/>
              <a:t>Research questions guided by agencies in HIC rather than by LIC priorities</a:t>
            </a:r>
          </a:p>
          <a:p>
            <a:pPr lvl="1"/>
            <a:r>
              <a:rPr lang="en-US" dirty="0"/>
              <a:t>Samples and data are extracted and housed outside of the countries where they originated</a:t>
            </a:r>
          </a:p>
          <a:p>
            <a:pPr lvl="1"/>
            <a:r>
              <a:rPr lang="en-US" dirty="0"/>
              <a:t>Benefits may not prioritize the countries where the research took place</a:t>
            </a:r>
          </a:p>
          <a:p>
            <a:endParaRPr lang="en-US" dirty="0"/>
          </a:p>
        </p:txBody>
      </p:sp>
      <p:pic>
        <p:nvPicPr>
          <p:cNvPr id="7" name="Picture 6">
            <a:hlinkClick r:id="rId3"/>
            <a:extLst>
              <a:ext uri="{FF2B5EF4-FFF2-40B4-BE49-F238E27FC236}">
                <a16:creationId xmlns:a16="http://schemas.microsoft.com/office/drawing/2014/main" id="{32CBF576-1C6E-4742-856A-AFBD48CC1D38}"/>
              </a:ext>
            </a:extLst>
          </p:cNvPr>
          <p:cNvPicPr>
            <a:picLocks noChangeAspect="1"/>
          </p:cNvPicPr>
          <p:nvPr/>
        </p:nvPicPr>
        <p:blipFill>
          <a:blip r:embed="rId4"/>
          <a:stretch>
            <a:fillRect/>
          </a:stretch>
        </p:blipFill>
        <p:spPr>
          <a:xfrm>
            <a:off x="6666140" y="1160655"/>
            <a:ext cx="5333996" cy="4987897"/>
          </a:xfrm>
          <a:prstGeom prst="rect">
            <a:avLst/>
          </a:prstGeom>
          <a:ln w="22225">
            <a:solidFill>
              <a:schemeClr val="accent1"/>
            </a:solidFill>
          </a:ln>
        </p:spPr>
      </p:pic>
      <p:sp>
        <p:nvSpPr>
          <p:cNvPr id="3" name="Slide Number Placeholder 2">
            <a:extLst>
              <a:ext uri="{FF2B5EF4-FFF2-40B4-BE49-F238E27FC236}">
                <a16:creationId xmlns:a16="http://schemas.microsoft.com/office/drawing/2014/main" id="{7B5728FE-F3A1-43EC-8BEB-2DB721EA9A2C}"/>
              </a:ext>
            </a:extLst>
          </p:cNvPr>
          <p:cNvSpPr>
            <a:spLocks noGrp="1"/>
          </p:cNvSpPr>
          <p:nvPr>
            <p:ph type="sldNum" sz="quarter" idx="12"/>
          </p:nvPr>
        </p:nvSpPr>
        <p:spPr/>
        <p:txBody>
          <a:bodyPr/>
          <a:lstStyle/>
          <a:p>
            <a:fld id="{91F5D5B3-D24A-42EA-B582-81E5372869F6}" type="slidenum">
              <a:rPr lang="en-US" smtClean="0"/>
              <a:t>22</a:t>
            </a:fld>
            <a:endParaRPr lang="en-US" dirty="0"/>
          </a:p>
        </p:txBody>
      </p:sp>
    </p:spTree>
    <p:extLst>
      <p:ext uri="{BB962C8B-B14F-4D97-AF65-F5344CB8AC3E}">
        <p14:creationId xmlns:p14="http://schemas.microsoft.com/office/powerpoint/2010/main" val="35394750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20CCD5-43F9-64D2-DBCF-53D765E8C6B2}"/>
              </a:ext>
            </a:extLst>
          </p:cNvPr>
          <p:cNvSpPr>
            <a:spLocks noGrp="1"/>
          </p:cNvSpPr>
          <p:nvPr>
            <p:ph type="title"/>
          </p:nvPr>
        </p:nvSpPr>
        <p:spPr/>
        <p:txBody>
          <a:bodyPr/>
          <a:lstStyle/>
          <a:p>
            <a:r>
              <a:rPr lang="en-US" dirty="0"/>
              <a:t>Global health after 2025: the old model broke</a:t>
            </a:r>
          </a:p>
        </p:txBody>
      </p:sp>
      <p:sp>
        <p:nvSpPr>
          <p:cNvPr id="3" name="Content Placeholder 2">
            <a:extLst>
              <a:ext uri="{FF2B5EF4-FFF2-40B4-BE49-F238E27FC236}">
                <a16:creationId xmlns:a16="http://schemas.microsoft.com/office/drawing/2014/main" id="{F6D22207-B585-861E-7EEC-E2D22F847F93}"/>
              </a:ext>
            </a:extLst>
          </p:cNvPr>
          <p:cNvSpPr>
            <a:spLocks noGrp="1"/>
          </p:cNvSpPr>
          <p:nvPr>
            <p:ph idx="1"/>
          </p:nvPr>
        </p:nvSpPr>
        <p:spPr/>
        <p:txBody>
          <a:bodyPr>
            <a:normAutofit lnSpcReduction="10000"/>
          </a:bodyPr>
          <a:lstStyle/>
          <a:p>
            <a:r>
              <a:rPr lang="en-US" dirty="0"/>
              <a:t>For decades, global health depended on a U.S.-anchored model: USAID, PEPFAR, WHO, Gavi, the Global Fund, and U.S.-backed NGOs kept clinics open, paid health workers, bought drugs, supported surveillance, and coordinated outbreak response.</a:t>
            </a:r>
          </a:p>
          <a:p>
            <a:r>
              <a:rPr lang="en-US" dirty="0"/>
              <a:t>In 2025, US froze foreign assistance, moved to withdraw from WHO, dismantled much of USAID, cancelled large numbers of global health awards, reduced support for HIV programs, and moved away from vaccine and multilateral health funding.</a:t>
            </a:r>
          </a:p>
          <a:p>
            <a:r>
              <a:rPr lang="en-US" dirty="0"/>
              <a:t>Contracts stopped, staff were laid off, clinics closed, drug procurement was interrupted, country programs lost technical support, and multilateral agencies had to cut budgets.</a:t>
            </a:r>
          </a:p>
          <a:p>
            <a:endParaRPr lang="en-US" dirty="0"/>
          </a:p>
        </p:txBody>
      </p:sp>
      <p:sp>
        <p:nvSpPr>
          <p:cNvPr id="4" name="Slide Number Placeholder 3">
            <a:extLst>
              <a:ext uri="{FF2B5EF4-FFF2-40B4-BE49-F238E27FC236}">
                <a16:creationId xmlns:a16="http://schemas.microsoft.com/office/drawing/2014/main" id="{885EC857-EAA5-C6AC-F6D4-F248690E2F05}"/>
              </a:ext>
            </a:extLst>
          </p:cNvPr>
          <p:cNvSpPr>
            <a:spLocks noGrp="1"/>
          </p:cNvSpPr>
          <p:nvPr>
            <p:ph type="sldNum" sz="quarter" idx="12"/>
          </p:nvPr>
        </p:nvSpPr>
        <p:spPr/>
        <p:txBody>
          <a:bodyPr/>
          <a:lstStyle/>
          <a:p>
            <a:fld id="{91F5D5B3-D24A-42EA-B582-81E5372869F6}" type="slidenum">
              <a:rPr lang="en-US" smtClean="0"/>
              <a:pPr/>
              <a:t>23</a:t>
            </a:fld>
            <a:endParaRPr lang="en-US" dirty="0"/>
          </a:p>
        </p:txBody>
      </p:sp>
    </p:spTree>
    <p:extLst>
      <p:ext uri="{BB962C8B-B14F-4D97-AF65-F5344CB8AC3E}">
        <p14:creationId xmlns:p14="http://schemas.microsoft.com/office/powerpoint/2010/main" val="399297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9FFAB-67F6-A947-5E9E-F34EC8DF77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69765F-0596-8B22-30BB-C38C3D20B007}"/>
              </a:ext>
            </a:extLst>
          </p:cNvPr>
          <p:cNvSpPr>
            <a:spLocks noGrp="1"/>
          </p:cNvSpPr>
          <p:nvPr>
            <p:ph type="title"/>
          </p:nvPr>
        </p:nvSpPr>
        <p:spPr/>
        <p:txBody>
          <a:bodyPr/>
          <a:lstStyle/>
          <a:p>
            <a:r>
              <a:rPr lang="en-US" dirty="0"/>
              <a:t>Global health after 2025: the old model broke</a:t>
            </a:r>
          </a:p>
        </p:txBody>
      </p:sp>
      <p:sp>
        <p:nvSpPr>
          <p:cNvPr id="3" name="Content Placeholder 2">
            <a:extLst>
              <a:ext uri="{FF2B5EF4-FFF2-40B4-BE49-F238E27FC236}">
                <a16:creationId xmlns:a16="http://schemas.microsoft.com/office/drawing/2014/main" id="{A80DCC1C-A122-7340-F4EC-31381ADFFFAB}"/>
              </a:ext>
            </a:extLst>
          </p:cNvPr>
          <p:cNvSpPr>
            <a:spLocks noGrp="1"/>
          </p:cNvSpPr>
          <p:nvPr>
            <p:ph idx="1"/>
          </p:nvPr>
        </p:nvSpPr>
        <p:spPr/>
        <p:txBody>
          <a:bodyPr>
            <a:normAutofit lnSpcReduction="10000"/>
          </a:bodyPr>
          <a:lstStyle/>
          <a:p>
            <a:r>
              <a:rPr lang="en-US" dirty="0"/>
              <a:t>Other donors did not fill the gap. Many European governments were also cutting aid because of defense spending, Ukraine, domestic budget pressure, migration politics, and a broader turn toward national-interest aid. </a:t>
            </a:r>
          </a:p>
          <a:p>
            <a:r>
              <a:rPr lang="en-US" dirty="0"/>
              <a:t>Global health initiatives from the US are now organizing around a for-profit model. </a:t>
            </a:r>
          </a:p>
          <a:p>
            <a:r>
              <a:rPr lang="en-US" dirty="0"/>
              <a:t>Bottom line: global health is no longer organized around predictable U.S.-led internationalism. It has shifted toward a fragmented, underfunded, nationally self-interested system in which low- and middle-income countries are being forced to absorb costs faster than their health systems can adapt.</a:t>
            </a:r>
          </a:p>
          <a:p>
            <a:endParaRPr lang="en-US" dirty="0"/>
          </a:p>
        </p:txBody>
      </p:sp>
      <p:sp>
        <p:nvSpPr>
          <p:cNvPr id="4" name="Slide Number Placeholder 3">
            <a:extLst>
              <a:ext uri="{FF2B5EF4-FFF2-40B4-BE49-F238E27FC236}">
                <a16:creationId xmlns:a16="http://schemas.microsoft.com/office/drawing/2014/main" id="{0268A1F6-F845-3886-AD3B-9FD7D019E2F1}"/>
              </a:ext>
            </a:extLst>
          </p:cNvPr>
          <p:cNvSpPr>
            <a:spLocks noGrp="1"/>
          </p:cNvSpPr>
          <p:nvPr>
            <p:ph type="sldNum" sz="quarter" idx="12"/>
          </p:nvPr>
        </p:nvSpPr>
        <p:spPr/>
        <p:txBody>
          <a:bodyPr/>
          <a:lstStyle/>
          <a:p>
            <a:fld id="{91F5D5B3-D24A-42EA-B582-81E5372869F6}" type="slidenum">
              <a:rPr lang="en-US" smtClean="0"/>
              <a:pPr/>
              <a:t>24</a:t>
            </a:fld>
            <a:endParaRPr lang="en-US" dirty="0"/>
          </a:p>
        </p:txBody>
      </p:sp>
    </p:spTree>
    <p:extLst>
      <p:ext uri="{BB962C8B-B14F-4D97-AF65-F5344CB8AC3E}">
        <p14:creationId xmlns:p14="http://schemas.microsoft.com/office/powerpoint/2010/main" val="57226607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9225</TotalTime>
  <Words>2588</Words>
  <Application>Microsoft Office PowerPoint</Application>
  <PresentationFormat>Widescreen</PresentationFormat>
  <Paragraphs>172</Paragraphs>
  <Slides>24</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Calibri Light</vt:lpstr>
      <vt:lpstr>Office Theme</vt:lpstr>
      <vt:lpstr>The origins of global health</vt:lpstr>
      <vt:lpstr>The origins of global health: European colonization and colonial medicine</vt:lpstr>
      <vt:lpstr>The Columbian Exchange </vt:lpstr>
      <vt:lpstr>PowerPoint Presentation</vt:lpstr>
      <vt:lpstr>PowerPoint Presentation</vt:lpstr>
      <vt:lpstr>PowerPoint Presentation</vt:lpstr>
      <vt:lpstr>Medicine was used as a pretext for colonial rule</vt:lpstr>
      <vt:lpstr>PowerPoint Presentation</vt:lpstr>
      <vt:lpstr>Examples of the discourses about health used to justify the actions of the colonizers</vt:lpstr>
      <vt:lpstr>PowerPoint Presentation</vt:lpstr>
      <vt:lpstr>Pulse oximeters</vt:lpstr>
      <vt:lpstr>What are specific historical events leading to the emergence of global health?</vt:lpstr>
      <vt:lpstr>PowerPoint Presentation</vt:lpstr>
      <vt:lpstr>PowerPoint Presentation</vt:lpstr>
      <vt:lpstr>PowerPoint Presentation</vt:lpstr>
      <vt:lpstr>PowerPoint Presentation</vt:lpstr>
      <vt:lpstr>The broad legacies of colonialism in global health</vt:lpstr>
      <vt:lpstr>The types of colonial institutions differed in how they extracted wealth</vt:lpstr>
      <vt:lpstr>This in turn influenced post-colonial development and public health</vt:lpstr>
      <vt:lpstr>What does “decolonializing” global health mean?</vt:lpstr>
      <vt:lpstr>PowerPoint Presentation</vt:lpstr>
      <vt:lpstr>What is ‘safari science’?</vt:lpstr>
      <vt:lpstr>Global health after 2025: the old model broke</vt:lpstr>
      <vt:lpstr>Global health after 2025: the old model broke</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 Stallins</dc:creator>
  <cp:lastModifiedBy>Stallins, Jon A.</cp:lastModifiedBy>
  <cp:revision>445</cp:revision>
  <dcterms:created xsi:type="dcterms:W3CDTF">2019-05-17T22:49:13Z</dcterms:created>
  <dcterms:modified xsi:type="dcterms:W3CDTF">2026-06-24T14:01:37Z</dcterms:modified>
</cp:coreProperties>
</file>