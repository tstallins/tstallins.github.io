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744" r:id="rId2"/>
    <p:sldId id="406" r:id="rId3"/>
    <p:sldId id="710" r:id="rId4"/>
    <p:sldId id="727" r:id="rId5"/>
    <p:sldId id="682" r:id="rId6"/>
    <p:sldId id="685" r:id="rId7"/>
    <p:sldId id="728" r:id="rId8"/>
    <p:sldId id="683" r:id="rId9"/>
    <p:sldId id="272" r:id="rId10"/>
    <p:sldId id="666" r:id="rId11"/>
    <p:sldId id="659" r:id="rId12"/>
    <p:sldId id="723" r:id="rId13"/>
    <p:sldId id="664" r:id="rId14"/>
    <p:sldId id="692" r:id="rId15"/>
    <p:sldId id="662" r:id="rId16"/>
    <p:sldId id="674" r:id="rId17"/>
    <p:sldId id="663" r:id="rId18"/>
    <p:sldId id="698" r:id="rId19"/>
    <p:sldId id="699" r:id="rId20"/>
    <p:sldId id="697" r:id="rId21"/>
    <p:sldId id="714" r:id="rId22"/>
    <p:sldId id="74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ructural violence: indirect consequences of political instability" id="{478BC160-73E1-4876-9C87-DA2C55186E22}">
          <p14:sldIdLst>
            <p14:sldId id="744"/>
            <p14:sldId id="406"/>
            <p14:sldId id="710"/>
            <p14:sldId id="727"/>
            <p14:sldId id="682"/>
            <p14:sldId id="685"/>
            <p14:sldId id="728"/>
            <p14:sldId id="683"/>
          </p14:sldIdLst>
        </p14:section>
        <p14:section name="Direct violence of political instability" id="{29BA8D18-4EF0-439A-AAE2-9ADE0B893D09}">
          <p14:sldIdLst>
            <p14:sldId id="272"/>
            <p14:sldId id="666"/>
            <p14:sldId id="659"/>
            <p14:sldId id="723"/>
          </p14:sldIdLst>
        </p14:section>
        <p14:section name="CVDPV2" id="{22E338E0-1708-4DE4-AFEF-3EBCE7C862DE}">
          <p14:sldIdLst>
            <p14:sldId id="664"/>
            <p14:sldId id="692"/>
            <p14:sldId id="662"/>
            <p14:sldId id="674"/>
            <p14:sldId id="663"/>
            <p14:sldId id="698"/>
            <p14:sldId id="699"/>
            <p14:sldId id="697"/>
            <p14:sldId id="714"/>
            <p14:sldId id="74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781" autoAdjust="0"/>
    <p:restoredTop sz="60826" autoAdjust="0"/>
  </p:normalViewPr>
  <p:slideViewPr>
    <p:cSldViewPr snapToGrid="0">
      <p:cViewPr varScale="1">
        <p:scale>
          <a:sx n="54" d="100"/>
          <a:sy n="54" d="100"/>
        </p:scale>
        <p:origin x="1128" y="34"/>
      </p:cViewPr>
      <p:guideLst/>
    </p:cSldViewPr>
  </p:slideViewPr>
  <p:notesTextViewPr>
    <p:cViewPr>
      <p:scale>
        <a:sx n="1" d="1"/>
        <a:sy n="1" d="1"/>
      </p:scale>
      <p:origin x="0" y="0"/>
    </p:cViewPr>
  </p:notesTextViewPr>
  <p:sorterViewPr>
    <p:cViewPr>
      <p:scale>
        <a:sx n="66" d="100"/>
        <a:sy n="66" d="100"/>
      </p:scale>
      <p:origin x="0" y="-293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A9AB53-9C9C-43CD-AB82-026F30661F6F}" type="datetimeFigureOut">
              <a:rPr lang="en-US" smtClean="0"/>
              <a:t>10/1/2026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9A70EC-BE90-48F0-8BD5-0EC87318F27A}" type="slidenum">
              <a:rPr lang="en-US" smtClean="0"/>
              <a:t>‹#›</a:t>
            </a:fld>
            <a:endParaRPr lang="en-US" dirty="0"/>
          </a:p>
        </p:txBody>
      </p:sp>
    </p:spTree>
    <p:extLst>
      <p:ext uri="{BB962C8B-B14F-4D97-AF65-F5344CB8AC3E}">
        <p14:creationId xmlns:p14="http://schemas.microsoft.com/office/powerpoint/2010/main" val="2999808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a:xfrm>
            <a:off x="685800" y="4400550"/>
            <a:ext cx="5486400" cy="3600450"/>
          </a:xfrm>
          <a:prstGeom prst="rect">
            <a:avLst/>
          </a:prstGeom>
        </p:spPr>
        <p:txBody>
          <a:bodyPr/>
          <a:lstStyle/>
          <a:p>
            <a:r>
              <a:rPr lang="en-US" sz="1200" b="0" u="none" strike="noStrike" kern="1200" dirty="0">
                <a:solidFill>
                  <a:schemeClr val="tx1"/>
                </a:solidFill>
                <a:effectLst/>
                <a:latin typeface="+mn-lt"/>
                <a:ea typeface="+mn-ea"/>
                <a:cs typeface="+mn-cs"/>
              </a:rPr>
              <a:t>The United States drove nearly three-quarters of the global drop in international aid, with its total contributions falling 56.9% in 2025. The U.S. Agency for International Development (USAID) was dissolved, resulting in the formal cancellation of 83% of its programs and approximately 5,200 humanitarian contracts. </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sym typeface="Calibri"/>
              </a:rPr>
              <a:t>1</a:t>
            </a:fld>
            <a:endParaRPr lang="en-US" sz="1200" b="0" i="0" u="none" strike="noStrike" cap="none" dirty="0">
              <a:solidFill>
                <a:schemeClr val="dk1"/>
              </a:solidFill>
              <a:sym typeface="Calibri"/>
            </a:endParaRPr>
          </a:p>
        </p:txBody>
      </p:sp>
    </p:spTree>
    <p:extLst>
      <p:ext uri="{BB962C8B-B14F-4D97-AF65-F5344CB8AC3E}">
        <p14:creationId xmlns:p14="http://schemas.microsoft.com/office/powerpoint/2010/main" val="35034749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txBody>
          <a:bodyPr/>
          <a:lstStyle/>
          <a:p>
            <a:endParaRPr lang="en-US" dirty="0"/>
          </a:p>
        </p:txBody>
      </p:sp>
      <p:sp>
        <p:nvSpPr>
          <p:cNvPr id="3" name="Notes Placeholder 2"/>
          <p:cNvSpPr>
            <a:spLocks noGrp="1"/>
          </p:cNvSpPr>
          <p:nvPr>
            <p:ph type="body" idx="1"/>
          </p:nvPr>
        </p:nvSpPr>
        <p:spPr/>
        <p:txBody>
          <a:bodyPr/>
          <a:lstStyle/>
          <a:p>
            <a:r>
              <a:rPr lang="en-US" dirty="0"/>
              <a:t>Farmer, P. E., Nizeye, B., Stulac, S., &amp; Keshavjee, S. (2006). Structural violence and clinical medicine. </a:t>
            </a:r>
            <a:r>
              <a:rPr lang="en-US" i="1" dirty="0"/>
              <a:t>PLoS Med</a:t>
            </a:r>
            <a:r>
              <a:rPr lang="en-US" dirty="0"/>
              <a:t>, </a:t>
            </a:r>
            <a:r>
              <a:rPr lang="en-US" i="1" dirty="0"/>
              <a:t>3</a:t>
            </a:r>
            <a:r>
              <a:rPr lang="en-US" dirty="0"/>
              <a:t>(10), e449.</a:t>
            </a:r>
          </a:p>
          <a:p>
            <a:endParaRPr lang="en-US" dirty="0"/>
          </a:p>
          <a:p>
            <a:r>
              <a:rPr lang="en-US" dirty="0"/>
              <a:t>https://doi.org/10.1371/journal.pmed.0030449 </a:t>
            </a:r>
            <a:br>
              <a:rPr lang="en-US" dirty="0"/>
            </a:br>
            <a:br>
              <a:rPr lang="en-US" dirty="0"/>
            </a:br>
            <a:r>
              <a:rPr lang="en-US" dirty="0"/>
              <a:t>Mosquito-borne diseases like malaria and dengue, for example, can be conceived of as structural violence. Systems of governance and planning persist that result in people living in neighborhoods with inadequate stormwater drainage and exposure to malaria-transmitting mosquitoes. But structural violence can also arise in the form of high to criminally high costs for medical drugs and treatments.</a:t>
            </a:r>
          </a:p>
          <a:p>
            <a:endParaRPr lang="en-US" dirty="0"/>
          </a:p>
          <a:p>
            <a:br>
              <a:rPr lang="en-US" dirty="0"/>
            </a:br>
            <a:endParaRPr lang="en-US" dirty="0"/>
          </a:p>
        </p:txBody>
      </p:sp>
      <p:sp>
        <p:nvSpPr>
          <p:cNvPr id="4" name="Slide Number Placeholder 3"/>
          <p:cNvSpPr>
            <a:spLocks noGrp="1"/>
          </p:cNvSpPr>
          <p:nvPr>
            <p:ph type="sldNum" sz="quarter" idx="5"/>
          </p:nvPr>
        </p:nvSpPr>
        <p:spPr/>
        <p:txBody>
          <a:bodyPr/>
          <a:lstStyle/>
          <a:p>
            <a:fld id="{94D0FD8A-5DF6-4509-B927-55EB1802D495}" type="slidenum">
              <a:rPr lang="en-US" smtClean="0"/>
              <a:t>2</a:t>
            </a:fld>
            <a:endParaRPr lang="en-US" dirty="0"/>
          </a:p>
        </p:txBody>
      </p:sp>
    </p:spTree>
    <p:extLst>
      <p:ext uri="{BB962C8B-B14F-4D97-AF65-F5344CB8AC3E}">
        <p14:creationId xmlns:p14="http://schemas.microsoft.com/office/powerpoint/2010/main" val="13609498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pPr marL="0"/>
            <a:r>
              <a:rPr lang="en-US" dirty="0"/>
              <a:t>https://www.theguardian.com/world/2015/jun/10/hit-men-high-living-honduran-corruption-scandal-president</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3</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763120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a:r>
              <a:rPr lang="en-US" dirty="0"/>
              <a:t>https://www.latimes.com/world-nation/story/2023-03-01/la-fg-mexico-doctor-simi-mascot-healthcare-crisis</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131233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a:r>
              <a:rPr lang="en-US" dirty="0"/>
              <a:t>https://www.youtube.com/watch?v=ChueX39bPik</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6</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136243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Would you trust your health entirely to a brand?</a:t>
            </a:r>
          </a:p>
        </p:txBody>
      </p:sp>
      <p:sp>
        <p:nvSpPr>
          <p:cNvPr id="4" name="Slide Number Placeholder 3"/>
          <p:cNvSpPr>
            <a:spLocks noGrp="1"/>
          </p:cNvSpPr>
          <p:nvPr>
            <p:ph type="sldNum" sz="quarter" idx="5"/>
          </p:nvPr>
        </p:nvSpPr>
        <p:spPr/>
        <p:txBody>
          <a:bodyPr/>
          <a:lstStyle/>
          <a:p>
            <a:fld id="{6C9A70EC-BE90-48F0-8BD5-0EC87318F27A}" type="slidenum">
              <a:rPr lang="en-US" smtClean="0"/>
              <a:t>7</a:t>
            </a:fld>
            <a:endParaRPr lang="en-US" dirty="0"/>
          </a:p>
        </p:txBody>
      </p:sp>
    </p:spTree>
    <p:extLst>
      <p:ext uri="{BB962C8B-B14F-4D97-AF65-F5344CB8AC3E}">
        <p14:creationId xmlns:p14="http://schemas.microsoft.com/office/powerpoint/2010/main" val="8606188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pPr marL="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In addition to direct violence, there are other ways the operation of the drug cartels impacts public health</a:t>
            </a:r>
          </a:p>
          <a:p>
            <a:pPr marL="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dirty="0"/>
          </a:p>
          <a:p>
            <a:pPr marL="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Brown, R. (2018). The Mexican drug war and early-life health: The impact of violent crime on birth outcomes. </a:t>
            </a:r>
            <a:r>
              <a:rPr lang="en-US" i="1" dirty="0"/>
              <a:t>Demography</a:t>
            </a:r>
            <a:r>
              <a:rPr lang="en-US" dirty="0"/>
              <a:t>, </a:t>
            </a:r>
            <a:r>
              <a:rPr lang="en-US" i="1" dirty="0"/>
              <a:t>55</a:t>
            </a:r>
            <a:r>
              <a:rPr lang="en-US" dirty="0"/>
              <a:t>(1), 319-340.</a:t>
            </a:r>
            <a:br>
              <a:rPr lang="en-US" dirty="0"/>
            </a:br>
            <a:br>
              <a:rPr lang="en-US" dirty="0"/>
            </a:br>
            <a:r>
              <a:rPr lang="en-US" dirty="0"/>
              <a:t>El Chapo-themed sanitizing gel and face masks in Guadalajara, Mexico during Covid were provided by El Chapo’s drug cartel</a:t>
            </a:r>
          </a:p>
          <a:p>
            <a:pPr marL="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dirty="0"/>
          </a:p>
          <a:p>
            <a:pPr marL="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https://www.nytimes.com/2020/07/07/opinion/sunday/mexico-drug-cartels-coronavirus.html</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8</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475522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223" name="Google Shape;223;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dirty="0"/>
              <a:t>https://www.csis.org/features/new-barbarianism</a:t>
            </a:r>
            <a:br>
              <a:rPr lang="en-US" dirty="0"/>
            </a:br>
            <a:r>
              <a:rPr lang="en-US" dirty="0"/>
              <a:t>https://www.pbs.org/newshour/show/why-are-hospitals-targeted-in-syria-people-lose-hope</a:t>
            </a:r>
            <a:endParaRPr dirty="0"/>
          </a:p>
          <a:p>
            <a:pPr marL="0" marR="0" lvl="0" indent="0" algn="l" rtl="0">
              <a:lnSpc>
                <a:spcPct val="100000"/>
              </a:lnSpc>
              <a:spcBef>
                <a:spcPts val="0"/>
              </a:spcBef>
              <a:spcAft>
                <a:spcPts val="0"/>
              </a:spcAft>
              <a:buClr>
                <a:schemeClr val="dk1"/>
              </a:buClr>
              <a:buSzPts val="1200"/>
              <a:buFont typeface="Calibri"/>
              <a:buNone/>
            </a:pPr>
            <a:endParaRPr dirty="0"/>
          </a:p>
          <a:p>
            <a:pPr marL="0" marR="0" lvl="0" indent="0" algn="l" rtl="0">
              <a:lnSpc>
                <a:spcPct val="100000"/>
              </a:lnSpc>
              <a:spcBef>
                <a:spcPts val="0"/>
              </a:spcBef>
              <a:spcAft>
                <a:spcPts val="0"/>
              </a:spcAft>
              <a:buClr>
                <a:schemeClr val="dk1"/>
              </a:buClr>
              <a:buSzPts val="1200"/>
              <a:buFont typeface="Calibri"/>
              <a:buNone/>
            </a:pPr>
            <a:r>
              <a:rPr lang="en-US" dirty="0"/>
              <a:t>Gordon, N., &amp; Perugini, N. (2019). ‘Hospital Shields’ and the Limits of International Law. </a:t>
            </a:r>
            <a:r>
              <a:rPr lang="en-US" i="1" dirty="0"/>
              <a:t>European Journal of International Law</a:t>
            </a:r>
            <a:r>
              <a:rPr lang="en-US" dirty="0"/>
              <a:t>, </a:t>
            </a:r>
            <a:r>
              <a:rPr lang="en-US" i="1" dirty="0"/>
              <a:t>30</a:t>
            </a:r>
            <a:r>
              <a:rPr lang="en-US" dirty="0"/>
              <a:t>(2), 439-463.</a:t>
            </a:r>
            <a:endParaRPr dirty="0"/>
          </a:p>
          <a:p>
            <a:pPr marL="0" marR="0" lvl="0" indent="0" algn="l" rtl="0">
              <a:lnSpc>
                <a:spcPct val="100000"/>
              </a:lnSpc>
              <a:spcBef>
                <a:spcPts val="0"/>
              </a:spcBef>
              <a:spcAft>
                <a:spcPts val="0"/>
              </a:spcAft>
              <a:buClr>
                <a:schemeClr val="dk1"/>
              </a:buClr>
              <a:buSzPts val="1200"/>
              <a:buFont typeface="Calibri"/>
              <a:buNone/>
            </a:pPr>
            <a:endParaRPr dirty="0"/>
          </a:p>
          <a:p>
            <a:pPr marL="0" lvl="0" indent="0" algn="l" rtl="0">
              <a:spcBef>
                <a:spcPts val="0"/>
              </a:spcBef>
              <a:spcAft>
                <a:spcPts val="0"/>
              </a:spcAft>
              <a:buNone/>
            </a:pPr>
            <a:r>
              <a:rPr lang="en-US" dirty="0"/>
              <a:t>From the war in Afghanistan and the US-backed Saudi intervention in Yemen, to the Israeli occupation of Palestine and the Syrian civil war, hospitals have increasingly been targeted by military forces.  The justification for many of these attacks has been uncannily similar: the hospitals were bombed because they were shielding combatants and therefore the attacks do not constitute a violation of international law. Hospitals, in other words, can be classified as if they are equivalent to human shields. </a:t>
            </a:r>
            <a:endParaRPr dirty="0"/>
          </a:p>
        </p:txBody>
      </p:sp>
      <p:sp>
        <p:nvSpPr>
          <p:cNvPr id="224" name="Google Shape;224;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https://www.justsecurity.org/33712/military-attacks-hospitals-shields-law-partly-blame/</a:t>
            </a:r>
            <a:br>
              <a:rPr lang="en-US" dirty="0"/>
            </a:br>
            <a:br>
              <a:rPr lang="en-US" dirty="0"/>
            </a:br>
            <a:r>
              <a:rPr lang="en-US" dirty="0"/>
              <a:t>Wording of the law allows the slipperiness of language to permit justification of bombing medical facilities. </a:t>
            </a:r>
            <a:br>
              <a:rPr lang="en-US" dirty="0"/>
            </a:br>
            <a:br>
              <a:rPr lang="en-US" dirty="0"/>
            </a:br>
            <a:r>
              <a:rPr lang="en-US" b="0" dirty="0"/>
              <a:t>Additional Protocol I (Article 12) of the Geneva Convention reinforces the protection of medical units, but also introduces the concept that if a hospital is used to commit "acts harmful to the enemy," it can lose its protection after due warning has been given. However, the concept of proportionality is a key principle, particularly regarding attacks on military objectives that may cause incidental harm to civilians or civilian objects. The principle of proportionality, found in Additional Protocol I (Article 51), requires that attacks causing civilian harm must not be excessive in relation to the anticipated military advantage gained. This concept sometimes comes into play when medical facilities are alleged to be used for military purposes, and an attack might be justified if it’s deemed proportional.</a:t>
            </a:r>
          </a:p>
          <a:p>
            <a:pPr marL="0"/>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11</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579584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An Israeli soldier secures a tunnel beneath al-Shifa Hospital in Gaza City in November 2023.</a:t>
            </a:r>
            <a:br>
              <a:rPr lang="en-US" dirty="0"/>
            </a:br>
            <a:br>
              <a:rPr lang="en-US" dirty="0"/>
            </a:br>
            <a:r>
              <a:rPr lang="en-US" dirty="0"/>
              <a:t>https://www.washingtonpost.com/national-security/2024/10/05/hamas-tunnels-weapons-gaza-war-october-7-attacks/</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12</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612768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a:prstGeom prst="rect">
            <a:avLst/>
          </a:prstGeom>
        </p:spPr>
        <p:txBody>
          <a:bodyPr/>
          <a:lstStyle/>
          <a:p>
            <a:pPr marL="0"/>
            <a:r>
              <a:rPr lang="en-US" dirty="0"/>
              <a:t>https://www.science.org/content/article/polio-measles-other-diseases-set-surge-covid-19-forces-suspension-vaccination-campaigns</a:t>
            </a:r>
            <a:br>
              <a:rPr lang="en-US" dirty="0"/>
            </a:br>
            <a:br>
              <a:rPr lang="en-US" dirty="0"/>
            </a:br>
            <a:r>
              <a:rPr lang="en-US" dirty="0"/>
              <a:t>However, the infrastructure and routines established by immunization programs were also used to kickstart vaccination programs for Covid. </a:t>
            </a:r>
            <a:br>
              <a:rPr lang="en-US" dirty="0"/>
            </a:br>
            <a:br>
              <a:rPr lang="en-US" dirty="0"/>
            </a:b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sym typeface="Calibri"/>
              </a:rPr>
              <a:t>13</a:t>
            </a:fld>
            <a:endParaRPr lang="en-US" sz="1200" b="0" i="0" u="none" strike="noStrike" cap="none" dirty="0">
              <a:solidFill>
                <a:schemeClr val="dk1"/>
              </a:solidFill>
              <a:sym typeface="Calibri"/>
            </a:endParaRPr>
          </a:p>
        </p:txBody>
      </p:sp>
    </p:spTree>
    <p:extLst>
      <p:ext uri="{BB962C8B-B14F-4D97-AF65-F5344CB8AC3E}">
        <p14:creationId xmlns:p14="http://schemas.microsoft.com/office/powerpoint/2010/main" val="10790512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https://www.thelancet.com/action/showPdf?pii=S0140-6736%2822%2901804-9</a:t>
            </a:r>
            <a:br>
              <a:rPr lang="en-US" dirty="0"/>
            </a:br>
            <a:br>
              <a:rPr lang="en-US" dirty="0"/>
            </a:br>
            <a:r>
              <a:rPr lang="en-US" dirty="0"/>
              <a:t>Klapsa, D., Wilton, T., Zealand, A., Bujaki, E., Saxentoff, E., Troman, C., ... &amp; Martin, J. (2022). Sustained detection of type 2 poliovirus in London sewage between February and July, 2022, by enhanced environmental surveillance. </a:t>
            </a:r>
            <a:r>
              <a:rPr lang="en-US" i="1" dirty="0"/>
              <a:t>The Lancet</a:t>
            </a:r>
            <a:r>
              <a:rPr lang="en-US" dirty="0"/>
              <a:t>, </a:t>
            </a:r>
            <a:r>
              <a:rPr lang="en-US" i="1" dirty="0"/>
              <a:t>400</a:t>
            </a:r>
            <a:r>
              <a:rPr lang="en-US" dirty="0"/>
              <a:t>(10362), 1531-1538.</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sym typeface="Calibri"/>
              </a:rPr>
              <a:t>14</a:t>
            </a:fld>
            <a:endParaRPr lang="en-US" sz="1200" b="0" i="0" u="none" strike="noStrike" cap="none" dirty="0">
              <a:solidFill>
                <a:schemeClr val="dk1"/>
              </a:solidFill>
              <a:sym typeface="Calibri"/>
            </a:endParaRPr>
          </a:p>
        </p:txBody>
      </p:sp>
    </p:spTree>
    <p:extLst>
      <p:ext uri="{BB962C8B-B14F-4D97-AF65-F5344CB8AC3E}">
        <p14:creationId xmlns:p14="http://schemas.microsoft.com/office/powerpoint/2010/main" val="13281998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a:prstGeom prst="rect">
            <a:avLst/>
          </a:prstGeom>
        </p:spPr>
        <p:txBody>
          <a:bodyPr/>
          <a:lstStyle/>
          <a:p>
            <a:pPr marL="0"/>
            <a:r>
              <a:rPr lang="en-US" dirty="0"/>
              <a:t>No people with symptoms of polio — including paralysis — have been reported so far, but health authorities are asking doctors to look out for, and report, any symptoms of the disease.</a:t>
            </a:r>
          </a:p>
          <a:p>
            <a:pPr marL="0"/>
            <a:endParaRPr lang="en-US" dirty="0"/>
          </a:p>
          <a:p>
            <a:pPr marL="0"/>
            <a:r>
              <a:rPr lang="en-US" i="0" dirty="0"/>
              <a:t>The last case of wild polio contracted in the United Kingdom was in 1984, and the country was declared polio-free in 2003</a:t>
            </a:r>
          </a:p>
          <a:p>
            <a:pPr marL="0"/>
            <a:endParaRPr lang="en-US" i="0" dirty="0"/>
          </a:p>
          <a:p>
            <a:pPr marL="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86% of people in London vaccinated against polio, rates of vaccination are generally high but fell during the Covid-19 pandemic. </a:t>
            </a:r>
          </a:p>
          <a:p>
            <a:pPr marL="0"/>
            <a:br>
              <a:rPr lang="en-US" i="0" dirty="0"/>
            </a:br>
            <a:r>
              <a:rPr lang="en-US" i="0" dirty="0"/>
              <a:t>https://doi.org/10.1038/d41586-022-01802-z</a:t>
            </a:r>
            <a:endParaRPr lang="en-US" b="1" i="0" dirty="0"/>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sym typeface="Calibri"/>
              </a:rPr>
              <a:t>15</a:t>
            </a:fld>
            <a:endParaRPr lang="en-US" sz="1200" b="0" i="0" u="none" strike="noStrike" cap="none" dirty="0">
              <a:solidFill>
                <a:schemeClr val="dk1"/>
              </a:solidFill>
              <a:sym typeface="Calibri"/>
            </a:endParaRPr>
          </a:p>
        </p:txBody>
      </p:sp>
    </p:spTree>
    <p:extLst>
      <p:ext uri="{BB962C8B-B14F-4D97-AF65-F5344CB8AC3E}">
        <p14:creationId xmlns:p14="http://schemas.microsoft.com/office/powerpoint/2010/main" val="28482958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a:prstGeom prst="rect">
            <a:avLst/>
          </a:prstGeom>
        </p:spPr>
        <p:txBody>
          <a:bodyPr/>
          <a:lstStyle/>
          <a:p>
            <a:pPr marL="0"/>
            <a:r>
              <a:rPr lang="en-US" dirty="0"/>
              <a:t>https://vaccineresourcehub.org/resource/factsheet-what-new-yorkers-need-know-about-polio-english-haitian-creole-spanish-yiddish</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sym typeface="Calibri"/>
              </a:rPr>
              <a:t>16</a:t>
            </a:fld>
            <a:endParaRPr lang="en-US" sz="1200" b="0" i="0" u="none" strike="noStrike" cap="none" dirty="0">
              <a:solidFill>
                <a:schemeClr val="dk1"/>
              </a:solidFill>
              <a:sym typeface="Calibri"/>
            </a:endParaRPr>
          </a:p>
        </p:txBody>
      </p:sp>
    </p:spTree>
    <p:extLst>
      <p:ext uri="{BB962C8B-B14F-4D97-AF65-F5344CB8AC3E}">
        <p14:creationId xmlns:p14="http://schemas.microsoft.com/office/powerpoint/2010/main" val="8894136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a:prstGeom prst="rect">
            <a:avLst/>
          </a:prstGeom>
        </p:spPr>
        <p:txBody>
          <a:bodyPr/>
          <a:lstStyle/>
          <a:p>
            <a:pPr marL="0"/>
            <a:r>
              <a:rPr lang="en-US" dirty="0"/>
              <a:t>The last case of polio in the United States was in 2013, in someone who brought the disease in from abroad. There has not been a case originating in the United States since 1979</a:t>
            </a:r>
          </a:p>
          <a:p>
            <a:pPr marL="0"/>
            <a:endParaRPr lang="en-US" dirty="0"/>
          </a:p>
          <a:p>
            <a:pPr marL="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OPV has not been administered in the United States since 2000. </a:t>
            </a:r>
          </a:p>
          <a:p>
            <a:pPr marL="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dirty="0"/>
          </a:p>
          <a:p>
            <a:pPr marL="0" lvl="2"/>
            <a:r>
              <a:rPr lang="en-US" dirty="0">
                <a:latin typeface="Calibri Light" panose="020F0302020204030204" pitchFamily="34" charset="0"/>
              </a:rPr>
              <a:t>Three scenarios</a:t>
            </a:r>
            <a:br>
              <a:rPr lang="en-US" dirty="0">
                <a:latin typeface="Calibri Light" panose="020F0302020204030204" pitchFamily="34" charset="0"/>
              </a:rPr>
            </a:br>
            <a:r>
              <a:rPr lang="en-US" dirty="0">
                <a:latin typeface="Calibri Light" panose="020F0302020204030204" pitchFamily="34" charset="0"/>
              </a:rPr>
              <a:t>US patient acquired cVDPV2 from the environment</a:t>
            </a:r>
          </a:p>
          <a:p>
            <a:pPr marL="0" lvl="2"/>
            <a:r>
              <a:rPr lang="en-US" dirty="0">
                <a:latin typeface="Calibri Light" panose="020F0302020204030204" pitchFamily="34" charset="0"/>
              </a:rPr>
              <a:t>US patient acquired CVDPV2 from a person who acquired it from the environment</a:t>
            </a:r>
          </a:p>
          <a:p>
            <a:pPr marL="0" lvl="2"/>
            <a:r>
              <a:rPr lang="en-US" dirty="0">
                <a:latin typeface="Calibri Light" panose="020F0302020204030204" pitchFamily="34" charset="0"/>
              </a:rPr>
              <a:t>cVDPV2 transmitted person-to-person from visitor from London</a:t>
            </a:r>
          </a:p>
          <a:p>
            <a:pPr marL="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br>
              <a:rPr lang="en-US" dirty="0"/>
            </a:br>
            <a:br>
              <a:rPr lang="en-US" dirty="0"/>
            </a:br>
            <a:r>
              <a:rPr lang="en-US" dirty="0"/>
              <a:t>https://www.nytimes.com/2022/07/21/nyregion/polio-case-new-york.html?referringSource=articleShare</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sym typeface="Calibri"/>
              </a:rPr>
              <a:t>17</a:t>
            </a:fld>
            <a:endParaRPr lang="en-US" sz="1200" b="0" i="0" u="none" strike="noStrike" cap="none" dirty="0">
              <a:solidFill>
                <a:schemeClr val="dk1"/>
              </a:solidFill>
              <a:sym typeface="Calibri"/>
            </a:endParaRPr>
          </a:p>
        </p:txBody>
      </p:sp>
    </p:spTree>
    <p:extLst>
      <p:ext uri="{BB962C8B-B14F-4D97-AF65-F5344CB8AC3E}">
        <p14:creationId xmlns:p14="http://schemas.microsoft.com/office/powerpoint/2010/main" val="37382688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https://www.nature.com/articles/d41586-023-03602-5</a:t>
            </a:r>
            <a:br>
              <a:rPr lang="en-US" dirty="0"/>
            </a:br>
            <a:br>
              <a:rPr lang="en-US" dirty="0"/>
            </a:br>
            <a:r>
              <a:rPr lang="en-US" dirty="0"/>
              <a:t>Kupferschmidt, K. (2024). Old poliovirus sample hints at recent lab leak. </a:t>
            </a:r>
            <a:r>
              <a:rPr lang="en-US" i="1" dirty="0"/>
              <a:t>Science (New York, NY)</a:t>
            </a:r>
            <a:r>
              <a:rPr lang="en-US" dirty="0"/>
              <a:t>, </a:t>
            </a:r>
            <a:r>
              <a:rPr lang="en-US" i="1" dirty="0"/>
              <a:t>385</a:t>
            </a:r>
            <a:r>
              <a:rPr lang="en-US" dirty="0"/>
              <a:t>(6714), 1152.</a:t>
            </a:r>
          </a:p>
          <a:p>
            <a:pPr marL="0"/>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sym typeface="Calibri"/>
              </a:rPr>
              <a:t>18</a:t>
            </a:fld>
            <a:endParaRPr lang="en-US" sz="1200" b="0" i="0" u="none" strike="noStrike" cap="none" dirty="0">
              <a:solidFill>
                <a:schemeClr val="dk1"/>
              </a:solidFill>
              <a:sym typeface="Calibri"/>
            </a:endParaRPr>
          </a:p>
        </p:txBody>
      </p:sp>
    </p:spTree>
    <p:extLst>
      <p:ext uri="{BB962C8B-B14F-4D97-AF65-F5344CB8AC3E}">
        <p14:creationId xmlns:p14="http://schemas.microsoft.com/office/powerpoint/2010/main" val="3071956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a:prstGeom prst="rect">
            <a:avLst/>
          </a:prstGeom>
        </p:spPr>
        <p:txBody>
          <a:bodyPr/>
          <a:lstStyle/>
          <a:p>
            <a:pPr marL="0" algn="l"/>
            <a:r>
              <a:rPr lang="en-US" dirty="0"/>
              <a:t>https://www.nature.com/articles/d41586-023-03602-5</a:t>
            </a:r>
            <a:br>
              <a:rPr lang="en-US" dirty="0"/>
            </a:br>
            <a:br>
              <a:rPr lang="en-US" dirty="0"/>
            </a:br>
            <a:r>
              <a:rPr lang="en-US" sz="1200" b="0" i="0" u="none" strike="noStrike" baseline="0" dirty="0"/>
              <a:t>One person with the condition lives in the United Kingdom and was vaccinated with OPV as a child. For more than 20 years, he asymptomatically carried — and shed —the attenuated virus, which evolved to its disease-causing form. His gut was “essentially a culture vessel” That’s why scientists were surprised to learn that the person’s infection had gone. It disappeared after he received the antiviral drug remdesivir for severe COVID-19 in August 2021. This could be coincidence, but it bolsters the case that antivirals could be used to treat polio infection (two such drugs are being explored as polio treatments). </a:t>
            </a:r>
            <a:endParaRPr lang="en-US" dirty="0"/>
          </a:p>
          <a:p>
            <a:pPr marL="0"/>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sym typeface="Calibri"/>
              </a:rPr>
              <a:t>19</a:t>
            </a:fld>
            <a:endParaRPr lang="en-US" sz="1200" b="0" i="0" u="none" strike="noStrike" cap="none" dirty="0">
              <a:solidFill>
                <a:schemeClr val="dk1"/>
              </a:solidFill>
              <a:sym typeface="Calibri"/>
            </a:endParaRPr>
          </a:p>
        </p:txBody>
      </p:sp>
    </p:spTree>
    <p:extLst>
      <p:ext uri="{BB962C8B-B14F-4D97-AF65-F5344CB8AC3E}">
        <p14:creationId xmlns:p14="http://schemas.microsoft.com/office/powerpoint/2010/main" val="25238361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b="0" i="0" u="none" strike="noStrike" baseline="0" dirty="0"/>
              <a:t>Polio can be certified as eradicated when no case observed for three years, and when there is no sign of it in wastewater. </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sym typeface="Calibri"/>
              </a:rPr>
              <a:t>20</a:t>
            </a:fld>
            <a:endParaRPr lang="en-US" sz="1200" b="0" i="0" u="none" strike="noStrike" cap="none" dirty="0">
              <a:solidFill>
                <a:schemeClr val="dk1"/>
              </a:solidFill>
              <a:sym typeface="Calibri"/>
            </a:endParaRPr>
          </a:p>
        </p:txBody>
      </p:sp>
    </p:spTree>
    <p:extLst>
      <p:ext uri="{BB962C8B-B14F-4D97-AF65-F5344CB8AC3E}">
        <p14:creationId xmlns:p14="http://schemas.microsoft.com/office/powerpoint/2010/main" val="23475291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https://www.nytimes.com/2024/09/01/world/middleeast/gaza-polio-crisis.html</a:t>
            </a:r>
            <a:br>
              <a:rPr lang="en-US" dirty="0"/>
            </a:br>
            <a:r>
              <a:rPr lang="en-US" dirty="0"/>
              <a:t>https://www.nytimes.com/video/world/middleeast/100000009663983/polio-case-mother-gaza-interview.html</a:t>
            </a:r>
          </a:p>
          <a:p>
            <a:pPr marL="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br>
              <a:rPr lang="en-US" dirty="0"/>
            </a:br>
            <a:r>
              <a:rPr lang="en-US" dirty="0"/>
              <a:t>About two months ago, he stopped crawling and was feverish. His family took him to a hospital, which sent a sample to a lab in Jordan. A test confirmed health officials’ fears: He had polio.</a:t>
            </a:r>
          </a:p>
          <a:p>
            <a:pPr marL="0"/>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sym typeface="Calibri"/>
              </a:rPr>
              <a:t>21</a:t>
            </a:fld>
            <a:endParaRPr lang="en-US" sz="1200" b="0" i="0" u="none" strike="noStrike" cap="none" dirty="0">
              <a:solidFill>
                <a:schemeClr val="dk1"/>
              </a:solidFill>
              <a:sym typeface="Calibri"/>
            </a:endParaRPr>
          </a:p>
        </p:txBody>
      </p:sp>
    </p:spTree>
    <p:extLst>
      <p:ext uri="{BB962C8B-B14F-4D97-AF65-F5344CB8AC3E}">
        <p14:creationId xmlns:p14="http://schemas.microsoft.com/office/powerpoint/2010/main" val="22521506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9B40D-1786-79B5-231D-F715C9F0C24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6E44B92-602F-4DF5-C5FA-CBA3C55983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CDC136F-7FCF-598F-107D-A00D08CB35B3}"/>
              </a:ext>
            </a:extLst>
          </p:cNvPr>
          <p:cNvSpPr>
            <a:spLocks noGrp="1"/>
          </p:cNvSpPr>
          <p:nvPr>
            <p:ph type="dt" sz="half" idx="10"/>
          </p:nvPr>
        </p:nvSpPr>
        <p:spPr/>
        <p:txBody>
          <a:bodyPr/>
          <a:lstStyle/>
          <a:p>
            <a:fld id="{A12A7432-9B87-494F-8B2B-15A2EDCC2D3F}" type="datetimeFigureOut">
              <a:rPr lang="en-US" smtClean="0"/>
              <a:t>10/1/2026</a:t>
            </a:fld>
            <a:endParaRPr lang="en-US" dirty="0"/>
          </a:p>
        </p:txBody>
      </p:sp>
      <p:sp>
        <p:nvSpPr>
          <p:cNvPr id="5" name="Footer Placeholder 4">
            <a:extLst>
              <a:ext uri="{FF2B5EF4-FFF2-40B4-BE49-F238E27FC236}">
                <a16:creationId xmlns:a16="http://schemas.microsoft.com/office/drawing/2014/main" id="{0BD52CF3-9B22-3671-A9AE-89312CDA668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931DF2E-7F67-2A6B-A6AF-5F67F26ADFD7}"/>
              </a:ext>
            </a:extLst>
          </p:cNvPr>
          <p:cNvSpPr>
            <a:spLocks noGrp="1"/>
          </p:cNvSpPr>
          <p:nvPr>
            <p:ph type="sldNum" sz="quarter" idx="12"/>
          </p:nvPr>
        </p:nvSpPr>
        <p:spPr/>
        <p:txBody>
          <a:bodyPr/>
          <a:lstStyle/>
          <a:p>
            <a:fld id="{B0BA7BAE-547C-4362-8FA6-236EA9EC14E5}" type="slidenum">
              <a:rPr lang="en-US" smtClean="0"/>
              <a:t>‹#›</a:t>
            </a:fld>
            <a:endParaRPr lang="en-US" dirty="0"/>
          </a:p>
        </p:txBody>
      </p:sp>
    </p:spTree>
    <p:extLst>
      <p:ext uri="{BB962C8B-B14F-4D97-AF65-F5344CB8AC3E}">
        <p14:creationId xmlns:p14="http://schemas.microsoft.com/office/powerpoint/2010/main" val="586869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3DEFF-AB5A-9BA0-C583-10AFE5C0077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D1A012-68E9-2101-1A44-343A0DD53DC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B891D8-B7FC-065E-877B-6AC469BAF485}"/>
              </a:ext>
            </a:extLst>
          </p:cNvPr>
          <p:cNvSpPr>
            <a:spLocks noGrp="1"/>
          </p:cNvSpPr>
          <p:nvPr>
            <p:ph type="dt" sz="half" idx="10"/>
          </p:nvPr>
        </p:nvSpPr>
        <p:spPr/>
        <p:txBody>
          <a:bodyPr/>
          <a:lstStyle/>
          <a:p>
            <a:fld id="{A12A7432-9B87-494F-8B2B-15A2EDCC2D3F}" type="datetimeFigureOut">
              <a:rPr lang="en-US" smtClean="0"/>
              <a:t>10/1/2026</a:t>
            </a:fld>
            <a:endParaRPr lang="en-US" dirty="0"/>
          </a:p>
        </p:txBody>
      </p:sp>
      <p:sp>
        <p:nvSpPr>
          <p:cNvPr id="5" name="Footer Placeholder 4">
            <a:extLst>
              <a:ext uri="{FF2B5EF4-FFF2-40B4-BE49-F238E27FC236}">
                <a16:creationId xmlns:a16="http://schemas.microsoft.com/office/drawing/2014/main" id="{50AD923D-50FD-352C-2D58-85840055F12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BE39EE1-3C79-5D52-9756-F8F6970C37CC}"/>
              </a:ext>
            </a:extLst>
          </p:cNvPr>
          <p:cNvSpPr>
            <a:spLocks noGrp="1"/>
          </p:cNvSpPr>
          <p:nvPr>
            <p:ph type="sldNum" sz="quarter" idx="12"/>
          </p:nvPr>
        </p:nvSpPr>
        <p:spPr/>
        <p:txBody>
          <a:bodyPr/>
          <a:lstStyle/>
          <a:p>
            <a:fld id="{B0BA7BAE-547C-4362-8FA6-236EA9EC14E5}" type="slidenum">
              <a:rPr lang="en-US" smtClean="0"/>
              <a:t>‹#›</a:t>
            </a:fld>
            <a:endParaRPr lang="en-US" dirty="0"/>
          </a:p>
        </p:txBody>
      </p:sp>
    </p:spTree>
    <p:extLst>
      <p:ext uri="{BB962C8B-B14F-4D97-AF65-F5344CB8AC3E}">
        <p14:creationId xmlns:p14="http://schemas.microsoft.com/office/powerpoint/2010/main" val="40380620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EC29B-AD7E-A669-87FB-C054E4CE16C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AF40A99-580A-FE8A-06E4-00C7655E08C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34218B8-9C0A-7065-B3D0-4D0BB2EF0788}"/>
              </a:ext>
            </a:extLst>
          </p:cNvPr>
          <p:cNvSpPr>
            <a:spLocks noGrp="1"/>
          </p:cNvSpPr>
          <p:nvPr>
            <p:ph type="dt" sz="half" idx="10"/>
          </p:nvPr>
        </p:nvSpPr>
        <p:spPr/>
        <p:txBody>
          <a:bodyPr/>
          <a:lstStyle/>
          <a:p>
            <a:fld id="{A12A7432-9B87-494F-8B2B-15A2EDCC2D3F}" type="datetimeFigureOut">
              <a:rPr lang="en-US" smtClean="0"/>
              <a:t>10/1/2026</a:t>
            </a:fld>
            <a:endParaRPr lang="en-US" dirty="0"/>
          </a:p>
        </p:txBody>
      </p:sp>
      <p:sp>
        <p:nvSpPr>
          <p:cNvPr id="5" name="Footer Placeholder 4">
            <a:extLst>
              <a:ext uri="{FF2B5EF4-FFF2-40B4-BE49-F238E27FC236}">
                <a16:creationId xmlns:a16="http://schemas.microsoft.com/office/drawing/2014/main" id="{ECCB8060-0A64-652D-083B-686A7B71403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117F6B5-9CDA-DECB-E188-4DD510816600}"/>
              </a:ext>
            </a:extLst>
          </p:cNvPr>
          <p:cNvSpPr>
            <a:spLocks noGrp="1"/>
          </p:cNvSpPr>
          <p:nvPr>
            <p:ph type="sldNum" sz="quarter" idx="12"/>
          </p:nvPr>
        </p:nvSpPr>
        <p:spPr/>
        <p:txBody>
          <a:bodyPr/>
          <a:lstStyle/>
          <a:p>
            <a:fld id="{B0BA7BAE-547C-4362-8FA6-236EA9EC14E5}" type="slidenum">
              <a:rPr lang="en-US" smtClean="0"/>
              <a:t>‹#›</a:t>
            </a:fld>
            <a:endParaRPr lang="en-US" dirty="0"/>
          </a:p>
        </p:txBody>
      </p:sp>
    </p:spTree>
    <p:extLst>
      <p:ext uri="{BB962C8B-B14F-4D97-AF65-F5344CB8AC3E}">
        <p14:creationId xmlns:p14="http://schemas.microsoft.com/office/powerpoint/2010/main" val="41255732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C40F7-736A-65AB-8C08-29FA1F22B71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547FA5-0A43-63D5-6429-4BF1773B716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DAD61E9-AA94-DDEE-39D6-41136B8F661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E7178BF-3B8D-D609-4368-67E416D287BB}"/>
              </a:ext>
            </a:extLst>
          </p:cNvPr>
          <p:cNvSpPr>
            <a:spLocks noGrp="1"/>
          </p:cNvSpPr>
          <p:nvPr>
            <p:ph type="dt" sz="half" idx="10"/>
          </p:nvPr>
        </p:nvSpPr>
        <p:spPr/>
        <p:txBody>
          <a:bodyPr/>
          <a:lstStyle/>
          <a:p>
            <a:fld id="{A12A7432-9B87-494F-8B2B-15A2EDCC2D3F}" type="datetimeFigureOut">
              <a:rPr lang="en-US" smtClean="0"/>
              <a:t>10/1/2026</a:t>
            </a:fld>
            <a:endParaRPr lang="en-US" dirty="0"/>
          </a:p>
        </p:txBody>
      </p:sp>
      <p:sp>
        <p:nvSpPr>
          <p:cNvPr id="6" name="Footer Placeholder 5">
            <a:extLst>
              <a:ext uri="{FF2B5EF4-FFF2-40B4-BE49-F238E27FC236}">
                <a16:creationId xmlns:a16="http://schemas.microsoft.com/office/drawing/2014/main" id="{ED15A454-EDEB-22A2-968C-E809C0BDD2C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0AAB673-7055-3BF4-526D-D3E5D6B07108}"/>
              </a:ext>
            </a:extLst>
          </p:cNvPr>
          <p:cNvSpPr>
            <a:spLocks noGrp="1"/>
          </p:cNvSpPr>
          <p:nvPr>
            <p:ph type="sldNum" sz="quarter" idx="12"/>
          </p:nvPr>
        </p:nvSpPr>
        <p:spPr/>
        <p:txBody>
          <a:bodyPr/>
          <a:lstStyle/>
          <a:p>
            <a:fld id="{B0BA7BAE-547C-4362-8FA6-236EA9EC14E5}" type="slidenum">
              <a:rPr lang="en-US" smtClean="0"/>
              <a:t>‹#›</a:t>
            </a:fld>
            <a:endParaRPr lang="en-US" dirty="0"/>
          </a:p>
        </p:txBody>
      </p:sp>
    </p:spTree>
    <p:extLst>
      <p:ext uri="{BB962C8B-B14F-4D97-AF65-F5344CB8AC3E}">
        <p14:creationId xmlns:p14="http://schemas.microsoft.com/office/powerpoint/2010/main" val="2495367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B5B84-AF92-7F9F-D2C5-6FB8FDB2B1E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DFFDC09-AC85-989F-76FA-7001387404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4249C4-E324-1ED4-9B60-763D18E43BD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DE958E4-5C4C-C2F0-A3B7-DB6F3AD838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9F8C00-137C-246E-1AF6-853539915E4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6C187AD-36A7-4912-6C5A-4BA8FE1ABAF0}"/>
              </a:ext>
            </a:extLst>
          </p:cNvPr>
          <p:cNvSpPr>
            <a:spLocks noGrp="1"/>
          </p:cNvSpPr>
          <p:nvPr>
            <p:ph type="dt" sz="half" idx="10"/>
          </p:nvPr>
        </p:nvSpPr>
        <p:spPr/>
        <p:txBody>
          <a:bodyPr/>
          <a:lstStyle/>
          <a:p>
            <a:fld id="{A12A7432-9B87-494F-8B2B-15A2EDCC2D3F}" type="datetimeFigureOut">
              <a:rPr lang="en-US" smtClean="0"/>
              <a:t>10/1/2026</a:t>
            </a:fld>
            <a:endParaRPr lang="en-US" dirty="0"/>
          </a:p>
        </p:txBody>
      </p:sp>
      <p:sp>
        <p:nvSpPr>
          <p:cNvPr id="8" name="Footer Placeholder 7">
            <a:extLst>
              <a:ext uri="{FF2B5EF4-FFF2-40B4-BE49-F238E27FC236}">
                <a16:creationId xmlns:a16="http://schemas.microsoft.com/office/drawing/2014/main" id="{243ECAFF-9D4F-8689-B608-BB170CDA5E3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A7B054B8-6F81-B1F6-6720-8E3707262519}"/>
              </a:ext>
            </a:extLst>
          </p:cNvPr>
          <p:cNvSpPr>
            <a:spLocks noGrp="1"/>
          </p:cNvSpPr>
          <p:nvPr>
            <p:ph type="sldNum" sz="quarter" idx="12"/>
          </p:nvPr>
        </p:nvSpPr>
        <p:spPr/>
        <p:txBody>
          <a:bodyPr/>
          <a:lstStyle/>
          <a:p>
            <a:fld id="{B0BA7BAE-547C-4362-8FA6-236EA9EC14E5}" type="slidenum">
              <a:rPr lang="en-US" smtClean="0"/>
              <a:t>‹#›</a:t>
            </a:fld>
            <a:endParaRPr lang="en-US" dirty="0"/>
          </a:p>
        </p:txBody>
      </p:sp>
    </p:spTree>
    <p:extLst>
      <p:ext uri="{BB962C8B-B14F-4D97-AF65-F5344CB8AC3E}">
        <p14:creationId xmlns:p14="http://schemas.microsoft.com/office/powerpoint/2010/main" val="1265889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0E920-5A7C-E771-EE3D-6F27F3294C5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3DABAF8-9579-7FAA-CBD5-73DF2EC52576}"/>
              </a:ext>
            </a:extLst>
          </p:cNvPr>
          <p:cNvSpPr>
            <a:spLocks noGrp="1"/>
          </p:cNvSpPr>
          <p:nvPr>
            <p:ph type="dt" sz="half" idx="10"/>
          </p:nvPr>
        </p:nvSpPr>
        <p:spPr/>
        <p:txBody>
          <a:bodyPr/>
          <a:lstStyle/>
          <a:p>
            <a:fld id="{A12A7432-9B87-494F-8B2B-15A2EDCC2D3F}" type="datetimeFigureOut">
              <a:rPr lang="en-US" smtClean="0"/>
              <a:t>10/1/2026</a:t>
            </a:fld>
            <a:endParaRPr lang="en-US" dirty="0"/>
          </a:p>
        </p:txBody>
      </p:sp>
      <p:sp>
        <p:nvSpPr>
          <p:cNvPr id="4" name="Footer Placeholder 3">
            <a:extLst>
              <a:ext uri="{FF2B5EF4-FFF2-40B4-BE49-F238E27FC236}">
                <a16:creationId xmlns:a16="http://schemas.microsoft.com/office/drawing/2014/main" id="{4B3ABED3-21E4-F1D1-9D1C-CCB76A85C01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3A4C3392-94D8-C9D5-F5D7-70629B1E48FD}"/>
              </a:ext>
            </a:extLst>
          </p:cNvPr>
          <p:cNvSpPr>
            <a:spLocks noGrp="1"/>
          </p:cNvSpPr>
          <p:nvPr>
            <p:ph type="sldNum" sz="quarter" idx="12"/>
          </p:nvPr>
        </p:nvSpPr>
        <p:spPr/>
        <p:txBody>
          <a:bodyPr/>
          <a:lstStyle/>
          <a:p>
            <a:fld id="{B0BA7BAE-547C-4362-8FA6-236EA9EC14E5}" type="slidenum">
              <a:rPr lang="en-US" smtClean="0"/>
              <a:t>‹#›</a:t>
            </a:fld>
            <a:endParaRPr lang="en-US" dirty="0"/>
          </a:p>
        </p:txBody>
      </p:sp>
    </p:spTree>
    <p:extLst>
      <p:ext uri="{BB962C8B-B14F-4D97-AF65-F5344CB8AC3E}">
        <p14:creationId xmlns:p14="http://schemas.microsoft.com/office/powerpoint/2010/main" val="1893903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DAE39E-35A8-EB71-F3F3-71E2B54FEC0A}"/>
              </a:ext>
            </a:extLst>
          </p:cNvPr>
          <p:cNvSpPr>
            <a:spLocks noGrp="1"/>
          </p:cNvSpPr>
          <p:nvPr>
            <p:ph type="dt" sz="half" idx="10"/>
          </p:nvPr>
        </p:nvSpPr>
        <p:spPr/>
        <p:txBody>
          <a:bodyPr/>
          <a:lstStyle/>
          <a:p>
            <a:fld id="{A12A7432-9B87-494F-8B2B-15A2EDCC2D3F}" type="datetimeFigureOut">
              <a:rPr lang="en-US" smtClean="0"/>
              <a:t>10/1/2026</a:t>
            </a:fld>
            <a:endParaRPr lang="en-US" dirty="0"/>
          </a:p>
        </p:txBody>
      </p:sp>
      <p:sp>
        <p:nvSpPr>
          <p:cNvPr id="3" name="Footer Placeholder 2">
            <a:extLst>
              <a:ext uri="{FF2B5EF4-FFF2-40B4-BE49-F238E27FC236}">
                <a16:creationId xmlns:a16="http://schemas.microsoft.com/office/drawing/2014/main" id="{A0BE040B-82BD-9D9C-E477-EE3180BC4424}"/>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99A9C946-C906-D75A-7C90-926900E91FE1}"/>
              </a:ext>
            </a:extLst>
          </p:cNvPr>
          <p:cNvSpPr>
            <a:spLocks noGrp="1"/>
          </p:cNvSpPr>
          <p:nvPr>
            <p:ph type="sldNum" sz="quarter" idx="12"/>
          </p:nvPr>
        </p:nvSpPr>
        <p:spPr/>
        <p:txBody>
          <a:bodyPr/>
          <a:lstStyle/>
          <a:p>
            <a:fld id="{B0BA7BAE-547C-4362-8FA6-236EA9EC14E5}" type="slidenum">
              <a:rPr lang="en-US" smtClean="0"/>
              <a:t>‹#›</a:t>
            </a:fld>
            <a:endParaRPr lang="en-US" dirty="0"/>
          </a:p>
        </p:txBody>
      </p:sp>
    </p:spTree>
    <p:extLst>
      <p:ext uri="{BB962C8B-B14F-4D97-AF65-F5344CB8AC3E}">
        <p14:creationId xmlns:p14="http://schemas.microsoft.com/office/powerpoint/2010/main" val="1935740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C829A-99FE-0C30-447D-A7C92941DF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A0CBEE9-89E7-8BD5-2B6C-41C97F5191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0752DDC-450D-F948-77EA-4624C1DAFF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72429F-166D-3A0C-A388-267B5C858150}"/>
              </a:ext>
            </a:extLst>
          </p:cNvPr>
          <p:cNvSpPr>
            <a:spLocks noGrp="1"/>
          </p:cNvSpPr>
          <p:nvPr>
            <p:ph type="dt" sz="half" idx="10"/>
          </p:nvPr>
        </p:nvSpPr>
        <p:spPr/>
        <p:txBody>
          <a:bodyPr/>
          <a:lstStyle/>
          <a:p>
            <a:fld id="{A12A7432-9B87-494F-8B2B-15A2EDCC2D3F}" type="datetimeFigureOut">
              <a:rPr lang="en-US" smtClean="0"/>
              <a:t>10/1/2026</a:t>
            </a:fld>
            <a:endParaRPr lang="en-US" dirty="0"/>
          </a:p>
        </p:txBody>
      </p:sp>
      <p:sp>
        <p:nvSpPr>
          <p:cNvPr id="6" name="Footer Placeholder 5">
            <a:extLst>
              <a:ext uri="{FF2B5EF4-FFF2-40B4-BE49-F238E27FC236}">
                <a16:creationId xmlns:a16="http://schemas.microsoft.com/office/drawing/2014/main" id="{9251ABDC-9DDA-11BC-99EB-1ABC18610B6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1FE5A7A-1A48-B6A6-6F9C-764AD292F09F}"/>
              </a:ext>
            </a:extLst>
          </p:cNvPr>
          <p:cNvSpPr>
            <a:spLocks noGrp="1"/>
          </p:cNvSpPr>
          <p:nvPr>
            <p:ph type="sldNum" sz="quarter" idx="12"/>
          </p:nvPr>
        </p:nvSpPr>
        <p:spPr/>
        <p:txBody>
          <a:bodyPr/>
          <a:lstStyle/>
          <a:p>
            <a:fld id="{B0BA7BAE-547C-4362-8FA6-236EA9EC14E5}" type="slidenum">
              <a:rPr lang="en-US" smtClean="0"/>
              <a:t>‹#›</a:t>
            </a:fld>
            <a:endParaRPr lang="en-US" dirty="0"/>
          </a:p>
        </p:txBody>
      </p:sp>
    </p:spTree>
    <p:extLst>
      <p:ext uri="{BB962C8B-B14F-4D97-AF65-F5344CB8AC3E}">
        <p14:creationId xmlns:p14="http://schemas.microsoft.com/office/powerpoint/2010/main" val="12834466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B4144-8280-0013-8C21-E557575C06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21D3B95-4F43-5F63-8795-8261726A9C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FA1A2B8-29AC-041A-8F48-95122DD597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C03962-524F-421A-3EAF-22DA75F239EF}"/>
              </a:ext>
            </a:extLst>
          </p:cNvPr>
          <p:cNvSpPr>
            <a:spLocks noGrp="1"/>
          </p:cNvSpPr>
          <p:nvPr>
            <p:ph type="dt" sz="half" idx="10"/>
          </p:nvPr>
        </p:nvSpPr>
        <p:spPr/>
        <p:txBody>
          <a:bodyPr/>
          <a:lstStyle/>
          <a:p>
            <a:fld id="{A12A7432-9B87-494F-8B2B-15A2EDCC2D3F}" type="datetimeFigureOut">
              <a:rPr lang="en-US" smtClean="0"/>
              <a:t>10/1/2026</a:t>
            </a:fld>
            <a:endParaRPr lang="en-US" dirty="0"/>
          </a:p>
        </p:txBody>
      </p:sp>
      <p:sp>
        <p:nvSpPr>
          <p:cNvPr id="6" name="Footer Placeholder 5">
            <a:extLst>
              <a:ext uri="{FF2B5EF4-FFF2-40B4-BE49-F238E27FC236}">
                <a16:creationId xmlns:a16="http://schemas.microsoft.com/office/drawing/2014/main" id="{65813700-7CE0-5445-2ACC-C8AC9A6287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3ABB23A-64EA-B60F-D957-26E25CD8C144}"/>
              </a:ext>
            </a:extLst>
          </p:cNvPr>
          <p:cNvSpPr>
            <a:spLocks noGrp="1"/>
          </p:cNvSpPr>
          <p:nvPr>
            <p:ph type="sldNum" sz="quarter" idx="12"/>
          </p:nvPr>
        </p:nvSpPr>
        <p:spPr/>
        <p:txBody>
          <a:bodyPr/>
          <a:lstStyle/>
          <a:p>
            <a:fld id="{B0BA7BAE-547C-4362-8FA6-236EA9EC14E5}" type="slidenum">
              <a:rPr lang="en-US" smtClean="0"/>
              <a:t>‹#›</a:t>
            </a:fld>
            <a:endParaRPr lang="en-US" dirty="0"/>
          </a:p>
        </p:txBody>
      </p:sp>
    </p:spTree>
    <p:extLst>
      <p:ext uri="{BB962C8B-B14F-4D97-AF65-F5344CB8AC3E}">
        <p14:creationId xmlns:p14="http://schemas.microsoft.com/office/powerpoint/2010/main" val="2407279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56FE3-4639-25D5-E68C-2C22B62619A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257D704-6D5D-6798-D7DC-207E37AB34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211F08-325C-7B9B-0F95-A6BABA91ABC3}"/>
              </a:ext>
            </a:extLst>
          </p:cNvPr>
          <p:cNvSpPr>
            <a:spLocks noGrp="1"/>
          </p:cNvSpPr>
          <p:nvPr>
            <p:ph type="dt" sz="half" idx="10"/>
          </p:nvPr>
        </p:nvSpPr>
        <p:spPr/>
        <p:txBody>
          <a:bodyPr/>
          <a:lstStyle/>
          <a:p>
            <a:fld id="{A12A7432-9B87-494F-8B2B-15A2EDCC2D3F}" type="datetimeFigureOut">
              <a:rPr lang="en-US" smtClean="0"/>
              <a:t>10/1/2026</a:t>
            </a:fld>
            <a:endParaRPr lang="en-US" dirty="0"/>
          </a:p>
        </p:txBody>
      </p:sp>
      <p:sp>
        <p:nvSpPr>
          <p:cNvPr id="5" name="Footer Placeholder 4">
            <a:extLst>
              <a:ext uri="{FF2B5EF4-FFF2-40B4-BE49-F238E27FC236}">
                <a16:creationId xmlns:a16="http://schemas.microsoft.com/office/drawing/2014/main" id="{186939F9-A73E-D220-C8F1-27CFB58EDBA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9FCCCDB-8B5C-CD4D-91A8-A3A64FEFFD75}"/>
              </a:ext>
            </a:extLst>
          </p:cNvPr>
          <p:cNvSpPr>
            <a:spLocks noGrp="1"/>
          </p:cNvSpPr>
          <p:nvPr>
            <p:ph type="sldNum" sz="quarter" idx="12"/>
          </p:nvPr>
        </p:nvSpPr>
        <p:spPr/>
        <p:txBody>
          <a:bodyPr/>
          <a:lstStyle/>
          <a:p>
            <a:fld id="{B0BA7BAE-547C-4362-8FA6-236EA9EC14E5}" type="slidenum">
              <a:rPr lang="en-US" smtClean="0"/>
              <a:t>‹#›</a:t>
            </a:fld>
            <a:endParaRPr lang="en-US" dirty="0"/>
          </a:p>
        </p:txBody>
      </p:sp>
    </p:spTree>
    <p:extLst>
      <p:ext uri="{BB962C8B-B14F-4D97-AF65-F5344CB8AC3E}">
        <p14:creationId xmlns:p14="http://schemas.microsoft.com/office/powerpoint/2010/main" val="32048869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7A0BC7-F138-79B9-3F33-879D32D4B5C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13BBAA6-6411-D990-39A7-59096352755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2A4AF1-40AA-FE2C-7EFC-139A38188BD2}"/>
              </a:ext>
            </a:extLst>
          </p:cNvPr>
          <p:cNvSpPr>
            <a:spLocks noGrp="1"/>
          </p:cNvSpPr>
          <p:nvPr>
            <p:ph type="dt" sz="half" idx="10"/>
          </p:nvPr>
        </p:nvSpPr>
        <p:spPr/>
        <p:txBody>
          <a:bodyPr/>
          <a:lstStyle/>
          <a:p>
            <a:fld id="{A12A7432-9B87-494F-8B2B-15A2EDCC2D3F}" type="datetimeFigureOut">
              <a:rPr lang="en-US" smtClean="0"/>
              <a:t>10/1/2026</a:t>
            </a:fld>
            <a:endParaRPr lang="en-US" dirty="0"/>
          </a:p>
        </p:txBody>
      </p:sp>
      <p:sp>
        <p:nvSpPr>
          <p:cNvPr id="5" name="Footer Placeholder 4">
            <a:extLst>
              <a:ext uri="{FF2B5EF4-FFF2-40B4-BE49-F238E27FC236}">
                <a16:creationId xmlns:a16="http://schemas.microsoft.com/office/drawing/2014/main" id="{6FB32892-1F53-42DF-74C6-81C8B404A08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43CD6E0-22F9-2666-3499-B61F7B9FDCB4}"/>
              </a:ext>
            </a:extLst>
          </p:cNvPr>
          <p:cNvSpPr>
            <a:spLocks noGrp="1"/>
          </p:cNvSpPr>
          <p:nvPr>
            <p:ph type="sldNum" sz="quarter" idx="12"/>
          </p:nvPr>
        </p:nvSpPr>
        <p:spPr/>
        <p:txBody>
          <a:bodyPr/>
          <a:lstStyle/>
          <a:p>
            <a:fld id="{B0BA7BAE-547C-4362-8FA6-236EA9EC14E5}" type="slidenum">
              <a:rPr lang="en-US" smtClean="0"/>
              <a:t>‹#›</a:t>
            </a:fld>
            <a:endParaRPr lang="en-US" dirty="0"/>
          </a:p>
        </p:txBody>
      </p:sp>
    </p:spTree>
    <p:extLst>
      <p:ext uri="{BB962C8B-B14F-4D97-AF65-F5344CB8AC3E}">
        <p14:creationId xmlns:p14="http://schemas.microsoft.com/office/powerpoint/2010/main" val="706165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182F2B-3048-4F8C-1AE7-64D4E303E4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0A148C7-C85D-2C1F-C637-CAB99534D4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9FFF8A-3669-ECC9-6EA6-49CEE8B6B0F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2A7432-9B87-494F-8B2B-15A2EDCC2D3F}" type="datetimeFigureOut">
              <a:rPr lang="en-US" smtClean="0"/>
              <a:t>10/1/2026</a:t>
            </a:fld>
            <a:endParaRPr lang="en-US" dirty="0"/>
          </a:p>
        </p:txBody>
      </p:sp>
      <p:sp>
        <p:nvSpPr>
          <p:cNvPr id="5" name="Footer Placeholder 4">
            <a:extLst>
              <a:ext uri="{FF2B5EF4-FFF2-40B4-BE49-F238E27FC236}">
                <a16:creationId xmlns:a16="http://schemas.microsoft.com/office/drawing/2014/main" id="{DE7D8B4A-CA2A-0DBF-FC4B-D002E43F30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5069F800-86ED-B870-3BBC-03C6A0623C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0BA7BAE-547C-4362-8FA6-236EA9EC14E5}" type="slidenum">
              <a:rPr lang="en-US" smtClean="0"/>
              <a:t>‹#›</a:t>
            </a:fld>
            <a:endParaRPr lang="en-US" dirty="0"/>
          </a:p>
        </p:txBody>
      </p:sp>
    </p:spTree>
    <p:extLst>
      <p:ext uri="{BB962C8B-B14F-4D97-AF65-F5344CB8AC3E}">
        <p14:creationId xmlns:p14="http://schemas.microsoft.com/office/powerpoint/2010/main" val="42375358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hyperlink" Target="https://www.nytimes.com/2020/07/07/opinion/sunday/mexico-drug-cartels-coronavirus.html" TargetMode="External"/><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nytimes.com/2022/05/13/opinion/ukraine-hospitals-attacks.html" TargetMode="Externa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hyperlink" Target="https://www.theguardian.com/world/video/2024/aug/29/gaza-polio-case-boy-video" TargetMode="External"/><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B4611-28C9-FB2E-F63A-528481221D0E}"/>
              </a:ext>
            </a:extLst>
          </p:cNvPr>
          <p:cNvSpPr>
            <a:spLocks noGrp="1"/>
          </p:cNvSpPr>
          <p:nvPr>
            <p:ph type="title"/>
          </p:nvPr>
        </p:nvSpPr>
        <p:spPr>
          <a:xfrm>
            <a:off x="661220" y="374953"/>
            <a:ext cx="10664506" cy="1325563"/>
          </a:xfrm>
        </p:spPr>
        <p:txBody>
          <a:bodyPr>
            <a:normAutofit/>
          </a:bodyPr>
          <a:lstStyle/>
          <a:p>
            <a:r>
              <a:rPr lang="en-US" dirty="0"/>
              <a:t>Effects of political instability on health can be indirect</a:t>
            </a:r>
          </a:p>
        </p:txBody>
      </p:sp>
      <p:sp>
        <p:nvSpPr>
          <p:cNvPr id="3" name="Text Placeholder 2">
            <a:extLst>
              <a:ext uri="{FF2B5EF4-FFF2-40B4-BE49-F238E27FC236}">
                <a16:creationId xmlns:a16="http://schemas.microsoft.com/office/drawing/2014/main" id="{118D4D7C-4FDC-F259-EE1C-2E8ADED21704}"/>
              </a:ext>
            </a:extLst>
          </p:cNvPr>
          <p:cNvSpPr>
            <a:spLocks noGrp="1"/>
          </p:cNvSpPr>
          <p:nvPr>
            <p:ph type="body" idx="1"/>
          </p:nvPr>
        </p:nvSpPr>
        <p:spPr>
          <a:xfrm>
            <a:off x="661221" y="1825625"/>
            <a:ext cx="4584548" cy="4657422"/>
          </a:xfrm>
        </p:spPr>
        <p:txBody>
          <a:bodyPr>
            <a:normAutofit fontScale="77500" lnSpcReduction="20000"/>
          </a:bodyPr>
          <a:lstStyle/>
          <a:p>
            <a:r>
              <a:rPr lang="en-US" sz="3500" dirty="0">
                <a:latin typeface="Calibri Light" panose="020F0302020204030204" pitchFamily="34" charset="0"/>
                <a:ea typeface="Calibri Light" panose="020F0302020204030204" pitchFamily="34" charset="0"/>
                <a:cs typeface="Calibri Light" panose="020F0302020204030204" pitchFamily="34" charset="0"/>
              </a:rPr>
              <a:t>Examples: firings and layoffs at key health organizations, changes in the availability and cost of health insurance, cutting international relief aid to address poverty and disease </a:t>
            </a:r>
          </a:p>
          <a:p>
            <a:r>
              <a:rPr lang="en-US" sz="3500" dirty="0">
                <a:latin typeface="Calibri Light" panose="020F0302020204030204" pitchFamily="34" charset="0"/>
                <a:ea typeface="Calibri Light" panose="020F0302020204030204" pitchFamily="34" charset="0"/>
                <a:cs typeface="Calibri Light" panose="020F0302020204030204" pitchFamily="34" charset="0"/>
              </a:rPr>
              <a:t>These impact health through the structures of governance</a:t>
            </a:r>
          </a:p>
          <a:p>
            <a:r>
              <a:rPr lang="en-US" sz="3500" dirty="0">
                <a:latin typeface="Calibri Light" panose="020F0302020204030204" pitchFamily="34" charset="0"/>
                <a:ea typeface="Calibri Light" panose="020F0302020204030204" pitchFamily="34" charset="0"/>
                <a:cs typeface="Calibri Light" panose="020F0302020204030204" pitchFamily="34" charset="0"/>
              </a:rPr>
              <a:t>They are examples of </a:t>
            </a:r>
            <a:r>
              <a:rPr lang="en-US" sz="3500" b="1" dirty="0">
                <a:latin typeface="Calibri Light" panose="020F0302020204030204" pitchFamily="34" charset="0"/>
                <a:ea typeface="Calibri Light" panose="020F0302020204030204" pitchFamily="34" charset="0"/>
                <a:cs typeface="Calibri Light" panose="020F0302020204030204" pitchFamily="34" charset="0"/>
              </a:rPr>
              <a:t>structural violence</a:t>
            </a:r>
          </a:p>
          <a:p>
            <a:r>
              <a:rPr lang="en-US" sz="3500" dirty="0">
                <a:latin typeface="Calibri Light" panose="020F0302020204030204" pitchFamily="34" charset="0"/>
                <a:ea typeface="Calibri Light" panose="020F0302020204030204" pitchFamily="34" charset="0"/>
                <a:cs typeface="Calibri Light" panose="020F0302020204030204" pitchFamily="34" charset="0"/>
              </a:rPr>
              <a:t>May not be intended to harm but structures of governance can bring it about</a:t>
            </a:r>
          </a:p>
          <a:p>
            <a:endParaRPr lang="en-US" b="1" dirty="0"/>
          </a:p>
          <a:p>
            <a:endParaRPr lang="en-US" dirty="0"/>
          </a:p>
        </p:txBody>
      </p:sp>
      <p:pic>
        <p:nvPicPr>
          <p:cNvPr id="4" name="Picture 3" descr="The Consequences of a Federal Funding Freeze in the States - Center for  American Progress">
            <a:extLst>
              <a:ext uri="{FF2B5EF4-FFF2-40B4-BE49-F238E27FC236}">
                <a16:creationId xmlns:a16="http://schemas.microsoft.com/office/drawing/2014/main" id="{57922C49-544D-C428-0E3F-602208B2B8C1}"/>
              </a:ext>
            </a:extLst>
          </p:cNvPr>
          <p:cNvPicPr>
            <a:picLocks noChangeAspect="1"/>
          </p:cNvPicPr>
          <p:nvPr/>
        </p:nvPicPr>
        <p:blipFill>
          <a:blip r:embed="rId3"/>
          <a:stretch>
            <a:fillRect/>
          </a:stretch>
        </p:blipFill>
        <p:spPr>
          <a:xfrm>
            <a:off x="5441379" y="1700516"/>
            <a:ext cx="6527008" cy="4351338"/>
          </a:xfrm>
          <a:prstGeom prst="rect">
            <a:avLst/>
          </a:prstGeom>
        </p:spPr>
      </p:pic>
    </p:spTree>
    <p:extLst>
      <p:ext uri="{BB962C8B-B14F-4D97-AF65-F5344CB8AC3E}">
        <p14:creationId xmlns:p14="http://schemas.microsoft.com/office/powerpoint/2010/main" val="1784661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D6368-5482-40A2-8FD1-22B13CC8B5DD}"/>
              </a:ext>
            </a:extLst>
          </p:cNvPr>
          <p:cNvSpPr>
            <a:spLocks noGrp="1"/>
          </p:cNvSpPr>
          <p:nvPr>
            <p:ph type="title"/>
          </p:nvPr>
        </p:nvSpPr>
        <p:spPr>
          <a:xfrm>
            <a:off x="838200" y="365125"/>
            <a:ext cx="4595191" cy="1325563"/>
          </a:xfrm>
        </p:spPr>
        <p:txBody>
          <a:bodyPr>
            <a:normAutofit/>
          </a:bodyPr>
          <a:lstStyle/>
          <a:p>
            <a:pPr algn="ctr"/>
            <a:r>
              <a:rPr lang="en-US" sz="4000" dirty="0">
                <a:latin typeface="Calibri Light" panose="020F0302020204030204" pitchFamily="34" charset="0"/>
                <a:ea typeface="Calibri Light" panose="020F0302020204030204" pitchFamily="34" charset="0"/>
                <a:cs typeface="Calibri Light" panose="020F0302020204030204" pitchFamily="34" charset="0"/>
              </a:rPr>
              <a:t>Structural violence</a:t>
            </a:r>
          </a:p>
        </p:txBody>
      </p:sp>
      <p:sp>
        <p:nvSpPr>
          <p:cNvPr id="3" name="Content Placeholder 2">
            <a:extLst>
              <a:ext uri="{FF2B5EF4-FFF2-40B4-BE49-F238E27FC236}">
                <a16:creationId xmlns:a16="http://schemas.microsoft.com/office/drawing/2014/main" id="{A88FE135-49CA-441F-8524-ABBF3CA4E7E4}"/>
              </a:ext>
            </a:extLst>
          </p:cNvPr>
          <p:cNvSpPr>
            <a:spLocks noGrp="1"/>
          </p:cNvSpPr>
          <p:nvPr>
            <p:ph idx="1"/>
          </p:nvPr>
        </p:nvSpPr>
        <p:spPr>
          <a:xfrm>
            <a:off x="249651" y="1690688"/>
            <a:ext cx="5398783" cy="4698423"/>
          </a:xfrm>
        </p:spPr>
        <p:txBody>
          <a:bodyPr>
            <a:normAutofit/>
          </a:bodyPr>
          <a:lstStyle/>
          <a:p>
            <a:r>
              <a:rPr lang="en-US" sz="3200" dirty="0">
                <a:latin typeface="Calibri Light" panose="020F0302020204030204" pitchFamily="34" charset="0"/>
                <a:ea typeface="Calibri Light" panose="020F0302020204030204" pitchFamily="34" charset="0"/>
                <a:cs typeface="Calibri Light" panose="020F0302020204030204" pitchFamily="34" charset="0"/>
              </a:rPr>
              <a:t>A form of indirect violence wherein rational-legal authority can bring physical, mental, or financial harm</a:t>
            </a:r>
          </a:p>
          <a:p>
            <a:r>
              <a:rPr lang="en-US" sz="3200" dirty="0">
                <a:latin typeface="Calibri Light" panose="020F0302020204030204" pitchFamily="34" charset="0"/>
                <a:ea typeface="Calibri Light" panose="020F0302020204030204" pitchFamily="34" charset="0"/>
                <a:cs typeface="Calibri Light" panose="020F0302020204030204" pitchFamily="34" charset="0"/>
              </a:rPr>
              <a:t>Structural violence is embedded in social structures that have become normalized by institutions</a:t>
            </a:r>
          </a:p>
          <a:p>
            <a:r>
              <a:rPr lang="en-US" sz="3200" dirty="0">
                <a:latin typeface="Calibri Light" panose="020F0302020204030204" pitchFamily="34" charset="0"/>
                <a:ea typeface="Calibri Light" panose="020F0302020204030204" pitchFamily="34" charset="0"/>
                <a:cs typeface="Calibri Light" panose="020F0302020204030204" pitchFamily="34" charset="0"/>
              </a:rPr>
              <a:t>It is often not overt violence</a:t>
            </a:r>
            <a:endParaRPr lang="en-US" dirty="0">
              <a:latin typeface="Calibri Light" panose="020F0302020204030204" pitchFamily="34" charset="0"/>
              <a:ea typeface="Calibri Light" panose="020F0302020204030204" pitchFamily="34" charset="0"/>
              <a:cs typeface="Calibri Light" panose="020F0302020204030204" pitchFamily="34" charset="0"/>
            </a:endParaRPr>
          </a:p>
          <a:p>
            <a:pPr marL="0" indent="0">
              <a:buNone/>
            </a:pPr>
            <a:endParaRPr lang="en-US" dirty="0">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5" name="Picture 4" descr="A close up of a blackboard&#10;&#10;Description automatically generated">
            <a:extLst>
              <a:ext uri="{FF2B5EF4-FFF2-40B4-BE49-F238E27FC236}">
                <a16:creationId xmlns:a16="http://schemas.microsoft.com/office/drawing/2014/main" id="{6B19411D-EE3A-4817-87AF-37FE81CD43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63478" y="0"/>
            <a:ext cx="6328522" cy="6858000"/>
          </a:xfrm>
          <a:prstGeom prst="rect">
            <a:avLst/>
          </a:prstGeom>
        </p:spPr>
      </p:pic>
      <p:sp>
        <p:nvSpPr>
          <p:cNvPr id="4" name="Slide Number Placeholder 3">
            <a:extLst>
              <a:ext uri="{FF2B5EF4-FFF2-40B4-BE49-F238E27FC236}">
                <a16:creationId xmlns:a16="http://schemas.microsoft.com/office/drawing/2014/main" id="{3145AC3E-E8B1-49C5-B8D7-6C7D4707DDB9}"/>
              </a:ext>
            </a:extLst>
          </p:cNvPr>
          <p:cNvSpPr>
            <a:spLocks noGrp="1"/>
          </p:cNvSpPr>
          <p:nvPr>
            <p:ph type="sldNum" sz="quarter" idx="12"/>
          </p:nvPr>
        </p:nvSpPr>
        <p:spPr/>
        <p:txBody>
          <a:bodyPr/>
          <a:lstStyle/>
          <a:p>
            <a:fld id="{91F5D5B3-D24A-42EA-B582-81E5372869F6}" type="slidenum">
              <a:rPr lang="en-US" smtClean="0"/>
              <a:t>2</a:t>
            </a:fld>
            <a:endParaRPr lang="en-US" dirty="0"/>
          </a:p>
        </p:txBody>
      </p:sp>
    </p:spTree>
    <p:extLst>
      <p:ext uri="{BB962C8B-B14F-4D97-AF65-F5344CB8AC3E}">
        <p14:creationId xmlns:p14="http://schemas.microsoft.com/office/powerpoint/2010/main" val="1250639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1DF1B50-A6CD-4FC0-D71E-F38BBC6282BE}"/>
              </a:ext>
            </a:extLst>
          </p:cNvPr>
          <p:cNvSpPr>
            <a:spLocks noGrp="1"/>
          </p:cNvSpPr>
          <p:nvPr>
            <p:ph type="body" idx="1"/>
          </p:nvPr>
        </p:nvSpPr>
        <p:spPr>
          <a:xfrm>
            <a:off x="7828547" y="1690687"/>
            <a:ext cx="4363453" cy="4802187"/>
          </a:xfrm>
        </p:spPr>
        <p:txBody>
          <a:bodyPr>
            <a:noAutofit/>
          </a:bodyPr>
          <a:lstStyle/>
          <a:p>
            <a:pPr lvl="1"/>
            <a:r>
              <a:rPr lang="en-US" sz="2620" dirty="0">
                <a:latin typeface="+mj-lt"/>
              </a:rPr>
              <a:t>Economic inflation</a:t>
            </a:r>
          </a:p>
          <a:p>
            <a:pPr lvl="1"/>
            <a:r>
              <a:rPr lang="en-US" sz="2620" dirty="0">
                <a:latin typeface="+mj-lt"/>
              </a:rPr>
              <a:t>Corruption</a:t>
            </a:r>
          </a:p>
          <a:p>
            <a:pPr lvl="1"/>
            <a:r>
              <a:rPr lang="en-US" sz="2620" dirty="0">
                <a:latin typeface="+mj-lt"/>
              </a:rPr>
              <a:t>Criminal activity</a:t>
            </a:r>
          </a:p>
          <a:p>
            <a:pPr lvl="1"/>
            <a:r>
              <a:rPr lang="en-US" sz="2620" dirty="0">
                <a:latin typeface="+mj-lt"/>
              </a:rPr>
              <a:t>Lack of adequate public funding for health care</a:t>
            </a:r>
          </a:p>
          <a:p>
            <a:pPr lvl="1"/>
            <a:r>
              <a:rPr lang="en-US" sz="2620" dirty="0">
                <a:latin typeface="+mj-lt"/>
              </a:rPr>
              <a:t>Bureaucratic inefficiency</a:t>
            </a:r>
          </a:p>
          <a:p>
            <a:pPr lvl="1"/>
            <a:r>
              <a:rPr lang="en-US" sz="2620" dirty="0">
                <a:latin typeface="+mj-lt"/>
              </a:rPr>
              <a:t>Lack of oversight and accountability</a:t>
            </a:r>
          </a:p>
          <a:p>
            <a:pPr lvl="1"/>
            <a:r>
              <a:rPr lang="en-US" sz="2620" dirty="0">
                <a:latin typeface="+mj-lt"/>
              </a:rPr>
              <a:t>Inefficient collection of health statistics needed to make decisions and policy</a:t>
            </a:r>
          </a:p>
        </p:txBody>
      </p:sp>
      <p:pic>
        <p:nvPicPr>
          <p:cNvPr id="5" name="Picture 4">
            <a:extLst>
              <a:ext uri="{FF2B5EF4-FFF2-40B4-BE49-F238E27FC236}">
                <a16:creationId xmlns:a16="http://schemas.microsoft.com/office/drawing/2014/main" id="{AF14D664-AC9F-B1B2-1F6D-31880B02F808}"/>
              </a:ext>
            </a:extLst>
          </p:cNvPr>
          <p:cNvPicPr>
            <a:picLocks noChangeAspect="1"/>
          </p:cNvPicPr>
          <p:nvPr/>
        </p:nvPicPr>
        <p:blipFill>
          <a:blip r:embed="rId3"/>
          <a:stretch>
            <a:fillRect/>
          </a:stretch>
        </p:blipFill>
        <p:spPr>
          <a:xfrm>
            <a:off x="457923" y="365125"/>
            <a:ext cx="7978831" cy="6134632"/>
          </a:xfrm>
          <a:prstGeom prst="rect">
            <a:avLst/>
          </a:prstGeom>
        </p:spPr>
      </p:pic>
      <p:sp>
        <p:nvSpPr>
          <p:cNvPr id="2" name="Title 1">
            <a:extLst>
              <a:ext uri="{FF2B5EF4-FFF2-40B4-BE49-F238E27FC236}">
                <a16:creationId xmlns:a16="http://schemas.microsoft.com/office/drawing/2014/main" id="{C08BFEFE-5F33-B592-4125-8D37A956D7DC}"/>
              </a:ext>
            </a:extLst>
          </p:cNvPr>
          <p:cNvSpPr>
            <a:spLocks noGrp="1"/>
          </p:cNvSpPr>
          <p:nvPr>
            <p:ph type="title"/>
          </p:nvPr>
        </p:nvSpPr>
        <p:spPr>
          <a:xfrm>
            <a:off x="5417574" y="212725"/>
            <a:ext cx="6774425" cy="1325563"/>
          </a:xfrm>
        </p:spPr>
        <p:txBody>
          <a:bodyPr>
            <a:normAutofit/>
          </a:bodyPr>
          <a:lstStyle/>
          <a:p>
            <a:r>
              <a:rPr lang="en-US" dirty="0"/>
              <a:t>Other forms of health-related structural violence </a:t>
            </a:r>
            <a:endParaRPr lang="en-US" dirty="0">
              <a:latin typeface="+mj-lt"/>
            </a:endParaRPr>
          </a:p>
        </p:txBody>
      </p:sp>
    </p:spTree>
    <p:extLst>
      <p:ext uri="{BB962C8B-B14F-4D97-AF65-F5344CB8AC3E}">
        <p14:creationId xmlns:p14="http://schemas.microsoft.com/office/powerpoint/2010/main" val="3277401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0773D-10BC-8A99-344B-C5AF20793644}"/>
              </a:ext>
            </a:extLst>
          </p:cNvPr>
          <p:cNvSpPr>
            <a:spLocks noGrp="1"/>
          </p:cNvSpPr>
          <p:nvPr>
            <p:ph type="title"/>
          </p:nvPr>
        </p:nvSpPr>
        <p:spPr>
          <a:xfrm>
            <a:off x="561474" y="365125"/>
            <a:ext cx="6669059" cy="1325563"/>
          </a:xfrm>
        </p:spPr>
        <p:txBody>
          <a:bodyPr>
            <a:normAutofit fontScale="90000"/>
          </a:bodyPr>
          <a:lstStyle/>
          <a:p>
            <a:r>
              <a:rPr lang="en-US" dirty="0"/>
              <a:t>Honduras: corruption in national healthcare governance</a:t>
            </a:r>
          </a:p>
        </p:txBody>
      </p:sp>
      <p:sp>
        <p:nvSpPr>
          <p:cNvPr id="3" name="Content Placeholder 2">
            <a:extLst>
              <a:ext uri="{FF2B5EF4-FFF2-40B4-BE49-F238E27FC236}">
                <a16:creationId xmlns:a16="http://schemas.microsoft.com/office/drawing/2014/main" id="{7279382D-F04B-DDBD-8059-543A37DA8C20}"/>
              </a:ext>
            </a:extLst>
          </p:cNvPr>
          <p:cNvSpPr>
            <a:spLocks noGrp="1"/>
          </p:cNvSpPr>
          <p:nvPr>
            <p:ph sz="half" idx="1"/>
          </p:nvPr>
        </p:nvSpPr>
        <p:spPr>
          <a:xfrm>
            <a:off x="304801" y="1690688"/>
            <a:ext cx="6925732" cy="4802187"/>
          </a:xfrm>
        </p:spPr>
        <p:txBody>
          <a:bodyPr>
            <a:normAutofit/>
          </a:bodyPr>
          <a:lstStyle/>
          <a:p>
            <a:r>
              <a:rPr lang="en-US" dirty="0"/>
              <a:t>High-ranking government officials were involved in the embezzlement of hundreds of millions of dollars from the national health care system</a:t>
            </a:r>
          </a:p>
          <a:p>
            <a:r>
              <a:rPr lang="en-US" dirty="0"/>
              <a:t>They used a network of fake companies to launder the money and pay themselves</a:t>
            </a:r>
          </a:p>
          <a:p>
            <a:r>
              <a:rPr lang="en-US" dirty="0"/>
              <a:t>Medicines and hospital services were in short supply because of diverted money</a:t>
            </a:r>
          </a:p>
          <a:p>
            <a:r>
              <a:rPr lang="en-US" dirty="0"/>
              <a:t>Health system continues to be plagued by corruption and inefficiencies that impact delivery of basic health care</a:t>
            </a:r>
          </a:p>
        </p:txBody>
      </p:sp>
      <p:pic>
        <p:nvPicPr>
          <p:cNvPr id="7" name="Content Placeholder 6" descr="A poster with a hand and a crane&#10;&#10;AI-generated content may be incorrect.">
            <a:extLst>
              <a:ext uri="{FF2B5EF4-FFF2-40B4-BE49-F238E27FC236}">
                <a16:creationId xmlns:a16="http://schemas.microsoft.com/office/drawing/2014/main" id="{03C9EA74-B826-37E2-E457-4BCD1FF858D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611534" y="384782"/>
            <a:ext cx="4275665" cy="6108093"/>
          </a:xfrm>
        </p:spPr>
      </p:pic>
    </p:spTree>
    <p:extLst>
      <p:ext uri="{BB962C8B-B14F-4D97-AF65-F5344CB8AC3E}">
        <p14:creationId xmlns:p14="http://schemas.microsoft.com/office/powerpoint/2010/main" val="2453984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4998C21-080C-69BD-04B0-3190E1365B26}"/>
              </a:ext>
            </a:extLst>
          </p:cNvPr>
          <p:cNvPicPr>
            <a:picLocks noChangeAspect="1"/>
          </p:cNvPicPr>
          <p:nvPr/>
        </p:nvPicPr>
        <p:blipFill>
          <a:blip r:embed="rId3"/>
          <a:stretch>
            <a:fillRect/>
          </a:stretch>
        </p:blipFill>
        <p:spPr>
          <a:xfrm>
            <a:off x="0" y="1347614"/>
            <a:ext cx="12192000" cy="4980917"/>
          </a:xfrm>
          <a:prstGeom prst="rect">
            <a:avLst/>
          </a:prstGeom>
        </p:spPr>
      </p:pic>
      <p:sp>
        <p:nvSpPr>
          <p:cNvPr id="7" name="Title 1">
            <a:extLst>
              <a:ext uri="{FF2B5EF4-FFF2-40B4-BE49-F238E27FC236}">
                <a16:creationId xmlns:a16="http://schemas.microsoft.com/office/drawing/2014/main" id="{AD218165-8057-64D2-EF3B-ED7BCF56F7E1}"/>
              </a:ext>
            </a:extLst>
          </p:cNvPr>
          <p:cNvSpPr>
            <a:spLocks noGrp="1"/>
          </p:cNvSpPr>
          <p:nvPr>
            <p:ph type="title"/>
          </p:nvPr>
        </p:nvSpPr>
        <p:spPr>
          <a:xfrm>
            <a:off x="838200" y="365126"/>
            <a:ext cx="10515600" cy="801938"/>
          </a:xfrm>
        </p:spPr>
        <p:txBody>
          <a:bodyPr>
            <a:normAutofit fontScale="90000"/>
          </a:bodyPr>
          <a:lstStyle/>
          <a:p>
            <a:pPr algn="ctr"/>
            <a:r>
              <a:rPr lang="en-US" dirty="0">
                <a:latin typeface="Calibri Light (Headings)"/>
              </a:rPr>
              <a:t>Mexico’s health care system: deficit of public health care funding and services</a:t>
            </a:r>
          </a:p>
        </p:txBody>
      </p:sp>
    </p:spTree>
    <p:extLst>
      <p:ext uri="{BB962C8B-B14F-4D97-AF65-F5344CB8AC3E}">
        <p14:creationId xmlns:p14="http://schemas.microsoft.com/office/powerpoint/2010/main" val="2017133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D784D-9533-539C-A568-C1C16334A2D8}"/>
              </a:ext>
            </a:extLst>
          </p:cNvPr>
          <p:cNvSpPr>
            <a:spLocks noGrp="1"/>
          </p:cNvSpPr>
          <p:nvPr>
            <p:ph type="title"/>
          </p:nvPr>
        </p:nvSpPr>
        <p:spPr>
          <a:xfrm>
            <a:off x="3758410" y="136525"/>
            <a:ext cx="7994320" cy="1325563"/>
          </a:xfrm>
        </p:spPr>
        <p:txBody>
          <a:bodyPr>
            <a:normAutofit/>
          </a:bodyPr>
          <a:lstStyle/>
          <a:p>
            <a:pPr algn="ctr"/>
            <a:r>
              <a:rPr lang="en-US" dirty="0">
                <a:latin typeface="Calibri Light" panose="020F0302020204030204" pitchFamily="34" charset="0"/>
                <a:ea typeface="Calibri Light" panose="020F0302020204030204" pitchFamily="34" charset="0"/>
                <a:cs typeface="Calibri Light" panose="020F0302020204030204" pitchFamily="34" charset="0"/>
              </a:rPr>
              <a:t>Farmacias Similares</a:t>
            </a:r>
          </a:p>
        </p:txBody>
      </p:sp>
      <p:sp>
        <p:nvSpPr>
          <p:cNvPr id="3" name="Text Placeholder 2">
            <a:extLst>
              <a:ext uri="{FF2B5EF4-FFF2-40B4-BE49-F238E27FC236}">
                <a16:creationId xmlns:a16="http://schemas.microsoft.com/office/drawing/2014/main" id="{A2A7B24A-66B9-6384-60C5-68F5D01C0EED}"/>
              </a:ext>
            </a:extLst>
          </p:cNvPr>
          <p:cNvSpPr>
            <a:spLocks noGrp="1"/>
          </p:cNvSpPr>
          <p:nvPr>
            <p:ph type="body" idx="1"/>
          </p:nvPr>
        </p:nvSpPr>
        <p:spPr>
          <a:xfrm>
            <a:off x="132347" y="252663"/>
            <a:ext cx="3626062" cy="6412832"/>
          </a:xfrm>
        </p:spPr>
        <p:txBody>
          <a:bodyPr>
            <a:normAutofit/>
          </a:bodyPr>
          <a:lstStyle/>
          <a:p>
            <a:r>
              <a:rPr lang="en-US" sz="2700" dirty="0">
                <a:latin typeface="Calibri Light (Headings)"/>
              </a:rPr>
              <a:t>Medicines and basic services are often in short supply in public clinics, where it can take weeks to get an appointment with a primary care doctor.</a:t>
            </a:r>
          </a:p>
          <a:p>
            <a:r>
              <a:rPr lang="en-US" sz="2700" dirty="0">
                <a:latin typeface="Calibri Light (Headings)"/>
              </a:rPr>
              <a:t>Farmacias Similares, Mexico’s largest private drugstore chain fills part of the hole left by the failure of the Mexican government to deliver on its promise of healthcare for all.</a:t>
            </a:r>
          </a:p>
          <a:p>
            <a:endParaRPr lang="en-US" sz="2700" dirty="0">
              <a:latin typeface="Calibri Light (Headings)"/>
            </a:endParaRPr>
          </a:p>
          <a:p>
            <a:endParaRPr lang="en-US" sz="2700" dirty="0">
              <a:latin typeface="Calibri Light (Headings)"/>
            </a:endParaRPr>
          </a:p>
          <a:p>
            <a:endParaRPr lang="en-US" dirty="0">
              <a:latin typeface="Calibri Light (Headings)"/>
            </a:endParaRPr>
          </a:p>
        </p:txBody>
      </p:sp>
      <p:pic>
        <p:nvPicPr>
          <p:cNvPr id="6" name="Picture 5">
            <a:extLst>
              <a:ext uri="{FF2B5EF4-FFF2-40B4-BE49-F238E27FC236}">
                <a16:creationId xmlns:a16="http://schemas.microsoft.com/office/drawing/2014/main" id="{4A0716B3-A0D6-18E0-1581-C85224BE8313}"/>
              </a:ext>
            </a:extLst>
          </p:cNvPr>
          <p:cNvPicPr>
            <a:picLocks noChangeAspect="1"/>
          </p:cNvPicPr>
          <p:nvPr/>
        </p:nvPicPr>
        <p:blipFill>
          <a:blip r:embed="rId3"/>
          <a:stretch>
            <a:fillRect/>
          </a:stretch>
        </p:blipFill>
        <p:spPr>
          <a:xfrm>
            <a:off x="3758409" y="1578226"/>
            <a:ext cx="8089144" cy="4382307"/>
          </a:xfrm>
          <a:prstGeom prst="rect">
            <a:avLst/>
          </a:prstGeom>
        </p:spPr>
      </p:pic>
    </p:spTree>
    <p:extLst>
      <p:ext uri="{BB962C8B-B14F-4D97-AF65-F5344CB8AC3E}">
        <p14:creationId xmlns:p14="http://schemas.microsoft.com/office/powerpoint/2010/main" val="26734885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AF4954-70E3-6208-4683-42CADFEDBAF8}"/>
              </a:ext>
            </a:extLst>
          </p:cNvPr>
          <p:cNvSpPr>
            <a:spLocks noGrp="1"/>
          </p:cNvSpPr>
          <p:nvPr>
            <p:ph sz="half" idx="1"/>
          </p:nvPr>
        </p:nvSpPr>
        <p:spPr>
          <a:xfrm>
            <a:off x="541867" y="423332"/>
            <a:ext cx="5477933" cy="6282267"/>
          </a:xfrm>
        </p:spPr>
        <p:txBody>
          <a:bodyPr>
            <a:normAutofit/>
          </a:bodyPr>
          <a:lstStyle/>
          <a:p>
            <a:r>
              <a:rPr lang="en-US" dirty="0">
                <a:latin typeface="Calibri Light" panose="020F0302020204030204" pitchFamily="34" charset="0"/>
                <a:ea typeface="Calibri Light" panose="020F0302020204030204" pitchFamily="34" charset="0"/>
                <a:cs typeface="Calibri Light" panose="020F0302020204030204" pitchFamily="34" charset="0"/>
              </a:rPr>
              <a:t>Poor utilize this chain of drugstores because they specialize in generic drugs and offer quick medical consultations</a:t>
            </a:r>
          </a:p>
          <a:p>
            <a:r>
              <a:rPr lang="en-US" dirty="0">
                <a:latin typeface="Calibri Light" panose="020F0302020204030204" pitchFamily="34" charset="0"/>
                <a:ea typeface="Calibri Light" panose="020F0302020204030204" pitchFamily="34" charset="0"/>
                <a:cs typeface="Calibri Light" panose="020F0302020204030204" pitchFamily="34" charset="0"/>
              </a:rPr>
              <a:t>The wealthier use private doctors and pharmacies</a:t>
            </a:r>
          </a:p>
          <a:p>
            <a:r>
              <a:rPr lang="en-US" dirty="0">
                <a:latin typeface="Calibri Light" panose="020F0302020204030204" pitchFamily="34" charset="0"/>
                <a:ea typeface="Calibri Light" panose="020F0302020204030204" pitchFamily="34" charset="0"/>
                <a:cs typeface="Calibri Light" panose="020F0302020204030204" pitchFamily="34" charset="0"/>
              </a:rPr>
              <a:t>Farmacia Similares makes up for lack of public investment in health care</a:t>
            </a:r>
          </a:p>
          <a:p>
            <a:r>
              <a:rPr lang="en-US" dirty="0">
                <a:latin typeface="Calibri Light" panose="020F0302020204030204" pitchFamily="34" charset="0"/>
                <a:ea typeface="Calibri Light" panose="020F0302020204030204" pitchFamily="34" charset="0"/>
                <a:cs typeface="Calibri Light" panose="020F0302020204030204" pitchFamily="34" charset="0"/>
              </a:rPr>
              <a:t>However, Farmacias Similares is not well suited to manage chronic long- term health conditions and provide adequate medical testing, so the poor in particular remain underserved</a:t>
            </a:r>
          </a:p>
        </p:txBody>
      </p:sp>
      <p:pic>
        <p:nvPicPr>
          <p:cNvPr id="8" name="Picture 7" descr="A cartoon character holding a cell phone&#10;&#10;AI-generated content may be incorrect.">
            <a:extLst>
              <a:ext uri="{FF2B5EF4-FFF2-40B4-BE49-F238E27FC236}">
                <a16:creationId xmlns:a16="http://schemas.microsoft.com/office/drawing/2014/main" id="{3C2BAD94-45EB-D557-F874-722D53067D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95004" y="423332"/>
            <a:ext cx="4705376" cy="5875868"/>
          </a:xfrm>
          <a:prstGeom prst="rect">
            <a:avLst/>
          </a:prstGeom>
        </p:spPr>
      </p:pic>
    </p:spTree>
    <p:extLst>
      <p:ext uri="{BB962C8B-B14F-4D97-AF65-F5344CB8AC3E}">
        <p14:creationId xmlns:p14="http://schemas.microsoft.com/office/powerpoint/2010/main" val="19406244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4F174-2AFF-2285-8FDD-22CCB8963352}"/>
              </a:ext>
            </a:extLst>
          </p:cNvPr>
          <p:cNvSpPr>
            <a:spLocks noGrp="1"/>
          </p:cNvSpPr>
          <p:nvPr>
            <p:ph type="title"/>
          </p:nvPr>
        </p:nvSpPr>
        <p:spPr>
          <a:xfrm>
            <a:off x="4584030" y="204537"/>
            <a:ext cx="6769770" cy="1325563"/>
          </a:xfrm>
        </p:spPr>
        <p:txBody>
          <a:bodyPr>
            <a:normAutofit/>
          </a:bodyPr>
          <a:lstStyle/>
          <a:p>
            <a:pPr algn="ctr"/>
            <a:r>
              <a:rPr lang="en-US" dirty="0"/>
              <a:t>Mexican drug cartels</a:t>
            </a:r>
            <a:endParaRPr lang="en-US" dirty="0">
              <a:latin typeface="+mj-lt"/>
            </a:endParaRPr>
          </a:p>
        </p:txBody>
      </p:sp>
      <p:sp>
        <p:nvSpPr>
          <p:cNvPr id="3" name="Text Placeholder 2">
            <a:extLst>
              <a:ext uri="{FF2B5EF4-FFF2-40B4-BE49-F238E27FC236}">
                <a16:creationId xmlns:a16="http://schemas.microsoft.com/office/drawing/2014/main" id="{8A99EDB4-C935-5977-4690-E379A3BB30B3}"/>
              </a:ext>
            </a:extLst>
          </p:cNvPr>
          <p:cNvSpPr>
            <a:spLocks noGrp="1"/>
          </p:cNvSpPr>
          <p:nvPr>
            <p:ph type="body" idx="1"/>
          </p:nvPr>
        </p:nvSpPr>
        <p:spPr>
          <a:xfrm>
            <a:off x="264696" y="365125"/>
            <a:ext cx="4070238" cy="6240212"/>
          </a:xfrm>
        </p:spPr>
        <p:txBody>
          <a:bodyPr>
            <a:normAutofit fontScale="92500" lnSpcReduction="10000"/>
          </a:bodyPr>
          <a:lstStyle/>
          <a:p>
            <a:r>
              <a:rPr lang="en-US" sz="2600" dirty="0">
                <a:latin typeface="Calibri Light (Headings)"/>
              </a:rPr>
              <a:t>Because of national health care failures, during Covid, drug cartels provided masks and enforced curfews in some towns</a:t>
            </a:r>
          </a:p>
          <a:p>
            <a:r>
              <a:rPr lang="en-US" sz="2600" dirty="0">
                <a:latin typeface="Calibri Light (Headings)"/>
              </a:rPr>
              <a:t>Living in towns where drug cartels are active has health and well-being consequences.  </a:t>
            </a:r>
          </a:p>
          <a:p>
            <a:r>
              <a:rPr lang="en-US" sz="2600" dirty="0">
                <a:latin typeface="Calibri Light (Headings)"/>
              </a:rPr>
              <a:t>Substantial decrease in birth weight where homicide rates are high. </a:t>
            </a:r>
          </a:p>
          <a:p>
            <a:r>
              <a:rPr lang="en-US" sz="2600" dirty="0">
                <a:latin typeface="Calibri Light (Headings)"/>
              </a:rPr>
              <a:t>Especially pronounced among children born to mothers of low socioeconomic status and among children born to mothers who score poorly on a mental health index.</a:t>
            </a:r>
          </a:p>
          <a:p>
            <a:endParaRPr lang="en-US" sz="2600" dirty="0">
              <a:latin typeface="Calibri Light (Headings)"/>
            </a:endParaRPr>
          </a:p>
        </p:txBody>
      </p:sp>
      <p:pic>
        <p:nvPicPr>
          <p:cNvPr id="5" name="Google Shape;219;p16">
            <a:hlinkClick r:id="rId3"/>
            <a:extLst>
              <a:ext uri="{FF2B5EF4-FFF2-40B4-BE49-F238E27FC236}">
                <a16:creationId xmlns:a16="http://schemas.microsoft.com/office/drawing/2014/main" id="{2188420D-597A-6DBA-A4BA-F397F6630777}"/>
              </a:ext>
            </a:extLst>
          </p:cNvPr>
          <p:cNvPicPr preferRelativeResize="0">
            <a:picLocks/>
          </p:cNvPicPr>
          <p:nvPr/>
        </p:nvPicPr>
        <p:blipFill rotWithShape="1">
          <a:blip r:embed="rId4">
            <a:alphaModFix/>
          </a:blip>
          <a:srcRect/>
          <a:stretch/>
        </p:blipFill>
        <p:spPr>
          <a:xfrm>
            <a:off x="4584030" y="1817967"/>
            <a:ext cx="7159057" cy="4619334"/>
          </a:xfrm>
          <a:prstGeom prst="rect">
            <a:avLst/>
          </a:prstGeom>
          <a:noFill/>
          <a:ln w="76200" cap="flat" cmpd="sng">
            <a:noFill/>
            <a:prstDash val="solid"/>
            <a:round/>
            <a:headEnd type="none" w="sm" len="sm"/>
            <a:tailEnd type="none" w="sm" len="sm"/>
          </a:ln>
        </p:spPr>
      </p:pic>
    </p:spTree>
    <p:extLst>
      <p:ext uri="{BB962C8B-B14F-4D97-AF65-F5344CB8AC3E}">
        <p14:creationId xmlns:p14="http://schemas.microsoft.com/office/powerpoint/2010/main" val="13893603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17"/>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lvl="0">
              <a:spcBef>
                <a:spcPts val="0"/>
              </a:spcBef>
              <a:buClr>
                <a:schemeClr val="dk1"/>
              </a:buClr>
              <a:buSzPts val="4400"/>
            </a:pPr>
            <a:r>
              <a:rPr lang="en-US" dirty="0"/>
              <a:t>Political instability impacts health through direct violence:  t</a:t>
            </a:r>
            <a:r>
              <a:rPr lang="en-US" dirty="0">
                <a:latin typeface="+mj-lt"/>
              </a:rPr>
              <a:t>he New Barbarism:</a:t>
            </a:r>
            <a:endParaRPr dirty="0">
              <a:latin typeface="+mj-lt"/>
            </a:endParaRPr>
          </a:p>
        </p:txBody>
      </p:sp>
      <p:sp>
        <p:nvSpPr>
          <p:cNvPr id="227" name="Google Shape;227;p17"/>
          <p:cNvSpPr txBox="1">
            <a:spLocks noGrp="1"/>
          </p:cNvSpPr>
          <p:nvPr>
            <p:ph type="body" idx="1"/>
          </p:nvPr>
        </p:nvSpPr>
        <p:spPr>
          <a:xfrm>
            <a:off x="838200" y="1825625"/>
            <a:ext cx="10515600" cy="466725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960"/>
              <a:buChar char="•"/>
            </a:pPr>
            <a:r>
              <a:rPr lang="en-US" sz="2960" dirty="0">
                <a:latin typeface="+mj-lt"/>
              </a:rPr>
              <a:t>Healthcare and humanitarian workers are increasingly in the crosshairs as hospitals and aid centers have become part of the battlefield. </a:t>
            </a:r>
            <a:endParaRPr dirty="0">
              <a:latin typeface="+mj-lt"/>
            </a:endParaRPr>
          </a:p>
          <a:p>
            <a:pPr marL="228600" lvl="0" indent="-228600" algn="l" rtl="0">
              <a:lnSpc>
                <a:spcPct val="90000"/>
              </a:lnSpc>
              <a:spcBef>
                <a:spcPts val="1000"/>
              </a:spcBef>
              <a:spcAft>
                <a:spcPts val="0"/>
              </a:spcAft>
              <a:buClr>
                <a:schemeClr val="dk1"/>
              </a:buClr>
              <a:buSzPts val="2960"/>
              <a:buChar char="•"/>
            </a:pPr>
            <a:r>
              <a:rPr lang="en-US" sz="2960" dirty="0">
                <a:latin typeface="+mj-lt"/>
              </a:rPr>
              <a:t>International humanitarian law contained in the 1949 Geneva Conventions has prohibitions on the targeting of hospitals and medical facilities</a:t>
            </a:r>
            <a:endParaRPr dirty="0">
              <a:latin typeface="+mj-lt"/>
            </a:endParaRPr>
          </a:p>
          <a:p>
            <a:pPr marL="228600" lvl="0" indent="-228600" algn="l" rtl="0">
              <a:lnSpc>
                <a:spcPct val="90000"/>
              </a:lnSpc>
              <a:spcBef>
                <a:spcPts val="1000"/>
              </a:spcBef>
              <a:spcAft>
                <a:spcPts val="0"/>
              </a:spcAft>
              <a:buClr>
                <a:schemeClr val="dk1"/>
              </a:buClr>
              <a:buSzPts val="2960"/>
              <a:buChar char="•"/>
            </a:pPr>
            <a:r>
              <a:rPr lang="en-US" sz="2960" dirty="0">
                <a:latin typeface="+mj-lt"/>
              </a:rPr>
              <a:t>Claims are made that the bombings are collateral damage or unintentional targets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hlinkClick r:id="rId2"/>
            <a:extLst>
              <a:ext uri="{FF2B5EF4-FFF2-40B4-BE49-F238E27FC236}">
                <a16:creationId xmlns:a16="http://schemas.microsoft.com/office/drawing/2014/main" id="{C0FDE4C4-EF1E-F0B2-7282-FD461A1F4895}"/>
              </a:ext>
            </a:extLst>
          </p:cNvPr>
          <p:cNvPicPr>
            <a:picLocks noChangeAspect="1"/>
          </p:cNvPicPr>
          <p:nvPr/>
        </p:nvPicPr>
        <p:blipFill>
          <a:blip r:embed="rId3"/>
          <a:stretch>
            <a:fillRect/>
          </a:stretch>
        </p:blipFill>
        <p:spPr>
          <a:xfrm>
            <a:off x="0" y="1170115"/>
            <a:ext cx="12192000" cy="5499903"/>
          </a:xfrm>
          <a:prstGeom prst="rect">
            <a:avLst/>
          </a:prstGeom>
          <a:ln w="47625">
            <a:solidFill>
              <a:srgbClr val="9CC2E5"/>
            </a:solidFill>
          </a:ln>
        </p:spPr>
      </p:pic>
      <p:sp>
        <p:nvSpPr>
          <p:cNvPr id="7" name="Google Shape;142;p6">
            <a:extLst>
              <a:ext uri="{FF2B5EF4-FFF2-40B4-BE49-F238E27FC236}">
                <a16:creationId xmlns:a16="http://schemas.microsoft.com/office/drawing/2014/main" id="{3F52495C-F0DE-6304-118B-0363CD49E441}"/>
              </a:ext>
            </a:extLst>
          </p:cNvPr>
          <p:cNvSpPr txBox="1"/>
          <p:nvPr/>
        </p:nvSpPr>
        <p:spPr>
          <a:xfrm>
            <a:off x="8646567" y="5687885"/>
            <a:ext cx="3258457" cy="523180"/>
          </a:xfrm>
          <a:prstGeom prst="rect">
            <a:avLst/>
          </a:prstGeom>
          <a:solidFill>
            <a:srgbClr val="00B050"/>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i="0" u="none" strike="noStrike" cap="none" dirty="0">
                <a:solidFill>
                  <a:schemeClr val="dk1"/>
                </a:solidFill>
                <a:latin typeface="Calibri"/>
                <a:ea typeface="Calibri"/>
                <a:cs typeface="Calibri"/>
                <a:sym typeface="Calibri"/>
              </a:rPr>
              <a:t>Video/Questions 7</a:t>
            </a:r>
            <a:endParaRPr dirty="0"/>
          </a:p>
        </p:txBody>
      </p:sp>
      <p:pic>
        <p:nvPicPr>
          <p:cNvPr id="2" name="Picture 1">
            <a:extLst>
              <a:ext uri="{FF2B5EF4-FFF2-40B4-BE49-F238E27FC236}">
                <a16:creationId xmlns:a16="http://schemas.microsoft.com/office/drawing/2014/main" id="{B5402A36-F615-9B80-033A-80354C78D8E9}"/>
              </a:ext>
            </a:extLst>
          </p:cNvPr>
          <p:cNvPicPr>
            <a:picLocks noChangeAspect="1"/>
          </p:cNvPicPr>
          <p:nvPr/>
        </p:nvPicPr>
        <p:blipFill>
          <a:blip r:embed="rId4"/>
          <a:stretch>
            <a:fillRect/>
          </a:stretch>
        </p:blipFill>
        <p:spPr>
          <a:xfrm>
            <a:off x="0" y="0"/>
            <a:ext cx="6873836" cy="2606266"/>
          </a:xfrm>
          <a:prstGeom prst="rect">
            <a:avLst/>
          </a:prstGeom>
        </p:spPr>
      </p:pic>
    </p:spTree>
    <p:extLst>
      <p:ext uri="{BB962C8B-B14F-4D97-AF65-F5344CB8AC3E}">
        <p14:creationId xmlns:p14="http://schemas.microsoft.com/office/powerpoint/2010/main" val="11038937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C70C9-D7C7-4861-95B0-BF577D75789E}"/>
              </a:ext>
            </a:extLst>
          </p:cNvPr>
          <p:cNvSpPr>
            <a:spLocks noGrp="1"/>
          </p:cNvSpPr>
          <p:nvPr>
            <p:ph type="title"/>
          </p:nvPr>
        </p:nvSpPr>
        <p:spPr/>
        <p:txBody>
          <a:bodyPr/>
          <a:lstStyle/>
          <a:p>
            <a:r>
              <a:rPr lang="en-US" dirty="0">
                <a:latin typeface="Calibri Light" panose="020F0302020204030204" pitchFamily="34" charset="0"/>
                <a:cs typeface="Calibri Light" panose="020F0302020204030204" pitchFamily="34" charset="0"/>
              </a:rPr>
              <a:t>A loophole in the Geneva Convention</a:t>
            </a:r>
          </a:p>
        </p:txBody>
      </p:sp>
      <p:sp>
        <p:nvSpPr>
          <p:cNvPr id="3" name="Text Placeholder 2">
            <a:extLst>
              <a:ext uri="{FF2B5EF4-FFF2-40B4-BE49-F238E27FC236}">
                <a16:creationId xmlns:a16="http://schemas.microsoft.com/office/drawing/2014/main" id="{5D98A30C-9D0F-487C-AF28-A733D43ABB5E}"/>
              </a:ext>
            </a:extLst>
          </p:cNvPr>
          <p:cNvSpPr>
            <a:spLocks noGrp="1"/>
          </p:cNvSpPr>
          <p:nvPr>
            <p:ph type="body" idx="1"/>
          </p:nvPr>
        </p:nvSpPr>
        <p:spPr>
          <a:xfrm>
            <a:off x="838200" y="1690688"/>
            <a:ext cx="10515600" cy="4890585"/>
          </a:xfrm>
        </p:spPr>
        <p:txBody>
          <a:bodyPr>
            <a:normAutofit/>
          </a:bodyPr>
          <a:lstStyle/>
          <a:p>
            <a:r>
              <a:rPr lang="en-US" dirty="0">
                <a:latin typeface="Calibri Light" panose="020F0302020204030204" pitchFamily="34" charset="0"/>
                <a:cs typeface="Calibri Light" panose="020F0302020204030204" pitchFamily="34" charset="0"/>
              </a:rPr>
              <a:t>The Geneva Convention prohibitions on torture are absolute, applying at all times and circumstances</a:t>
            </a:r>
          </a:p>
          <a:p>
            <a:r>
              <a:rPr lang="en-US" dirty="0">
                <a:latin typeface="Calibri Light" panose="020F0302020204030204" pitchFamily="34" charset="0"/>
                <a:cs typeface="Calibri Light" panose="020F0302020204030204" pitchFamily="34" charset="0"/>
              </a:rPr>
              <a:t>However, laws relating to bombardment of hospitals are conditional.</a:t>
            </a:r>
          </a:p>
          <a:p>
            <a:r>
              <a:rPr lang="en-US" dirty="0">
                <a:latin typeface="Calibri Light" panose="020F0302020204030204" pitchFamily="34" charset="0"/>
                <a:cs typeface="Calibri Light" panose="020F0302020204030204" pitchFamily="34" charset="0"/>
              </a:rPr>
              <a:t>In certain “</a:t>
            </a:r>
            <a:r>
              <a:rPr lang="en-US" b="1" dirty="0">
                <a:latin typeface="Calibri Light" panose="020F0302020204030204" pitchFamily="34" charset="0"/>
                <a:cs typeface="Calibri Light" panose="020F0302020204030204" pitchFamily="34" charset="0"/>
              </a:rPr>
              <a:t>exceptional</a:t>
            </a:r>
            <a:r>
              <a:rPr lang="en-US" dirty="0">
                <a:latin typeface="Calibri Light" panose="020F0302020204030204" pitchFamily="34" charset="0"/>
                <a:cs typeface="Calibri Light" panose="020F0302020204030204" pitchFamily="34" charset="0"/>
              </a:rPr>
              <a:t>” situations medical facilities can lose their protected status.</a:t>
            </a:r>
          </a:p>
          <a:p>
            <a:r>
              <a:rPr lang="en-US" dirty="0">
                <a:latin typeface="Calibri Light" panose="020F0302020204030204" pitchFamily="34" charset="0"/>
                <a:cs typeface="Calibri Light" panose="020F0302020204030204" pitchFamily="34" charset="0"/>
              </a:rPr>
              <a:t>They can be attacked so long as the losses for civilians and combatants are considered “proportional”</a:t>
            </a:r>
          </a:p>
          <a:p>
            <a:r>
              <a:rPr lang="en-US" dirty="0">
                <a:latin typeface="Calibri Light" panose="020F0302020204030204" pitchFamily="34" charset="0"/>
                <a:cs typeface="Calibri Light" panose="020F0302020204030204" pitchFamily="34" charset="0"/>
              </a:rPr>
              <a:t>Although some armed groups have used hospitals as shields, governments are increasingly invoking “</a:t>
            </a:r>
            <a:r>
              <a:rPr lang="en-US" b="1" dirty="0">
                <a:latin typeface="Calibri Light" panose="020F0302020204030204" pitchFamily="34" charset="0"/>
                <a:cs typeface="Calibri Light" panose="020F0302020204030204" pitchFamily="34" charset="0"/>
              </a:rPr>
              <a:t>exceptionality</a:t>
            </a:r>
            <a:r>
              <a:rPr lang="en-US" dirty="0">
                <a:latin typeface="Calibri Light" panose="020F0302020204030204" pitchFamily="34" charset="0"/>
                <a:cs typeface="Calibri Light" panose="020F0302020204030204" pitchFamily="34" charset="0"/>
              </a:rPr>
              <a:t>” to deploy lethal violence against non-combatants in medical facilities. </a:t>
            </a:r>
          </a:p>
          <a:p>
            <a:endParaRPr lang="en-US" dirty="0">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368586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48F3460-5D8E-4C74-B61A-4477725B58AF}"/>
              </a:ext>
            </a:extLst>
          </p:cNvPr>
          <p:cNvSpPr>
            <a:spLocks noGrp="1"/>
          </p:cNvSpPr>
          <p:nvPr>
            <p:ph type="body" idx="2"/>
          </p:nvPr>
        </p:nvSpPr>
        <p:spPr/>
        <p:txBody>
          <a:bodyPr/>
          <a:lstStyle/>
          <a:p>
            <a:endParaRPr lang="en-US" dirty="0"/>
          </a:p>
        </p:txBody>
      </p:sp>
      <p:pic>
        <p:nvPicPr>
          <p:cNvPr id="6" name="Picture 5" descr="A person holding an object in a tunnel&#10;&#10;AI-generated content may be incorrect.">
            <a:extLst>
              <a:ext uri="{FF2B5EF4-FFF2-40B4-BE49-F238E27FC236}">
                <a16:creationId xmlns:a16="http://schemas.microsoft.com/office/drawing/2014/main" id="{2A431E2C-25CE-DF04-FC63-38217DBBE4E9}"/>
              </a:ext>
            </a:extLst>
          </p:cNvPr>
          <p:cNvPicPr>
            <a:picLocks noChangeAspect="1"/>
          </p:cNvPicPr>
          <p:nvPr/>
        </p:nvPicPr>
        <p:blipFill>
          <a:blip r:embed="rId3"/>
          <a:stretch>
            <a:fillRect/>
          </a:stretch>
        </p:blipFill>
        <p:spPr>
          <a:xfrm>
            <a:off x="135467" y="-491067"/>
            <a:ext cx="12729633" cy="8486422"/>
          </a:xfrm>
          <a:prstGeom prst="rect">
            <a:avLst/>
          </a:prstGeom>
        </p:spPr>
      </p:pic>
      <p:sp>
        <p:nvSpPr>
          <p:cNvPr id="2" name="Text Placeholder 2">
            <a:extLst>
              <a:ext uri="{FF2B5EF4-FFF2-40B4-BE49-F238E27FC236}">
                <a16:creationId xmlns:a16="http://schemas.microsoft.com/office/drawing/2014/main" id="{11A905A2-0A47-C849-84C9-7BDF5B752147}"/>
              </a:ext>
            </a:extLst>
          </p:cNvPr>
          <p:cNvSpPr txBox="1">
            <a:spLocks/>
          </p:cNvSpPr>
          <p:nvPr/>
        </p:nvSpPr>
        <p:spPr>
          <a:xfrm>
            <a:off x="838200" y="254001"/>
            <a:ext cx="5181600" cy="609600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1"/>
                </a:solidFill>
                <a:latin typeface="Calibri Light" panose="020F0302020204030204" pitchFamily="34" charset="0"/>
                <a:cs typeface="Calibri Light" panose="020F0302020204030204" pitchFamily="34" charset="0"/>
              </a:rPr>
              <a:t>They can be attacked so long as the losses for civilians and combatants are considered “proportional”</a:t>
            </a:r>
          </a:p>
          <a:p>
            <a:r>
              <a:rPr lang="en-US" dirty="0">
                <a:solidFill>
                  <a:schemeClr val="bg1"/>
                </a:solidFill>
                <a:latin typeface="Calibri Light" panose="020F0302020204030204" pitchFamily="34" charset="0"/>
                <a:cs typeface="Calibri Light" panose="020F0302020204030204" pitchFamily="34" charset="0"/>
              </a:rPr>
              <a:t>If lives saved on one side from bombing a hospital combatants are using for advantage is greater, then exceptionality is met</a:t>
            </a:r>
          </a:p>
          <a:p>
            <a:r>
              <a:rPr lang="en-US" dirty="0">
                <a:solidFill>
                  <a:schemeClr val="bg1"/>
                </a:solidFill>
                <a:latin typeface="Calibri Light" panose="020F0302020204030204" pitchFamily="34" charset="0"/>
                <a:cs typeface="Calibri Light" panose="020F0302020204030204" pitchFamily="34" charset="0"/>
              </a:rPr>
              <a:t>Although some armed groups have used hospitals as shields, governments are increasingly invoking “</a:t>
            </a:r>
            <a:r>
              <a:rPr lang="en-US" b="1" dirty="0">
                <a:solidFill>
                  <a:schemeClr val="bg1"/>
                </a:solidFill>
                <a:latin typeface="Calibri Light" panose="020F0302020204030204" pitchFamily="34" charset="0"/>
                <a:cs typeface="Calibri Light" panose="020F0302020204030204" pitchFamily="34" charset="0"/>
              </a:rPr>
              <a:t>exceptionality</a:t>
            </a:r>
            <a:r>
              <a:rPr lang="en-US" dirty="0">
                <a:solidFill>
                  <a:schemeClr val="bg1"/>
                </a:solidFill>
                <a:latin typeface="Calibri Light" panose="020F0302020204030204" pitchFamily="34" charset="0"/>
                <a:cs typeface="Calibri Light" panose="020F0302020204030204" pitchFamily="34" charset="0"/>
              </a:rPr>
              <a:t>” to deploy lethal violence against non-combatants in medical facilities. </a:t>
            </a:r>
          </a:p>
          <a:p>
            <a:endParaRPr lang="en-US" dirty="0">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7665044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14F75-831B-05D0-4B12-8F2CB647BD0B}"/>
              </a:ext>
            </a:extLst>
          </p:cNvPr>
          <p:cNvSpPr>
            <a:spLocks noGrp="1"/>
          </p:cNvSpPr>
          <p:nvPr>
            <p:ph type="title"/>
          </p:nvPr>
        </p:nvSpPr>
        <p:spPr>
          <a:xfrm>
            <a:off x="517954" y="500061"/>
            <a:ext cx="3993292" cy="1325563"/>
          </a:xfrm>
        </p:spPr>
        <p:txBody>
          <a:bodyPr/>
          <a:lstStyle/>
          <a:p>
            <a:pPr algn="ctr"/>
            <a:r>
              <a:t>COVID-19 and polio</a:t>
            </a:r>
          </a:p>
        </p:txBody>
      </p:sp>
      <p:sp>
        <p:nvSpPr>
          <p:cNvPr id="3" name="Text Placeholder 2">
            <a:extLst>
              <a:ext uri="{FF2B5EF4-FFF2-40B4-BE49-F238E27FC236}">
                <a16:creationId xmlns:a16="http://schemas.microsoft.com/office/drawing/2014/main" id="{2BEC8637-6E92-9E34-BE01-568AA384F232}"/>
              </a:ext>
            </a:extLst>
          </p:cNvPr>
          <p:cNvSpPr>
            <a:spLocks noGrp="1"/>
          </p:cNvSpPr>
          <p:nvPr>
            <p:ph type="body" idx="1"/>
          </p:nvPr>
        </p:nvSpPr>
        <p:spPr>
          <a:xfrm>
            <a:off x="197709" y="1825624"/>
            <a:ext cx="4633783" cy="5032375"/>
          </a:xfrm>
        </p:spPr>
        <p:txBody>
          <a:bodyPr>
            <a:normAutofit/>
          </a:bodyPr>
          <a:lstStyle/>
          <a:p>
            <a:r>
              <a:rPr dirty="0"/>
              <a:t>Childhood immunization fell early in the pandemic</a:t>
            </a:r>
          </a:p>
          <a:p>
            <a:r>
              <a:rPr dirty="0"/>
              <a:t>GPEI paused vaccination and surveillance for several months</a:t>
            </a:r>
          </a:p>
          <a:p>
            <a:r>
              <a:t>cVDPV2 later detected in London and New York</a:t>
            </a:r>
          </a:p>
        </p:txBody>
      </p:sp>
      <p:pic>
        <p:nvPicPr>
          <p:cNvPr id="5" name="Picture 4">
            <a:extLst>
              <a:ext uri="{FF2B5EF4-FFF2-40B4-BE49-F238E27FC236}">
                <a16:creationId xmlns:a16="http://schemas.microsoft.com/office/drawing/2014/main" id="{CFB673FD-0FB3-A609-48BC-46F5C499F6DE}"/>
              </a:ext>
            </a:extLst>
          </p:cNvPr>
          <p:cNvPicPr>
            <a:picLocks noChangeAspect="1"/>
          </p:cNvPicPr>
          <p:nvPr/>
        </p:nvPicPr>
        <p:blipFill>
          <a:blip r:embed="rId3"/>
          <a:stretch>
            <a:fillRect/>
          </a:stretch>
        </p:blipFill>
        <p:spPr>
          <a:xfrm>
            <a:off x="5069616" y="114300"/>
            <a:ext cx="6924675" cy="6629400"/>
          </a:xfrm>
          <a:prstGeom prst="rect">
            <a:avLst/>
          </a:prstGeom>
        </p:spPr>
      </p:pic>
    </p:spTree>
    <p:extLst>
      <p:ext uri="{BB962C8B-B14F-4D97-AF65-F5344CB8AC3E}">
        <p14:creationId xmlns:p14="http://schemas.microsoft.com/office/powerpoint/2010/main" val="10281199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5CD53C-B8F0-4F59-C0A3-9C1E6E57C9FE}"/>
              </a:ext>
            </a:extLst>
          </p:cNvPr>
          <p:cNvPicPr>
            <a:picLocks noChangeAspect="1"/>
          </p:cNvPicPr>
          <p:nvPr/>
        </p:nvPicPr>
        <p:blipFill>
          <a:blip r:embed="rId3"/>
          <a:stretch>
            <a:fillRect/>
          </a:stretch>
        </p:blipFill>
        <p:spPr>
          <a:xfrm>
            <a:off x="2165181" y="55152"/>
            <a:ext cx="7621756" cy="6874285"/>
          </a:xfrm>
          <a:prstGeom prst="rect">
            <a:avLst/>
          </a:prstGeom>
        </p:spPr>
      </p:pic>
    </p:spTree>
    <p:extLst>
      <p:ext uri="{BB962C8B-B14F-4D97-AF65-F5344CB8AC3E}">
        <p14:creationId xmlns:p14="http://schemas.microsoft.com/office/powerpoint/2010/main" val="12838845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CB11A-2D03-91E3-BD89-E7CE9A6CE69A}"/>
              </a:ext>
            </a:extLst>
          </p:cNvPr>
          <p:cNvSpPr>
            <a:spLocks noGrp="1"/>
          </p:cNvSpPr>
          <p:nvPr>
            <p:ph type="title"/>
          </p:nvPr>
        </p:nvSpPr>
        <p:spPr>
          <a:xfrm>
            <a:off x="5746674" y="365125"/>
            <a:ext cx="6305778" cy="1325563"/>
          </a:xfrm>
        </p:spPr>
        <p:txBody>
          <a:bodyPr>
            <a:normAutofit/>
          </a:bodyPr>
          <a:lstStyle/>
          <a:p>
            <a:pPr algn="ctr"/>
            <a:r>
              <a:t>London: cVDPV2 in wastewater (2022)</a:t>
            </a:r>
          </a:p>
        </p:txBody>
      </p:sp>
      <p:sp>
        <p:nvSpPr>
          <p:cNvPr id="3" name="Text Placeholder 2">
            <a:extLst>
              <a:ext uri="{FF2B5EF4-FFF2-40B4-BE49-F238E27FC236}">
                <a16:creationId xmlns:a16="http://schemas.microsoft.com/office/drawing/2014/main" id="{7350AD29-4F42-956C-3D44-19368F10E810}"/>
              </a:ext>
            </a:extLst>
          </p:cNvPr>
          <p:cNvSpPr>
            <a:spLocks noGrp="1"/>
          </p:cNvSpPr>
          <p:nvPr>
            <p:ph type="body" idx="1"/>
          </p:nvPr>
        </p:nvSpPr>
        <p:spPr>
          <a:xfrm>
            <a:off x="-142875" y="130088"/>
            <a:ext cx="5746674" cy="5949178"/>
          </a:xfrm>
        </p:spPr>
        <p:txBody>
          <a:bodyPr>
            <a:noAutofit/>
          </a:bodyPr>
          <a:lstStyle/>
          <a:p>
            <a:r>
              <a:t>OPV-derived virus introduced through international travel</a:t>
            </a:r>
          </a:p>
          <a:p>
            <a:r>
              <a:t>Genetic evidence suggested local person-to-person spread</a:t>
            </a:r>
          </a:p>
          <a:p>
            <a:r>
              <a:t>No confirmed symptomatic cases</a:t>
            </a:r>
          </a:p>
          <a:p>
            <a:r>
              <a:t>Low booster coverage increased vulnerability (35% in parts of west London)</a:t>
            </a:r>
          </a:p>
        </p:txBody>
      </p:sp>
      <p:pic>
        <p:nvPicPr>
          <p:cNvPr id="6" name="Picture 5">
            <a:extLst>
              <a:ext uri="{FF2B5EF4-FFF2-40B4-BE49-F238E27FC236}">
                <a16:creationId xmlns:a16="http://schemas.microsoft.com/office/drawing/2014/main" id="{AD10DA6D-EAAB-D4D4-677B-837EC69A7F7D}"/>
              </a:ext>
            </a:extLst>
          </p:cNvPr>
          <p:cNvPicPr>
            <a:picLocks noChangeAspect="1"/>
          </p:cNvPicPr>
          <p:nvPr/>
        </p:nvPicPr>
        <p:blipFill rotWithShape="1">
          <a:blip r:embed="rId3"/>
          <a:srcRect r="4602"/>
          <a:stretch/>
        </p:blipFill>
        <p:spPr>
          <a:xfrm>
            <a:off x="5746674" y="1856516"/>
            <a:ext cx="6148764" cy="4351338"/>
          </a:xfrm>
          <a:prstGeom prst="rect">
            <a:avLst/>
          </a:prstGeom>
        </p:spPr>
      </p:pic>
    </p:spTree>
    <p:extLst>
      <p:ext uri="{BB962C8B-B14F-4D97-AF65-F5344CB8AC3E}">
        <p14:creationId xmlns:p14="http://schemas.microsoft.com/office/powerpoint/2010/main" val="41717026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903FF-159D-7D89-A235-4B8B4322FFFC}"/>
              </a:ext>
            </a:extLst>
          </p:cNvPr>
          <p:cNvSpPr>
            <a:spLocks noGrp="1"/>
          </p:cNvSpPr>
          <p:nvPr>
            <p:ph type="title"/>
          </p:nvPr>
        </p:nvSpPr>
        <p:spPr/>
        <p:txBody>
          <a:bodyPr/>
          <a:lstStyle/>
          <a:p>
            <a:endParaRPr lang="en-US" dirty="0"/>
          </a:p>
        </p:txBody>
      </p:sp>
      <p:pic>
        <p:nvPicPr>
          <p:cNvPr id="8" name="Picture 7">
            <a:extLst>
              <a:ext uri="{FF2B5EF4-FFF2-40B4-BE49-F238E27FC236}">
                <a16:creationId xmlns:a16="http://schemas.microsoft.com/office/drawing/2014/main" id="{6565B1C9-47F4-1173-E8C8-01AD923936EE}"/>
              </a:ext>
            </a:extLst>
          </p:cNvPr>
          <p:cNvPicPr>
            <a:picLocks noChangeAspect="1"/>
          </p:cNvPicPr>
          <p:nvPr/>
        </p:nvPicPr>
        <p:blipFill>
          <a:blip r:embed="rId3"/>
          <a:stretch>
            <a:fillRect/>
          </a:stretch>
        </p:blipFill>
        <p:spPr>
          <a:xfrm>
            <a:off x="0" y="-103312"/>
            <a:ext cx="12192000" cy="6836024"/>
          </a:xfrm>
          <a:prstGeom prst="rect">
            <a:avLst/>
          </a:prstGeom>
        </p:spPr>
      </p:pic>
    </p:spTree>
    <p:extLst>
      <p:ext uri="{BB962C8B-B14F-4D97-AF65-F5344CB8AC3E}">
        <p14:creationId xmlns:p14="http://schemas.microsoft.com/office/powerpoint/2010/main" val="26932572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04805-6551-01EA-F23E-EF2AA2E63403}"/>
              </a:ext>
            </a:extLst>
          </p:cNvPr>
          <p:cNvSpPr>
            <a:spLocks noGrp="1"/>
          </p:cNvSpPr>
          <p:nvPr>
            <p:ph type="title"/>
          </p:nvPr>
        </p:nvSpPr>
        <p:spPr/>
        <p:txBody>
          <a:bodyPr/>
          <a:lstStyle/>
          <a:p>
            <a:pPr algn="ctr"/>
            <a:r>
              <a:t>New York: cVDPV2 case (Rockland County, 2022)</a:t>
            </a:r>
          </a:p>
        </p:txBody>
      </p:sp>
      <p:sp>
        <p:nvSpPr>
          <p:cNvPr id="3" name="Text Placeholder 2">
            <a:extLst>
              <a:ext uri="{FF2B5EF4-FFF2-40B4-BE49-F238E27FC236}">
                <a16:creationId xmlns:a16="http://schemas.microsoft.com/office/drawing/2014/main" id="{91287B65-0479-F868-C87B-4B41A49AFCB5}"/>
              </a:ext>
            </a:extLst>
          </p:cNvPr>
          <p:cNvSpPr>
            <a:spLocks noGrp="1"/>
          </p:cNvSpPr>
          <p:nvPr>
            <p:ph type="body" idx="1"/>
          </p:nvPr>
        </p:nvSpPr>
        <p:spPr>
          <a:xfrm>
            <a:off x="838200" y="1789531"/>
            <a:ext cx="10357022" cy="4827838"/>
          </a:xfrm>
        </p:spPr>
        <p:txBody>
          <a:bodyPr>
            <a:normAutofit/>
          </a:bodyPr>
          <a:lstStyle/>
          <a:p>
            <a:r>
              <a:t>First U.S.-origin polio case since 1979; wastewater positive across multiple counties</a:t>
            </a:r>
          </a:p>
          <a:p>
            <a:r>
              <a:t>Patient had not traveled; virus related to London sewage virus</a:t>
            </a:r>
          </a:p>
          <a:p>
            <a:r>
              <a:t>3-dose coverage at age 2: Rockland 60% vs. state 80%</a:t>
            </a:r>
          </a:p>
          <a:p>
            <a:r>
              <a:t>Wastewater detection recurred Mar. 2023; none since</a:t>
            </a:r>
          </a:p>
        </p:txBody>
      </p:sp>
    </p:spTree>
    <p:extLst>
      <p:ext uri="{BB962C8B-B14F-4D97-AF65-F5344CB8AC3E}">
        <p14:creationId xmlns:p14="http://schemas.microsoft.com/office/powerpoint/2010/main" val="22108077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A83D9-314F-6128-41A4-A631D6EA0C7B}"/>
              </a:ext>
            </a:extLst>
          </p:cNvPr>
          <p:cNvSpPr>
            <a:spLocks noGrp="1"/>
          </p:cNvSpPr>
          <p:nvPr>
            <p:ph type="title"/>
          </p:nvPr>
        </p:nvSpPr>
        <p:spPr>
          <a:xfrm>
            <a:off x="5136624" y="179146"/>
            <a:ext cx="6576956" cy="1325563"/>
          </a:xfrm>
        </p:spPr>
        <p:txBody>
          <a:bodyPr/>
          <a:lstStyle/>
          <a:p>
            <a:pPr algn="ctr"/>
            <a:r>
              <a:t>Other poliovirus reservoirs</a:t>
            </a:r>
          </a:p>
        </p:txBody>
      </p:sp>
      <p:sp>
        <p:nvSpPr>
          <p:cNvPr id="3" name="Text Placeholder 2">
            <a:extLst>
              <a:ext uri="{FF2B5EF4-FFF2-40B4-BE49-F238E27FC236}">
                <a16:creationId xmlns:a16="http://schemas.microsoft.com/office/drawing/2014/main" id="{DCB90296-F20E-4136-348D-C91547C151B3}"/>
              </a:ext>
            </a:extLst>
          </p:cNvPr>
          <p:cNvSpPr>
            <a:spLocks noGrp="1"/>
          </p:cNvSpPr>
          <p:nvPr>
            <p:ph type="body" idx="1"/>
          </p:nvPr>
        </p:nvSpPr>
        <p:spPr>
          <a:xfrm>
            <a:off x="222422" y="342900"/>
            <a:ext cx="4914203" cy="6181467"/>
          </a:xfrm>
        </p:spPr>
        <p:txBody>
          <a:bodyPr>
            <a:normAutofit/>
          </a:bodyPr>
          <a:lstStyle/>
          <a:p>
            <a:r>
              <a:t>Vaccine production uses attenuated poliovirus</a:t>
            </a:r>
          </a:p>
          <a:p>
            <a:r>
              <a:t>Research labs also retain virus samples</a:t>
            </a:r>
          </a:p>
          <a:p>
            <a:r>
              <a:t>Since 2000: 21 accidental releases in 8 countries; 16 polio cases</a:t>
            </a:r>
          </a:p>
          <a:p>
            <a:pPr algn="l"/>
            <a:r>
              <a:t>WHO: 74 poliovirus-holding facilities in 22 countries</a:t>
            </a:r>
          </a:p>
        </p:txBody>
      </p:sp>
      <p:pic>
        <p:nvPicPr>
          <p:cNvPr id="7" name="Picture 6">
            <a:extLst>
              <a:ext uri="{FF2B5EF4-FFF2-40B4-BE49-F238E27FC236}">
                <a16:creationId xmlns:a16="http://schemas.microsoft.com/office/drawing/2014/main" id="{C27B67CF-259A-0E25-4EF9-C1C2EF67360E}"/>
              </a:ext>
            </a:extLst>
          </p:cNvPr>
          <p:cNvPicPr>
            <a:picLocks noChangeAspect="1"/>
          </p:cNvPicPr>
          <p:nvPr/>
        </p:nvPicPr>
        <p:blipFill>
          <a:blip r:embed="rId3"/>
          <a:stretch>
            <a:fillRect/>
          </a:stretch>
        </p:blipFill>
        <p:spPr>
          <a:xfrm>
            <a:off x="5136624" y="1504709"/>
            <a:ext cx="6438060" cy="4672254"/>
          </a:xfrm>
          <a:prstGeom prst="rect">
            <a:avLst/>
          </a:prstGeom>
        </p:spPr>
      </p:pic>
    </p:spTree>
    <p:extLst>
      <p:ext uri="{BB962C8B-B14F-4D97-AF65-F5344CB8AC3E}">
        <p14:creationId xmlns:p14="http://schemas.microsoft.com/office/powerpoint/2010/main" val="23909285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8AA39-AE54-B115-AEF5-D6224A3F8F0C}"/>
              </a:ext>
            </a:extLst>
          </p:cNvPr>
          <p:cNvSpPr>
            <a:spLocks noGrp="1"/>
          </p:cNvSpPr>
          <p:nvPr>
            <p:ph type="title"/>
          </p:nvPr>
        </p:nvSpPr>
        <p:spPr/>
        <p:txBody>
          <a:bodyPr/>
          <a:lstStyle/>
          <a:p>
            <a:r>
              <a:t>Long-term shedding in immunocompromised people</a:t>
            </a:r>
          </a:p>
        </p:txBody>
      </p:sp>
      <p:sp>
        <p:nvSpPr>
          <p:cNvPr id="3" name="Text Placeholder 2">
            <a:extLst>
              <a:ext uri="{FF2B5EF4-FFF2-40B4-BE49-F238E27FC236}">
                <a16:creationId xmlns:a16="http://schemas.microsoft.com/office/drawing/2014/main" id="{814AC886-BCC0-4306-4F86-4DE776DD36C3}"/>
              </a:ext>
            </a:extLst>
          </p:cNvPr>
          <p:cNvSpPr>
            <a:spLocks noGrp="1"/>
          </p:cNvSpPr>
          <p:nvPr>
            <p:ph type="body" idx="1"/>
          </p:nvPr>
        </p:nvSpPr>
        <p:spPr>
          <a:xfrm>
            <a:off x="838199" y="1524000"/>
            <a:ext cx="10250347" cy="4652963"/>
          </a:xfrm>
        </p:spPr>
        <p:txBody>
          <a:bodyPr>
            <a:normAutofit/>
          </a:bodyPr>
          <a:lstStyle/>
          <a:p>
            <a:pPr algn="l"/>
            <a:r>
              <a:t>Most people clear OPV virus and develop immunity</a:t>
            </a:r>
          </a:p>
          <a:p>
            <a:pPr algn="l"/>
            <a:r>
              <a:t>Some immune deficiencies allow long-term infection and viral evolution</a:t>
            </a:r>
          </a:p>
          <a:p>
            <a:pPr algn="l"/>
            <a:r>
              <a:t>Documented shedding: up to 20 years</a:t>
            </a:r>
            <a:endParaRPr lang="en-US" b="0" i="0" u="none" strike="noStrike" baseline="0" dirty="0">
              <a:latin typeface="+mj-lt"/>
            </a:endParaRPr>
          </a:p>
          <a:p>
            <a:pPr algn="l"/>
            <a:r>
              <a:t>Possible role in the 2019–21 Philippines outbreak</a:t>
            </a:r>
            <a:endParaRPr lang="en-US" sz="4000" dirty="0">
              <a:latin typeface="+mj-lt"/>
            </a:endParaRPr>
          </a:p>
        </p:txBody>
      </p:sp>
    </p:spTree>
    <p:extLst>
      <p:ext uri="{BB962C8B-B14F-4D97-AF65-F5344CB8AC3E}">
        <p14:creationId xmlns:p14="http://schemas.microsoft.com/office/powerpoint/2010/main" val="29333780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18640-DD99-EB11-5B1D-5A43279796A5}"/>
              </a:ext>
            </a:extLst>
          </p:cNvPr>
          <p:cNvSpPr>
            <a:spLocks noGrp="1"/>
          </p:cNvSpPr>
          <p:nvPr>
            <p:ph type="title"/>
          </p:nvPr>
        </p:nvSpPr>
        <p:spPr/>
        <p:txBody>
          <a:bodyPr/>
          <a:lstStyle/>
          <a:p>
            <a:pPr algn="ctr"/>
            <a:r>
              <a:t>What holds back eradication?</a:t>
            </a:r>
          </a:p>
        </p:txBody>
      </p:sp>
      <p:sp>
        <p:nvSpPr>
          <p:cNvPr id="3" name="Text Placeholder 2">
            <a:extLst>
              <a:ext uri="{FF2B5EF4-FFF2-40B4-BE49-F238E27FC236}">
                <a16:creationId xmlns:a16="http://schemas.microsoft.com/office/drawing/2014/main" id="{FA01D300-5AF4-09A7-A672-CB64493FE804}"/>
              </a:ext>
            </a:extLst>
          </p:cNvPr>
          <p:cNvSpPr>
            <a:spLocks noGrp="1"/>
          </p:cNvSpPr>
          <p:nvPr>
            <p:ph type="body" idx="1"/>
          </p:nvPr>
        </p:nvSpPr>
        <p:spPr>
          <a:xfrm>
            <a:off x="838200" y="1557338"/>
            <a:ext cx="10423968" cy="4619625"/>
          </a:xfrm>
        </p:spPr>
        <p:txBody>
          <a:bodyPr>
            <a:normAutofit/>
          </a:bodyPr>
          <a:lstStyle/>
          <a:p>
            <a:pPr algn="l"/>
            <a:r>
              <a:rPr dirty="0"/>
              <a:t>2 of 3 wild poliovirus types eradicated</a:t>
            </a:r>
          </a:p>
          <a:p>
            <a:r>
              <a:rPr dirty="0" err="1"/>
              <a:t>cVDPV</a:t>
            </a:r>
            <a:r>
              <a:rPr dirty="0"/>
              <a:t> complicates the endgame: phase out OPV while sustaining immunity</a:t>
            </a:r>
          </a:p>
          <a:p>
            <a:r>
              <a:rPr dirty="0"/>
              <a:t>Eradication requires</a:t>
            </a:r>
            <a:r>
              <a:rPr lang="en-US" dirty="0"/>
              <a:t> political</a:t>
            </a:r>
            <a:r>
              <a:rPr dirty="0"/>
              <a:t> </a:t>
            </a:r>
            <a:r>
              <a:rPr lang="en-US" dirty="0"/>
              <a:t>stability for </a:t>
            </a:r>
            <a:r>
              <a:rPr dirty="0"/>
              <a:t>surveillance</a:t>
            </a:r>
            <a:r>
              <a:rPr lang="en-US" dirty="0"/>
              <a:t> and vaccination campaigns</a:t>
            </a:r>
            <a:endParaRPr lang="en-US" sz="1800" b="0" i="0" u="none" strike="noStrike" baseline="0" dirty="0"/>
          </a:p>
        </p:txBody>
      </p:sp>
    </p:spTree>
    <p:extLst>
      <p:ext uri="{BB962C8B-B14F-4D97-AF65-F5344CB8AC3E}">
        <p14:creationId xmlns:p14="http://schemas.microsoft.com/office/powerpoint/2010/main" val="18139442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5DE9D-E707-1DA6-9824-FB7BD88A8515}"/>
              </a:ext>
            </a:extLst>
          </p:cNvPr>
          <p:cNvSpPr>
            <a:spLocks noGrp="1"/>
          </p:cNvSpPr>
          <p:nvPr>
            <p:ph type="title"/>
          </p:nvPr>
        </p:nvSpPr>
        <p:spPr>
          <a:xfrm>
            <a:off x="6615113" y="225707"/>
            <a:ext cx="5206373" cy="1325563"/>
          </a:xfrm>
        </p:spPr>
        <p:txBody>
          <a:bodyPr>
            <a:normAutofit/>
          </a:bodyPr>
          <a:lstStyle/>
          <a:p>
            <a:r>
              <a:t>Gaza: paralytic polio (cVDPV2)</a:t>
            </a:r>
          </a:p>
        </p:txBody>
      </p:sp>
      <p:sp>
        <p:nvSpPr>
          <p:cNvPr id="4" name="Text Placeholder 3">
            <a:extLst>
              <a:ext uri="{FF2B5EF4-FFF2-40B4-BE49-F238E27FC236}">
                <a16:creationId xmlns:a16="http://schemas.microsoft.com/office/drawing/2014/main" id="{67BF5412-B5AE-24B2-4F39-60AA2ECC9325}"/>
              </a:ext>
            </a:extLst>
          </p:cNvPr>
          <p:cNvSpPr>
            <a:spLocks noGrp="1"/>
          </p:cNvSpPr>
          <p:nvPr>
            <p:ph type="body" idx="1"/>
          </p:nvPr>
        </p:nvSpPr>
        <p:spPr>
          <a:xfrm>
            <a:off x="6172199" y="1825624"/>
            <a:ext cx="5665221" cy="4806669"/>
          </a:xfrm>
        </p:spPr>
        <p:txBody>
          <a:bodyPr>
            <a:normAutofit/>
          </a:bodyPr>
          <a:lstStyle/>
          <a:p>
            <a:r>
              <a:t>First confirmed case in Gaza in 25 years</a:t>
            </a:r>
          </a:p>
          <a:p>
            <a:r>
              <a:t>Displacement disrupted routine vaccination for the affected infant</a:t>
            </a:r>
          </a:p>
          <a:p>
            <a:r>
              <a:t>Other children reported with polio-like symptoms</a:t>
            </a:r>
          </a:p>
          <a:p>
            <a:r>
              <a:t>Brief Israel–Hamas pauses enabled a vaccination campaign</a:t>
            </a:r>
          </a:p>
        </p:txBody>
      </p:sp>
      <p:pic>
        <p:nvPicPr>
          <p:cNvPr id="6" name="Picture 5">
            <a:hlinkClick r:id="rId3"/>
            <a:extLst>
              <a:ext uri="{FF2B5EF4-FFF2-40B4-BE49-F238E27FC236}">
                <a16:creationId xmlns:a16="http://schemas.microsoft.com/office/drawing/2014/main" id="{E06266A9-222B-5921-DEA0-01325CAE08BE}"/>
              </a:ext>
            </a:extLst>
          </p:cNvPr>
          <p:cNvPicPr>
            <a:picLocks noChangeAspect="1"/>
          </p:cNvPicPr>
          <p:nvPr/>
        </p:nvPicPr>
        <p:blipFill>
          <a:blip r:embed="rId4"/>
          <a:stretch>
            <a:fillRect/>
          </a:stretch>
        </p:blipFill>
        <p:spPr>
          <a:xfrm>
            <a:off x="354580" y="514139"/>
            <a:ext cx="5903412" cy="5829722"/>
          </a:xfrm>
          <a:prstGeom prst="rect">
            <a:avLst/>
          </a:prstGeom>
        </p:spPr>
      </p:pic>
    </p:spTree>
    <p:extLst>
      <p:ext uri="{BB962C8B-B14F-4D97-AF65-F5344CB8AC3E}">
        <p14:creationId xmlns:p14="http://schemas.microsoft.com/office/powerpoint/2010/main" val="768853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61830-47A5-7882-CB45-A9393603C2B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4BDCBA8-1AB8-9940-778D-A091B81938CA}"/>
              </a:ext>
            </a:extLst>
          </p:cNvPr>
          <p:cNvSpPr>
            <a:spLocks noGrp="1"/>
          </p:cNvSpPr>
          <p:nvPr>
            <p:ph sz="half" idx="1"/>
          </p:nvPr>
        </p:nvSpPr>
        <p:spPr/>
        <p:txBody>
          <a:bodyPr/>
          <a:lstStyle/>
          <a:p>
            <a:endParaRPr lang="en-US"/>
          </a:p>
        </p:txBody>
      </p:sp>
      <p:sp>
        <p:nvSpPr>
          <p:cNvPr id="4" name="Content Placeholder 3">
            <a:extLst>
              <a:ext uri="{FF2B5EF4-FFF2-40B4-BE49-F238E27FC236}">
                <a16:creationId xmlns:a16="http://schemas.microsoft.com/office/drawing/2014/main" id="{26187C81-3509-9F79-AEBF-76EFAAB5C089}"/>
              </a:ext>
            </a:extLst>
          </p:cNvPr>
          <p:cNvSpPr>
            <a:spLocks noGrp="1"/>
          </p:cNvSpPr>
          <p:nvPr>
            <p:ph sz="half" idx="2"/>
          </p:nvPr>
        </p:nvSpPr>
        <p:spPr/>
        <p:txBody>
          <a:bodyPr/>
          <a:lstStyle/>
          <a:p>
            <a:endParaRPr lang="en-US"/>
          </a:p>
        </p:txBody>
      </p:sp>
    </p:spTree>
    <p:extLst>
      <p:ext uri="{BB962C8B-B14F-4D97-AF65-F5344CB8AC3E}">
        <p14:creationId xmlns:p14="http://schemas.microsoft.com/office/powerpoint/2010/main" val="28781018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383</TotalTime>
  <Words>2181</Words>
  <Application>Microsoft Office PowerPoint</Application>
  <PresentationFormat>Widescreen</PresentationFormat>
  <Paragraphs>147</Paragraphs>
  <Slides>22</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Aptos</vt:lpstr>
      <vt:lpstr>Aptos Display</vt:lpstr>
      <vt:lpstr>Arial</vt:lpstr>
      <vt:lpstr>Calibri</vt:lpstr>
      <vt:lpstr>Calibri Light</vt:lpstr>
      <vt:lpstr>Calibri Light (Headings)</vt:lpstr>
      <vt:lpstr>Office Theme</vt:lpstr>
      <vt:lpstr>Effects of political instability on health can be indirect</vt:lpstr>
      <vt:lpstr>Structural violence</vt:lpstr>
      <vt:lpstr>Other forms of health-related structural violence </vt:lpstr>
      <vt:lpstr>Honduras: corruption in national healthcare governance</vt:lpstr>
      <vt:lpstr>Mexico’s health care system: deficit of public health care funding and services</vt:lpstr>
      <vt:lpstr>Farmacias Similares</vt:lpstr>
      <vt:lpstr>PowerPoint Presentation</vt:lpstr>
      <vt:lpstr>Mexican drug cartels</vt:lpstr>
      <vt:lpstr>Political instability impacts health through direct violence:  the New Barbarism:</vt:lpstr>
      <vt:lpstr>PowerPoint Presentation</vt:lpstr>
      <vt:lpstr>A loophole in the Geneva Convention</vt:lpstr>
      <vt:lpstr>PowerPoint Presentation</vt:lpstr>
      <vt:lpstr>COVID-19 and polio</vt:lpstr>
      <vt:lpstr>PowerPoint Presentation</vt:lpstr>
      <vt:lpstr>London: cVDPV2 in wastewater (2022)</vt:lpstr>
      <vt:lpstr>PowerPoint Presentation</vt:lpstr>
      <vt:lpstr>New York: cVDPV2 case (Rockland County, 2022)</vt:lpstr>
      <vt:lpstr>Other poliovirus reservoirs</vt:lpstr>
      <vt:lpstr>Long-term shedding in immunocompromised people</vt:lpstr>
      <vt:lpstr>What holds back eradication?</vt:lpstr>
      <vt:lpstr>Gaza: paralytic polio (cVDPV2)</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Stallins, Jon A.</dc:creator>
  <cp:lastModifiedBy>Stallins, Jon A.</cp:lastModifiedBy>
  <cp:revision>23</cp:revision>
  <dcterms:created xsi:type="dcterms:W3CDTF">2025-09-24T18:28:29Z</dcterms:created>
  <dcterms:modified xsi:type="dcterms:W3CDTF">2026-10-01T11:01:01Z</dcterms:modified>
</cp:coreProperties>
</file>