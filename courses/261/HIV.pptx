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30" r:id="rId2"/>
    <p:sldId id="358" r:id="rId3"/>
    <p:sldId id="287" r:id="rId4"/>
    <p:sldId id="286" r:id="rId5"/>
    <p:sldId id="369" r:id="rId6"/>
    <p:sldId id="421" r:id="rId7"/>
    <p:sldId id="294" r:id="rId8"/>
    <p:sldId id="285" r:id="rId9"/>
    <p:sldId id="296" r:id="rId10"/>
    <p:sldId id="343" r:id="rId11"/>
    <p:sldId id="307" r:id="rId12"/>
    <p:sldId id="406" r:id="rId13"/>
    <p:sldId id="413" r:id="rId14"/>
    <p:sldId id="300" r:id="rId15"/>
    <p:sldId id="301" r:id="rId16"/>
    <p:sldId id="302" r:id="rId17"/>
    <p:sldId id="303" r:id="rId18"/>
    <p:sldId id="42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4" roundtripDataSignature="AMtx7mgOb0raG23UFM838YHXTegAtRYf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72288" autoAdjust="0"/>
  </p:normalViewPr>
  <p:slideViewPr>
    <p:cSldViewPr snapToGrid="0">
      <p:cViewPr varScale="1">
        <p:scale>
          <a:sx n="45" d="100"/>
          <a:sy n="45" d="100"/>
        </p:scale>
        <p:origin x="74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6096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117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1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14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1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E54BF-4B88-C044-F276-FCC983022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E478A-10BF-D1B9-C310-03676BF1E1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AC59E-4F63-44AB-987D-EF547BF56A23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B6B13-D454-4F27-263F-3DA57F94BD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DD430-A204-3D6F-0A3A-FAFF30E1A0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35EE0-8AA2-4244-8BB3-B916CDAB3F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56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indent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alibri Light" panose="020F0302020204030204" pitchFamily="34" charset="0"/>
        <a:ea typeface="Calibri Light" panose="020F0302020204030204" pitchFamily="34" charset="0"/>
        <a:cs typeface="Calibri Light" panose="020F030202020403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/>
            <a:r>
              <a:rPr lang="en-US" b="0" dirty="0"/>
              <a:t>CSOs </a:t>
            </a:r>
            <a:r>
              <a:rPr lang="en-US" dirty="0"/>
              <a:t>are non-governmental organizations that operate independently from the government and for-profit businesses. CSOs include grassroots organizations, advocacy groups, charities, non-profits, community-based organizations, and think tanks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7049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https://www.wilsoncenter.org/blog-post/operation-denver-kgb-and-stasi-disinformation-regarding-aids</a:t>
            </a:r>
          </a:p>
          <a:p>
            <a:pPr marL="0"/>
            <a:r>
              <a:rPr lang="en-US" dirty="0"/>
              <a:t>https://sites.ecu.edu/cwis/2023/03/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1311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dirty="0"/>
              <a:t>https://www.nature.com/news/south-africa-ushers-in-a-new-era-for-hiv-1.20253</a:t>
            </a:r>
            <a:br>
              <a:rPr lang="en-US" dirty="0"/>
            </a:br>
            <a:r>
              <a:rPr lang="en-US" dirty="0"/>
              <a:t>https://www.newsweek.com/thabo-mbeki-south-africa-hiv-aids-436012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Nattrass, N. (2013). Understanding the origins and prevalence of AIDS conspiracy beliefs in the United States and South Africa. </a:t>
            </a:r>
            <a:r>
              <a:rPr lang="en-US" i="1" dirty="0"/>
              <a:t>Sociology of Health and Illness</a:t>
            </a:r>
            <a:r>
              <a:rPr lang="en-US" dirty="0"/>
              <a:t>, </a:t>
            </a:r>
            <a:r>
              <a:rPr lang="en-US" i="1" dirty="0"/>
              <a:t>35</a:t>
            </a:r>
            <a:r>
              <a:rPr lang="en-US" dirty="0"/>
              <a:t>(1), 113-129.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https://www.hsph.harvard.edu/news/magazine/spr09aids/</a:t>
            </a:r>
            <a:br>
              <a:rPr lang="en-US" dirty="0"/>
            </a:br>
            <a:br>
              <a:rPr lang="en-US" dirty="0"/>
            </a:br>
            <a:r>
              <a:rPr lang="en-US" dirty="0">
                <a:latin typeface="+mj-lt"/>
                <a:cs typeface="Calibri Light" panose="020F0302020204030204" pitchFamily="34" charset="0"/>
              </a:rPr>
              <a:t>The HIV as US bioweapon conspiracy theory had large impacts in South Africa, a highly segregated society until official apartheid policies were dismantled in 1994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https://www.nytimes.com/2023/03/14/health/pepfar-hiv.html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2322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https://www.nytimes.com/2023/04/08/opinion/aids-pepfar-bush.html</a:t>
            </a:r>
            <a:br>
              <a:rPr lang="en-US" dirty="0"/>
            </a:br>
            <a:r>
              <a:rPr lang="en-US" dirty="0"/>
              <a:t>https://www.kff.org/global-health-policy/the-u-s-presidents-emergency-plan-for-aids-relief-pepfar/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238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..but HIV-AIDS is far from over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More than science is needed – the challenge is also social, political, and economic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Uganda</a:t>
            </a:r>
            <a:endParaRPr dirty="0"/>
          </a:p>
        </p:txBody>
      </p:sp>
      <p:sp>
        <p:nvSpPr>
          <p:cNvPr id="292" name="Google Shape;29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https://science.sciencemag.org/content/369/6510/1419.abstract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he social processes of stigmatization can spur the spread of disease. </a:t>
            </a:r>
            <a:br>
              <a:rPr lang="en-US" sz="1200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12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Stigmatization is compounded when the person or population is already marginalized.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Msomi, Nokukhanya, Richard Lessells, Koleka Mlisana, and Tulio de Oliveira. "Africa: tackle HIV and COVID-19 together." (2021): 33-36.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0393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Progress through programs like the Baby Shower program 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lang="en-US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6" name="Google Shape;446;p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/>
            <a:r>
              <a:rPr lang="en-US" dirty="0"/>
              <a:t>https://map.aidsvu.org/prev/county/rate/none/none/usa?geoContext=national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Rural populations and some smaller cities in the south have high rates of HIV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521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6873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Compared with other U.S. states, Florida has a big problem. Georgia has the highest rates of new infection, but half the population of Florida. New York has a larger infected population, but has a lower death rate and fewer new infections.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Cohen, Jon. "The Sunshine State's dark cloud." (2018): Science 360(6394) 1176-1179.</a:t>
            </a:r>
            <a:br>
              <a:rPr lang="en-US" dirty="0"/>
            </a:b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DOI: 10.1126/science.360.6394.1176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Cohen, Jon. "The Sunshine State's dark cloud." (2018): Science 360(6394) 1176-1179.</a:t>
            </a:r>
            <a:br>
              <a:rPr lang="en-US" dirty="0"/>
            </a:b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DOI: 10.1126/science.360.6394.1176</a:t>
            </a:r>
            <a:b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https://www.science.org/content/article/we-re-mess-why-florida-struggling-unusually-severe-hivaids-problem</a:t>
            </a:r>
            <a:endParaRPr dirty="0"/>
          </a:p>
        </p:txBody>
      </p:sp>
      <p:sp>
        <p:nvSpPr>
          <p:cNvPr id="406" name="Google Shape;40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 has been slow to approve needle and syringe exchange programs compared to the other 45 states that have them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2" name="Google Shape;412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8" name="Google Shape;418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8" name="Google Shape;68;p6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e.gov/results-and-impact-pepfa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qt5qZ0g4BR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guPobd1-cTg?feature=oembed" TargetMode="Externa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p.aidsvu.org/prev/county/rate/none/none/usa?geoContext=nationa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bs.org/newshour/show/why-miami-is-the-epicenter-of-new-hiv-cases-in-the-u-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CBEC-4402-441A-AA0C-F058FC3E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206" y="365125"/>
            <a:ext cx="4097594" cy="1325563"/>
          </a:xfrm>
        </p:spPr>
        <p:txBody>
          <a:bodyPr/>
          <a:lstStyle/>
          <a:p>
            <a:pPr algn="ctr"/>
            <a:r>
              <a:rPr lang="en-US" dirty="0">
                <a:latin typeface="+mj-lt"/>
              </a:rPr>
              <a:t>Civil society organizations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1BBE7-9E52-4392-A5B3-59A9B66C3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194" y="523081"/>
            <a:ext cx="6371303" cy="6154404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ACT UP is an example of a civil society organization. </a:t>
            </a:r>
          </a:p>
          <a:p>
            <a:pPr algn="l"/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Civil organizations are well suited to deliver relevant </a:t>
            </a:r>
            <a:r>
              <a:rPr lang="en-US" sz="3200" b="0" i="0" u="none" strike="noStrike" baseline="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healthservices</a:t>
            </a:r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to key populations where and when governments be unable or choose not to. </a:t>
            </a:r>
          </a:p>
          <a:p>
            <a:r>
              <a:rPr lang="en-US" sz="3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</a:t>
            </a:r>
            <a:r>
              <a:rPr lang="en-US" sz="3200" b="0" i="0" u="none" strike="noStrike" baseline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overnments as well as citizens in low- and middle-income countries often cannot provide adequate funding and support to these civil society organizations</a:t>
            </a:r>
            <a:endParaRPr lang="en-US" sz="32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en-US" sz="2800" b="0" i="0" u="none" strike="noStrike" baseline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Picture 7" descr="A black and white sign&#10;&#10;Description automatically generated with medium confidence">
            <a:extLst>
              <a:ext uri="{FF2B5EF4-FFF2-40B4-BE49-F238E27FC236}">
                <a16:creationId xmlns:a16="http://schemas.microsoft.com/office/drawing/2014/main" id="{7AE58E03-11DB-4D83-A55A-A3AC94093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153" y="1873352"/>
            <a:ext cx="4048441" cy="2506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FE8C82-F387-4C82-A3AE-9010CE9E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074" y="4562935"/>
            <a:ext cx="48006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11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1D274-2545-4FC3-2AE1-8D334170A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36" y="448128"/>
            <a:ext cx="7058949" cy="625849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KGB wrote: ”We are conducting a series of [active] measures in connection with the appearance in recent years in the USA of a new and dangerous disease, “Acquired Immune Deficiency Syndrome – AIDS”…, and its subsequent, large-scale spread to other countries, including those in Western Europe. The goal of these measures is to create a favorable opinion for us abroad that this disease is the result of secret experiments with a new type of biological weapon by the secret services of the USA and the Pentagon that spun out of control.”</a:t>
            </a:r>
          </a:p>
          <a:p>
            <a:endParaRPr lang="en-US" dirty="0"/>
          </a:p>
        </p:txBody>
      </p:sp>
      <p:pic>
        <p:nvPicPr>
          <p:cNvPr id="6" name="Picture 5" descr="A document with a signature&#10;&#10;Description automatically generated">
            <a:extLst>
              <a:ext uri="{FF2B5EF4-FFF2-40B4-BE49-F238E27FC236}">
                <a16:creationId xmlns:a16="http://schemas.microsoft.com/office/drawing/2014/main" id="{991B2409-CAA4-FAE5-9A2D-5EC826B2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348" y="101600"/>
            <a:ext cx="4703616" cy="647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33382" y="0"/>
            <a:ext cx="9925235" cy="6781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>
            <a:spLocks noGrp="1"/>
          </p:cNvSpPr>
          <p:nvPr>
            <p:ph type="title"/>
          </p:nvPr>
        </p:nvSpPr>
        <p:spPr>
          <a:xfrm>
            <a:off x="169817" y="365125"/>
            <a:ext cx="1176963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HIV-AIDS policies of former South African President Thabo Mbeki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391886" y="1825624"/>
            <a:ext cx="5294539" cy="474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Around 330,000 people died prematurely between 2000-2005 due to Mbeki government’s obstruction of life-saving ART and at least 35,000 babies born with HIV that could have been prevented.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Mbeki delayed launching ART programs because he thought the drugs were toxic and an effort by the West to weaken his country. </a:t>
            </a:r>
          </a:p>
        </p:txBody>
      </p:sp>
      <p:pic>
        <p:nvPicPr>
          <p:cNvPr id="3" name="Picture 2" descr="Cartoon of a car driving through a road sign&#10;&#10;Description automatically generated">
            <a:extLst>
              <a:ext uri="{FF2B5EF4-FFF2-40B4-BE49-F238E27FC236}">
                <a16:creationId xmlns:a16="http://schemas.microsoft.com/office/drawing/2014/main" id="{0F287983-C27A-EBE5-5F44-65284A16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73"/>
          <a:stretch/>
        </p:blipFill>
        <p:spPr>
          <a:xfrm>
            <a:off x="6210571" y="1690688"/>
            <a:ext cx="5811612" cy="4657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3F527E-A0CB-0C29-A1D3-E8CB195F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105" y="0"/>
            <a:ext cx="6515735" cy="2620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FE522F-084E-3E2E-8144-96F5039055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56" b="10142"/>
          <a:stretch/>
        </p:blipFill>
        <p:spPr>
          <a:xfrm>
            <a:off x="452012" y="2316480"/>
            <a:ext cx="11422743" cy="454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E2D699-D2E3-25B3-06F9-ED48DD36D413}"/>
              </a:ext>
            </a:extLst>
          </p:cNvPr>
          <p:cNvSpPr txBox="1"/>
          <p:nvPr/>
        </p:nvSpPr>
        <p:spPr>
          <a:xfrm>
            <a:off x="7970520" y="7349602"/>
            <a:ext cx="3904235" cy="53438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Reading/Questions 12</a:t>
            </a:r>
          </a:p>
        </p:txBody>
      </p:sp>
    </p:spTree>
    <p:extLst>
      <p:ext uri="{BB962C8B-B14F-4D97-AF65-F5344CB8AC3E}">
        <p14:creationId xmlns:p14="http://schemas.microsoft.com/office/powerpoint/2010/main" val="294163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D406-D1ED-50CF-3C2B-8FC88811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075886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j-lt"/>
              </a:rPr>
              <a:t>PEPFAR has saved </a:t>
            </a:r>
            <a:r>
              <a:rPr lang="en-US" dirty="0">
                <a:latin typeface="+mj-lt"/>
                <a:hlinkClick r:id="rId3"/>
              </a:rPr>
              <a:t>20 million lives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1BB82-A6F6-D0C4-6DE1-0C1B7FF38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302240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j-lt"/>
              </a:rPr>
              <a:t>“That’s more than all the Jews killed in the Holocaust and all the people killed in the genocides of Armenians, Cambodians, Rwandans, Bosnians, Darfuris and Rohingya; all the confirmed  deaths from Covid worldwide; all the deaths of American troops in all wars in the country’s history back to 1776; all the gun deaths in the United States in the last half-century; and all the auto deaths in the United States in the last half-century — combined”</a:t>
            </a:r>
          </a:p>
        </p:txBody>
      </p:sp>
    </p:spTree>
    <p:extLst>
      <p:ext uri="{BB962C8B-B14F-4D97-AF65-F5344CB8AC3E}">
        <p14:creationId xmlns:p14="http://schemas.microsoft.com/office/powerpoint/2010/main" val="39235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3497" y="-117565"/>
            <a:ext cx="637474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193739"/>
            <a:ext cx="12225429" cy="489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/>
        </p:nvSpPr>
        <p:spPr>
          <a:xfrm>
            <a:off x="10809585" y="1033315"/>
            <a:ext cx="1095172" cy="523220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2663" y="0"/>
            <a:ext cx="633046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0"/>
          <p:cNvSpPr txBox="1">
            <a:spLocks noGrp="1"/>
          </p:cNvSpPr>
          <p:nvPr>
            <p:ph type="body" idx="1"/>
          </p:nvPr>
        </p:nvSpPr>
        <p:spPr>
          <a:xfrm>
            <a:off x="458875" y="1558607"/>
            <a:ext cx="5153648" cy="466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0" i="0" u="none" strike="noStrike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People with HIV who perceive high levels of social stigma </a:t>
            </a:r>
            <a:r>
              <a:rPr lang="en-US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are</a:t>
            </a:r>
            <a:r>
              <a:rPr lang="en-US" b="0" i="0" u="none" strike="noStrike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 more likely to delay entering care until very ill</a:t>
            </a:r>
            <a:endParaRPr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S</a:t>
            </a:r>
            <a:r>
              <a:rPr lang="en-US" b="0" i="0" u="none" strike="noStrike" dirty="0">
                <a:latin typeface="Calibri Light" panose="020F0302020204030204" pitchFamily="34" charset="0"/>
                <a:ea typeface="Arial"/>
                <a:cs typeface="Calibri Light" panose="020F0302020204030204" pitchFamily="34" charset="0"/>
                <a:sym typeface="Arial"/>
              </a:rPr>
              <a:t>tigma responsible for 35-50% of infant infections with HIV because it reduced mothers’ adherence to treatment</a:t>
            </a:r>
            <a:endParaRPr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FE3E4A-88AC-4118-B50E-FB07A521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25" y="365124"/>
            <a:ext cx="10515600" cy="1325563"/>
          </a:xfrm>
        </p:spPr>
        <p:txBody>
          <a:bodyPr/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Stigmatization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9095E6-453B-A7A8-8C0F-DD5BD8AF8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10" y="1516062"/>
            <a:ext cx="11639980" cy="5140325"/>
          </a:xfrm>
          <a:prstGeom prst="rect">
            <a:avLst/>
          </a:prstGeom>
        </p:spPr>
      </p:pic>
      <p:sp>
        <p:nvSpPr>
          <p:cNvPr id="2" name="Google Shape;450;p52">
            <a:extLst>
              <a:ext uri="{FF2B5EF4-FFF2-40B4-BE49-F238E27FC236}">
                <a16:creationId xmlns:a16="http://schemas.microsoft.com/office/drawing/2014/main" id="{A17443C0-8AAB-E51E-5A05-E9703154A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635" y="256221"/>
            <a:ext cx="1143706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The treatment gap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0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2"/>
          <p:cNvSpPr txBox="1"/>
          <p:nvPr/>
        </p:nvSpPr>
        <p:spPr>
          <a:xfrm>
            <a:off x="554636" y="585787"/>
            <a:ext cx="3703039" cy="581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6</a:t>
            </a:r>
            <a:r>
              <a:rPr lang="en-US" sz="3200" b="0" i="0" u="none" strike="noStrike" cap="none" baseline="30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th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most populated country in the world (235 million)</a:t>
            </a:r>
            <a:endParaRPr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Nigeria has high number of HIV-infected babies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Culture and stigma plays a large role in causing transmission to infants from mothers</a:t>
            </a:r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/>
          </p:nvPr>
        </p:nvSpPr>
        <p:spPr>
          <a:xfrm>
            <a:off x="4756762" y="427784"/>
            <a:ext cx="74352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Mother-child HIV transmission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Online Media 6" title="Why Nigeria has more HIV-positive infants than anywhere else">
            <a:hlinkClick r:id="" action="ppaction://media"/>
            <a:extLst>
              <a:ext uri="{FF2B5EF4-FFF2-40B4-BE49-F238E27FC236}">
                <a16:creationId xmlns:a16="http://schemas.microsoft.com/office/drawing/2014/main" id="{953C300B-A03D-6C78-F2DB-ED4DBEEB111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04987" y="1928428"/>
            <a:ext cx="7435238" cy="4200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9925-F002-7187-E877-CAFD1FEA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806" y="135220"/>
            <a:ext cx="10154194" cy="1325563"/>
          </a:xfrm>
        </p:spPr>
        <p:txBody>
          <a:bodyPr/>
          <a:lstStyle/>
          <a:p>
            <a:r>
              <a:rPr lang="en-US" sz="4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High-risk populations for HIV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6C2B6-C326-6686-9A4E-729293856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617B3-5D62-6EB7-9C82-E263F092A91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54195611-B2CA-2D7A-893A-AABBABD35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60783"/>
            <a:ext cx="12192000" cy="480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6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24834-17E3-E4F0-59C5-670481C6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1" y="876217"/>
            <a:ext cx="11584099" cy="453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41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>
            <a:spLocks noGrp="1"/>
          </p:cNvSpPr>
          <p:nvPr>
            <p:ph type="title"/>
          </p:nvPr>
        </p:nvSpPr>
        <p:spPr>
          <a:xfrm>
            <a:off x="723900" y="183357"/>
            <a:ext cx="367383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01" name="Google Shape;401;p4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03576" y="224778"/>
            <a:ext cx="6452998" cy="64084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4C5F5E8-0950-B745-2AEB-FEEDF5A75A20}"/>
              </a:ext>
            </a:extLst>
          </p:cNvPr>
          <p:cNvSpPr txBox="1">
            <a:spLocks/>
          </p:cNvSpPr>
          <p:nvPr/>
        </p:nvSpPr>
        <p:spPr>
          <a:xfrm>
            <a:off x="352698" y="1358536"/>
            <a:ext cx="5355772" cy="5159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3000" dirty="0">
                <a:latin typeface="+mj-lt"/>
              </a:rPr>
              <a:t>Large number of Black and Latino residents</a:t>
            </a:r>
          </a:p>
          <a:p>
            <a:r>
              <a:rPr lang="en-US" sz="3000" dirty="0">
                <a:latin typeface="+mj-lt"/>
              </a:rPr>
              <a:t>Travel gateway to Caribbean, Central and South America</a:t>
            </a:r>
          </a:p>
          <a:p>
            <a:r>
              <a:rPr lang="en-US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State lawmakers have turned away federal funding for HIV prevention and care, and limited sex education</a:t>
            </a:r>
          </a:p>
          <a:p>
            <a:r>
              <a:rPr lang="en-US" sz="3000" dirty="0">
                <a:latin typeface="+mj-lt"/>
              </a:rPr>
              <a:t>Florida, California and New York are top three states for HIV cases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>
            <a:spLocks noGrp="1"/>
          </p:cNvSpPr>
          <p:nvPr>
            <p:ph type="body" idx="1"/>
          </p:nvPr>
        </p:nvSpPr>
        <p:spPr>
          <a:xfrm>
            <a:off x="334956" y="385057"/>
            <a:ext cx="3884348" cy="608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 has unusually high AIDS diagnoses because of late testing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A third of HIV positive patients are, ‘lost to follow up’ for reasons of transportation difficulties, stigma concerns, relocation, homelessness, lack of social support, substance abuse, and poverty. 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9C586-816C-7B21-D112-72DEACDA7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67"/>
          <a:stretch/>
        </p:blipFill>
        <p:spPr>
          <a:xfrm>
            <a:off x="4595233" y="385057"/>
            <a:ext cx="6939270" cy="63044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 txBox="1">
            <a:spLocks noGrp="1"/>
          </p:cNvSpPr>
          <p:nvPr>
            <p:ph type="body" idx="1"/>
          </p:nvPr>
        </p:nvSpPr>
        <p:spPr>
          <a:xfrm>
            <a:off x="335666" y="446530"/>
            <a:ext cx="5164382" cy="619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Florida is also socially and politically diverse –like different countries when you compare, for example, rural Panhandle to neighborhoods of Miami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28600" indent="-228600">
              <a:spcBef>
                <a:spcPts val="500"/>
              </a:spcBef>
              <a:buSzPts val="2400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Any campaign to prompt testing and treatment in at-risk populations must be customized to appeal to different cultural backgrounds and levels of disenfranchisement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 descr="A map of the state of florida&#10;&#10;Description automatically generated">
            <a:extLst>
              <a:ext uri="{FF2B5EF4-FFF2-40B4-BE49-F238E27FC236}">
                <a16:creationId xmlns:a16="http://schemas.microsoft.com/office/drawing/2014/main" id="{C825C24F-0341-8C52-AF45-987B541CE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47" r="7488"/>
          <a:stretch/>
        </p:blipFill>
        <p:spPr>
          <a:xfrm>
            <a:off x="5732060" y="569253"/>
            <a:ext cx="5936776" cy="58615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6">
            <a:hlinkClick r:id="rId3"/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35062" y="208992"/>
            <a:ext cx="9877778" cy="6440015"/>
          </a:xfrm>
          <a:prstGeom prst="rect">
            <a:avLst/>
          </a:prstGeom>
          <a:noFill/>
          <a:ln w="73025" cap="flat" cmpd="sng">
            <a:noFill/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D7F7-0DDF-056B-E1C3-E673B04CD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Lenacapavir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(2025)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6782E-A947-838E-7B0B-3FF5DA409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Twice-yearly injectable drug with &gt;99% effectiveness 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Developed by the drug company Gilead, who agreed to a generic price drop to $40 per patient per year in 120 low- and middle-income countries in 2027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Negotiated through partnerships involving non-governmental, non-profit organizations and Indian generics manufacturers 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“Bridge funding” needed until generics arrive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 reduced price still a hardship for some countries to procure</a:t>
            </a:r>
          </a:p>
        </p:txBody>
      </p:sp>
    </p:spTree>
    <p:extLst>
      <p:ext uri="{BB962C8B-B14F-4D97-AF65-F5344CB8AC3E}">
        <p14:creationId xmlns:p14="http://schemas.microsoft.com/office/powerpoint/2010/main" val="3436074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3951</TotalTime>
  <Words>1115</Words>
  <Application>Microsoft Office PowerPoint</Application>
  <PresentationFormat>Widescreen</PresentationFormat>
  <Paragraphs>75</Paragraphs>
  <Slides>18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Civil society organizations</vt:lpstr>
      <vt:lpstr>PowerPoint Presentation</vt:lpstr>
      <vt:lpstr>PowerPoint Presentation</vt:lpstr>
      <vt:lpstr>HIV-AIDS policies of former South African President Thabo Mbeki</vt:lpstr>
      <vt:lpstr>PowerPoint Presentation</vt:lpstr>
      <vt:lpstr>PEPFAR has saved 20 million lives</vt:lpstr>
      <vt:lpstr>PowerPoint Presentation</vt:lpstr>
      <vt:lpstr>PowerPoint Presentation</vt:lpstr>
      <vt:lpstr>Stigmatization</vt:lpstr>
      <vt:lpstr>The treatment gap</vt:lpstr>
      <vt:lpstr>Mother-child HIV transmission</vt:lpstr>
      <vt:lpstr>High-risk populations for HIV</vt:lpstr>
      <vt:lpstr>PowerPoint Presentation</vt:lpstr>
      <vt:lpstr>Florida</vt:lpstr>
      <vt:lpstr>PowerPoint Presentation</vt:lpstr>
      <vt:lpstr>PowerPoint Presentation</vt:lpstr>
      <vt:lpstr>PowerPoint Presentation</vt:lpstr>
      <vt:lpstr> Lenacapavir (2025)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Stallins</dc:creator>
  <cp:lastModifiedBy>Stallins, Jon A.</cp:lastModifiedBy>
  <cp:revision>134</cp:revision>
  <dcterms:created xsi:type="dcterms:W3CDTF">2016-11-15T18:46:24Z</dcterms:created>
  <dcterms:modified xsi:type="dcterms:W3CDTF">2025-11-19T14:43:21Z</dcterms:modified>
</cp:coreProperties>
</file>