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73" r:id="rId1"/>
  </p:sldMasterIdLst>
  <p:notesMasterIdLst>
    <p:notesMasterId r:id="rId16"/>
  </p:notesMasterIdLst>
  <p:sldIdLst>
    <p:sldId id="294" r:id="rId2"/>
    <p:sldId id="496" r:id="rId3"/>
    <p:sldId id="299" r:id="rId4"/>
    <p:sldId id="532" r:id="rId5"/>
    <p:sldId id="338" r:id="rId6"/>
    <p:sldId id="276" r:id="rId7"/>
    <p:sldId id="376" r:id="rId8"/>
    <p:sldId id="346" r:id="rId9"/>
    <p:sldId id="379" r:id="rId10"/>
    <p:sldId id="303" r:id="rId11"/>
    <p:sldId id="304" r:id="rId12"/>
    <p:sldId id="526" r:id="rId13"/>
    <p:sldId id="447" r:id="rId14"/>
    <p:sldId id="527"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0" autoAdjust="0"/>
    <p:restoredTop sz="76392" autoAdjust="0"/>
  </p:normalViewPr>
  <p:slideViewPr>
    <p:cSldViewPr snapToGrid="0" showGuides="1">
      <p:cViewPr varScale="1">
        <p:scale>
          <a:sx n="73" d="100"/>
          <a:sy n="73" d="100"/>
        </p:scale>
        <p:origin x="173" y="58"/>
      </p:cViewPr>
      <p:guideLst>
        <p:guide orient="horz" pos="2160"/>
        <p:guide pos="3840"/>
      </p:guideLst>
    </p:cSldViewPr>
  </p:slideViewPr>
  <p:outlineViewPr>
    <p:cViewPr>
      <p:scale>
        <a:sx n="33" d="100"/>
        <a:sy n="33" d="100"/>
      </p:scale>
      <p:origin x="0" y="-11880"/>
    </p:cViewPr>
  </p:outlineViewPr>
  <p:notesTextViewPr>
    <p:cViewPr>
      <p:scale>
        <a:sx n="100" d="100"/>
        <a:sy n="100" d="100"/>
      </p:scale>
      <p:origin x="0" y="0"/>
    </p:cViewPr>
  </p:notesTextViewPr>
  <p:sorterViewPr>
    <p:cViewPr>
      <p:scale>
        <a:sx n="100" d="100"/>
        <a:sy n="100" d="100"/>
      </p:scale>
      <p:origin x="0" y="-1958"/>
    </p:cViewPr>
  </p:sorterViewPr>
  <p:notesViewPr>
    <p:cSldViewPr snapToGrid="0">
      <p:cViewPr varScale="1">
        <p:scale>
          <a:sx n="65" d="100"/>
          <a:sy n="65" d="100"/>
        </p:scale>
        <p:origin x="3154"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C5F987-1602-4033-98FA-8AEF246A0395}" type="datetimeFigureOut">
              <a:rPr lang="en-US" smtClean="0"/>
              <a:t>9/1/2026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4469CE-27A7-42D0-85E3-FFCEAA6C3EC8}" type="slidenum">
              <a:rPr lang="en-US" smtClean="0"/>
              <a:t>‹#›</a:t>
            </a:fld>
            <a:endParaRPr lang="en-US" dirty="0"/>
          </a:p>
        </p:txBody>
      </p:sp>
    </p:spTree>
    <p:extLst>
      <p:ext uri="{BB962C8B-B14F-4D97-AF65-F5344CB8AC3E}">
        <p14:creationId xmlns:p14="http://schemas.microsoft.com/office/powerpoint/2010/main" val="3872807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By comparison, smoking cigarettes cuts life expectancy by about 1.9 years, while drinking alcohol reduces it by eight months.  Unsafe water and sanitation lead to a seven-month reduction in life expectancy. Conflict and terrorism shave off just nine days. </a:t>
            </a:r>
            <a:br>
              <a:rPr lang="en-US" dirty="0"/>
            </a:br>
            <a:br>
              <a:rPr lang="en-US" dirty="0"/>
            </a:br>
            <a:r>
              <a:rPr lang="en-US" dirty="0"/>
              <a:t>Ten million premature deaths every 12 months is 100 million a decade. </a:t>
            </a:r>
            <a:br>
              <a:rPr lang="en-US" dirty="0"/>
            </a:br>
            <a:br>
              <a:rPr lang="en-US" dirty="0"/>
            </a:br>
            <a:r>
              <a:rPr lang="en-US" dirty="0"/>
              <a:t>It would be a global emergency if Martians came to Earth and sprayed a substance that caused the average person on the planet to lose more than 2-3 years of life expectancy. This is similar to the situation that prevails in many parts of the world except we are spraying the substance, not some invaders from outer space</a:t>
            </a:r>
            <a:br>
              <a:rPr lang="en-US" dirty="0"/>
            </a:br>
            <a:br>
              <a:rPr lang="en-US" dirty="0"/>
            </a:br>
            <a:r>
              <a:rPr lang="en-US" dirty="0"/>
              <a:t>https://www.thelancet.com/commissions/pollution-and-health</a:t>
            </a:r>
            <a:br>
              <a:rPr lang="en-US" dirty="0"/>
            </a:br>
            <a:endParaRPr lang="en-US" dirty="0"/>
          </a:p>
          <a:p>
            <a:r>
              <a:rPr lang="en-US" dirty="0"/>
              <a:t>https://epic.uchicago.edu/news/most-of-the-world-breathes-unsafe-air-taking-more-than-2-years-off-global-life-expectancy/</a:t>
            </a:r>
            <a:br>
              <a:rPr lang="en-US" dirty="0"/>
            </a:br>
            <a:endParaRPr lang="en-US" dirty="0"/>
          </a:p>
          <a:p>
            <a:r>
              <a:rPr lang="en-US" dirty="0"/>
              <a:t>https://www.ssph-journal.org/articles/10.3389/ijph.2021.1604465/full</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br>
              <a:rPr lang="en-US" dirty="0"/>
            </a:br>
            <a:br>
              <a:rPr lang="en-US" dirty="0"/>
            </a:br>
            <a:br>
              <a:rPr lang="en-US" dirty="0"/>
            </a:br>
            <a:endParaRPr lang="en-US" dirty="0"/>
          </a:p>
        </p:txBody>
      </p:sp>
      <p:sp>
        <p:nvSpPr>
          <p:cNvPr id="4" name="Slide Number Placeholder 3"/>
          <p:cNvSpPr>
            <a:spLocks noGrp="1"/>
          </p:cNvSpPr>
          <p:nvPr>
            <p:ph type="sldNum" sz="quarter" idx="10"/>
          </p:nvPr>
        </p:nvSpPr>
        <p:spPr/>
        <p:txBody>
          <a:bodyPr/>
          <a:lstStyle/>
          <a:p>
            <a:fld id="{B94469CE-27A7-42D0-85E3-FFCEAA6C3EC8}" type="slidenum">
              <a:rPr lang="en-US" smtClean="0"/>
              <a:t>1</a:t>
            </a:fld>
            <a:endParaRPr lang="en-US" dirty="0"/>
          </a:p>
        </p:txBody>
      </p:sp>
    </p:spTree>
    <p:extLst>
      <p:ext uri="{BB962C8B-B14F-4D97-AF65-F5344CB8AC3E}">
        <p14:creationId xmlns:p14="http://schemas.microsoft.com/office/powerpoint/2010/main" val="3926784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https://today.ucsd.edu/story/creating_a_new_kind_of_climate_warrior</a:t>
            </a:r>
          </a:p>
        </p:txBody>
      </p:sp>
      <p:sp>
        <p:nvSpPr>
          <p:cNvPr id="4" name="Slide Number Placeholder 3"/>
          <p:cNvSpPr>
            <a:spLocks noGrp="1"/>
          </p:cNvSpPr>
          <p:nvPr>
            <p:ph type="sldNum" sz="quarter" idx="5"/>
          </p:nvPr>
        </p:nvSpPr>
        <p:spPr/>
        <p:txBody>
          <a:bodyPr/>
          <a:lstStyle/>
          <a:p>
            <a:fld id="{B94469CE-27A7-42D0-85E3-FFCEAA6C3EC8}" type="slidenum">
              <a:rPr lang="en-US" smtClean="0"/>
              <a:t>4</a:t>
            </a:fld>
            <a:endParaRPr lang="en-US" dirty="0"/>
          </a:p>
        </p:txBody>
      </p:sp>
    </p:spTree>
    <p:extLst>
      <p:ext uri="{BB962C8B-B14F-4D97-AF65-F5344CB8AC3E}">
        <p14:creationId xmlns:p14="http://schemas.microsoft.com/office/powerpoint/2010/main" val="28225456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Natural gas (like in your home) is a mixture</a:t>
            </a:r>
            <a:r>
              <a:rPr lang="en-US" baseline="0" dirty="0"/>
              <a:t> of several gases, including propane.</a:t>
            </a:r>
            <a:br>
              <a:rPr lang="en-US" baseline="0" dirty="0"/>
            </a:br>
            <a:br>
              <a:rPr lang="en-US" baseline="0" dirty="0"/>
            </a:br>
            <a:r>
              <a:rPr lang="en-US" dirty="0"/>
              <a:t>Gordon, S. B., Bruce, N. G., Grigg, J., Hibberd, P. L., Kurmi, O. P., Lam, K. B. H., ... &amp; Bar-Zeev, N. (2014). Respiratory risks from household air pollution in low and middle income countries. </a:t>
            </a:r>
            <a:r>
              <a:rPr lang="en-US" i="1" dirty="0"/>
              <a:t>The Lancet Respiratory Medicine</a:t>
            </a:r>
            <a:r>
              <a:rPr lang="en-US" dirty="0"/>
              <a:t>, </a:t>
            </a:r>
            <a:r>
              <a:rPr lang="en-US" i="1" dirty="0"/>
              <a:t>2</a:t>
            </a:r>
            <a:r>
              <a:rPr lang="en-US" dirty="0"/>
              <a:t>(10), 823-860.</a:t>
            </a:r>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In most cultures, women have a leading role in domestic cooking, with men cooking when at work or away from home. In the typical domestic context, therefore, women have several periods of intense cooking smoke exposure per day. Young children and infants, typically carried on the back or placed near their mother to sleep, are also exposed to these short, very high level, exposures to smoke. There is particular concern when young children are exposed to smoke because data suggest that smoke exposure during the window of developmental susceptibility in early life is particularly detrimental </a:t>
            </a:r>
            <a:endParaRPr lang="en-US" dirty="0"/>
          </a:p>
          <a:p>
            <a:endParaRPr lang="en-US" dirty="0"/>
          </a:p>
        </p:txBody>
      </p:sp>
      <p:sp>
        <p:nvSpPr>
          <p:cNvPr id="4" name="Slide Number Placeholder 3"/>
          <p:cNvSpPr>
            <a:spLocks noGrp="1"/>
          </p:cNvSpPr>
          <p:nvPr>
            <p:ph type="sldNum" sz="quarter" idx="10"/>
          </p:nvPr>
        </p:nvSpPr>
        <p:spPr/>
        <p:txBody>
          <a:bodyPr/>
          <a:lstStyle/>
          <a:p>
            <a:fld id="{B94469CE-27A7-42D0-85E3-FFCEAA6C3EC8}" type="slidenum">
              <a:rPr lang="en-US" smtClean="0"/>
              <a:t>5</a:t>
            </a:fld>
            <a:endParaRPr lang="en-US" dirty="0"/>
          </a:p>
        </p:txBody>
      </p:sp>
    </p:spTree>
    <p:extLst>
      <p:ext uri="{BB962C8B-B14F-4D97-AF65-F5344CB8AC3E}">
        <p14:creationId xmlns:p14="http://schemas.microsoft.com/office/powerpoint/2010/main" val="15913489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8" name="Shape 8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But there is one place</a:t>
            </a:r>
            <a:r>
              <a:rPr lang="en-US" baseline="0" dirty="0"/>
              <a:t> where particulate matter pollution can exceed New Delhi and Beijing:  </a:t>
            </a:r>
            <a:r>
              <a:rPr lang="en-US" dirty="0"/>
              <a:t>Ulaanbaatar, Mongolia. Outdoor (ambient) and HAP are both exceedingly high.  </a:t>
            </a:r>
            <a:br>
              <a:rPr lang="en-US" dirty="0"/>
            </a:br>
            <a:br>
              <a:rPr lang="en-US" dirty="0"/>
            </a:br>
            <a:r>
              <a:rPr lang="en-US" dirty="0"/>
              <a:t>But it is a far smaller</a:t>
            </a:r>
            <a:r>
              <a:rPr lang="en-US" baseline="0" dirty="0"/>
              <a:t> city than New Delhi, 1.5 million residents in Ulaanbaatar compared to 22 million in New Delhi </a:t>
            </a:r>
            <a:br>
              <a:rPr lang="en-US" baseline="0" dirty="0"/>
            </a:br>
            <a:br>
              <a:rPr lang="en-US" baseline="0" dirty="0"/>
            </a:br>
            <a:r>
              <a:rPr lang="en-US" baseline="0" dirty="0"/>
              <a:t>https://www.pri.org/stories/2013-03-08/location-video-mongolia-cleaning-one-worlds-most-polluted-cities</a:t>
            </a:r>
            <a:br>
              <a:rPr lang="en-US" dirty="0"/>
            </a:br>
            <a:r>
              <a:rPr lang="en-US" dirty="0"/>
              <a:t>https://www.youtube.com/watch?v=4Etvek2ZQHQ</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lvl="0" indent="0">
              <a:spcBef>
                <a:spcPts val="0"/>
              </a:spcBef>
              <a:spcAft>
                <a:spcPts val="0"/>
              </a:spcAft>
              <a:buNone/>
            </a:pPr>
            <a:endParaRPr dirty="0"/>
          </a:p>
        </p:txBody>
      </p:sp>
    </p:spTree>
    <p:extLst>
      <p:ext uri="{BB962C8B-B14F-4D97-AF65-F5344CB8AC3E}">
        <p14:creationId xmlns:p14="http://schemas.microsoft.com/office/powerpoint/2010/main" val="11874851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Cookstove types from around the world (or how many people of the world cook their meals)</a:t>
            </a:r>
          </a:p>
          <a:p>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Gordon, S. B., Bruce, N. G., Grigg, J., Hibberd, P. L., Kurmi, O. P., Lam, K. B. H., ... &amp; Bar-Zeev, N. (2014). Respiratory risks from household air pollution in low and middle income countries. </a:t>
            </a:r>
            <a:r>
              <a:rPr lang="en-US" i="1" dirty="0"/>
              <a:t>The Lancet Respiratory Medicine</a:t>
            </a:r>
            <a:r>
              <a:rPr lang="en-US" dirty="0"/>
              <a:t>, </a:t>
            </a:r>
            <a:r>
              <a:rPr lang="en-US" i="1" dirty="0"/>
              <a:t>2</a:t>
            </a:r>
            <a:r>
              <a:rPr lang="en-US" dirty="0"/>
              <a:t>(10), 823-860.</a:t>
            </a:r>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5"/>
          </p:nvPr>
        </p:nvSpPr>
        <p:spPr/>
        <p:txBody>
          <a:bodyPr/>
          <a:lstStyle/>
          <a:p>
            <a:fld id="{B94469CE-27A7-42D0-85E3-FFCEAA6C3EC8}" type="slidenum">
              <a:rPr lang="en-US" smtClean="0"/>
              <a:t>7</a:t>
            </a:fld>
            <a:endParaRPr lang="en-US" dirty="0"/>
          </a:p>
        </p:txBody>
      </p:sp>
    </p:spTree>
    <p:extLst>
      <p:ext uri="{BB962C8B-B14F-4D97-AF65-F5344CB8AC3E}">
        <p14:creationId xmlns:p14="http://schemas.microsoft.com/office/powerpoint/2010/main" val="37821013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https://ourworldindata.org/air-pollution</a:t>
            </a:r>
          </a:p>
          <a:p>
            <a:endParaRPr lang="en-US" dirty="0"/>
          </a:p>
          <a:p>
            <a:r>
              <a:rPr lang="en-US" dirty="0"/>
              <a:t>Note that the death rates from HAP have declined more than rates for outdoor (ambient) particulate matter pollution. Innovations in cookstoves, more education about the hazards of indoor pollution, and development that leads to the availability of cleaner energy sources are all part of this improvement in the hazards of household air pollution. </a:t>
            </a:r>
          </a:p>
        </p:txBody>
      </p:sp>
      <p:sp>
        <p:nvSpPr>
          <p:cNvPr id="4" name="Slide Number Placeholder 3"/>
          <p:cNvSpPr>
            <a:spLocks noGrp="1"/>
          </p:cNvSpPr>
          <p:nvPr>
            <p:ph type="sldNum" sz="quarter" idx="10"/>
          </p:nvPr>
        </p:nvSpPr>
        <p:spPr/>
        <p:txBody>
          <a:bodyPr/>
          <a:lstStyle/>
          <a:p>
            <a:fld id="{B94469CE-27A7-42D0-85E3-FFCEAA6C3EC8}" type="slidenum">
              <a:rPr lang="en-US" smtClean="0"/>
              <a:t>8</a:t>
            </a:fld>
            <a:endParaRPr lang="en-US" dirty="0"/>
          </a:p>
        </p:txBody>
      </p:sp>
    </p:spTree>
    <p:extLst>
      <p:ext uri="{BB962C8B-B14F-4D97-AF65-F5344CB8AC3E}">
        <p14:creationId xmlns:p14="http://schemas.microsoft.com/office/powerpoint/2010/main" val="24399377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Gordon, S. B., Bruce, N. G., Grigg, J., Hibberd, P. L., Kurmi, O. P., Lam, K. B. H., ... &amp; Bar-Zeev, N. (2014). Respiratory risks from household air pollution in low and middle income countries. </a:t>
            </a:r>
            <a:r>
              <a:rPr lang="en-US" i="1" dirty="0"/>
              <a:t>The Lancet Respiratory Medicine</a:t>
            </a:r>
            <a:r>
              <a:rPr lang="en-US" dirty="0"/>
              <a:t>, </a:t>
            </a:r>
            <a:r>
              <a:rPr lang="en-US" i="1" dirty="0"/>
              <a:t>2</a:t>
            </a:r>
            <a:r>
              <a:rPr lang="en-US" dirty="0"/>
              <a:t>(10), 823-860.</a:t>
            </a:r>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5"/>
          </p:nvPr>
        </p:nvSpPr>
        <p:spPr/>
        <p:txBody>
          <a:bodyPr/>
          <a:lstStyle/>
          <a:p>
            <a:fld id="{B94469CE-27A7-42D0-85E3-FFCEAA6C3EC8}" type="slidenum">
              <a:rPr lang="en-US" smtClean="0"/>
              <a:t>9</a:t>
            </a:fld>
            <a:endParaRPr lang="en-US" dirty="0"/>
          </a:p>
        </p:txBody>
      </p:sp>
    </p:spTree>
    <p:extLst>
      <p:ext uri="{BB962C8B-B14F-4D97-AF65-F5344CB8AC3E}">
        <p14:creationId xmlns:p14="http://schemas.microsoft.com/office/powerpoint/2010/main" val="30321379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DOI: 10.1111/gec3.12469</a:t>
            </a:r>
            <a:endParaRPr lang="en-US" dirty="0"/>
          </a:p>
        </p:txBody>
      </p:sp>
      <p:sp>
        <p:nvSpPr>
          <p:cNvPr id="4" name="Slide Number Placeholder 3"/>
          <p:cNvSpPr>
            <a:spLocks noGrp="1"/>
          </p:cNvSpPr>
          <p:nvPr>
            <p:ph type="sldNum" sz="quarter" idx="10"/>
          </p:nvPr>
        </p:nvSpPr>
        <p:spPr/>
        <p:txBody>
          <a:bodyPr/>
          <a:lstStyle/>
          <a:p>
            <a:fld id="{B94469CE-27A7-42D0-85E3-FFCEAA6C3EC8}" type="slidenum">
              <a:rPr lang="en-US" smtClean="0"/>
              <a:t>10</a:t>
            </a:fld>
            <a:endParaRPr lang="en-US" dirty="0"/>
          </a:p>
        </p:txBody>
      </p:sp>
    </p:spTree>
    <p:extLst>
      <p:ext uri="{BB962C8B-B14F-4D97-AF65-F5344CB8AC3E}">
        <p14:creationId xmlns:p14="http://schemas.microsoft.com/office/powerpoint/2010/main" val="31620970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Schunder, T., &amp; Bagchi‐Sen, S. (2019). Understanding the household cooking fuel transition. </a:t>
            </a:r>
            <a:r>
              <a:rPr lang="en-US" i="1" dirty="0"/>
              <a:t>Geography Compass</a:t>
            </a:r>
            <a:r>
              <a:rPr lang="en-US" dirty="0"/>
              <a:t>, </a:t>
            </a:r>
            <a:r>
              <a:rPr lang="en-US" i="1" dirty="0"/>
              <a:t>13</a:t>
            </a:r>
            <a:r>
              <a:rPr lang="en-US" dirty="0"/>
              <a:t>(11), e12469.</a:t>
            </a:r>
            <a:br>
              <a:rPr lang="en-US" dirty="0"/>
            </a:br>
            <a:r>
              <a:rPr lang="en-US" sz="1200" b="0" i="0" u="none" strike="noStrike" kern="1200" baseline="0" dirty="0">
                <a:solidFill>
                  <a:schemeClr val="tx1"/>
                </a:solidFill>
                <a:latin typeface="+mn-lt"/>
                <a:ea typeface="+mn-ea"/>
                <a:cs typeface="+mn-cs"/>
              </a:rPr>
              <a:t>DOI: 10.1111/gec3.12469</a:t>
            </a:r>
          </a:p>
          <a:p>
            <a:endParaRPr lang="en-US" sz="1200" b="0" i="0" u="none" strike="noStrike" kern="1200" baseline="0" dirty="0">
              <a:solidFill>
                <a:schemeClr val="tx1"/>
              </a:solidFill>
              <a:latin typeface="+mn-lt"/>
              <a:ea typeface="+mn-ea"/>
              <a:cs typeface="+mn-cs"/>
            </a:endParaRPr>
          </a:p>
          <a:p>
            <a:r>
              <a:rPr lang="en-US" dirty="0"/>
              <a:t>https://www.nytimes.com/2018/12/06/business/rwanda-charcoal-pellet-stoves-.html</a:t>
            </a:r>
          </a:p>
        </p:txBody>
      </p:sp>
      <p:sp>
        <p:nvSpPr>
          <p:cNvPr id="4" name="Slide Number Placeholder 3"/>
          <p:cNvSpPr>
            <a:spLocks noGrp="1"/>
          </p:cNvSpPr>
          <p:nvPr>
            <p:ph type="sldNum" sz="quarter" idx="10"/>
          </p:nvPr>
        </p:nvSpPr>
        <p:spPr/>
        <p:txBody>
          <a:bodyPr/>
          <a:lstStyle/>
          <a:p>
            <a:fld id="{B94469CE-27A7-42D0-85E3-FFCEAA6C3EC8}" type="slidenum">
              <a:rPr lang="en-US" smtClean="0"/>
              <a:t>11</a:t>
            </a:fld>
            <a:endParaRPr lang="en-US" dirty="0"/>
          </a:p>
        </p:txBody>
      </p:sp>
    </p:spTree>
    <p:extLst>
      <p:ext uri="{BB962C8B-B14F-4D97-AF65-F5344CB8AC3E}">
        <p14:creationId xmlns:p14="http://schemas.microsoft.com/office/powerpoint/2010/main" val="25029443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push to make homes more energy efficient had the initial effect of holding in more pollutants and increasing CO2 levels. Green certified homes often now include a ventilation plan to address this. </a:t>
            </a:r>
          </a:p>
        </p:txBody>
      </p:sp>
      <p:sp>
        <p:nvSpPr>
          <p:cNvPr id="4" name="Slide Number Placeholder 3"/>
          <p:cNvSpPr>
            <a:spLocks noGrp="1"/>
          </p:cNvSpPr>
          <p:nvPr>
            <p:ph type="sldNum" sz="quarter" idx="5"/>
          </p:nvPr>
        </p:nvSpPr>
        <p:spPr/>
        <p:txBody>
          <a:bodyPr/>
          <a:lstStyle/>
          <a:p>
            <a:fld id="{B94469CE-27A7-42D0-85E3-FFCEAA6C3EC8}" type="slidenum">
              <a:rPr lang="en-US" smtClean="0"/>
              <a:t>13</a:t>
            </a:fld>
            <a:endParaRPr lang="en-US" dirty="0"/>
          </a:p>
        </p:txBody>
      </p:sp>
    </p:spTree>
    <p:extLst>
      <p:ext uri="{BB962C8B-B14F-4D97-AF65-F5344CB8AC3E}">
        <p14:creationId xmlns:p14="http://schemas.microsoft.com/office/powerpoint/2010/main" val="29458560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https://sustainability.stanford.edu/news/ecuador-emissions-and-hospitalizations-fell-lockstep-electric-stove-adoption</a:t>
            </a:r>
          </a:p>
        </p:txBody>
      </p:sp>
      <p:sp>
        <p:nvSpPr>
          <p:cNvPr id="4" name="Slide Number Placeholder 3"/>
          <p:cNvSpPr>
            <a:spLocks noGrp="1"/>
          </p:cNvSpPr>
          <p:nvPr>
            <p:ph type="sldNum" sz="quarter" idx="5"/>
          </p:nvPr>
        </p:nvSpPr>
        <p:spPr/>
        <p:txBody>
          <a:bodyPr/>
          <a:lstStyle/>
          <a:p>
            <a:fld id="{B94469CE-27A7-42D0-85E3-FFCEAA6C3EC8}" type="slidenum">
              <a:rPr lang="en-US" smtClean="0"/>
              <a:t>14</a:t>
            </a:fld>
            <a:endParaRPr lang="en-US" dirty="0"/>
          </a:p>
        </p:txBody>
      </p:sp>
    </p:spTree>
    <p:extLst>
      <p:ext uri="{BB962C8B-B14F-4D97-AF65-F5344CB8AC3E}">
        <p14:creationId xmlns:p14="http://schemas.microsoft.com/office/powerpoint/2010/main" val="18253756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1FE73A3-B0AA-4A38-9717-9AA323367977}" type="datetimeFigureOut">
              <a:rPr lang="en-US" smtClean="0"/>
              <a:t>9/1/2026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9AC270A-FEF0-4073-B8CE-7497EA27A66F}" type="slidenum">
              <a:rPr lang="en-US" smtClean="0"/>
              <a:t>‹#›</a:t>
            </a:fld>
            <a:endParaRPr lang="en-US" dirty="0"/>
          </a:p>
        </p:txBody>
      </p:sp>
    </p:spTree>
    <p:extLst>
      <p:ext uri="{BB962C8B-B14F-4D97-AF65-F5344CB8AC3E}">
        <p14:creationId xmlns:p14="http://schemas.microsoft.com/office/powerpoint/2010/main" val="40421634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FE73A3-B0AA-4A38-9717-9AA323367977}" type="datetimeFigureOut">
              <a:rPr lang="en-US" smtClean="0"/>
              <a:t>9/1/2026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9AC270A-FEF0-4073-B8CE-7497EA27A66F}" type="slidenum">
              <a:rPr lang="en-US" smtClean="0"/>
              <a:t>‹#›</a:t>
            </a:fld>
            <a:endParaRPr lang="en-US" dirty="0"/>
          </a:p>
        </p:txBody>
      </p:sp>
    </p:spTree>
    <p:extLst>
      <p:ext uri="{BB962C8B-B14F-4D97-AF65-F5344CB8AC3E}">
        <p14:creationId xmlns:p14="http://schemas.microsoft.com/office/powerpoint/2010/main" val="3171692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FE73A3-B0AA-4A38-9717-9AA323367977}" type="datetimeFigureOut">
              <a:rPr lang="en-US" smtClean="0"/>
              <a:t>9/1/2026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9AC270A-FEF0-4073-B8CE-7497EA27A66F}" type="slidenum">
              <a:rPr lang="en-US" smtClean="0"/>
              <a:t>‹#›</a:t>
            </a:fld>
            <a:endParaRPr lang="en-US" dirty="0"/>
          </a:p>
        </p:txBody>
      </p:sp>
    </p:spTree>
    <p:extLst>
      <p:ext uri="{BB962C8B-B14F-4D97-AF65-F5344CB8AC3E}">
        <p14:creationId xmlns:p14="http://schemas.microsoft.com/office/powerpoint/2010/main" val="2684597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1FE73A3-B0AA-4A38-9717-9AA323367977}" type="datetimeFigureOut">
              <a:rPr lang="en-US" smtClean="0"/>
              <a:t>9/1/2026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9AC270A-FEF0-4073-B8CE-7497EA27A66F}" type="slidenum">
              <a:rPr lang="en-US" smtClean="0"/>
              <a:t>‹#›</a:t>
            </a:fld>
            <a:endParaRPr lang="en-US" dirty="0"/>
          </a:p>
        </p:txBody>
      </p:sp>
    </p:spTree>
    <p:extLst>
      <p:ext uri="{BB962C8B-B14F-4D97-AF65-F5344CB8AC3E}">
        <p14:creationId xmlns:p14="http://schemas.microsoft.com/office/powerpoint/2010/main" val="16194110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1FE73A3-B0AA-4A38-9717-9AA323367977}" type="datetimeFigureOut">
              <a:rPr lang="en-US" smtClean="0"/>
              <a:t>9/1/2026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F9AC270A-FEF0-4073-B8CE-7497EA27A66F}" type="slidenum">
              <a:rPr lang="en-US" smtClean="0"/>
              <a:t>‹#›</a:t>
            </a:fld>
            <a:endParaRPr lang="en-US" dirty="0"/>
          </a:p>
        </p:txBody>
      </p:sp>
    </p:spTree>
    <p:extLst>
      <p:ext uri="{BB962C8B-B14F-4D97-AF65-F5344CB8AC3E}">
        <p14:creationId xmlns:p14="http://schemas.microsoft.com/office/powerpoint/2010/main" val="40469040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FE73A3-B0AA-4A38-9717-9AA323367977}" type="datetimeFigureOut">
              <a:rPr lang="en-US" smtClean="0"/>
              <a:t>9/1/2026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9AC270A-FEF0-4073-B8CE-7497EA27A66F}" type="slidenum">
              <a:rPr lang="en-US" smtClean="0"/>
              <a:t>‹#›</a:t>
            </a:fld>
            <a:endParaRPr lang="en-US" dirty="0"/>
          </a:p>
        </p:txBody>
      </p:sp>
    </p:spTree>
    <p:extLst>
      <p:ext uri="{BB962C8B-B14F-4D97-AF65-F5344CB8AC3E}">
        <p14:creationId xmlns:p14="http://schemas.microsoft.com/office/powerpoint/2010/main" val="11635097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FE73A3-B0AA-4A38-9717-9AA323367977}" type="datetimeFigureOut">
              <a:rPr lang="en-US" smtClean="0"/>
              <a:t>9/1/2026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F9AC270A-FEF0-4073-B8CE-7497EA27A66F}" type="slidenum">
              <a:rPr lang="en-US" smtClean="0"/>
              <a:t>‹#›</a:t>
            </a:fld>
            <a:endParaRPr lang="en-US" dirty="0"/>
          </a:p>
        </p:txBody>
      </p:sp>
    </p:spTree>
    <p:extLst>
      <p:ext uri="{BB962C8B-B14F-4D97-AF65-F5344CB8AC3E}">
        <p14:creationId xmlns:p14="http://schemas.microsoft.com/office/powerpoint/2010/main" val="42452752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1FE73A3-B0AA-4A38-9717-9AA323367977}" type="datetimeFigureOut">
              <a:rPr lang="en-US" smtClean="0"/>
              <a:t>9/1/2026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9AC270A-FEF0-4073-B8CE-7497EA27A66F}" type="slidenum">
              <a:rPr lang="en-US" smtClean="0"/>
              <a:t>‹#›</a:t>
            </a:fld>
            <a:endParaRPr lang="en-US" dirty="0"/>
          </a:p>
        </p:txBody>
      </p:sp>
    </p:spTree>
    <p:extLst>
      <p:ext uri="{BB962C8B-B14F-4D97-AF65-F5344CB8AC3E}">
        <p14:creationId xmlns:p14="http://schemas.microsoft.com/office/powerpoint/2010/main" val="1561400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1FE73A3-B0AA-4A38-9717-9AA323367977}" type="datetimeFigureOut">
              <a:rPr lang="en-US" smtClean="0"/>
              <a:t>9/1/2026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9AC270A-FEF0-4073-B8CE-7497EA27A66F}" type="slidenum">
              <a:rPr lang="en-US" smtClean="0"/>
              <a:t>‹#›</a:t>
            </a:fld>
            <a:endParaRPr lang="en-US" dirty="0"/>
          </a:p>
        </p:txBody>
      </p:sp>
    </p:spTree>
    <p:extLst>
      <p:ext uri="{BB962C8B-B14F-4D97-AF65-F5344CB8AC3E}">
        <p14:creationId xmlns:p14="http://schemas.microsoft.com/office/powerpoint/2010/main" val="28429215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FE73A3-B0AA-4A38-9717-9AA323367977}" type="datetimeFigureOut">
              <a:rPr lang="en-US" smtClean="0"/>
              <a:t>9/1/2026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9AC270A-FEF0-4073-B8CE-7497EA27A66F}" type="slidenum">
              <a:rPr lang="en-US" smtClean="0"/>
              <a:t>‹#›</a:t>
            </a:fld>
            <a:endParaRPr lang="en-US" dirty="0"/>
          </a:p>
        </p:txBody>
      </p:sp>
    </p:spTree>
    <p:extLst>
      <p:ext uri="{BB962C8B-B14F-4D97-AF65-F5344CB8AC3E}">
        <p14:creationId xmlns:p14="http://schemas.microsoft.com/office/powerpoint/2010/main" val="4154927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FE73A3-B0AA-4A38-9717-9AA323367977}" type="datetimeFigureOut">
              <a:rPr lang="en-US" smtClean="0"/>
              <a:t>9/1/2026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9AC270A-FEF0-4073-B8CE-7497EA27A66F}" type="slidenum">
              <a:rPr lang="en-US" smtClean="0"/>
              <a:t>‹#›</a:t>
            </a:fld>
            <a:endParaRPr lang="en-US" dirty="0"/>
          </a:p>
        </p:txBody>
      </p:sp>
    </p:spTree>
    <p:extLst>
      <p:ext uri="{BB962C8B-B14F-4D97-AF65-F5344CB8AC3E}">
        <p14:creationId xmlns:p14="http://schemas.microsoft.com/office/powerpoint/2010/main" val="39002720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9"/>
        <p:cNvGrpSpPr/>
        <p:nvPr/>
      </p:nvGrpSpPr>
      <p:grpSpPr>
        <a:xfrm>
          <a:off x="0" y="0"/>
          <a:ext cx="0" cy="0"/>
          <a:chOff x="0" y="0"/>
          <a:chExt cx="0" cy="0"/>
        </a:xfrm>
      </p:grpSpPr>
      <p:sp>
        <p:nvSpPr>
          <p:cNvPr id="21" name="Shape 21"/>
          <p:cNvSpPr txBox="1">
            <a:spLocks noGrp="1"/>
          </p:cNvSpPr>
          <p:nvPr>
            <p:ph type="title"/>
          </p:nvPr>
        </p:nvSpPr>
        <p:spPr>
          <a:xfrm>
            <a:off x="415600" y="593367"/>
            <a:ext cx="11360800" cy="817600"/>
          </a:xfrm>
          <a:prstGeom prst="rect">
            <a:avLst/>
          </a:prstGeom>
        </p:spPr>
        <p:txBody>
          <a:bodyPr spcFirstLastPara="1" wrap="square" lIns="91425" tIns="91425" rIns="91425" bIns="91425" anchor="t" anchorCtr="0"/>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 name="Shape 22"/>
          <p:cNvSpPr txBox="1">
            <a:spLocks noGrp="1"/>
          </p:cNvSpPr>
          <p:nvPr>
            <p:ph type="body" idx="1"/>
          </p:nvPr>
        </p:nvSpPr>
        <p:spPr>
          <a:xfrm>
            <a:off x="415600" y="1562133"/>
            <a:ext cx="11360800" cy="4529600"/>
          </a:xfrm>
          <a:prstGeom prst="rect">
            <a:avLst/>
          </a:prstGeom>
        </p:spPr>
        <p:txBody>
          <a:bodyPr spcFirstLastPara="1" wrap="square" lIns="91425" tIns="91425" rIns="91425" bIns="91425" anchor="t" anchorCtr="0"/>
          <a:lstStyle>
            <a:lvl1pPr marL="457189" lvl="0" indent="-342892">
              <a:spcBef>
                <a:spcPts val="0"/>
              </a:spcBef>
              <a:spcAft>
                <a:spcPts val="0"/>
              </a:spcAft>
              <a:buSzPts val="1800"/>
              <a:buChar char="●"/>
              <a:defRPr/>
            </a:lvl1pPr>
            <a:lvl2pPr marL="914378" lvl="1" indent="-317492">
              <a:spcBef>
                <a:spcPts val="1600"/>
              </a:spcBef>
              <a:spcAft>
                <a:spcPts val="0"/>
              </a:spcAft>
              <a:buSzPts val="1400"/>
              <a:buChar char="○"/>
              <a:defRPr/>
            </a:lvl2pPr>
            <a:lvl3pPr marL="1371566" lvl="2" indent="-317492">
              <a:spcBef>
                <a:spcPts val="1600"/>
              </a:spcBef>
              <a:spcAft>
                <a:spcPts val="0"/>
              </a:spcAft>
              <a:buSzPts val="1400"/>
              <a:buChar char="■"/>
              <a:defRPr/>
            </a:lvl3pPr>
            <a:lvl4pPr marL="1828754" lvl="3" indent="-317492">
              <a:spcBef>
                <a:spcPts val="1600"/>
              </a:spcBef>
              <a:spcAft>
                <a:spcPts val="0"/>
              </a:spcAft>
              <a:buSzPts val="1400"/>
              <a:buChar char="●"/>
              <a:defRPr/>
            </a:lvl4pPr>
            <a:lvl5pPr marL="2285943" lvl="4" indent="-317492">
              <a:spcBef>
                <a:spcPts val="1600"/>
              </a:spcBef>
              <a:spcAft>
                <a:spcPts val="0"/>
              </a:spcAft>
              <a:buSzPts val="1400"/>
              <a:buChar char="○"/>
              <a:defRPr/>
            </a:lvl5pPr>
            <a:lvl6pPr marL="2743132" lvl="5" indent="-317492">
              <a:spcBef>
                <a:spcPts val="1600"/>
              </a:spcBef>
              <a:spcAft>
                <a:spcPts val="0"/>
              </a:spcAft>
              <a:buSzPts val="1400"/>
              <a:buChar char="■"/>
              <a:defRPr/>
            </a:lvl6pPr>
            <a:lvl7pPr marL="3200320" lvl="6" indent="-317492">
              <a:spcBef>
                <a:spcPts val="1600"/>
              </a:spcBef>
              <a:spcAft>
                <a:spcPts val="0"/>
              </a:spcAft>
              <a:buSzPts val="1400"/>
              <a:buChar char="●"/>
              <a:defRPr/>
            </a:lvl7pPr>
            <a:lvl8pPr marL="3657509" lvl="7" indent="-317492">
              <a:spcBef>
                <a:spcPts val="1600"/>
              </a:spcBef>
              <a:spcAft>
                <a:spcPts val="0"/>
              </a:spcAft>
              <a:buSzPts val="1400"/>
              <a:buChar char="○"/>
              <a:defRPr/>
            </a:lvl8pPr>
            <a:lvl9pPr marL="4114697" lvl="8" indent="-317492">
              <a:spcBef>
                <a:spcPts val="1600"/>
              </a:spcBef>
              <a:spcAft>
                <a:spcPts val="1600"/>
              </a:spcAft>
              <a:buSzPts val="1400"/>
              <a:buChar char="■"/>
              <a:defRPr/>
            </a:lvl9pPr>
          </a:lstStyle>
          <a:p>
            <a:endParaRPr/>
          </a:p>
        </p:txBody>
      </p:sp>
      <p:sp>
        <p:nvSpPr>
          <p:cNvPr id="23" name="Shape 2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9539774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FE73A3-B0AA-4A38-9717-9AA323367977}" type="datetimeFigureOut">
              <a:rPr lang="en-US" smtClean="0"/>
              <a:t>9/1/2026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AC270A-FEF0-4073-B8CE-7497EA27A66F}" type="slidenum">
              <a:rPr lang="en-US" smtClean="0"/>
              <a:t>‹#›</a:t>
            </a:fld>
            <a:endParaRPr lang="en-US" dirty="0"/>
          </a:p>
        </p:txBody>
      </p:sp>
    </p:spTree>
    <p:extLst>
      <p:ext uri="{BB962C8B-B14F-4D97-AF65-F5344CB8AC3E}">
        <p14:creationId xmlns:p14="http://schemas.microsoft.com/office/powerpoint/2010/main" val="3943439792"/>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pri.org/stories/2013-03-08/location-video-mongolia-cleaning-one-worlds-most-polluted-cities" TargetMode="External"/><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dw.com/en/indoor-pollutants/av-57932485"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video" Target="https://www.youtube.com/embed/xTXC1lCkkjI?feature=oembed" TargetMode="External"/><Relationship Id="rId4"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Air pollution is an underrecognized and insufficiently addressed global health issue</a:t>
            </a:r>
          </a:p>
        </p:txBody>
      </p:sp>
      <p:sp>
        <p:nvSpPr>
          <p:cNvPr id="3" name="Content Placeholder 2"/>
          <p:cNvSpPr>
            <a:spLocks noGrp="1"/>
          </p:cNvSpPr>
          <p:nvPr>
            <p:ph idx="1"/>
          </p:nvPr>
        </p:nvSpPr>
        <p:spPr>
          <a:xfrm>
            <a:off x="838200" y="2141537"/>
            <a:ext cx="10515600" cy="4351338"/>
          </a:xfrm>
        </p:spPr>
        <p:txBody>
          <a:bodyPr>
            <a:normAutofit/>
          </a:bodyPr>
          <a:lstStyle/>
          <a:p>
            <a:r>
              <a:rPr lang="en-US" dirty="0">
                <a:latin typeface="+mj-lt"/>
              </a:rPr>
              <a:t>10 million deaths globally each year due to air pollution, with most deaths attributable to the </a:t>
            </a:r>
            <a:r>
              <a:rPr lang="en-US" b="1" dirty="0">
                <a:latin typeface="+mj-lt"/>
              </a:rPr>
              <a:t>particulate matter (PM) </a:t>
            </a:r>
            <a:r>
              <a:rPr lang="en-US" dirty="0">
                <a:latin typeface="+mj-lt"/>
              </a:rPr>
              <a:t>component of air pollution.  </a:t>
            </a:r>
          </a:p>
          <a:p>
            <a:r>
              <a:rPr lang="en-US" dirty="0">
                <a:latin typeface="+mj-lt"/>
              </a:rPr>
              <a:t>The average human on earth would live 2-3 years longer if air contained no particulate matter.  This can range up to ten years for some cities in south Asia today</a:t>
            </a:r>
          </a:p>
          <a:p>
            <a:r>
              <a:rPr lang="en-US" dirty="0">
                <a:latin typeface="+mj-lt"/>
              </a:rPr>
              <a:t>Particulate matter has long been linked to heart and lung disease. But it may also be linked to increased childhood mortality, degenerative brain diseases such as Alzheimer’s, stillbirth and reduce birth weight, and reduced intelligence and cognitive performance. </a:t>
            </a:r>
          </a:p>
          <a:p>
            <a:endParaRPr lang="en-US" dirty="0">
              <a:latin typeface="+mj-lt"/>
            </a:endParaRPr>
          </a:p>
          <a:p>
            <a:endParaRPr lang="en-US" dirty="0">
              <a:latin typeface="+mj-lt"/>
            </a:endParaRPr>
          </a:p>
          <a:p>
            <a:endParaRPr lang="en-US" dirty="0">
              <a:latin typeface="+mj-lt"/>
            </a:endParaRPr>
          </a:p>
        </p:txBody>
      </p:sp>
    </p:spTree>
    <p:extLst>
      <p:ext uri="{BB962C8B-B14F-4D97-AF65-F5344CB8AC3E}">
        <p14:creationId xmlns:p14="http://schemas.microsoft.com/office/powerpoint/2010/main" val="26409441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994CE-1A46-E5A5-08F1-FF94B233A0F1}"/>
              </a:ext>
            </a:extLst>
          </p:cNvPr>
          <p:cNvSpPr>
            <a:spLocks noGrp="1"/>
          </p:cNvSpPr>
          <p:nvPr>
            <p:ph type="title"/>
          </p:nvPr>
        </p:nvSpPr>
        <p:spPr/>
        <p:txBody>
          <a:bodyPr/>
          <a:lstStyle/>
          <a:p>
            <a:r>
              <a:rPr lang="en-US" dirty="0"/>
              <a:t>Why are the health impacts of air pollution downplayed?</a:t>
            </a:r>
          </a:p>
        </p:txBody>
      </p:sp>
      <p:sp>
        <p:nvSpPr>
          <p:cNvPr id="3" name="Content Placeholder 2">
            <a:extLst>
              <a:ext uri="{FF2B5EF4-FFF2-40B4-BE49-F238E27FC236}">
                <a16:creationId xmlns:a16="http://schemas.microsoft.com/office/drawing/2014/main" id="{95BC4A69-616F-4220-730E-5FBCF6B5E49B}"/>
              </a:ext>
            </a:extLst>
          </p:cNvPr>
          <p:cNvSpPr>
            <a:spLocks noGrp="1" noRot="1" noMove="1" noResize="1" noEditPoints="1" noAdjustHandles="1" noChangeArrowheads="1" noChangeShapeType="1"/>
          </p:cNvSpPr>
          <p:nvPr>
            <p:ph idx="1"/>
          </p:nvPr>
        </p:nvSpPr>
        <p:spPr/>
        <p:txBody>
          <a:bodyPr>
            <a:normAutofit fontScale="92500" lnSpcReduction="20000"/>
          </a:bodyPr>
          <a:lstStyle/>
          <a:p>
            <a:pPr>
              <a:lnSpc>
                <a:spcPct val="100000"/>
              </a:lnSpc>
              <a:spcBef>
                <a:spcPts val="0"/>
              </a:spcBef>
              <a:defRPr/>
            </a:pPr>
            <a:r>
              <a:rPr lang="en-US" dirty="0"/>
              <a:t>It is difficult to assign direct causality to death from air pollution. Most often, death is attributed to C</a:t>
            </a:r>
            <a:r>
              <a:rPr lang="en-US" dirty="0">
                <a:latin typeface="+mj-lt"/>
              </a:rPr>
              <a:t>OPD (chronic obstructive pulmonary disease, which includes emphysema), cancers of the lung and upper digestive tract, asthma, and heart attack and stroke. </a:t>
            </a:r>
            <a:br>
              <a:rPr lang="en-US" dirty="0">
                <a:latin typeface="+mj-lt"/>
              </a:rPr>
            </a:br>
            <a:endParaRPr lang="en-US" dirty="0">
              <a:latin typeface="+mj-lt"/>
            </a:endParaRPr>
          </a:p>
          <a:p>
            <a:pPr>
              <a:lnSpc>
                <a:spcPct val="100000"/>
              </a:lnSpc>
              <a:spcBef>
                <a:spcPts val="0"/>
              </a:spcBef>
              <a:defRPr/>
            </a:pPr>
            <a:r>
              <a:rPr lang="en-US" dirty="0"/>
              <a:t>Air pollution can produce immense toll because billions of people are exposed each day and we tend to downplay the risks when the problem is so pervasive – </a:t>
            </a:r>
            <a:r>
              <a:rPr lang="en-US" b="1" dirty="0"/>
              <a:t>the normalization of risk. </a:t>
            </a:r>
          </a:p>
          <a:p>
            <a:pPr>
              <a:lnSpc>
                <a:spcPct val="100000"/>
              </a:lnSpc>
              <a:spcBef>
                <a:spcPts val="0"/>
              </a:spcBef>
              <a:defRPr/>
            </a:pPr>
            <a:endParaRPr lang="en-US" dirty="0"/>
          </a:p>
          <a:p>
            <a:pPr>
              <a:lnSpc>
                <a:spcPct val="100000"/>
              </a:lnSpc>
              <a:spcBef>
                <a:spcPts val="0"/>
              </a:spcBef>
              <a:defRPr/>
            </a:pPr>
            <a:r>
              <a:rPr lang="en-US" dirty="0"/>
              <a:t>Those who dismiss </a:t>
            </a:r>
            <a:r>
              <a:rPr lang="en-US" baseline="0" dirty="0"/>
              <a:t>air pollution invoke these misleading and erroneous statements like “It only hurts those who are already sick” or “We don’t know enough about the science of how it impacts health”. </a:t>
            </a:r>
            <a:endParaRPr lang="en-US" sz="2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dirty="0"/>
          </a:p>
          <a:p>
            <a:endParaRPr lang="en-US" dirty="0"/>
          </a:p>
        </p:txBody>
      </p:sp>
    </p:spTree>
    <p:extLst>
      <p:ext uri="{BB962C8B-B14F-4D97-AF65-F5344CB8AC3E}">
        <p14:creationId xmlns:p14="http://schemas.microsoft.com/office/powerpoint/2010/main" val="12095423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Particulate matter (PM)</a:t>
            </a:r>
          </a:p>
        </p:txBody>
      </p:sp>
      <p:sp>
        <p:nvSpPr>
          <p:cNvPr id="3" name="Content Placeholder 2"/>
          <p:cNvSpPr>
            <a:spLocks noGrp="1"/>
          </p:cNvSpPr>
          <p:nvPr>
            <p:ph idx="1"/>
          </p:nvPr>
        </p:nvSpPr>
        <p:spPr>
          <a:xfrm>
            <a:off x="538481" y="1690689"/>
            <a:ext cx="6025872" cy="4804379"/>
          </a:xfrm>
        </p:spPr>
        <p:txBody>
          <a:bodyPr>
            <a:normAutofit fontScale="92500" lnSpcReduction="10000"/>
          </a:bodyPr>
          <a:lstStyle/>
          <a:p>
            <a:r>
              <a:rPr lang="en-US" dirty="0">
                <a:latin typeface="+mj-lt"/>
              </a:rPr>
              <a:t>Particulate matter is the air pollutant most responsible for shortening lives </a:t>
            </a:r>
          </a:p>
          <a:p>
            <a:r>
              <a:rPr lang="en-US" dirty="0">
                <a:latin typeface="+mj-lt"/>
              </a:rPr>
              <a:t>These are the particles that occur in the air due to fuel combustion, wildfires, and natural sources of dust</a:t>
            </a:r>
          </a:p>
          <a:p>
            <a:r>
              <a:rPr lang="en-US" dirty="0">
                <a:latin typeface="+mj-lt"/>
              </a:rPr>
              <a:t>Fossil fuel combustion and manufacturing is the major source of PM in higher-income countries</a:t>
            </a:r>
          </a:p>
          <a:p>
            <a:r>
              <a:rPr lang="en-US" dirty="0">
                <a:latin typeface="+mj-lt"/>
              </a:rPr>
              <a:t>Agricultural fires and the burning of biomass to cook or heat homes increases in importance in lower-income countries.</a:t>
            </a:r>
          </a:p>
          <a:p>
            <a:r>
              <a:rPr lang="en-US" dirty="0">
                <a:latin typeface="+mj-lt"/>
              </a:rPr>
              <a:t>Cities and regions differ in the sources of their particulate matter</a:t>
            </a:r>
          </a:p>
          <a:p>
            <a:pPr marL="0" indent="0">
              <a:buNone/>
            </a:pPr>
            <a:endParaRPr lang="en-US" dirty="0">
              <a:latin typeface="+mj-lt"/>
            </a:endParaRPr>
          </a:p>
        </p:txBody>
      </p:sp>
      <p:pic>
        <p:nvPicPr>
          <p:cNvPr id="4" name="Shape 126"/>
          <p:cNvPicPr preferRelativeResize="0"/>
          <p:nvPr/>
        </p:nvPicPr>
        <p:blipFill rotWithShape="1">
          <a:blip r:embed="rId2">
            <a:alphaModFix/>
          </a:blip>
          <a:srcRect r="1115"/>
          <a:stretch/>
        </p:blipFill>
        <p:spPr>
          <a:xfrm>
            <a:off x="6727514" y="1690688"/>
            <a:ext cx="5119046" cy="4625746"/>
          </a:xfrm>
          <a:prstGeom prst="rect">
            <a:avLst/>
          </a:prstGeom>
          <a:noFill/>
          <a:ln>
            <a:noFill/>
          </a:ln>
        </p:spPr>
      </p:pic>
    </p:spTree>
    <p:extLst>
      <p:ext uri="{BB962C8B-B14F-4D97-AF65-F5344CB8AC3E}">
        <p14:creationId xmlns:p14="http://schemas.microsoft.com/office/powerpoint/2010/main" val="22870615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person sitting on the floor by a fire&#10;&#10;AI-generated content may be incorrect.">
            <a:extLst>
              <a:ext uri="{FF2B5EF4-FFF2-40B4-BE49-F238E27FC236}">
                <a16:creationId xmlns:a16="http://schemas.microsoft.com/office/drawing/2014/main" id="{28E64B5E-D1BD-9886-81AC-FA406233A6B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46050"/>
            <a:ext cx="12215627" cy="6565900"/>
          </a:xfrm>
        </p:spPr>
      </p:pic>
    </p:spTree>
    <p:extLst>
      <p:ext uri="{BB962C8B-B14F-4D97-AF65-F5344CB8AC3E}">
        <p14:creationId xmlns:p14="http://schemas.microsoft.com/office/powerpoint/2010/main" val="126176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06056" y="299810"/>
            <a:ext cx="5847744" cy="1325563"/>
          </a:xfrm>
        </p:spPr>
        <p:txBody>
          <a:bodyPr/>
          <a:lstStyle/>
          <a:p>
            <a:pPr algn="ctr"/>
            <a:r>
              <a:rPr lang="en-US" dirty="0"/>
              <a:t>Household air pollution (HAP)</a:t>
            </a:r>
          </a:p>
        </p:txBody>
      </p:sp>
      <p:sp>
        <p:nvSpPr>
          <p:cNvPr id="3" name="Content Placeholder 2"/>
          <p:cNvSpPr>
            <a:spLocks noGrp="1"/>
          </p:cNvSpPr>
          <p:nvPr>
            <p:ph idx="1"/>
          </p:nvPr>
        </p:nvSpPr>
        <p:spPr>
          <a:xfrm>
            <a:off x="292768" y="299810"/>
            <a:ext cx="5325712" cy="6558190"/>
          </a:xfrm>
        </p:spPr>
        <p:txBody>
          <a:bodyPr>
            <a:normAutofit/>
          </a:bodyPr>
          <a:lstStyle/>
          <a:p>
            <a:r>
              <a:rPr lang="en-US" sz="2400" dirty="0">
                <a:latin typeface="+mj-lt"/>
              </a:rPr>
              <a:t>A third of the world (around three billion people) use biomass (wood, dung, crop stubble) and other raw to slightly processed cooking fuels (e.g., charcoal, coal, kerosene) worldwide.</a:t>
            </a:r>
          </a:p>
          <a:p>
            <a:r>
              <a:rPr lang="en-US" sz="2400" dirty="0">
                <a:latin typeface="+mj-lt"/>
              </a:rPr>
              <a:t>Most often used for cooking in developing countries. </a:t>
            </a:r>
          </a:p>
          <a:p>
            <a:r>
              <a:rPr lang="en-US" sz="2400" dirty="0">
                <a:latin typeface="+mj-lt"/>
              </a:rPr>
              <a:t>PM from HAP is associated with approximately 3.5 million deaths annually – it rivals ambient (outdoor) PM</a:t>
            </a:r>
          </a:p>
          <a:p>
            <a:r>
              <a:rPr lang="en-US" sz="2400" dirty="0">
                <a:latin typeface="+mj-lt"/>
              </a:rPr>
              <a:t>The health burden is unevenly distributed as women and children are more often exposed to cooking fires</a:t>
            </a:r>
          </a:p>
          <a:p>
            <a:r>
              <a:rPr lang="en-US" sz="2400" dirty="0">
                <a:latin typeface="+mj-lt"/>
              </a:rPr>
              <a:t>However, exposures to HAP are declining</a:t>
            </a:r>
          </a:p>
        </p:txBody>
      </p:sp>
      <p:pic>
        <p:nvPicPr>
          <p:cNvPr id="5" name="Content Placeholder 3">
            <a:extLst>
              <a:ext uri="{FF2B5EF4-FFF2-40B4-BE49-F238E27FC236}">
                <a16:creationId xmlns:a16="http://schemas.microsoft.com/office/drawing/2014/main" id="{75B4DD6B-C817-44F4-B5D9-E0013FF39264}"/>
              </a:ext>
            </a:extLst>
          </p:cNvPr>
          <p:cNvPicPr>
            <a:picLocks noChangeAspect="1"/>
          </p:cNvPicPr>
          <p:nvPr/>
        </p:nvPicPr>
        <p:blipFill rotWithShape="1">
          <a:blip r:embed="rId3"/>
          <a:srcRect r="17947" b="34077"/>
          <a:stretch/>
        </p:blipFill>
        <p:spPr>
          <a:xfrm>
            <a:off x="5506056" y="1690688"/>
            <a:ext cx="6401797" cy="3917632"/>
          </a:xfrm>
          <a:prstGeom prst="rect">
            <a:avLst/>
          </a:prstGeom>
        </p:spPr>
      </p:pic>
    </p:spTree>
    <p:extLst>
      <p:ext uri="{BB962C8B-B14F-4D97-AF65-F5344CB8AC3E}">
        <p14:creationId xmlns:p14="http://schemas.microsoft.com/office/powerpoint/2010/main" val="204877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title"/>
          </p:nvPr>
        </p:nvSpPr>
        <p:spPr>
          <a:xfrm>
            <a:off x="3741419" y="328012"/>
            <a:ext cx="3474325" cy="735637"/>
          </a:xfrm>
          <a:prstGeom prst="rect">
            <a:avLst/>
          </a:prstGeom>
        </p:spPr>
        <p:txBody>
          <a:bodyPr spcFirstLastPara="1" vert="horz" wrap="square" lIns="91425" tIns="91425" rIns="91425" bIns="91425" rtlCol="0" anchor="t" anchorCtr="0">
            <a:noAutofit/>
          </a:bodyPr>
          <a:lstStyle/>
          <a:p>
            <a:pPr lvl="0" algn="ctr"/>
            <a:r>
              <a:rPr lang="en" dirty="0"/>
              <a:t>Ulan </a:t>
            </a:r>
            <a:r>
              <a:rPr lang="en-US" dirty="0"/>
              <a:t>Bator</a:t>
            </a:r>
            <a:r>
              <a:rPr lang="en" dirty="0"/>
              <a:t>, Mongolia</a:t>
            </a:r>
            <a:endParaRPr dirty="0"/>
          </a:p>
        </p:txBody>
      </p:sp>
      <p:sp>
        <p:nvSpPr>
          <p:cNvPr id="5" name="Text Placeholder 2">
            <a:extLst>
              <a:ext uri="{FF2B5EF4-FFF2-40B4-BE49-F238E27FC236}">
                <a16:creationId xmlns:a16="http://schemas.microsoft.com/office/drawing/2014/main" id="{35899254-5A57-4B89-9132-CF01020455A1}"/>
              </a:ext>
            </a:extLst>
          </p:cNvPr>
          <p:cNvSpPr>
            <a:spLocks noGrp="1"/>
          </p:cNvSpPr>
          <p:nvPr>
            <p:ph type="body" idx="1"/>
          </p:nvPr>
        </p:nvSpPr>
        <p:spPr>
          <a:xfrm>
            <a:off x="126234" y="179730"/>
            <a:ext cx="3729486" cy="6516038"/>
          </a:xfrm>
        </p:spPr>
        <p:txBody>
          <a:bodyPr>
            <a:normAutofit/>
          </a:bodyPr>
          <a:lstStyle/>
          <a:p>
            <a:pPr marL="114297" indent="0">
              <a:buNone/>
            </a:pPr>
            <a:endParaRPr lang="en-US" dirty="0"/>
          </a:p>
          <a:p>
            <a:r>
              <a:rPr lang="en-US" dirty="0"/>
              <a:t>Outdoor (ambient) and indoor HAP are both exceedingly high.</a:t>
            </a:r>
          </a:p>
          <a:p>
            <a:r>
              <a:rPr lang="en-US" dirty="0"/>
              <a:t>Rural migration into Ulan Bator has created informal settlements outside cities that are dependent upon coal for heat and cooking in the cold climate.</a:t>
            </a:r>
          </a:p>
          <a:p>
            <a:r>
              <a:rPr lang="en-US" dirty="0"/>
              <a:t>Migrants cannot afford other kinds of housing</a:t>
            </a:r>
          </a:p>
          <a:p>
            <a:endParaRPr lang="en-US" dirty="0"/>
          </a:p>
        </p:txBody>
      </p:sp>
      <p:sp>
        <p:nvSpPr>
          <p:cNvPr id="2" name="TextBox 1">
            <a:extLst>
              <a:ext uri="{FF2B5EF4-FFF2-40B4-BE49-F238E27FC236}">
                <a16:creationId xmlns:a16="http://schemas.microsoft.com/office/drawing/2014/main" id="{E293D270-577D-4ED6-8E2C-B2334DFDA86D}"/>
              </a:ext>
            </a:extLst>
          </p:cNvPr>
          <p:cNvSpPr txBox="1"/>
          <p:nvPr/>
        </p:nvSpPr>
        <p:spPr>
          <a:xfrm>
            <a:off x="9688495" y="5006775"/>
            <a:ext cx="1013419" cy="523220"/>
          </a:xfrm>
          <a:prstGeom prst="rect">
            <a:avLst/>
          </a:prstGeom>
          <a:solidFill>
            <a:srgbClr val="00B050"/>
          </a:solidFill>
          <a:ln>
            <a:solidFill>
              <a:schemeClr val="tx1"/>
            </a:solidFill>
          </a:ln>
        </p:spPr>
        <p:txBody>
          <a:bodyPr wrap="none" rtlCol="0">
            <a:spAutoFit/>
          </a:bodyPr>
          <a:lstStyle/>
          <a:p>
            <a:r>
              <a:rPr lang="en-US" sz="2800" dirty="0"/>
              <a:t>Video</a:t>
            </a:r>
          </a:p>
        </p:txBody>
      </p:sp>
      <p:pic>
        <p:nvPicPr>
          <p:cNvPr id="4" name="Picture 3">
            <a:hlinkClick r:id="rId3"/>
            <a:extLst>
              <a:ext uri="{FF2B5EF4-FFF2-40B4-BE49-F238E27FC236}">
                <a16:creationId xmlns:a16="http://schemas.microsoft.com/office/drawing/2014/main" id="{66819995-D6D7-6C1A-8B43-D36A60394892}"/>
              </a:ext>
            </a:extLst>
          </p:cNvPr>
          <p:cNvPicPr>
            <a:picLocks noChangeAspect="1"/>
          </p:cNvPicPr>
          <p:nvPr/>
        </p:nvPicPr>
        <p:blipFill>
          <a:blip r:embed="rId4"/>
          <a:stretch>
            <a:fillRect/>
          </a:stretch>
        </p:blipFill>
        <p:spPr>
          <a:xfrm>
            <a:off x="3855719" y="2004527"/>
            <a:ext cx="8021089" cy="4525461"/>
          </a:xfrm>
          <a:prstGeom prst="rect">
            <a:avLst/>
          </a:prstGeom>
          <a:ln w="38100">
            <a:solidFill>
              <a:schemeClr val="accent1"/>
            </a:solidFill>
          </a:ln>
        </p:spPr>
      </p:pic>
      <p:pic>
        <p:nvPicPr>
          <p:cNvPr id="6" name="Picture 5">
            <a:extLst>
              <a:ext uri="{FF2B5EF4-FFF2-40B4-BE49-F238E27FC236}">
                <a16:creationId xmlns:a16="http://schemas.microsoft.com/office/drawing/2014/main" id="{2E03E675-A35C-4208-BEAB-9906A64C5A01}"/>
              </a:ext>
            </a:extLst>
          </p:cNvPr>
          <p:cNvPicPr>
            <a:picLocks noChangeAspect="1"/>
          </p:cNvPicPr>
          <p:nvPr/>
        </p:nvPicPr>
        <p:blipFill>
          <a:blip r:embed="rId5"/>
          <a:stretch>
            <a:fillRect/>
          </a:stretch>
        </p:blipFill>
        <p:spPr>
          <a:xfrm>
            <a:off x="7696440" y="179730"/>
            <a:ext cx="3924906" cy="2411013"/>
          </a:xfrm>
          <a:prstGeom prst="rect">
            <a:avLst/>
          </a:prstGeom>
          <a:ln>
            <a:solidFill>
              <a:schemeClr val="tx1"/>
            </a:solidFill>
          </a:ln>
        </p:spPr>
      </p:pic>
    </p:spTree>
    <p:extLst>
      <p:ext uri="{BB962C8B-B14F-4D97-AF65-F5344CB8AC3E}">
        <p14:creationId xmlns:p14="http://schemas.microsoft.com/office/powerpoint/2010/main" val="1950149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AB5EE09-BF0A-4EE3-A1B3-72A48ECDFE9F}"/>
              </a:ext>
            </a:extLst>
          </p:cNvPr>
          <p:cNvPicPr>
            <a:picLocks noGrp="1" noChangeAspect="1"/>
          </p:cNvPicPr>
          <p:nvPr>
            <p:ph idx="1"/>
          </p:nvPr>
        </p:nvPicPr>
        <p:blipFill>
          <a:blip r:embed="rId3"/>
          <a:stretch>
            <a:fillRect/>
          </a:stretch>
        </p:blipFill>
        <p:spPr>
          <a:xfrm>
            <a:off x="1285461" y="-255826"/>
            <a:ext cx="9170504" cy="7369651"/>
          </a:xfrm>
          <a:prstGeom prst="rect">
            <a:avLst/>
          </a:prstGeom>
        </p:spPr>
      </p:pic>
    </p:spTree>
    <p:extLst>
      <p:ext uri="{BB962C8B-B14F-4D97-AF65-F5344CB8AC3E}">
        <p14:creationId xmlns:p14="http://schemas.microsoft.com/office/powerpoint/2010/main" val="35522866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162050" y="139184"/>
            <a:ext cx="9829799" cy="6674798"/>
          </a:xfrm>
          <a:prstGeom prst="rect">
            <a:avLst/>
          </a:prstGeom>
        </p:spPr>
      </p:pic>
    </p:spTree>
    <p:extLst>
      <p:ext uri="{BB962C8B-B14F-4D97-AF65-F5344CB8AC3E}">
        <p14:creationId xmlns:p14="http://schemas.microsoft.com/office/powerpoint/2010/main" val="36427295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61E7F-6541-4396-A421-93899A819215}"/>
              </a:ext>
            </a:extLst>
          </p:cNvPr>
          <p:cNvSpPr>
            <a:spLocks noGrp="1"/>
          </p:cNvSpPr>
          <p:nvPr>
            <p:ph type="title"/>
          </p:nvPr>
        </p:nvSpPr>
        <p:spPr/>
        <p:txBody>
          <a:bodyPr/>
          <a:lstStyle/>
          <a:p>
            <a:r>
              <a:rPr lang="en-US" dirty="0"/>
              <a:t>The energy ladder</a:t>
            </a:r>
          </a:p>
        </p:txBody>
      </p:sp>
      <p:pic>
        <p:nvPicPr>
          <p:cNvPr id="4" name="Content Placeholder 3">
            <a:extLst>
              <a:ext uri="{FF2B5EF4-FFF2-40B4-BE49-F238E27FC236}">
                <a16:creationId xmlns:a16="http://schemas.microsoft.com/office/drawing/2014/main" id="{33023FC1-027C-47E5-ABF8-FC7CA44F4933}"/>
              </a:ext>
            </a:extLst>
          </p:cNvPr>
          <p:cNvPicPr>
            <a:picLocks noGrp="1" noChangeAspect="1"/>
          </p:cNvPicPr>
          <p:nvPr>
            <p:ph idx="1"/>
          </p:nvPr>
        </p:nvPicPr>
        <p:blipFill>
          <a:blip r:embed="rId3"/>
          <a:stretch>
            <a:fillRect/>
          </a:stretch>
        </p:blipFill>
        <p:spPr>
          <a:xfrm>
            <a:off x="5727032" y="365125"/>
            <a:ext cx="6520735" cy="6324432"/>
          </a:xfrm>
          <a:prstGeom prst="rect">
            <a:avLst/>
          </a:prstGeom>
        </p:spPr>
      </p:pic>
      <p:sp>
        <p:nvSpPr>
          <p:cNvPr id="5" name="Content Placeholder 2">
            <a:extLst>
              <a:ext uri="{FF2B5EF4-FFF2-40B4-BE49-F238E27FC236}">
                <a16:creationId xmlns:a16="http://schemas.microsoft.com/office/drawing/2014/main" id="{AE5F658A-9CC6-4D7B-8445-693CF0BF7771}"/>
              </a:ext>
            </a:extLst>
          </p:cNvPr>
          <p:cNvSpPr txBox="1">
            <a:spLocks/>
          </p:cNvSpPr>
          <p:nvPr/>
        </p:nvSpPr>
        <p:spPr>
          <a:xfrm>
            <a:off x="597570" y="1628942"/>
            <a:ext cx="5129462" cy="4863933"/>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At the bottom of the energy ladder are cheaper forms of fuel (charcoal, wood, dung, crop residues).</a:t>
            </a:r>
          </a:p>
          <a:p>
            <a:r>
              <a:rPr lang="en-US" dirty="0"/>
              <a:t>These are polluting fuels with both poor combustibility and toxic emissions.</a:t>
            </a:r>
          </a:p>
          <a:p>
            <a:r>
              <a:rPr lang="en-US" dirty="0"/>
              <a:t>Simple homes built with mud, thatch, and animal skins rarely have a chimney and, when present, the chimney is usually a simple vent with no air-drawing flue</a:t>
            </a:r>
            <a:endParaRPr lang="en-US" sz="4800" dirty="0"/>
          </a:p>
          <a:p>
            <a:r>
              <a:rPr lang="en-US" dirty="0"/>
              <a:t>Electricity, propane, and natural gas are considered clean cooking fuels and promoted by the WHO. </a:t>
            </a:r>
          </a:p>
          <a:p>
            <a:endParaRPr lang="en-US" dirty="0"/>
          </a:p>
        </p:txBody>
      </p:sp>
    </p:spTree>
    <p:extLst>
      <p:ext uri="{BB962C8B-B14F-4D97-AF65-F5344CB8AC3E}">
        <p14:creationId xmlns:p14="http://schemas.microsoft.com/office/powerpoint/2010/main" val="16629168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mn-lt"/>
              </a:rPr>
              <a:t>Factors shaping the cooking fuel transition</a:t>
            </a:r>
          </a:p>
        </p:txBody>
      </p:sp>
      <p:sp>
        <p:nvSpPr>
          <p:cNvPr id="3" name="Content Placeholder 2"/>
          <p:cNvSpPr>
            <a:spLocks noGrp="1"/>
          </p:cNvSpPr>
          <p:nvPr>
            <p:ph idx="1"/>
          </p:nvPr>
        </p:nvSpPr>
        <p:spPr/>
        <p:txBody>
          <a:bodyPr>
            <a:normAutofit/>
          </a:bodyPr>
          <a:lstStyle/>
          <a:p>
            <a:r>
              <a:rPr lang="en-US" dirty="0">
                <a:latin typeface="+mj-lt"/>
              </a:rPr>
              <a:t>In a typical progression up the energy ladder:  households move away from biomass (firewood, dung) to transitional fuels (coal, kerosene) and then to modern fuels (propane, natural gas, and electricity).</a:t>
            </a:r>
          </a:p>
          <a:p>
            <a:r>
              <a:rPr lang="en-US" dirty="0">
                <a:latin typeface="+mj-lt"/>
              </a:rPr>
              <a:t>Factors that shape this transition</a:t>
            </a:r>
          </a:p>
          <a:p>
            <a:pPr lvl="1"/>
            <a:r>
              <a:rPr lang="en-US" dirty="0">
                <a:latin typeface="+mj-lt"/>
              </a:rPr>
              <a:t>There has to be sufficient household income, stability in fuel prices, and infrastructure to provide new fuel sources</a:t>
            </a:r>
          </a:p>
          <a:p>
            <a:pPr lvl="1"/>
            <a:r>
              <a:rPr lang="en-US" dirty="0">
                <a:latin typeface="+mj-lt"/>
              </a:rPr>
              <a:t>Gender and family roles shape this transition too: head of households in developing countries are often male and tend to base energy and appliance purchase decisions on their preferences and needs. </a:t>
            </a:r>
          </a:p>
          <a:p>
            <a:pPr lvl="1"/>
            <a:r>
              <a:rPr lang="en-US" dirty="0">
                <a:latin typeface="+mj-lt"/>
              </a:rPr>
              <a:t>Advanced energy sources may not facilitate preparation of foods that are part of the traditional diet. </a:t>
            </a:r>
          </a:p>
          <a:p>
            <a:endParaRPr lang="en-US" dirty="0">
              <a:latin typeface="+mj-lt"/>
            </a:endParaRPr>
          </a:p>
        </p:txBody>
      </p:sp>
    </p:spTree>
    <p:extLst>
      <p:ext uri="{BB962C8B-B14F-4D97-AF65-F5344CB8AC3E}">
        <p14:creationId xmlns:p14="http://schemas.microsoft.com/office/powerpoint/2010/main" val="41117805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3827" y="650758"/>
            <a:ext cx="5085764" cy="6028338"/>
          </a:xfrm>
        </p:spPr>
        <p:txBody>
          <a:bodyPr>
            <a:normAutofit/>
          </a:bodyPr>
          <a:lstStyle/>
          <a:p>
            <a:r>
              <a:rPr lang="en-US" dirty="0">
                <a:latin typeface="+mj-lt"/>
              </a:rPr>
              <a:t>Fuel choice is also a matter of climate. In colder climates preferences may remain with firewood and firewood stoves, rather than propane or electivity, as wood can be used to cook and provide heat at the same time </a:t>
            </a:r>
          </a:p>
          <a:p>
            <a:r>
              <a:rPr lang="en-US" dirty="0">
                <a:latin typeface="+mj-lt"/>
              </a:rPr>
              <a:t>Innovations in cooking stoves can make as much difference as switching fuels. </a:t>
            </a:r>
          </a:p>
        </p:txBody>
      </p:sp>
      <p:pic>
        <p:nvPicPr>
          <p:cNvPr id="4" name="Picture 3"/>
          <p:cNvPicPr>
            <a:picLocks noChangeAspect="1"/>
          </p:cNvPicPr>
          <p:nvPr/>
        </p:nvPicPr>
        <p:blipFill rotWithShape="1">
          <a:blip r:embed="rId3"/>
          <a:srcRect l="9869"/>
          <a:stretch/>
        </p:blipFill>
        <p:spPr>
          <a:xfrm>
            <a:off x="5744262" y="650758"/>
            <a:ext cx="6024598" cy="5909068"/>
          </a:xfrm>
          <a:prstGeom prst="rect">
            <a:avLst/>
          </a:prstGeom>
        </p:spPr>
      </p:pic>
    </p:spTree>
    <p:extLst>
      <p:ext uri="{BB962C8B-B14F-4D97-AF65-F5344CB8AC3E}">
        <p14:creationId xmlns:p14="http://schemas.microsoft.com/office/powerpoint/2010/main" val="31225438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FC01A-C382-BD67-147B-2E9B5B314659}"/>
              </a:ext>
            </a:extLst>
          </p:cNvPr>
          <p:cNvSpPr>
            <a:spLocks noGrp="1"/>
          </p:cNvSpPr>
          <p:nvPr>
            <p:ph type="title"/>
          </p:nvPr>
        </p:nvSpPr>
        <p:spPr>
          <a:xfrm>
            <a:off x="7929561" y="0"/>
            <a:ext cx="3424237" cy="1325563"/>
          </a:xfrm>
        </p:spPr>
        <p:txBody>
          <a:bodyPr/>
          <a:lstStyle/>
          <a:p>
            <a:r>
              <a:rPr lang="en-US" dirty="0"/>
              <a:t>Fuel stacking</a:t>
            </a:r>
          </a:p>
        </p:txBody>
      </p:sp>
      <p:sp>
        <p:nvSpPr>
          <p:cNvPr id="3" name="Content Placeholder 2">
            <a:extLst>
              <a:ext uri="{FF2B5EF4-FFF2-40B4-BE49-F238E27FC236}">
                <a16:creationId xmlns:a16="http://schemas.microsoft.com/office/drawing/2014/main" id="{A3CFBB8C-73E5-7C50-7B05-7F6BFF43B2AB}"/>
              </a:ext>
            </a:extLst>
          </p:cNvPr>
          <p:cNvSpPr>
            <a:spLocks noGrp="1"/>
          </p:cNvSpPr>
          <p:nvPr>
            <p:ph idx="1"/>
          </p:nvPr>
        </p:nvSpPr>
        <p:spPr>
          <a:xfrm>
            <a:off x="428626" y="365126"/>
            <a:ext cx="6929438" cy="6335712"/>
          </a:xfrm>
        </p:spPr>
        <p:txBody>
          <a:bodyPr>
            <a:normAutofit/>
          </a:bodyPr>
          <a:lstStyle/>
          <a:p>
            <a:r>
              <a:rPr lang="en-US" sz="3200" dirty="0"/>
              <a:t>Households rarely use a single fuel source – the concept of a moving up a ladder step by step is an oversimplification</a:t>
            </a:r>
          </a:p>
          <a:p>
            <a:r>
              <a:rPr lang="en-US" sz="3200" dirty="0"/>
              <a:t>Households in the developing world may end up using several different sources of fuel</a:t>
            </a:r>
          </a:p>
          <a:p>
            <a:r>
              <a:rPr lang="en-US" sz="3200" dirty="0"/>
              <a:t>Combinations of electricity, LPG, biomass and charcoal are used depending upon task, location (urban or rural), time of year, and the condition and predictability of the  infrastructure or labor to provide fuel</a:t>
            </a:r>
          </a:p>
        </p:txBody>
      </p:sp>
      <p:pic>
        <p:nvPicPr>
          <p:cNvPr id="5" name="Picture 4" descr="A poster of a person holding a bunch of objects&#10;&#10;AI-generated content may be incorrect.">
            <a:extLst>
              <a:ext uri="{FF2B5EF4-FFF2-40B4-BE49-F238E27FC236}">
                <a16:creationId xmlns:a16="http://schemas.microsoft.com/office/drawing/2014/main" id="{F5B614D2-DB4F-FA23-6CC1-13461D3588B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12830" y="1128713"/>
            <a:ext cx="4457700" cy="5572125"/>
          </a:xfrm>
          <a:prstGeom prst="rect">
            <a:avLst/>
          </a:prstGeom>
        </p:spPr>
      </p:pic>
    </p:spTree>
    <p:extLst>
      <p:ext uri="{BB962C8B-B14F-4D97-AF65-F5344CB8AC3E}">
        <p14:creationId xmlns:p14="http://schemas.microsoft.com/office/powerpoint/2010/main" val="718214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Diagram&#10;&#10;Description automatically generated">
            <a:hlinkClick r:id="rId3"/>
            <a:extLst>
              <a:ext uri="{FF2B5EF4-FFF2-40B4-BE49-F238E27FC236}">
                <a16:creationId xmlns:a16="http://schemas.microsoft.com/office/drawing/2014/main" id="{F8E06762-4A9A-45A4-9689-C62397BFC810}"/>
              </a:ext>
            </a:extLst>
          </p:cNvPr>
          <p:cNvPicPr>
            <a:picLocks noGrp="1" noChangeAspect="1"/>
          </p:cNvPicPr>
          <p:nvPr>
            <p:ph idx="1"/>
          </p:nvPr>
        </p:nvPicPr>
        <p:blipFill>
          <a:blip r:embed="rId4"/>
          <a:stretch>
            <a:fillRect/>
          </a:stretch>
        </p:blipFill>
        <p:spPr>
          <a:xfrm>
            <a:off x="1120877" y="941793"/>
            <a:ext cx="9742713" cy="5744142"/>
          </a:xfrm>
          <a:ln w="31750">
            <a:solidFill>
              <a:schemeClr val="accent1"/>
            </a:solidFill>
          </a:ln>
        </p:spPr>
      </p:pic>
      <p:sp>
        <p:nvSpPr>
          <p:cNvPr id="2" name="Title 1">
            <a:extLst>
              <a:ext uri="{FF2B5EF4-FFF2-40B4-BE49-F238E27FC236}">
                <a16:creationId xmlns:a16="http://schemas.microsoft.com/office/drawing/2014/main" id="{6B7CE950-6AE6-C9F6-D1A9-FBD792849D38}"/>
              </a:ext>
            </a:extLst>
          </p:cNvPr>
          <p:cNvSpPr>
            <a:spLocks noGrp="1"/>
          </p:cNvSpPr>
          <p:nvPr>
            <p:ph type="title"/>
          </p:nvPr>
        </p:nvSpPr>
        <p:spPr>
          <a:xfrm>
            <a:off x="607329" y="172065"/>
            <a:ext cx="11360800" cy="817600"/>
          </a:xfrm>
        </p:spPr>
        <p:txBody>
          <a:bodyPr>
            <a:normAutofit/>
          </a:bodyPr>
          <a:lstStyle/>
          <a:p>
            <a:pPr algn="ctr"/>
            <a:r>
              <a:rPr lang="en-US" dirty="0">
                <a:latin typeface="Calibri Light" panose="020F0302020204030204" pitchFamily="34" charset="0"/>
                <a:cs typeface="Calibri Light" panose="020F0302020204030204" pitchFamily="34" charset="0"/>
              </a:rPr>
              <a:t>HAP in developed countries</a:t>
            </a:r>
          </a:p>
        </p:txBody>
      </p:sp>
    </p:spTree>
    <p:extLst>
      <p:ext uri="{BB962C8B-B14F-4D97-AF65-F5344CB8AC3E}">
        <p14:creationId xmlns:p14="http://schemas.microsoft.com/office/powerpoint/2010/main" val="15135702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E92BE-889C-3529-FAD4-97AC5389219F}"/>
              </a:ext>
            </a:extLst>
          </p:cNvPr>
          <p:cNvSpPr>
            <a:spLocks noGrp="1"/>
          </p:cNvSpPr>
          <p:nvPr>
            <p:ph type="title"/>
          </p:nvPr>
        </p:nvSpPr>
        <p:spPr>
          <a:xfrm>
            <a:off x="445770" y="365125"/>
            <a:ext cx="11372850" cy="1325563"/>
          </a:xfrm>
        </p:spPr>
        <p:txBody>
          <a:bodyPr>
            <a:normAutofit/>
          </a:bodyPr>
          <a:lstStyle/>
          <a:p>
            <a:r>
              <a:rPr lang="en-US" dirty="0"/>
              <a:t>Natural gas versus electric stoves in developed regions</a:t>
            </a:r>
          </a:p>
        </p:txBody>
      </p:sp>
      <p:sp>
        <p:nvSpPr>
          <p:cNvPr id="3" name="Content Placeholder 2">
            <a:extLst>
              <a:ext uri="{FF2B5EF4-FFF2-40B4-BE49-F238E27FC236}">
                <a16:creationId xmlns:a16="http://schemas.microsoft.com/office/drawing/2014/main" id="{E34ECAE7-BC21-7CAA-D35A-0BAA13416D12}"/>
              </a:ext>
            </a:extLst>
          </p:cNvPr>
          <p:cNvSpPr>
            <a:spLocks noGrp="1"/>
          </p:cNvSpPr>
          <p:nvPr>
            <p:ph idx="1"/>
          </p:nvPr>
        </p:nvSpPr>
        <p:spPr>
          <a:xfrm>
            <a:off x="88900" y="1947861"/>
            <a:ext cx="3746500" cy="4770439"/>
          </a:xfrm>
        </p:spPr>
        <p:txBody>
          <a:bodyPr>
            <a:normAutofit fontScale="85000" lnSpcReduction="10000"/>
          </a:bodyPr>
          <a:lstStyle/>
          <a:p>
            <a:r>
              <a:rPr lang="en-US" dirty="0"/>
              <a:t>Your typical natural gas kitchen stoves produce HAP and are considered unhealthy</a:t>
            </a:r>
          </a:p>
          <a:p>
            <a:r>
              <a:rPr lang="en-US" dirty="0"/>
              <a:t>Transition to electric cookstoves diminishes HAP</a:t>
            </a:r>
          </a:p>
          <a:p>
            <a:r>
              <a:rPr lang="en-US" dirty="0"/>
              <a:t>Electric induction stoves are increasing in popularity in developed countries</a:t>
            </a:r>
          </a:p>
          <a:p>
            <a:r>
              <a:rPr lang="en-US" dirty="0"/>
              <a:t>Gas to electric cookstove transitions, when the grid is green, can achieve both climate and health benefits.</a:t>
            </a:r>
          </a:p>
        </p:txBody>
      </p:sp>
      <p:pic>
        <p:nvPicPr>
          <p:cNvPr id="4" name="Online Media 3" title="Assessing concerns over gas stoves and health issues; Duke doctor offers safety tips">
            <a:hlinkClick r:id="" action="ppaction://media"/>
            <a:extLst>
              <a:ext uri="{FF2B5EF4-FFF2-40B4-BE49-F238E27FC236}">
                <a16:creationId xmlns:a16="http://schemas.microsoft.com/office/drawing/2014/main" id="{A4599080-B1E9-E191-9E0B-3F87C0642E97}"/>
              </a:ext>
            </a:extLst>
          </p:cNvPr>
          <p:cNvPicPr>
            <a:picLocks noRot="1" noChangeAspect="1"/>
          </p:cNvPicPr>
          <p:nvPr>
            <a:videoFile r:link="rId1"/>
          </p:nvPr>
        </p:nvPicPr>
        <p:blipFill>
          <a:blip r:embed="rId4"/>
          <a:stretch>
            <a:fillRect/>
          </a:stretch>
        </p:blipFill>
        <p:spPr>
          <a:xfrm>
            <a:off x="3982517" y="1947861"/>
            <a:ext cx="7701483" cy="4351338"/>
          </a:xfrm>
          <a:prstGeom prst="rect">
            <a:avLst/>
          </a:prstGeom>
        </p:spPr>
      </p:pic>
    </p:spTree>
    <p:extLst>
      <p:ext uri="{BB962C8B-B14F-4D97-AF65-F5344CB8AC3E}">
        <p14:creationId xmlns:p14="http://schemas.microsoft.com/office/powerpoint/2010/main" val="1142171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9">
      <a:majorFont>
        <a:latin typeface="Calibri Light"/>
        <a:ea typeface=""/>
        <a:cs typeface=""/>
      </a:majorFont>
      <a:minorFont>
        <a:latin typeface="Calibri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4141</TotalTime>
  <Words>1667</Words>
  <Application>Microsoft Office PowerPoint</Application>
  <PresentationFormat>Widescreen</PresentationFormat>
  <Paragraphs>85</Paragraphs>
  <Slides>14</Slides>
  <Notes>11</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Air pollution is an underrecognized and insufficiently addressed global health issue</vt:lpstr>
      <vt:lpstr>Why are the health impacts of air pollution downplayed?</vt:lpstr>
      <vt:lpstr>Particulate matter (PM)</vt:lpstr>
      <vt:lpstr>PowerPoint Presentation</vt:lpstr>
      <vt:lpstr>Household air pollution (HAP)</vt:lpstr>
      <vt:lpstr>Ulan Bator, Mongolia</vt:lpstr>
      <vt:lpstr>PowerPoint Presentation</vt:lpstr>
      <vt:lpstr>PowerPoint Presentation</vt:lpstr>
      <vt:lpstr>The energy ladder</vt:lpstr>
      <vt:lpstr>Factors shaping the cooking fuel transition</vt:lpstr>
      <vt:lpstr>PowerPoint Presentation</vt:lpstr>
      <vt:lpstr>Fuel stacking</vt:lpstr>
      <vt:lpstr>HAP in developed countries</vt:lpstr>
      <vt:lpstr>Natural gas versus electric stoves in developed regions</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 Stallins</dc:creator>
  <cp:lastModifiedBy>Stallins, Jon A.</cp:lastModifiedBy>
  <cp:revision>391</cp:revision>
  <dcterms:created xsi:type="dcterms:W3CDTF">2018-03-30T12:28:22Z</dcterms:created>
  <dcterms:modified xsi:type="dcterms:W3CDTF">2026-09-01T10:11:58Z</dcterms:modified>
</cp:coreProperties>
</file>