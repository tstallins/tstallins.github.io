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9"/>
  </p:notesMasterIdLst>
  <p:sldIdLst>
    <p:sldId id="757" r:id="rId2"/>
    <p:sldId id="716" r:id="rId3"/>
    <p:sldId id="449" r:id="rId4"/>
    <p:sldId id="746" r:id="rId5"/>
    <p:sldId id="750" r:id="rId6"/>
    <p:sldId id="731" r:id="rId7"/>
    <p:sldId id="256" r:id="rId8"/>
    <p:sldId id="700" r:id="rId9"/>
    <p:sldId id="283" r:id="rId10"/>
    <p:sldId id="718" r:id="rId11"/>
    <p:sldId id="723" r:id="rId12"/>
    <p:sldId id="747" r:id="rId13"/>
    <p:sldId id="270" r:id="rId14"/>
    <p:sldId id="761" r:id="rId15"/>
    <p:sldId id="261" r:id="rId16"/>
    <p:sldId id="262" r:id="rId17"/>
    <p:sldId id="265" r:id="rId18"/>
    <p:sldId id="267" r:id="rId19"/>
    <p:sldId id="713" r:id="rId20"/>
    <p:sldId id="455" r:id="rId21"/>
    <p:sldId id="454" r:id="rId22"/>
    <p:sldId id="712" r:id="rId23"/>
    <p:sldId id="732" r:id="rId24"/>
    <p:sldId id="686" r:id="rId25"/>
    <p:sldId id="733" r:id="rId26"/>
    <p:sldId id="764" r:id="rId27"/>
    <p:sldId id="274" r:id="rId28"/>
    <p:sldId id="708" r:id="rId29"/>
    <p:sldId id="468" r:id="rId30"/>
    <p:sldId id="457" r:id="rId31"/>
    <p:sldId id="765" r:id="rId32"/>
    <p:sldId id="268" r:id="rId33"/>
    <p:sldId id="706" r:id="rId34"/>
    <p:sldId id="266" r:id="rId35"/>
    <p:sldId id="277" r:id="rId36"/>
    <p:sldId id="763" r:id="rId37"/>
    <p:sldId id="762" r:id="rId38"/>
    <p:sldId id="391" r:id="rId39"/>
    <p:sldId id="447" r:id="rId40"/>
    <p:sldId id="443" r:id="rId41"/>
    <p:sldId id="393" r:id="rId42"/>
    <p:sldId id="748" r:id="rId43"/>
    <p:sldId id="760" r:id="rId44"/>
    <p:sldId id="331" r:id="rId45"/>
    <p:sldId id="327" r:id="rId46"/>
    <p:sldId id="450" r:id="rId47"/>
    <p:sldId id="38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4CD35F-B919-4441-8BC5-9AF3B4148236}">
          <p14:sldIdLst>
            <p14:sldId id="757"/>
            <p14:sldId id="716"/>
            <p14:sldId id="449"/>
            <p14:sldId id="746"/>
          </p14:sldIdLst>
        </p14:section>
        <p14:section name="US economic disparity and health" id="{C0C58931-9417-4EBF-AA9F-E0A76D4FFBB0}">
          <p14:sldIdLst>
            <p14:sldId id="750"/>
            <p14:sldId id="731"/>
            <p14:sldId id="256"/>
            <p14:sldId id="700"/>
          </p14:sldIdLst>
        </p14:section>
        <p14:section name="Social and geographic determinants" id="{D03A3B1C-ED7E-4E35-A5AB-BFFDCA35A0B9}">
          <p14:sldIdLst>
            <p14:sldId id="283"/>
            <p14:sldId id="718"/>
            <p14:sldId id="723"/>
            <p14:sldId id="747"/>
            <p14:sldId id="270"/>
          </p14:sldIdLst>
        </p14:section>
        <p14:section name="Where do the poor live longer?" id="{8D3FE4FF-2E48-4730-83C0-690B4735DB4C}">
          <p14:sldIdLst>
            <p14:sldId id="761"/>
            <p14:sldId id="261"/>
            <p14:sldId id="262"/>
            <p14:sldId id="265"/>
            <p14:sldId id="267"/>
          </p14:sldIdLst>
        </p14:section>
        <p14:section name="Deaths of despair" id="{7A5271EB-553B-4C83-B287-F585FEDF3327}">
          <p14:sldIdLst>
            <p14:sldId id="713"/>
            <p14:sldId id="455"/>
            <p14:sldId id="454"/>
            <p14:sldId id="712"/>
            <p14:sldId id="732"/>
            <p14:sldId id="686"/>
            <p14:sldId id="733"/>
            <p14:sldId id="764"/>
            <p14:sldId id="274"/>
            <p14:sldId id="708"/>
            <p14:sldId id="468"/>
            <p14:sldId id="457"/>
          </p14:sldIdLst>
        </p14:section>
        <p14:section name="Reframing the deaths of despair model" id="{C9F085E4-27F2-4BB8-92F6-4B77AE049BE1}">
          <p14:sldIdLst>
            <p14:sldId id="765"/>
            <p14:sldId id="268"/>
            <p14:sldId id="706"/>
            <p14:sldId id="266"/>
            <p14:sldId id="277"/>
          </p14:sldIdLst>
        </p14:section>
        <p14:section name="Rural health care decline" id="{465E513D-3C35-4C5A-9C97-68015023B495}">
          <p14:sldIdLst>
            <p14:sldId id="763"/>
            <p14:sldId id="762"/>
            <p14:sldId id="391"/>
            <p14:sldId id="447"/>
            <p14:sldId id="443"/>
            <p14:sldId id="393"/>
            <p14:sldId id="748"/>
          </p14:sldIdLst>
        </p14:section>
        <p14:section name="How poverty affects health" id="{0F3AB6E9-AB70-4FBD-88A1-951ECFD8DA83}">
          <p14:sldIdLst>
            <p14:sldId id="760"/>
            <p14:sldId id="331"/>
            <p14:sldId id="327"/>
            <p14:sldId id="450"/>
            <p14:sldId id="38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llins, Jon A." initials="SJA" lastIdx="1" clrIdx="0">
    <p:extLst>
      <p:ext uri="{19B8F6BF-5375-455C-9EA6-DF929625EA0E}">
        <p15:presenceInfo xmlns:p15="http://schemas.microsoft.com/office/powerpoint/2012/main" userId="S::jast239@uky.edu::8f7e7db6-6c81-40cd-b680-5795c0527d9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6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378" autoAdjust="0"/>
    <p:restoredTop sz="51942" autoAdjust="0"/>
  </p:normalViewPr>
  <p:slideViewPr>
    <p:cSldViewPr snapToGrid="0" showGuides="1">
      <p:cViewPr varScale="1">
        <p:scale>
          <a:sx n="46" d="100"/>
          <a:sy n="46" d="100"/>
        </p:scale>
        <p:origin x="1848" y="43"/>
      </p:cViewPr>
      <p:guideLst>
        <p:guide orient="horz" pos="2160"/>
        <p:guide pos="3840"/>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31A35-70E2-4CC8-9EF8-C16287CC6903}" type="datetimeFigureOut">
              <a:rPr lang="en-US" smtClean="0"/>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4C011-BF57-4A7F-A2BA-47A1B8A638B1}" type="slidenum">
              <a:rPr lang="en-US" smtClean="0"/>
              <a:t>‹#›</a:t>
            </a:fld>
            <a:endParaRPr lang="en-US" dirty="0"/>
          </a:p>
        </p:txBody>
      </p:sp>
    </p:spTree>
    <p:extLst>
      <p:ext uri="{BB962C8B-B14F-4D97-AF65-F5344CB8AC3E}">
        <p14:creationId xmlns:p14="http://schemas.microsoft.com/office/powerpoint/2010/main" val="2111855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these contrasts can vary over small distances – to use a word from earlier lectures, economic disparity can be hyperlocal</a:t>
            </a:r>
          </a:p>
          <a:p>
            <a:endParaRPr lang="en-US" dirty="0"/>
          </a:p>
          <a:p>
            <a:r>
              <a:rPr lang="en-US" dirty="0"/>
              <a:t>https://www.nytimes.com/interactive/2020/09/05/opinion/inequality-life-expectancy.html</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a:t>
            </a:fld>
            <a:endParaRPr lang="en-US" dirty="0"/>
          </a:p>
        </p:txBody>
      </p:sp>
    </p:spTree>
    <p:extLst>
      <p:ext uri="{BB962C8B-B14F-4D97-AF65-F5344CB8AC3E}">
        <p14:creationId xmlns:p14="http://schemas.microsoft.com/office/powerpoint/2010/main" val="234892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4</a:t>
            </a:fld>
            <a:endParaRPr lang="en-US" dirty="0"/>
          </a:p>
        </p:txBody>
      </p:sp>
    </p:spTree>
    <p:extLst>
      <p:ext uri="{BB962C8B-B14F-4D97-AF65-F5344CB8AC3E}">
        <p14:creationId xmlns:p14="http://schemas.microsoft.com/office/powerpoint/2010/main" val="2612703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5</a:t>
            </a:fld>
            <a:endParaRPr lang="en-US" dirty="0"/>
          </a:p>
        </p:txBody>
      </p:sp>
    </p:spTree>
    <p:extLst>
      <p:ext uri="{BB962C8B-B14F-4D97-AF65-F5344CB8AC3E}">
        <p14:creationId xmlns:p14="http://schemas.microsoft.com/office/powerpoint/2010/main" val="2168819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6</a:t>
            </a:fld>
            <a:endParaRPr lang="en-US" dirty="0"/>
          </a:p>
        </p:txBody>
      </p:sp>
    </p:spTree>
    <p:extLst>
      <p:ext uri="{BB962C8B-B14F-4D97-AF65-F5344CB8AC3E}">
        <p14:creationId xmlns:p14="http://schemas.microsoft.com/office/powerpoint/2010/main" val="1069725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US is an outlier in its stark economic disparities and one can learn from studying outliers as much as the average. </a:t>
            </a:r>
          </a:p>
          <a:p>
            <a:br>
              <a:rPr lang="en-US" dirty="0"/>
            </a:br>
            <a:r>
              <a:rPr lang="en-US" dirty="0"/>
              <a:t>Differences in the US in life expectancy are nearly as large as those that span the globe. </a:t>
            </a:r>
            <a:br>
              <a:rPr lang="en-US" dirty="0"/>
            </a:br>
            <a:br>
              <a:rPr lang="en-US" dirty="0"/>
            </a:br>
            <a:r>
              <a:rPr lang="en-US" dirty="0"/>
              <a:t>P indicates percentile, so P1 indicates the lowest one percentile in terms of income in the United States.  P25 means 25</a:t>
            </a:r>
            <a:r>
              <a:rPr lang="en-US" baseline="30000" dirty="0"/>
              <a:t>th</a:t>
            </a:r>
            <a:r>
              <a:rPr lang="en-US" dirty="0"/>
              <a:t> percentile, or quartile.</a:t>
            </a:r>
            <a:br>
              <a:rPr lang="en-US" dirty="0"/>
            </a:br>
            <a:br>
              <a:rPr lang="en-US" dirty="0"/>
            </a:br>
            <a:r>
              <a:rPr lang="en-US" dirty="0"/>
              <a:t>The US in this sense, is many different countries in terms of life expectancy</a:t>
            </a:r>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7</a:t>
            </a:fld>
            <a:endParaRPr lang="en-US" dirty="0"/>
          </a:p>
        </p:txBody>
      </p:sp>
    </p:spTree>
    <p:extLst>
      <p:ext uri="{BB962C8B-B14F-4D97-AF65-F5344CB8AC3E}">
        <p14:creationId xmlns:p14="http://schemas.microsoft.com/office/powerpoint/2010/main" val="3906680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88628D7D-FBC0-40BB-8C88-9B1037F57974}" type="slidenum">
              <a:rPr lang="en-US" smtClean="0"/>
              <a:t>9</a:t>
            </a:fld>
            <a:endParaRPr lang="en-US" dirty="0"/>
          </a:p>
        </p:txBody>
      </p:sp>
    </p:spTree>
    <p:extLst>
      <p:ext uri="{BB962C8B-B14F-4D97-AF65-F5344CB8AC3E}">
        <p14:creationId xmlns:p14="http://schemas.microsoft.com/office/powerpoint/2010/main" val="2713986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https://www.princeton.edu/news/2023/11/15/kathryn-edins-new-book-offers-groundbreaking-insights-american-poverty-and-where</a:t>
            </a:r>
          </a:p>
          <a:p>
            <a:endParaRPr lang="en-US" dirty="0"/>
          </a:p>
          <a:p>
            <a:r>
              <a:rPr dirty="0"/>
              <a:t>Poverty has traditionally been measured by income and not well-being.  This index combines income and health-based indicators like life expectancy; intergenerational mobility; and low birth weight</a:t>
            </a:r>
            <a:r>
              <a:rPr lang="en-US" dirty="0"/>
              <a:t>. </a:t>
            </a:r>
            <a:br>
              <a:rPr lang="en-US" dirty="0"/>
            </a:br>
            <a:endParaRPr dirty="0"/>
          </a:p>
          <a:p>
            <a:r>
              <a:rPr dirty="0"/>
              <a:t>The most disadvantaged places are mostly rural — not big cities.  These places have a very small number of “haves” and a huge class of “have-nots.” One of their hallmark characteristics is exploitation by a single industry.</a:t>
            </a:r>
            <a:br>
              <a:rPr lang="en-US" dirty="0"/>
            </a:br>
            <a:endParaRPr dirty="0"/>
          </a:p>
          <a:p>
            <a:r>
              <a:rPr dirty="0"/>
              <a:t>The most advantaged places are in pockets of the Midwest with a strong middle class and diverse small industry — no sharp class divides.</a:t>
            </a:r>
          </a:p>
          <a:p>
            <a:endParaRPr dirty="0"/>
          </a:p>
          <a:p>
            <a:endParaRPr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11</a:t>
            </a:fld>
            <a:endParaRPr lang="en-US" dirty="0"/>
          </a:p>
        </p:txBody>
      </p:sp>
    </p:spTree>
    <p:extLst>
      <p:ext uri="{BB962C8B-B14F-4D97-AF65-F5344CB8AC3E}">
        <p14:creationId xmlns:p14="http://schemas.microsoft.com/office/powerpoint/2010/main" val="3131544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https://www.ineteconomics.org/perspectives/blog/mortality-crisis-redux-the-economics-of-despair</a:t>
            </a:r>
          </a:p>
          <a:p>
            <a:endParaRPr lang="en-US" dirty="0"/>
          </a:p>
          <a:p>
            <a:r>
              <a:rPr lang="en-US" dirty="0"/>
              <a:t>https://www.nytimes.com/2022/10/05/opinion/mortality-penalty-inequality-education.html</a:t>
            </a:r>
          </a:p>
          <a:p>
            <a:endParaRPr lang="en-US" dirty="0"/>
          </a:p>
          <a:p>
            <a:r>
              <a:rPr lang="en-US" dirty="0" err="1"/>
              <a:t>Monnat</a:t>
            </a:r>
            <a:r>
              <a:rPr lang="en-US" dirty="0"/>
              <a:t>, S. M. (2020). Trends in US Working-age non-Hispanic White mortality: rural–urban and within-rural differences. </a:t>
            </a:r>
            <a:r>
              <a:rPr lang="en-US" i="1" dirty="0"/>
              <a:t>Population research and policy review</a:t>
            </a:r>
            <a:r>
              <a:rPr lang="en-US" dirty="0"/>
              <a:t>, </a:t>
            </a:r>
            <a:r>
              <a:rPr lang="en-US" i="1" dirty="0"/>
              <a:t>39</a:t>
            </a:r>
            <a:r>
              <a:rPr lang="en-US" dirty="0"/>
              <a:t>(5), 805-834.</a:t>
            </a:r>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13</a:t>
            </a:fld>
            <a:endParaRPr lang="en-US"/>
          </a:p>
        </p:txBody>
      </p:sp>
    </p:spTree>
    <p:extLst>
      <p:ext uri="{BB962C8B-B14F-4D97-AF65-F5344CB8AC3E}">
        <p14:creationId xmlns:p14="http://schemas.microsoft.com/office/powerpoint/2010/main" val="17709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a:p>
            <a:endParaRPr dirty="0"/>
          </a:p>
        </p:txBody>
      </p:sp>
      <p:sp>
        <p:nvSpPr>
          <p:cNvPr id="4" name="Slide Number Placeholder 3"/>
          <p:cNvSpPr>
            <a:spLocks noGrp="1"/>
          </p:cNvSpPr>
          <p:nvPr>
            <p:ph type="sldNum" sz="quarter" idx="10"/>
          </p:nvPr>
        </p:nvSpPr>
        <p:spPr/>
        <p:txBody>
          <a:bodyPr/>
          <a:lstStyle/>
          <a:p>
            <a:fld id="{E4F97F75-E501-4039-A985-D6F14AA384DE}" type="slidenum">
              <a:rPr lang="en-US" smtClean="0"/>
              <a:t>15</a:t>
            </a:fld>
            <a:endParaRPr lang="en-US" dirty="0"/>
          </a:p>
        </p:txBody>
      </p:sp>
    </p:spTree>
    <p:extLst>
      <p:ext uri="{BB962C8B-B14F-4D97-AF65-F5344CB8AC3E}">
        <p14:creationId xmlns:p14="http://schemas.microsoft.com/office/powerpoint/2010/main" val="195357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16</a:t>
            </a:fld>
            <a:endParaRPr lang="en-US" dirty="0"/>
          </a:p>
        </p:txBody>
      </p:sp>
    </p:spTree>
    <p:extLst>
      <p:ext uri="{BB962C8B-B14F-4D97-AF65-F5344CB8AC3E}">
        <p14:creationId xmlns:p14="http://schemas.microsoft.com/office/powerpoint/2010/main" val="3019503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Chetty, R., Stepper, M., Abraham, S., Lin, S., Scuderi, B., Turner, N., ... &amp; Cutler, D. (2016). The association between income and life expectancy in the United States, 2001-2014. </a:t>
            </a:r>
            <a:r>
              <a:rPr lang="en-US" i="1" dirty="0"/>
              <a:t>JAMA 315</a:t>
            </a:r>
            <a:r>
              <a:rPr lang="en-US" dirty="0"/>
              <a:t>(16), 1750-1766.</a:t>
            </a:r>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2627369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Obesity and smoking were the greatest risk factors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But these in the chart are the geographic risk factors, those that relate to where you live and the kind of social environments that exist there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Importantly, these findings do not necessarily imply that income has a causal</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effect on life expectancy: that is, giving someone or an area more money will increase their lifespan – there is something related to the environments of cities that have high percentages of immigrants, high median house values, and higher local government expenditures that increase lifespan for the poorest. </a:t>
            </a:r>
            <a:br>
              <a:rPr lang="en-US" sz="1200" b="0" i="0" u="none" strike="noStrike" kern="1200" baseline="0" dirty="0">
                <a:solidFill>
                  <a:schemeClr val="tx1"/>
                </a:solidFill>
                <a:latin typeface="+mn-lt"/>
                <a:ea typeface="+mn-ea"/>
                <a:cs typeface="+mn-cs"/>
              </a:rPr>
            </a:br>
            <a:br>
              <a:rPr lang="en-US" sz="1200" b="0" i="0" u="none" strike="noStrike" kern="1200" baseline="0" dirty="0">
                <a:solidFill>
                  <a:schemeClr val="tx1"/>
                </a:solidFill>
                <a:latin typeface="+mn-lt"/>
                <a:ea typeface="+mn-ea"/>
                <a:cs typeface="+mn-cs"/>
              </a:rPr>
            </a:br>
            <a:r>
              <a:rPr lang="en-US" sz="1200" b="0" i="0" u="none" strike="noStrike" kern="1200" baseline="0" dirty="0">
                <a:solidFill>
                  <a:schemeClr val="tx1"/>
                </a:solidFill>
                <a:latin typeface="+mn-lt"/>
                <a:ea typeface="+mn-ea"/>
                <a:cs typeface="+mn-cs"/>
              </a:rPr>
              <a:t>Data was from 1.4 billion anonymous earnings and mortality records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E4F97F75-E501-4039-A985-D6F14AA384DE}" type="slidenum">
              <a:rPr lang="en-US" smtClean="0"/>
              <a:t>18</a:t>
            </a:fld>
            <a:endParaRPr lang="en-US" dirty="0"/>
          </a:p>
        </p:txBody>
      </p:sp>
    </p:spTree>
    <p:extLst>
      <p:ext uri="{BB962C8B-B14F-4D97-AF65-F5344CB8AC3E}">
        <p14:creationId xmlns:p14="http://schemas.microsoft.com/office/powerpoint/2010/main" val="3960613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https://www.nytimes.com/2020/03/28/opinion/sunday/deaths-despair-keylan-knapp.html</a:t>
            </a:r>
          </a:p>
        </p:txBody>
      </p:sp>
      <p:sp>
        <p:nvSpPr>
          <p:cNvPr id="4" name="Slide Number Placeholder 3"/>
          <p:cNvSpPr>
            <a:spLocks noGrp="1"/>
          </p:cNvSpPr>
          <p:nvPr>
            <p:ph type="sldNum" sz="quarter" idx="5"/>
          </p:nvPr>
        </p:nvSpPr>
        <p:spPr/>
        <p:txBody>
          <a:bodyPr/>
          <a:lstStyle/>
          <a:p>
            <a:fld id="{2E84C011-BF57-4A7F-A2BA-47A1B8A638B1}" type="slidenum">
              <a:rPr lang="en-US" smtClean="0"/>
              <a:t>20</a:t>
            </a:fld>
            <a:endParaRPr lang="en-US" dirty="0"/>
          </a:p>
        </p:txBody>
      </p:sp>
    </p:spTree>
    <p:extLst>
      <p:ext uri="{BB962C8B-B14F-4D97-AF65-F5344CB8AC3E}">
        <p14:creationId xmlns:p14="http://schemas.microsoft.com/office/powerpoint/2010/main" val="2893410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https://www.nytimes.com/2020/01/09/opinion/sunday/deaths-despair-poverty.html</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21</a:t>
            </a:fld>
            <a:endParaRPr lang="en-US" dirty="0"/>
          </a:p>
        </p:txBody>
      </p:sp>
    </p:spTree>
    <p:extLst>
      <p:ext uri="{BB962C8B-B14F-4D97-AF65-F5344CB8AC3E}">
        <p14:creationId xmlns:p14="http://schemas.microsoft.com/office/powerpoint/2010/main" val="29272403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analysis of national data from 1992 to 2017 for adults ages 45 to 54 reveals an increasing risk of alcohol, drug and suicide mortality among those without college degrees, whether Black (orange line) or white (red line). For reasons that are not yet clear, Black college graduates (dark blue line) had the lowest rates of deaths of despair in this statistical comparison.</a:t>
            </a:r>
            <a:br>
              <a:rPr lang="en-US" dirty="0"/>
            </a:br>
            <a:r>
              <a:rPr lang="en-US" dirty="0"/>
              <a:t>A. Case and A. Deaton/</a:t>
            </a:r>
            <a:r>
              <a:rPr lang="en-US" i="1" dirty="0"/>
              <a:t>Deaths of Despair and the Future of Capitalism</a:t>
            </a:r>
            <a:r>
              <a:rPr lang="en-US" dirty="0"/>
              <a:t> 2020</a:t>
            </a:r>
            <a:br>
              <a:rPr lang="en-US" dirty="0"/>
            </a:br>
            <a:br>
              <a:rPr lang="en-US" dirty="0"/>
            </a:br>
            <a:r>
              <a:rPr lang="en-US" dirty="0"/>
              <a:t>https://www.uclahealth.org/news/publication/column-what-does-deaths-despair-narrative-leave-out</a:t>
            </a:r>
          </a:p>
          <a:p>
            <a:endParaRPr lang="en-US" dirty="0"/>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22</a:t>
            </a:fld>
            <a:endParaRPr lang="en-US" dirty="0"/>
          </a:p>
        </p:txBody>
      </p:sp>
    </p:spTree>
    <p:extLst>
      <p:ext uri="{BB962C8B-B14F-4D97-AF65-F5344CB8AC3E}">
        <p14:creationId xmlns:p14="http://schemas.microsoft.com/office/powerpoint/2010/main" val="3154649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23</a:t>
            </a:fld>
            <a:endParaRPr lang="en-US" dirty="0"/>
          </a:p>
        </p:txBody>
      </p:sp>
    </p:spTree>
    <p:extLst>
      <p:ext uri="{BB962C8B-B14F-4D97-AF65-F5344CB8AC3E}">
        <p14:creationId xmlns:p14="http://schemas.microsoft.com/office/powerpoint/2010/main" val="525194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24</a:t>
            </a:fld>
            <a:endParaRPr lang="en-US" dirty="0"/>
          </a:p>
        </p:txBody>
      </p:sp>
    </p:spTree>
    <p:extLst>
      <p:ext uri="{BB962C8B-B14F-4D97-AF65-F5344CB8AC3E}">
        <p14:creationId xmlns:p14="http://schemas.microsoft.com/office/powerpoint/2010/main" val="533314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https://www.nature.com/articles/d41586-025-01969-1</a:t>
            </a:r>
          </a:p>
          <a:p>
            <a:endParaRPr lang="en-US" dirty="0"/>
          </a:p>
          <a:p>
            <a:endParaRPr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25</a:t>
            </a:fld>
            <a:endParaRPr lang="en-US" dirty="0"/>
          </a:p>
        </p:txBody>
      </p:sp>
    </p:spTree>
    <p:extLst>
      <p:ext uri="{BB962C8B-B14F-4D97-AF65-F5344CB8AC3E}">
        <p14:creationId xmlns:p14="http://schemas.microsoft.com/office/powerpoint/2010/main" val="3106518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https://www.nytimes.com/2023/10/03/opinion/life-expectancy-college-degree.html</a:t>
            </a:r>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27</a:t>
            </a:fld>
            <a:endParaRPr lang="en-US"/>
          </a:p>
        </p:txBody>
      </p:sp>
    </p:spTree>
    <p:extLst>
      <p:ext uri="{BB962C8B-B14F-4D97-AF65-F5344CB8AC3E}">
        <p14:creationId xmlns:p14="http://schemas.microsoft.com/office/powerpoint/2010/main" val="2987321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https://www.nytimes.com/2023/10/03/opinion/life-expectancy-college-degree.html</a:t>
            </a:r>
          </a:p>
          <a:p>
            <a:r>
              <a:rPr lang="en-US" dirty="0"/>
              <a:t>https://www.nytimes.com/2022/10/05/opinion/mortality-penalty-inequality-education.html</a:t>
            </a:r>
          </a:p>
          <a:p>
            <a:endParaRPr lang="en-US" dirty="0"/>
          </a:p>
          <a:p>
            <a:r>
              <a:rPr lang="en-US" dirty="0"/>
              <a:t>Credentialism is the issue: college degrees have come to be more of a signifier, often of prior advantage </a:t>
            </a:r>
          </a:p>
          <a:p>
            <a:r>
              <a:rPr lang="en-US" dirty="0"/>
              <a:t>This has in turn led to the pressure to go to college</a:t>
            </a:r>
          </a:p>
          <a:p>
            <a:endParaRPr lang="en-US" dirty="0"/>
          </a:p>
          <a:p>
            <a:endParaRPr lang="en-US" dirty="0"/>
          </a:p>
          <a:p>
            <a:r>
              <a:rPr dirty="0"/>
              <a:t>Without a degree there is a disadvantage in access to jobs, health care, and weakened political representation and influence </a:t>
            </a:r>
          </a:p>
          <a:p>
            <a:r>
              <a:rPr dirty="0"/>
              <a:t>However, there are also </a:t>
            </a:r>
            <a:r>
              <a:rPr dirty="0" err="1"/>
              <a:t>also</a:t>
            </a:r>
            <a:r>
              <a:rPr dirty="0"/>
              <a:t> advantages in place that allow the children of some to go to college – </a:t>
            </a:r>
            <a:r>
              <a:rPr dirty="0" err="1"/>
              <a:t>it’ss</a:t>
            </a:r>
            <a:r>
              <a:rPr dirty="0"/>
              <a:t> not what you learn and do in college but what advantages you already have</a:t>
            </a:r>
          </a:p>
          <a:p>
            <a:r>
              <a:rPr dirty="0"/>
              <a:t>This creates a second class citizen effect that also contributes to political instability</a:t>
            </a:r>
          </a:p>
          <a:p>
            <a:endParaRPr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28</a:t>
            </a:fld>
            <a:endParaRPr lang="en-US"/>
          </a:p>
        </p:txBody>
      </p:sp>
    </p:spTree>
    <p:extLst>
      <p:ext uri="{BB962C8B-B14F-4D97-AF65-F5344CB8AC3E}">
        <p14:creationId xmlns:p14="http://schemas.microsoft.com/office/powerpoint/2010/main" val="865408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axis is the expected years of life of someone between 25 and 74. </a:t>
            </a:r>
            <a:br>
              <a:rPr lang="en-US" dirty="0"/>
            </a:br>
            <a:br>
              <a:rPr lang="en-US" dirty="0"/>
            </a:br>
            <a:r>
              <a:rPr lang="en-US" dirty="0"/>
              <a:t>Note that the BAs still have longer lives, whether white or black</a:t>
            </a:r>
            <a:br>
              <a:rPr lang="en-US" dirty="0"/>
            </a:br>
            <a:br>
              <a:rPr lang="en-US" dirty="0"/>
            </a:br>
            <a:r>
              <a:rPr lang="en-US" dirty="0"/>
              <a:t>Note that the greatest differences are not between race, they are between education level</a:t>
            </a:r>
          </a:p>
        </p:txBody>
      </p:sp>
      <p:sp>
        <p:nvSpPr>
          <p:cNvPr id="4" name="Slide Number Placeholder 3"/>
          <p:cNvSpPr>
            <a:spLocks noGrp="1"/>
          </p:cNvSpPr>
          <p:nvPr>
            <p:ph type="sldNum" sz="quarter" idx="5"/>
          </p:nvPr>
        </p:nvSpPr>
        <p:spPr/>
        <p:txBody>
          <a:bodyPr/>
          <a:lstStyle/>
          <a:p>
            <a:fld id="{06ABD49B-7861-477D-B0B7-38D77F28F062}" type="slidenum">
              <a:rPr lang="en-US" smtClean="0"/>
              <a:t>29</a:t>
            </a:fld>
            <a:endParaRPr lang="en-US" dirty="0"/>
          </a:p>
        </p:txBody>
      </p:sp>
    </p:spTree>
    <p:extLst>
      <p:ext uri="{BB962C8B-B14F-4D97-AF65-F5344CB8AC3E}">
        <p14:creationId xmlns:p14="http://schemas.microsoft.com/office/powerpoint/2010/main" val="501555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important to remember that most Americans — nearly two-thirds — do not have a 4-year college degree.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Meritocracy's winners think their success is all due to their brains and effort.  </a:t>
            </a:r>
            <a:br>
              <a:rPr lang="en-US" dirty="0"/>
            </a:br>
            <a:endParaRPr lang="en-US" dirty="0"/>
          </a:p>
          <a:p>
            <a:r>
              <a:rPr lang="en-US" dirty="0"/>
              <a:t>The knowledge imparted by college may be less important than the potential change in one’s social, economic, and cultural environment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dirty="0"/>
              <a:t>https://www.nytimes.com/2020/09/02/opinion/education-prejudice.html</a:t>
            </a:r>
            <a:br>
              <a:rPr lang="en-US" dirty="0"/>
            </a:br>
            <a:r>
              <a:rPr lang="en-US" dirty="0"/>
              <a:t>https://www.newyorker.com/magazine/2019/09/30/is-meritocracy-making-everyone-miserable</a:t>
            </a:r>
          </a:p>
          <a:p>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30</a:t>
            </a:fld>
            <a:endParaRPr lang="en-US" dirty="0"/>
          </a:p>
        </p:txBody>
      </p:sp>
    </p:spTree>
    <p:extLst>
      <p:ext uri="{BB962C8B-B14F-4D97-AF65-F5344CB8AC3E}">
        <p14:creationId xmlns:p14="http://schemas.microsoft.com/office/powerpoint/2010/main" val="3107704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https://www.ineteconomics.org/perspectives/blog/mortality-crisis-redux-the-economics-of-despair</a:t>
            </a:r>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32</a:t>
            </a:fld>
            <a:endParaRPr lang="en-US"/>
          </a:p>
        </p:txBody>
      </p:sp>
    </p:spTree>
    <p:extLst>
      <p:ext uri="{BB962C8B-B14F-4D97-AF65-F5344CB8AC3E}">
        <p14:creationId xmlns:p14="http://schemas.microsoft.com/office/powerpoint/2010/main" val="955287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Mackenbach</a:t>
            </a:r>
            <a:r>
              <a:rPr lang="en-US" dirty="0"/>
              <a:t>, J. P., Valverde, J. R., </a:t>
            </a:r>
            <a:r>
              <a:rPr lang="en-US" dirty="0" err="1"/>
              <a:t>Artnik</a:t>
            </a:r>
            <a:r>
              <a:rPr lang="en-US" dirty="0"/>
              <a:t>, B., Bopp, M., </a:t>
            </a:r>
            <a:r>
              <a:rPr lang="en-US" dirty="0" err="1"/>
              <a:t>Brønnum</a:t>
            </a:r>
            <a:r>
              <a:rPr lang="en-US" dirty="0"/>
              <a:t>-Hansen, H., </a:t>
            </a:r>
            <a:r>
              <a:rPr lang="en-US" dirty="0" err="1"/>
              <a:t>Deboosere</a:t>
            </a:r>
            <a:r>
              <a:rPr lang="en-US" dirty="0"/>
              <a:t>, P., ... &amp; </a:t>
            </a:r>
            <a:r>
              <a:rPr lang="en-US" dirty="0" err="1"/>
              <a:t>Nusselder</a:t>
            </a:r>
            <a:r>
              <a:rPr lang="en-US" dirty="0"/>
              <a:t>, W. J. (2018). Trends in health inequalities in 27 European countries. </a:t>
            </a:r>
            <a:r>
              <a:rPr lang="en-US" i="1" dirty="0"/>
              <a:t>Proceedings of the National Academy of Sciences</a:t>
            </a:r>
            <a:r>
              <a:rPr lang="en-US" dirty="0"/>
              <a:t>, </a:t>
            </a:r>
            <a:r>
              <a:rPr lang="en-US" i="1" dirty="0"/>
              <a:t>115</a:t>
            </a:r>
            <a:r>
              <a:rPr lang="en-US" dirty="0"/>
              <a:t>(25), 6440-6445.</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33</a:t>
            </a:fld>
            <a:endParaRPr lang="en-US"/>
          </a:p>
        </p:txBody>
      </p:sp>
    </p:spTree>
    <p:extLst>
      <p:ext uri="{BB962C8B-B14F-4D97-AF65-F5344CB8AC3E}">
        <p14:creationId xmlns:p14="http://schemas.microsoft.com/office/powerpoint/2010/main" val="2605078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DRAFT NAVIGATION</a:t>
            </a:r>
            <a:endParaRPr lang="en-US" dirty="0"/>
          </a:p>
          <a:p>
            <a:r>
              <a:t>Original slide 36 → draft slide 36.</a:t>
            </a:r>
          </a:p>
          <a:p>
            <a:endParaRPr/>
          </a:p>
        </p:txBody>
      </p:sp>
      <p:sp>
        <p:nvSpPr>
          <p:cNvPr id="4" name="Slide Number Placeholder 3"/>
          <p:cNvSpPr>
            <a:spLocks noGrp="1"/>
          </p:cNvSpPr>
          <p:nvPr>
            <p:ph type="sldNum" sz="quarter" idx="5"/>
          </p:nvPr>
        </p:nvSpPr>
        <p:spPr/>
        <p:txBody>
          <a:bodyPr/>
          <a:lstStyle/>
          <a:p>
            <a:fld id="{2E84C011-BF57-4A7F-A2BA-47A1B8A638B1}" type="slidenum">
              <a:rPr lang="en-US" smtClean="0"/>
              <a:t>34</a:t>
            </a:fld>
            <a:endParaRPr lang="en-US" dirty="0"/>
          </a:p>
        </p:txBody>
      </p:sp>
    </p:spTree>
    <p:extLst>
      <p:ext uri="{BB962C8B-B14F-4D97-AF65-F5344CB8AC3E}">
        <p14:creationId xmlns:p14="http://schemas.microsoft.com/office/powerpoint/2010/main" val="32567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https://www.washingtonpost.com/opinions/2024/01/25/economic-inequality-despair-redistribution/</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BF393DC6-CCA3-40F5-84FE-B056F986363A}" type="slidenum">
              <a:rPr lang="en-US" smtClean="0"/>
              <a:t>35</a:t>
            </a:fld>
            <a:endParaRPr lang="en-US"/>
          </a:p>
        </p:txBody>
      </p:sp>
    </p:spTree>
    <p:extLst>
      <p:ext uri="{BB962C8B-B14F-4D97-AF65-F5344CB8AC3E}">
        <p14:creationId xmlns:p14="http://schemas.microsoft.com/office/powerpoint/2010/main" val="42525812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https://youtu.be/0X6BeV6NsIc?si=_3Pmd9IwlZ5moOSF</a:t>
            </a:r>
          </a:p>
        </p:txBody>
      </p:sp>
      <p:sp>
        <p:nvSpPr>
          <p:cNvPr id="4" name="Slide Number Placeholder 3"/>
          <p:cNvSpPr>
            <a:spLocks noGrp="1"/>
          </p:cNvSpPr>
          <p:nvPr>
            <p:ph type="sldNum" sz="quarter" idx="5"/>
          </p:nvPr>
        </p:nvSpPr>
        <p:spPr/>
        <p:txBody>
          <a:bodyPr/>
          <a:lstStyle/>
          <a:p>
            <a:fld id="{2E84C011-BF57-4A7F-A2BA-47A1B8A638B1}" type="slidenum">
              <a:rPr lang="en-US" smtClean="0"/>
              <a:t>36</a:t>
            </a:fld>
            <a:endParaRPr lang="en-US" dirty="0"/>
          </a:p>
        </p:txBody>
      </p:sp>
    </p:spTree>
    <p:extLst>
      <p:ext uri="{BB962C8B-B14F-4D97-AF65-F5344CB8AC3E}">
        <p14:creationId xmlns:p14="http://schemas.microsoft.com/office/powerpoint/2010/main" val="36657700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https://www.kff.org/medicaid/issue-brief/how-many-uninsured-are-in-the-coverage-gap-and-how-many-could-be-eligible-if-all-states-adopted-the-medicaid-expansion/</a:t>
            </a:r>
            <a:br>
              <a:rPr lang="en-US" dirty="0"/>
            </a:br>
            <a:endParaRPr lang="en-US" dirty="0"/>
          </a:p>
          <a:p>
            <a:r>
              <a:rPr lang="en-US" dirty="0"/>
              <a:t>While millions of people have gained coverage through the expansion of Medicaid under the Affordable Care Act (ACA), state decisions not to implement the expansion leave many without an affordable coverage option. Under the ACA, Medicaid eligibility was to be extended to nearly all low-income individuals with incomes at or below 138 percent of poverty ($17,236 for an individual in 2019).</a:t>
            </a:r>
            <a:r>
              <a:rPr lang="en-US" baseline="30000" dirty="0"/>
              <a:t> </a:t>
            </a:r>
            <a:r>
              <a:rPr lang="en-US" dirty="0"/>
              <a:t>This expansion fills in historical gaps in Medicaid eligibility for adults and was envisioned as the vehicle for extending insurance coverage to low-income individuals, with premium tax credits for marketplace coverage serving as the vehicle for covering people with moderate incomes. While the Medicaid expansion was intended to be national, the June 2012 Supreme Court ruling essentially made it optional for states. </a:t>
            </a:r>
          </a:p>
          <a:p>
            <a:endParaRPr lang="en-US" dirty="0"/>
          </a:p>
          <a:p>
            <a:r>
              <a:rPr lang="en-US" dirty="0"/>
              <a:t>In states that do not expand Medicaid, many adults, including all childless adults, fall into a “coverage gap” of having incomes above Medicaid eligibility limits but below the lower limit for Marketplace premium tax.</a:t>
            </a:r>
          </a:p>
          <a:p>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38</a:t>
            </a:fld>
            <a:endParaRPr lang="en-US" dirty="0"/>
          </a:p>
        </p:txBody>
      </p:sp>
    </p:spTree>
    <p:extLst>
      <p:ext uri="{BB962C8B-B14F-4D97-AF65-F5344CB8AC3E}">
        <p14:creationId xmlns:p14="http://schemas.microsoft.com/office/powerpoint/2010/main" val="939980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of hospital closures in TN, many counties can be several hundred miles away from the nearest hospital. Even dentists are hard to get to. A free dental and health clinic drew crowds in Knoxville, TN. Many had drove hours to get there. </a:t>
            </a:r>
            <a:br>
              <a:rPr lang="en-US" dirty="0"/>
            </a:br>
            <a:br>
              <a:rPr lang="en-US" dirty="0"/>
            </a:br>
            <a:r>
              <a:rPr lang="en-US" dirty="0"/>
              <a:t>https://www.washingtonpost.com/national/the-clinic-of-last-resort/2019/06/22/2833c8a0-92cc-11e9-aadb-74e6b2b46f6a_story.html</a:t>
            </a:r>
            <a:br>
              <a:rPr lang="en-US" dirty="0"/>
            </a:br>
            <a:endParaRPr lang="en-US" dirty="0"/>
          </a:p>
          <a:p>
            <a:r>
              <a:rPr lang="en-US" dirty="0"/>
              <a:t>https://www.nytimes.com/2018/07/17/us/hospital-closing-missouri-pregnant.html</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39</a:t>
            </a:fld>
            <a:endParaRPr lang="en-US" dirty="0"/>
          </a:p>
        </p:txBody>
      </p:sp>
    </p:spTree>
    <p:extLst>
      <p:ext uri="{BB962C8B-B14F-4D97-AF65-F5344CB8AC3E}">
        <p14:creationId xmlns:p14="http://schemas.microsoft.com/office/powerpoint/2010/main" val="19194394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200" dirty="0">
                <a:solidFill>
                  <a:srgbClr val="000000"/>
                </a:solidFill>
                <a:effectLst/>
                <a:latin typeface="Calibri" panose="020F0502020204030204" pitchFamily="34" charset="0"/>
                <a:ea typeface="Times New Roman" panose="02020603050405020304" pitchFamily="18" charset="0"/>
              </a:rPr>
              <a:t>More babies are born premature when obstetric services leave rural towns because pre-natal care is no longer available</a:t>
            </a:r>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40</a:t>
            </a:fld>
            <a:endParaRPr lang="en-US" dirty="0"/>
          </a:p>
        </p:txBody>
      </p:sp>
    </p:spTree>
    <p:extLst>
      <p:ext uri="{BB962C8B-B14F-4D97-AF65-F5344CB8AC3E}">
        <p14:creationId xmlns:p14="http://schemas.microsoft.com/office/powerpoint/2010/main" val="8023539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0E349D2F-4C67-45CF-9FFB-5254E43D7196}" type="slidenum">
              <a:rPr lang="en-US" smtClean="0"/>
              <a:t>41</a:t>
            </a:fld>
            <a:endParaRPr lang="en-US" dirty="0"/>
          </a:p>
        </p:txBody>
      </p:sp>
    </p:spTree>
    <p:extLst>
      <p:ext uri="{BB962C8B-B14F-4D97-AF65-F5344CB8AC3E}">
        <p14:creationId xmlns:p14="http://schemas.microsoft.com/office/powerpoint/2010/main" val="33253921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F87B-6E7F-3172-7E39-79628CFA1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F26D4-296E-E0E1-F5BF-8A90EF074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3292A-FDDF-B2C5-23B0-1DD705AC052E}"/>
              </a:ext>
            </a:extLst>
          </p:cNvPr>
          <p:cNvSpPr>
            <a:spLocks noGrp="1"/>
          </p:cNvSpPr>
          <p:nvPr>
            <p:ph type="body" idx="1"/>
          </p:nvPr>
        </p:nvSpPr>
        <p:spPr/>
        <p:txBody>
          <a:bodyPr/>
          <a:lstStyle/>
          <a:p>
            <a:r>
              <a:rPr lang="en-US" dirty="0"/>
              <a:t>https://www.kff.org/medicaid/status-of-state-medicaid-expansion-decisions</a:t>
            </a:r>
            <a:br>
              <a:rPr lang="en-US" dirty="0"/>
            </a:br>
            <a:endParaRPr lang="en-US" dirty="0"/>
          </a:p>
          <a:p>
            <a:r>
              <a:rPr lang="en-US" dirty="0"/>
              <a:t>While millions of people have gained coverage through the expansion of Medicaid under the Affordable Care Act (ACA), decisions by some states not to implement the expansion continue to leave many low-income adults without an affordable coverage option. Under the ACA, Medicaid eligibility was extended to most adults ages 19–64 with incomes at or below 138 percent of the federal poverty level—about $22,025 for an individual in 2026. The expansion was designed to fill longstanding gaps in Medicaid eligibility for low-income adults, while premium tax credits for Marketplace coverage were intended primarily for people with incomes above the Medicaid eligibility threshold. Although Medicaid expansion was originally intended to apply nationwide, the Supreme Court's June 2012 decision made state participation effectively optional. As of October 2026, 41 states including the District of Columbia have adopted the expansion, while 10 states have not.</a:t>
            </a:r>
          </a:p>
          <a:p>
            <a:r>
              <a:rPr lang="en-US" dirty="0"/>
              <a:t>In states that do not expand Medicaid, many adults, including all childless adults, fall into a “coverage gap” of having incomes above Medicaid eligibility limits but below the lower limit for other private or employer-sponsored insurance policies .</a:t>
            </a:r>
          </a:p>
          <a:p>
            <a:endParaRPr lang="en-US" dirty="0"/>
          </a:p>
          <a:p>
            <a:endParaRPr lang="en-US" dirty="0"/>
          </a:p>
        </p:txBody>
      </p:sp>
      <p:sp>
        <p:nvSpPr>
          <p:cNvPr id="4" name="Slide Number Placeholder 3">
            <a:extLst>
              <a:ext uri="{FF2B5EF4-FFF2-40B4-BE49-F238E27FC236}">
                <a16:creationId xmlns:a16="http://schemas.microsoft.com/office/drawing/2014/main" id="{4B6E7E8C-E159-A4A2-3901-A2D5D1F8C098}"/>
              </a:ext>
            </a:extLst>
          </p:cNvPr>
          <p:cNvSpPr>
            <a:spLocks noGrp="1"/>
          </p:cNvSpPr>
          <p:nvPr>
            <p:ph type="sldNum" sz="quarter" idx="5"/>
          </p:nvPr>
        </p:nvSpPr>
        <p:spPr/>
        <p:txBody>
          <a:bodyPr/>
          <a:lstStyle/>
          <a:p>
            <a:fld id="{2E84C011-BF57-4A7F-A2BA-47A1B8A638B1}" type="slidenum">
              <a:rPr lang="en-US" smtClean="0"/>
              <a:t>42</a:t>
            </a:fld>
            <a:endParaRPr lang="en-US" dirty="0"/>
          </a:p>
        </p:txBody>
      </p:sp>
    </p:spTree>
    <p:extLst>
      <p:ext uri="{BB962C8B-B14F-4D97-AF65-F5344CB8AC3E}">
        <p14:creationId xmlns:p14="http://schemas.microsoft.com/office/powerpoint/2010/main" val="2158308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living wage is effective medicine. The best medicine to address the health needs of the working poor is an increase in the minimum wage. </a:t>
            </a:r>
          </a:p>
          <a:p>
            <a:endParaRPr lang="en-US" dirty="0"/>
          </a:p>
          <a:p>
            <a:r>
              <a:rPr lang="en-US" dirty="0"/>
              <a:t>Julio Payes was working 80 hours a week at two full-time jobs. A permanent resident from Guatemala who came to the United States on a work visa, Payes labored in Emeryville, Calif., a city of roughly 12,000 residents and almost 22,000 jobs, sandwiched between Oakland and Berkeley. He began his day with the graveyard shift at a 24-hour McDonald’s, where he served burgers and fries from 10 p.m. to 6 a.m. Afterward he had two hours to rest and shower. Then he’d clock in at Aerotek, going anywhere the temp service sent him between 8 a.m. and 4 p.m. To stay awake, he loaded up on coffee and soda. Each job paid minimum wage. </a:t>
            </a:r>
          </a:p>
          <a:p>
            <a:endParaRPr lang="en-US" dirty="0"/>
          </a:p>
          <a:p>
            <a:r>
              <a:rPr lang="en-US" dirty="0"/>
              <a:t>“I felt like a zombie,” Payes told me. “No energy. Always sad.” Yet just to afford basic necessities, he had to work up to 16 hours a day, seven days a week. Back then, he and his mother and two siblings all shared a single, unfurnished room. Once, his younger brother, Alexander, who was 8 at the time, told him he was saving money. “I want to buy one hour of your time,” Payes remembers his brother telling him. “How much for one hour to play with me?” Payes looked at his brother and wept. Not long after that, Payes fainted from exhaustion in the aisle of a grocery store. He was 24.</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43</a:t>
            </a:fld>
            <a:endParaRPr lang="en-US" dirty="0"/>
          </a:p>
        </p:txBody>
      </p:sp>
    </p:spTree>
    <p:extLst>
      <p:ext uri="{BB962C8B-B14F-4D97-AF65-F5344CB8AC3E}">
        <p14:creationId xmlns:p14="http://schemas.microsoft.com/office/powerpoint/2010/main" val="36882760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living wage is effective medicine. The best medicine to address the health needs of the working poor is an increase in the minimum wage. </a:t>
            </a:r>
          </a:p>
          <a:p>
            <a:endParaRPr lang="en-US" dirty="0"/>
          </a:p>
          <a:p>
            <a:r>
              <a:rPr lang="en-US" dirty="0"/>
              <a:t>Julio Payes was working 80 hours a week at two full-time jobs. A permanent resident from Guatemala who came to the United States on a work visa, Payes labored in Emeryville, Calif., a city of roughly 12,000 residents and almost 22,000 jobs, sandwiched between Oakland and Berkeley. He began his day with the graveyard shift at a 24-hour McDonald’s, where he served burgers and fries from 10 p.m. to 6 a.m. Afterward he had two hours to rest and shower. Then he’d clock in at Aerotek, going anywhere the temp service sent him between 8 a.m. and 4 p.m. To stay awake, he loaded up on coffee and soda. Each job paid minimum wage. </a:t>
            </a:r>
          </a:p>
          <a:p>
            <a:endParaRPr lang="en-US" dirty="0"/>
          </a:p>
          <a:p>
            <a:r>
              <a:rPr lang="en-US" dirty="0"/>
              <a:t>“I felt like a zombie,” Payes told me. “No energy. Always sad.” Yet just to afford basic necessities, he had to work up to 16 hours a day, seven days a week. Back then, he and his mother and two siblings all shared a single, unfurnished room. Once, his younger brother, Alexander, who was 8 at the time, told him he was saving money. “I want to buy one hour of your time,” Payes remembers his brother telling him. “How much for one hour to play with me?” Payes looked at his brother and wept. Not long after that, Payes fainted from exhaustion in the aisle of a grocery store. He was 24.</a:t>
            </a:r>
          </a:p>
          <a:p>
            <a:endParaRPr lang="en-US" dirty="0"/>
          </a:p>
        </p:txBody>
      </p:sp>
      <p:sp>
        <p:nvSpPr>
          <p:cNvPr id="4" name="Slide Number Placeholder 3"/>
          <p:cNvSpPr>
            <a:spLocks noGrp="1"/>
          </p:cNvSpPr>
          <p:nvPr>
            <p:ph type="sldNum" sz="quarter" idx="5"/>
          </p:nvPr>
        </p:nvSpPr>
        <p:spPr/>
        <p:txBody>
          <a:bodyPr/>
          <a:lstStyle/>
          <a:p>
            <a:fld id="{2E84C011-BF57-4A7F-A2BA-47A1B8A638B1}" type="slidenum">
              <a:rPr lang="en-US" smtClean="0"/>
              <a:t>44</a:t>
            </a:fld>
            <a:endParaRPr lang="en-US" dirty="0"/>
          </a:p>
        </p:txBody>
      </p:sp>
    </p:spTree>
    <p:extLst>
      <p:ext uri="{BB962C8B-B14F-4D97-AF65-F5344CB8AC3E}">
        <p14:creationId xmlns:p14="http://schemas.microsoft.com/office/powerpoint/2010/main" val="38198328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https://www.nytimes.com/interactive/2019/02/21/magazine/minimum-wage-saving-lives.html</a:t>
            </a:r>
            <a:br>
              <a:rPr lang="en-US" dirty="0"/>
            </a:br>
            <a:br>
              <a:rPr lang="en-US" dirty="0"/>
            </a:br>
            <a:r>
              <a:rPr lang="en-US" dirty="0"/>
              <a:t>https://www.ncsl.org/resources/map-monday-minimum-wage-laws-where-does-your-state-stand</a:t>
            </a:r>
          </a:p>
          <a:p>
            <a:endParaRPr lang="en-US" dirty="0"/>
          </a:p>
          <a:p>
            <a:endParaRPr dirty="0"/>
          </a:p>
        </p:txBody>
      </p:sp>
      <p:sp>
        <p:nvSpPr>
          <p:cNvPr id="4" name="Slide Number Placeholder 3"/>
          <p:cNvSpPr>
            <a:spLocks noGrp="1"/>
          </p:cNvSpPr>
          <p:nvPr>
            <p:ph type="sldNum" sz="quarter" idx="10"/>
          </p:nvPr>
        </p:nvSpPr>
        <p:spPr/>
        <p:txBody>
          <a:bodyPr/>
          <a:lstStyle/>
          <a:p>
            <a:fld id="{2E84C011-BF57-4A7F-A2BA-47A1B8A638B1}" type="slidenum">
              <a:rPr lang="en-US" smtClean="0"/>
              <a:t>45</a:t>
            </a:fld>
            <a:endParaRPr lang="en-US" dirty="0"/>
          </a:p>
        </p:txBody>
      </p:sp>
    </p:spTree>
    <p:extLst>
      <p:ext uri="{BB962C8B-B14F-4D97-AF65-F5344CB8AC3E}">
        <p14:creationId xmlns:p14="http://schemas.microsoft.com/office/powerpoint/2010/main" val="3390180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Steptoe, A., &amp; Zaninotto, P. (2020). Lower socioeconomic status and the acceleration of aging: An outcome-wide analysis. </a:t>
            </a:r>
            <a:r>
              <a:rPr lang="en-US" i="1" dirty="0"/>
              <a:t>Proceedings of the National Academy of Sciences</a:t>
            </a:r>
            <a:r>
              <a:rPr lang="en-US" dirty="0"/>
              <a:t>, </a:t>
            </a:r>
            <a:r>
              <a:rPr lang="en-US" i="1" dirty="0"/>
              <a:t>117</a:t>
            </a:r>
            <a:r>
              <a:rPr lang="en-US" dirty="0"/>
              <a:t>(26), 14911-14917.</a:t>
            </a:r>
          </a:p>
          <a:p>
            <a:endParaRPr lang="en-US" dirty="0"/>
          </a:p>
          <a:p>
            <a:r>
              <a:rPr lang="en-US" dirty="0"/>
              <a:t>This was an 8-year study involving 5000 people. </a:t>
            </a:r>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46</a:t>
            </a:fld>
            <a:endParaRPr lang="en-US" dirty="0"/>
          </a:p>
        </p:txBody>
      </p:sp>
    </p:spTree>
    <p:extLst>
      <p:ext uri="{BB962C8B-B14F-4D97-AF65-F5344CB8AC3E}">
        <p14:creationId xmlns:p14="http://schemas.microsoft.com/office/powerpoint/2010/main" val="9318707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Experience of poverty has health consequences beyond the physical</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https://www.csmonitor.com/USA/2015/0515/In-global-fight-against-extreme-poverty-a-potential-game-changer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Cannot neutralize poverty 'by keeping the focus on the characteristics of poor people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dirty="0"/>
          </a:p>
        </p:txBody>
      </p:sp>
      <p:sp>
        <p:nvSpPr>
          <p:cNvPr id="4" name="Slide Number Placeholder 3"/>
          <p:cNvSpPr>
            <a:spLocks noGrp="1"/>
          </p:cNvSpPr>
          <p:nvPr>
            <p:ph type="sldNum" sz="quarter" idx="5"/>
          </p:nvPr>
        </p:nvSpPr>
        <p:spPr/>
        <p:txBody>
          <a:bodyPr/>
          <a:lstStyle/>
          <a:p>
            <a:fld id="{2E84C011-BF57-4A7F-A2BA-47A1B8A638B1}" type="slidenum">
              <a:rPr lang="en-US" smtClean="0"/>
              <a:t>47</a:t>
            </a:fld>
            <a:endParaRPr lang="en-US" dirty="0"/>
          </a:p>
        </p:txBody>
      </p:sp>
    </p:spTree>
    <p:extLst>
      <p:ext uri="{BB962C8B-B14F-4D97-AF65-F5344CB8AC3E}">
        <p14:creationId xmlns:p14="http://schemas.microsoft.com/office/powerpoint/2010/main" val="3969103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8482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582705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42277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84477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4287768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72474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29183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38270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1776928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4189806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3FFAE-7F79-458A-B349-212CE4B62EDC}"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D7C4FC-20D2-42E4-8FEE-6B4188C5C676}" type="slidenum">
              <a:rPr lang="en-US" smtClean="0"/>
              <a:t>‹#›</a:t>
            </a:fld>
            <a:endParaRPr lang="en-US" dirty="0"/>
          </a:p>
        </p:txBody>
      </p:sp>
    </p:spTree>
    <p:extLst>
      <p:ext uri="{BB962C8B-B14F-4D97-AF65-F5344CB8AC3E}">
        <p14:creationId xmlns:p14="http://schemas.microsoft.com/office/powerpoint/2010/main" val="2765129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53FFAE-7F79-458A-B349-212CE4B62EDC}" type="datetimeFigureOut">
              <a:rPr lang="en-US" smtClean="0"/>
              <a:t>10/6/2026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D7C4FC-20D2-42E4-8FEE-6B4188C5C676}" type="slidenum">
              <a:rPr lang="en-US" smtClean="0"/>
              <a:t>‹#›</a:t>
            </a:fld>
            <a:endParaRPr lang="en-US" dirty="0"/>
          </a:p>
        </p:txBody>
      </p:sp>
    </p:spTree>
    <p:extLst>
      <p:ext uri="{BB962C8B-B14F-4D97-AF65-F5344CB8AC3E}">
        <p14:creationId xmlns:p14="http://schemas.microsoft.com/office/powerpoint/2010/main" val="12642516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nytimes.com/interactive/2016/04/11/upshot/where-the-poor-live-longer-how-your-area-compares.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ideo" Target="https://www.youtube.com/embed/jymyCJK_G0o?feature=oembed" TargetMode="Externa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t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tif"/></Relationships>
</file>

<file path=ppt/slides/_rels/slide10.xml.rels><?xml version="1.0" encoding="UTF-8" standalone="yes"?>
<Relationships xmlns="http://schemas.openxmlformats.org/package/2006/relationships"><Relationship Id="rId3" Type="http://schemas.openxmlformats.org/officeDocument/2006/relationships/hyperlink" Target="https://www.nytimes.com/interactive/2016/04/11/upshot/for-the-poor-geography-is-life-and-death.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nytimes.com/interactive/2016/04/11/upshot/where-the-poor-live-longer-how-your-area-compare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ytimes.com/2020/01/09/opinion/sunday/deaths-despair-poverty.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ideo" Target="https://www.youtube.com/embed/0X6BeV6NsIc?feature=oembed" TargetMode="External"/><Relationship Id="rId4" Type="http://schemas.openxmlformats.org/officeDocument/2006/relationships/image" Target="../media/image31.jpe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video" Target="https://www.youtube.com/embed/uqql4Iq-RJU?feature=oembed" TargetMode="External"/><Relationship Id="rId4" Type="http://schemas.openxmlformats.org/officeDocument/2006/relationships/image" Target="../media/image33.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ideo" Target="https://www.youtube.com/embed/u5UivYdVKts?feature=oembed" TargetMode="External"/><Relationship Id="rId4" Type="http://schemas.openxmlformats.org/officeDocument/2006/relationships/image" Target="../media/image34.jpeg"/></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his infographic maps average life expectancy in 199 countries around the world, highlighting where people live the longest.">
            <a:extLst>
              <a:ext uri="{FF2B5EF4-FFF2-40B4-BE49-F238E27FC236}">
                <a16:creationId xmlns:a16="http://schemas.microsoft.com/office/drawing/2014/main" id="{9E565BCD-F516-E6B5-2BA4-C2C497ECA698}"/>
              </a:ext>
            </a:extLst>
          </p:cNvPr>
          <p:cNvPicPr>
            <a:picLocks noChangeAspect="1"/>
          </p:cNvPicPr>
          <p:nvPr/>
        </p:nvPicPr>
        <p:blipFill>
          <a:blip r:embed="rId2"/>
          <a:srcRect t="15019" b="3726"/>
          <a:stretch>
            <a:fillRect/>
          </a:stretch>
        </p:blipFill>
        <p:spPr>
          <a:xfrm>
            <a:off x="3232949" y="147219"/>
            <a:ext cx="6205733" cy="6563562"/>
          </a:xfrm>
          <a:prstGeom prst="rect">
            <a:avLst/>
          </a:prstGeom>
        </p:spPr>
      </p:pic>
    </p:spTree>
    <p:extLst>
      <p:ext uri="{BB962C8B-B14F-4D97-AF65-F5344CB8AC3E}">
        <p14:creationId xmlns:p14="http://schemas.microsoft.com/office/powerpoint/2010/main" val="2891234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3"/>
            <a:extLst>
              <a:ext uri="{FF2B5EF4-FFF2-40B4-BE49-F238E27FC236}">
                <a16:creationId xmlns:a16="http://schemas.microsoft.com/office/drawing/2014/main" id="{621C46F5-3EF4-E55E-7ABD-AE38CFB1B96A}"/>
              </a:ext>
            </a:extLst>
          </p:cNvPr>
          <p:cNvPicPr>
            <a:picLocks noChangeAspect="1"/>
          </p:cNvPicPr>
          <p:nvPr/>
        </p:nvPicPr>
        <p:blipFill>
          <a:blip r:embed="rId4"/>
          <a:srcRect t="7213"/>
          <a:stretch>
            <a:fillRect/>
          </a:stretch>
        </p:blipFill>
        <p:spPr>
          <a:xfrm>
            <a:off x="3067791" y="179882"/>
            <a:ext cx="6356025" cy="6678117"/>
          </a:xfrm>
          <a:prstGeom prst="rect">
            <a:avLst/>
          </a:prstGeom>
          <a:ln w="44450">
            <a:noFill/>
          </a:ln>
        </p:spPr>
      </p:pic>
    </p:spTree>
    <p:extLst>
      <p:ext uri="{BB962C8B-B14F-4D97-AF65-F5344CB8AC3E}">
        <p14:creationId xmlns:p14="http://schemas.microsoft.com/office/powerpoint/2010/main" val="243453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Cincinnati life expectancies heavily tied to neighborhood">
            <a:hlinkClick r:id="" action="ppaction://media"/>
            <a:extLst>
              <a:ext uri="{FF2B5EF4-FFF2-40B4-BE49-F238E27FC236}">
                <a16:creationId xmlns:a16="http://schemas.microsoft.com/office/drawing/2014/main" id="{3E4411FE-B372-BFC8-44F7-B1D4ACBF8BCC}"/>
              </a:ext>
            </a:extLst>
          </p:cNvPr>
          <p:cNvPicPr>
            <a:picLocks noRot="1" noChangeAspect="1"/>
          </p:cNvPicPr>
          <p:nvPr>
            <a:videoFile r:link="rId1"/>
          </p:nvPr>
        </p:nvPicPr>
        <p:blipFill>
          <a:blip r:embed="rId4"/>
          <a:stretch>
            <a:fillRect/>
          </a:stretch>
        </p:blipFill>
        <p:spPr>
          <a:xfrm>
            <a:off x="22225" y="0"/>
            <a:ext cx="12147550" cy="6858000"/>
          </a:xfrm>
          <a:prstGeom prst="rect">
            <a:avLst/>
          </a:prstGeom>
        </p:spPr>
      </p:pic>
    </p:spTree>
    <p:extLst>
      <p:ext uri="{BB962C8B-B14F-4D97-AF65-F5344CB8AC3E}">
        <p14:creationId xmlns:p14="http://schemas.microsoft.com/office/powerpoint/2010/main" val="59253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9EDD-B7D4-4924-B58C-F91696B62734}"/>
              </a:ext>
            </a:extLst>
          </p:cNvPr>
          <p:cNvSpPr>
            <a:spLocks noGrp="1"/>
          </p:cNvSpPr>
          <p:nvPr>
            <p:ph type="title"/>
          </p:nvPr>
        </p:nvSpPr>
        <p:spPr>
          <a:xfrm>
            <a:off x="5012268" y="378191"/>
            <a:ext cx="7021144" cy="1325563"/>
          </a:xfrm>
        </p:spPr>
        <p:txBody>
          <a:bodyPr>
            <a:normAutofit fontScale="90000"/>
          </a:bodyPr>
          <a:lstStyle/>
          <a:p>
            <a:pPr algn="ctr"/>
            <a:r>
              <a:rPr lang="en-US" dirty="0"/>
              <a:t>Factors that shape how economic disparities shape health</a:t>
            </a:r>
          </a:p>
        </p:txBody>
      </p:sp>
      <p:sp>
        <p:nvSpPr>
          <p:cNvPr id="3" name="Content Placeholder 2">
            <a:extLst>
              <a:ext uri="{FF2B5EF4-FFF2-40B4-BE49-F238E27FC236}">
                <a16:creationId xmlns:a16="http://schemas.microsoft.com/office/drawing/2014/main" id="{71CD49E1-BA3D-456C-9054-19076A45C5A5}"/>
              </a:ext>
            </a:extLst>
          </p:cNvPr>
          <p:cNvSpPr>
            <a:spLocks noGrp="1"/>
          </p:cNvSpPr>
          <p:nvPr>
            <p:ph idx="1"/>
          </p:nvPr>
        </p:nvSpPr>
        <p:spPr>
          <a:xfrm>
            <a:off x="379237" y="218532"/>
            <a:ext cx="4633030" cy="6639467"/>
          </a:xfrm>
        </p:spPr>
        <p:txBody>
          <a:bodyPr>
            <a:normAutofit lnSpcReduction="10000"/>
          </a:bodyPr>
          <a:lstStyle/>
          <a:p>
            <a:r>
              <a:rPr lang="en-US" dirty="0">
                <a:latin typeface="+mj-lt"/>
              </a:rPr>
              <a:t>The capacity of governments to fund and provide health care</a:t>
            </a:r>
          </a:p>
          <a:p>
            <a:r>
              <a:rPr lang="en-US" dirty="0">
                <a:latin typeface="+mj-lt"/>
              </a:rPr>
              <a:t>Historical legacies of racism, classism, and colonialism</a:t>
            </a:r>
          </a:p>
          <a:p>
            <a:r>
              <a:rPr lang="en-US" dirty="0">
                <a:latin typeface="+mj-lt"/>
              </a:rPr>
              <a:t>The challenges posed by distances and accessibility</a:t>
            </a:r>
          </a:p>
          <a:p>
            <a:r>
              <a:rPr lang="en-US" dirty="0">
                <a:latin typeface="+mj-lt"/>
              </a:rPr>
              <a:t>Profit incentives that motivate problem solving versus those that only seek a revenue stream</a:t>
            </a:r>
          </a:p>
          <a:p>
            <a:r>
              <a:rPr lang="en-US" dirty="0">
                <a:latin typeface="+mj-lt"/>
              </a:rPr>
              <a:t>The types of medical skills and services available</a:t>
            </a:r>
          </a:p>
          <a:p>
            <a:r>
              <a:rPr lang="en-US" dirty="0">
                <a:latin typeface="+mj-lt"/>
              </a:rPr>
              <a:t>Relative risk of exposures to health-threatening conditions.</a:t>
            </a:r>
          </a:p>
        </p:txBody>
      </p:sp>
      <p:pic>
        <p:nvPicPr>
          <p:cNvPr id="7" name="Picture 6">
            <a:extLst>
              <a:ext uri="{FF2B5EF4-FFF2-40B4-BE49-F238E27FC236}">
                <a16:creationId xmlns:a16="http://schemas.microsoft.com/office/drawing/2014/main" id="{9A73C815-690F-9D96-FF7F-0069B04D4E53}"/>
              </a:ext>
            </a:extLst>
          </p:cNvPr>
          <p:cNvPicPr>
            <a:picLocks noChangeAspect="1"/>
          </p:cNvPicPr>
          <p:nvPr/>
        </p:nvPicPr>
        <p:blipFill>
          <a:blip r:embed="rId3"/>
          <a:stretch>
            <a:fillRect/>
          </a:stretch>
        </p:blipFill>
        <p:spPr>
          <a:xfrm>
            <a:off x="5130800" y="1897038"/>
            <a:ext cx="6681963" cy="4142096"/>
          </a:xfrm>
          <a:prstGeom prst="rect">
            <a:avLst/>
          </a:prstGeom>
        </p:spPr>
      </p:pic>
    </p:spTree>
    <p:extLst>
      <p:ext uri="{BB962C8B-B14F-4D97-AF65-F5344CB8AC3E}">
        <p14:creationId xmlns:p14="http://schemas.microsoft.com/office/powerpoint/2010/main" val="2144354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0F0365-1C95-03A3-7AC7-C1FD3731FA21}"/>
              </a:ext>
            </a:extLst>
          </p:cNvPr>
          <p:cNvPicPr>
            <a:picLocks noGrp="1" noChangeAspect="1"/>
          </p:cNvPicPr>
          <p:nvPr>
            <p:ph idx="1"/>
          </p:nvPr>
        </p:nvPicPr>
        <p:blipFill>
          <a:blip r:embed="rId3"/>
          <a:stretch>
            <a:fillRect/>
          </a:stretch>
        </p:blipFill>
        <p:spPr>
          <a:xfrm>
            <a:off x="1371600" y="117343"/>
            <a:ext cx="8839200" cy="6623313"/>
          </a:xfrm>
        </p:spPr>
      </p:pic>
    </p:spTree>
    <p:extLst>
      <p:ext uri="{BB962C8B-B14F-4D97-AF65-F5344CB8AC3E}">
        <p14:creationId xmlns:p14="http://schemas.microsoft.com/office/powerpoint/2010/main" val="101767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5E8825-2DE5-93F2-AE57-6FEBDAC11950}"/>
              </a:ext>
            </a:extLst>
          </p:cNvPr>
          <p:cNvPicPr>
            <a:picLocks noGrp="1" noChangeAspect="1"/>
          </p:cNvPicPr>
          <p:nvPr>
            <p:ph idx="1"/>
          </p:nvPr>
        </p:nvPicPr>
        <p:blipFill>
          <a:blip r:embed="rId3"/>
          <a:stretch>
            <a:fillRect/>
          </a:stretch>
        </p:blipFill>
        <p:spPr>
          <a:xfrm>
            <a:off x="1295400" y="0"/>
            <a:ext cx="9448800" cy="6525662"/>
          </a:xfrm>
        </p:spPr>
      </p:pic>
    </p:spTree>
    <p:extLst>
      <p:ext uri="{BB962C8B-B14F-4D97-AF65-F5344CB8AC3E}">
        <p14:creationId xmlns:p14="http://schemas.microsoft.com/office/powerpoint/2010/main" val="2233187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4" name="TextBox 233"/>
          <p:cNvSpPr txBox="1"/>
          <p:nvPr/>
        </p:nvSpPr>
        <p:spPr>
          <a:xfrm>
            <a:off x="2182022" y="76203"/>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U.S. Life Expectancies by Percentile in Comparison to</a:t>
            </a:r>
          </a:p>
          <a:p>
            <a:pPr algn="ctr"/>
            <a:r>
              <a:rPr lang="en-US" b="1" dirty="0">
                <a:solidFill>
                  <a:srgbClr val="002060"/>
                </a:solidFill>
                <a:latin typeface="Arial" panose="020B0604020202020204" pitchFamily="34" charset="0"/>
                <a:cs typeface="Arial" panose="020B0604020202020204" pitchFamily="34" charset="0"/>
              </a:rPr>
              <a:t>Mean Life Expectancies Across Countries</a:t>
            </a:r>
          </a:p>
        </p:txBody>
      </p:sp>
      <p:grpSp>
        <p:nvGrpSpPr>
          <p:cNvPr id="237" name="Group 4"/>
          <p:cNvGrpSpPr>
            <a:grpSpLocks noChangeAspect="1"/>
          </p:cNvGrpSpPr>
          <p:nvPr/>
        </p:nvGrpSpPr>
        <p:grpSpPr bwMode="auto">
          <a:xfrm>
            <a:off x="2587628" y="502920"/>
            <a:ext cx="7470775" cy="6338128"/>
            <a:chOff x="334" y="0"/>
            <a:chExt cx="5092" cy="4320"/>
          </a:xfrm>
        </p:grpSpPr>
        <p:sp>
          <p:nvSpPr>
            <p:cNvPr id="238" name="AutoShape 3"/>
            <p:cNvSpPr>
              <a:spLocks noChangeAspect="1" noChangeArrowheads="1" noTextEdit="1"/>
            </p:cNvSpPr>
            <p:nvPr/>
          </p:nvSpPr>
          <p:spPr bwMode="auto">
            <a:xfrm>
              <a:off x="334" y="0"/>
              <a:ext cx="5092"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473" name="Group 205"/>
            <p:cNvGrpSpPr>
              <a:grpSpLocks/>
            </p:cNvGrpSpPr>
            <p:nvPr/>
          </p:nvGrpSpPr>
          <p:grpSpPr bwMode="auto">
            <a:xfrm>
              <a:off x="1507" y="132"/>
              <a:ext cx="2790" cy="3579"/>
              <a:chOff x="1507" y="132"/>
              <a:chExt cx="2790" cy="3579"/>
            </a:xfrm>
          </p:grpSpPr>
          <p:sp>
            <p:nvSpPr>
              <p:cNvPr id="507" name="Rectangle 7"/>
              <p:cNvSpPr>
                <a:spLocks noChangeArrowheads="1"/>
              </p:cNvSpPr>
              <p:nvPr/>
            </p:nvSpPr>
            <p:spPr bwMode="auto">
              <a:xfrm>
                <a:off x="1507" y="132"/>
                <a:ext cx="2790" cy="3579"/>
              </a:xfrm>
              <a:prstGeom prst="rect">
                <a:avLst/>
              </a:prstGeom>
              <a:solidFill>
                <a:srgbClr val="FFFFFF"/>
              </a:solidFill>
              <a:ln w="12700">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508" name="Line 8"/>
              <p:cNvSpPr>
                <a:spLocks noChangeShapeType="1"/>
              </p:cNvSpPr>
              <p:nvPr/>
            </p:nvSpPr>
            <p:spPr bwMode="auto">
              <a:xfrm>
                <a:off x="1603" y="3598"/>
                <a:ext cx="50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9" name="Line 9"/>
              <p:cNvSpPr>
                <a:spLocks noChangeShapeType="1"/>
              </p:cNvSpPr>
              <p:nvPr/>
            </p:nvSpPr>
            <p:spPr bwMode="auto">
              <a:xfrm>
                <a:off x="1603" y="3581"/>
                <a:ext cx="5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0" name="Line 10"/>
              <p:cNvSpPr>
                <a:spLocks noChangeShapeType="1"/>
              </p:cNvSpPr>
              <p:nvPr/>
            </p:nvSpPr>
            <p:spPr bwMode="auto">
              <a:xfrm>
                <a:off x="1603" y="3565"/>
                <a:ext cx="5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1" name="Line 11"/>
              <p:cNvSpPr>
                <a:spLocks noChangeShapeType="1"/>
              </p:cNvSpPr>
              <p:nvPr/>
            </p:nvSpPr>
            <p:spPr bwMode="auto">
              <a:xfrm>
                <a:off x="1603" y="3547"/>
                <a:ext cx="55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2" name="Line 12"/>
              <p:cNvSpPr>
                <a:spLocks noChangeShapeType="1"/>
              </p:cNvSpPr>
              <p:nvPr/>
            </p:nvSpPr>
            <p:spPr bwMode="auto">
              <a:xfrm>
                <a:off x="1603" y="3530"/>
                <a:ext cx="60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3" name="Line 13"/>
              <p:cNvSpPr>
                <a:spLocks noChangeShapeType="1"/>
              </p:cNvSpPr>
              <p:nvPr/>
            </p:nvSpPr>
            <p:spPr bwMode="auto">
              <a:xfrm>
                <a:off x="1603" y="3512"/>
                <a:ext cx="6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4" name="Line 14"/>
              <p:cNvSpPr>
                <a:spLocks noChangeShapeType="1"/>
              </p:cNvSpPr>
              <p:nvPr/>
            </p:nvSpPr>
            <p:spPr bwMode="auto">
              <a:xfrm>
                <a:off x="1603" y="3495"/>
                <a:ext cx="65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5" name="Line 15"/>
              <p:cNvSpPr>
                <a:spLocks noChangeShapeType="1"/>
              </p:cNvSpPr>
              <p:nvPr/>
            </p:nvSpPr>
            <p:spPr bwMode="auto">
              <a:xfrm>
                <a:off x="1603" y="3479"/>
                <a:ext cx="65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6" name="Line 16"/>
              <p:cNvSpPr>
                <a:spLocks noChangeShapeType="1"/>
              </p:cNvSpPr>
              <p:nvPr/>
            </p:nvSpPr>
            <p:spPr bwMode="auto">
              <a:xfrm>
                <a:off x="1603" y="3460"/>
                <a:ext cx="6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7" name="Line 17"/>
              <p:cNvSpPr>
                <a:spLocks noChangeShapeType="1"/>
              </p:cNvSpPr>
              <p:nvPr/>
            </p:nvSpPr>
            <p:spPr bwMode="auto">
              <a:xfrm>
                <a:off x="1603" y="3444"/>
                <a:ext cx="6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8" name="Line 18"/>
              <p:cNvSpPr>
                <a:spLocks noChangeShapeType="1"/>
              </p:cNvSpPr>
              <p:nvPr/>
            </p:nvSpPr>
            <p:spPr bwMode="auto">
              <a:xfrm>
                <a:off x="1603" y="3427"/>
                <a:ext cx="68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19" name="Line 19"/>
              <p:cNvSpPr>
                <a:spLocks noChangeShapeType="1"/>
              </p:cNvSpPr>
              <p:nvPr/>
            </p:nvSpPr>
            <p:spPr bwMode="auto">
              <a:xfrm>
                <a:off x="1603" y="3409"/>
                <a:ext cx="68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0" name="Line 20"/>
              <p:cNvSpPr>
                <a:spLocks noChangeShapeType="1"/>
              </p:cNvSpPr>
              <p:nvPr/>
            </p:nvSpPr>
            <p:spPr bwMode="auto">
              <a:xfrm>
                <a:off x="1603" y="3392"/>
                <a:ext cx="69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1" name="Line 21"/>
              <p:cNvSpPr>
                <a:spLocks noChangeShapeType="1"/>
              </p:cNvSpPr>
              <p:nvPr/>
            </p:nvSpPr>
            <p:spPr bwMode="auto">
              <a:xfrm>
                <a:off x="1603" y="3376"/>
                <a:ext cx="71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2" name="Line 22"/>
              <p:cNvSpPr>
                <a:spLocks noChangeShapeType="1"/>
              </p:cNvSpPr>
              <p:nvPr/>
            </p:nvSpPr>
            <p:spPr bwMode="auto">
              <a:xfrm>
                <a:off x="1603" y="3357"/>
                <a:ext cx="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3" name="Line 23"/>
              <p:cNvSpPr>
                <a:spLocks noChangeShapeType="1"/>
              </p:cNvSpPr>
              <p:nvPr/>
            </p:nvSpPr>
            <p:spPr bwMode="auto">
              <a:xfrm>
                <a:off x="1603" y="3341"/>
                <a:ext cx="7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4" name="Line 24"/>
              <p:cNvSpPr>
                <a:spLocks noChangeShapeType="1"/>
              </p:cNvSpPr>
              <p:nvPr/>
            </p:nvSpPr>
            <p:spPr bwMode="auto">
              <a:xfrm>
                <a:off x="1603" y="3322"/>
                <a:ext cx="74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5" name="Line 25"/>
              <p:cNvSpPr>
                <a:spLocks noChangeShapeType="1"/>
              </p:cNvSpPr>
              <p:nvPr/>
            </p:nvSpPr>
            <p:spPr bwMode="auto">
              <a:xfrm>
                <a:off x="1603" y="3306"/>
                <a:ext cx="77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6" name="Line 26"/>
              <p:cNvSpPr>
                <a:spLocks noChangeShapeType="1"/>
              </p:cNvSpPr>
              <p:nvPr/>
            </p:nvSpPr>
            <p:spPr bwMode="auto">
              <a:xfrm>
                <a:off x="1603" y="3289"/>
                <a:ext cx="77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7" name="Line 27"/>
              <p:cNvSpPr>
                <a:spLocks noChangeShapeType="1"/>
              </p:cNvSpPr>
              <p:nvPr/>
            </p:nvSpPr>
            <p:spPr bwMode="auto">
              <a:xfrm>
                <a:off x="1603" y="3271"/>
                <a:ext cx="7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8" name="Line 28"/>
              <p:cNvSpPr>
                <a:spLocks noChangeShapeType="1"/>
              </p:cNvSpPr>
              <p:nvPr/>
            </p:nvSpPr>
            <p:spPr bwMode="auto">
              <a:xfrm>
                <a:off x="1603" y="3254"/>
                <a:ext cx="80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29" name="Line 29"/>
              <p:cNvSpPr>
                <a:spLocks noChangeShapeType="1"/>
              </p:cNvSpPr>
              <p:nvPr/>
            </p:nvSpPr>
            <p:spPr bwMode="auto">
              <a:xfrm>
                <a:off x="1603" y="3238"/>
                <a:ext cx="8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0" name="Line 30"/>
              <p:cNvSpPr>
                <a:spLocks noChangeShapeType="1"/>
              </p:cNvSpPr>
              <p:nvPr/>
            </p:nvSpPr>
            <p:spPr bwMode="auto">
              <a:xfrm>
                <a:off x="1603" y="3219"/>
                <a:ext cx="80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1" name="Line 31"/>
              <p:cNvSpPr>
                <a:spLocks noChangeShapeType="1"/>
              </p:cNvSpPr>
              <p:nvPr/>
            </p:nvSpPr>
            <p:spPr bwMode="auto">
              <a:xfrm>
                <a:off x="1603" y="3203"/>
                <a:ext cx="8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2" name="Line 32"/>
              <p:cNvSpPr>
                <a:spLocks noChangeShapeType="1"/>
              </p:cNvSpPr>
              <p:nvPr/>
            </p:nvSpPr>
            <p:spPr bwMode="auto">
              <a:xfrm>
                <a:off x="1603" y="3187"/>
                <a:ext cx="81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3" name="Line 33"/>
              <p:cNvSpPr>
                <a:spLocks noChangeShapeType="1"/>
              </p:cNvSpPr>
              <p:nvPr/>
            </p:nvSpPr>
            <p:spPr bwMode="auto">
              <a:xfrm>
                <a:off x="1603" y="3168"/>
                <a:ext cx="8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4" name="Line 34"/>
              <p:cNvSpPr>
                <a:spLocks noChangeShapeType="1"/>
              </p:cNvSpPr>
              <p:nvPr/>
            </p:nvSpPr>
            <p:spPr bwMode="auto">
              <a:xfrm>
                <a:off x="1603" y="3152"/>
                <a:ext cx="8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5" name="Line 35"/>
              <p:cNvSpPr>
                <a:spLocks noChangeShapeType="1"/>
              </p:cNvSpPr>
              <p:nvPr/>
            </p:nvSpPr>
            <p:spPr bwMode="auto">
              <a:xfrm>
                <a:off x="1603" y="3135"/>
                <a:ext cx="84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6" name="Line 36"/>
              <p:cNvSpPr>
                <a:spLocks noChangeShapeType="1"/>
              </p:cNvSpPr>
              <p:nvPr/>
            </p:nvSpPr>
            <p:spPr bwMode="auto">
              <a:xfrm>
                <a:off x="1603" y="3117"/>
                <a:ext cx="84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7" name="Line 37"/>
              <p:cNvSpPr>
                <a:spLocks noChangeShapeType="1"/>
              </p:cNvSpPr>
              <p:nvPr/>
            </p:nvSpPr>
            <p:spPr bwMode="auto">
              <a:xfrm>
                <a:off x="1603" y="3100"/>
                <a:ext cx="8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8" name="Line 38"/>
              <p:cNvSpPr>
                <a:spLocks noChangeShapeType="1"/>
              </p:cNvSpPr>
              <p:nvPr/>
            </p:nvSpPr>
            <p:spPr bwMode="auto">
              <a:xfrm>
                <a:off x="1603" y="3065"/>
                <a:ext cx="8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9" name="Line 39"/>
              <p:cNvSpPr>
                <a:spLocks noChangeShapeType="1"/>
              </p:cNvSpPr>
              <p:nvPr/>
            </p:nvSpPr>
            <p:spPr bwMode="auto">
              <a:xfrm>
                <a:off x="1603" y="3049"/>
                <a:ext cx="8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0" name="Line 40"/>
              <p:cNvSpPr>
                <a:spLocks noChangeShapeType="1"/>
              </p:cNvSpPr>
              <p:nvPr/>
            </p:nvSpPr>
            <p:spPr bwMode="auto">
              <a:xfrm>
                <a:off x="1603" y="3030"/>
                <a:ext cx="8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1" name="Line 41"/>
              <p:cNvSpPr>
                <a:spLocks noChangeShapeType="1"/>
              </p:cNvSpPr>
              <p:nvPr/>
            </p:nvSpPr>
            <p:spPr bwMode="auto">
              <a:xfrm>
                <a:off x="1603" y="3014"/>
                <a:ext cx="88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2" name="Line 42"/>
              <p:cNvSpPr>
                <a:spLocks noChangeShapeType="1"/>
              </p:cNvSpPr>
              <p:nvPr/>
            </p:nvSpPr>
            <p:spPr bwMode="auto">
              <a:xfrm>
                <a:off x="1603" y="2997"/>
                <a:ext cx="8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3" name="Line 43"/>
              <p:cNvSpPr>
                <a:spLocks noChangeShapeType="1"/>
              </p:cNvSpPr>
              <p:nvPr/>
            </p:nvSpPr>
            <p:spPr bwMode="auto">
              <a:xfrm>
                <a:off x="1603" y="2979"/>
                <a:ext cx="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4" name="Line 44"/>
              <p:cNvSpPr>
                <a:spLocks noChangeShapeType="1"/>
              </p:cNvSpPr>
              <p:nvPr/>
            </p:nvSpPr>
            <p:spPr bwMode="auto">
              <a:xfrm>
                <a:off x="1603" y="2962"/>
                <a:ext cx="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5" name="Line 45"/>
              <p:cNvSpPr>
                <a:spLocks noChangeShapeType="1"/>
              </p:cNvSpPr>
              <p:nvPr/>
            </p:nvSpPr>
            <p:spPr bwMode="auto">
              <a:xfrm>
                <a:off x="1603" y="2946"/>
                <a:ext cx="8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6" name="Line 46"/>
              <p:cNvSpPr>
                <a:spLocks noChangeShapeType="1"/>
              </p:cNvSpPr>
              <p:nvPr/>
            </p:nvSpPr>
            <p:spPr bwMode="auto">
              <a:xfrm>
                <a:off x="1603" y="2927"/>
                <a:ext cx="8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7" name="Line 47"/>
              <p:cNvSpPr>
                <a:spLocks noChangeShapeType="1"/>
              </p:cNvSpPr>
              <p:nvPr/>
            </p:nvSpPr>
            <p:spPr bwMode="auto">
              <a:xfrm>
                <a:off x="1603" y="2911"/>
                <a:ext cx="9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8" name="Line 48"/>
              <p:cNvSpPr>
                <a:spLocks noChangeShapeType="1"/>
              </p:cNvSpPr>
              <p:nvPr/>
            </p:nvSpPr>
            <p:spPr bwMode="auto">
              <a:xfrm>
                <a:off x="1603" y="2892"/>
                <a:ext cx="91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9" name="Line 49"/>
              <p:cNvSpPr>
                <a:spLocks noChangeShapeType="1"/>
              </p:cNvSpPr>
              <p:nvPr/>
            </p:nvSpPr>
            <p:spPr bwMode="auto">
              <a:xfrm>
                <a:off x="1603" y="2876"/>
                <a:ext cx="93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0" name="Line 50"/>
              <p:cNvSpPr>
                <a:spLocks noChangeShapeType="1"/>
              </p:cNvSpPr>
              <p:nvPr/>
            </p:nvSpPr>
            <p:spPr bwMode="auto">
              <a:xfrm>
                <a:off x="1603" y="2859"/>
                <a:ext cx="9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1" name="Line 51"/>
              <p:cNvSpPr>
                <a:spLocks noChangeShapeType="1"/>
              </p:cNvSpPr>
              <p:nvPr/>
            </p:nvSpPr>
            <p:spPr bwMode="auto">
              <a:xfrm>
                <a:off x="1603" y="2841"/>
                <a:ext cx="9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2" name="Line 52"/>
              <p:cNvSpPr>
                <a:spLocks noChangeShapeType="1"/>
              </p:cNvSpPr>
              <p:nvPr/>
            </p:nvSpPr>
            <p:spPr bwMode="auto">
              <a:xfrm>
                <a:off x="1603" y="2824"/>
                <a:ext cx="93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3" name="Line 53"/>
              <p:cNvSpPr>
                <a:spLocks noChangeShapeType="1"/>
              </p:cNvSpPr>
              <p:nvPr/>
            </p:nvSpPr>
            <p:spPr bwMode="auto">
              <a:xfrm>
                <a:off x="1603" y="2808"/>
                <a:ext cx="93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4" name="Line 54"/>
              <p:cNvSpPr>
                <a:spLocks noChangeShapeType="1"/>
              </p:cNvSpPr>
              <p:nvPr/>
            </p:nvSpPr>
            <p:spPr bwMode="auto">
              <a:xfrm>
                <a:off x="1603" y="2789"/>
                <a:ext cx="9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5" name="Line 55"/>
              <p:cNvSpPr>
                <a:spLocks noChangeShapeType="1"/>
              </p:cNvSpPr>
              <p:nvPr/>
            </p:nvSpPr>
            <p:spPr bwMode="auto">
              <a:xfrm>
                <a:off x="1603" y="2773"/>
                <a:ext cx="96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6" name="Line 56"/>
              <p:cNvSpPr>
                <a:spLocks noChangeShapeType="1"/>
              </p:cNvSpPr>
              <p:nvPr/>
            </p:nvSpPr>
            <p:spPr bwMode="auto">
              <a:xfrm>
                <a:off x="1603" y="2757"/>
                <a:ext cx="9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7" name="Line 57"/>
              <p:cNvSpPr>
                <a:spLocks noChangeShapeType="1"/>
              </p:cNvSpPr>
              <p:nvPr/>
            </p:nvSpPr>
            <p:spPr bwMode="auto">
              <a:xfrm>
                <a:off x="1603" y="2738"/>
                <a:ext cx="96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8" name="Line 58"/>
              <p:cNvSpPr>
                <a:spLocks noChangeShapeType="1"/>
              </p:cNvSpPr>
              <p:nvPr/>
            </p:nvSpPr>
            <p:spPr bwMode="auto">
              <a:xfrm>
                <a:off x="1603" y="2722"/>
                <a:ext cx="97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9" name="Line 59"/>
              <p:cNvSpPr>
                <a:spLocks noChangeShapeType="1"/>
              </p:cNvSpPr>
              <p:nvPr/>
            </p:nvSpPr>
            <p:spPr bwMode="auto">
              <a:xfrm>
                <a:off x="1603" y="2703"/>
                <a:ext cx="9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0" name="Line 60"/>
              <p:cNvSpPr>
                <a:spLocks noChangeShapeType="1"/>
              </p:cNvSpPr>
              <p:nvPr/>
            </p:nvSpPr>
            <p:spPr bwMode="auto">
              <a:xfrm>
                <a:off x="1603" y="2670"/>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1" name="Line 61"/>
              <p:cNvSpPr>
                <a:spLocks noChangeShapeType="1"/>
              </p:cNvSpPr>
              <p:nvPr/>
            </p:nvSpPr>
            <p:spPr bwMode="auto">
              <a:xfrm>
                <a:off x="1603" y="2652"/>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2" name="Line 62"/>
              <p:cNvSpPr>
                <a:spLocks noChangeShapeType="1"/>
              </p:cNvSpPr>
              <p:nvPr/>
            </p:nvSpPr>
            <p:spPr bwMode="auto">
              <a:xfrm>
                <a:off x="1603" y="2635"/>
                <a:ext cx="99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3" name="Line 63"/>
              <p:cNvSpPr>
                <a:spLocks noChangeShapeType="1"/>
              </p:cNvSpPr>
              <p:nvPr/>
            </p:nvSpPr>
            <p:spPr bwMode="auto">
              <a:xfrm>
                <a:off x="1603" y="2619"/>
                <a:ext cx="9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4" name="Line 64"/>
              <p:cNvSpPr>
                <a:spLocks noChangeShapeType="1"/>
              </p:cNvSpPr>
              <p:nvPr/>
            </p:nvSpPr>
            <p:spPr bwMode="auto">
              <a:xfrm>
                <a:off x="1603" y="2600"/>
                <a:ext cx="9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5" name="Line 65"/>
              <p:cNvSpPr>
                <a:spLocks noChangeShapeType="1"/>
              </p:cNvSpPr>
              <p:nvPr/>
            </p:nvSpPr>
            <p:spPr bwMode="auto">
              <a:xfrm>
                <a:off x="1603" y="2584"/>
                <a:ext cx="10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6" name="Line 66"/>
              <p:cNvSpPr>
                <a:spLocks noChangeShapeType="1"/>
              </p:cNvSpPr>
              <p:nvPr/>
            </p:nvSpPr>
            <p:spPr bwMode="auto">
              <a:xfrm>
                <a:off x="1603" y="2567"/>
                <a:ext cx="10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7" name="Line 67"/>
              <p:cNvSpPr>
                <a:spLocks noChangeShapeType="1"/>
              </p:cNvSpPr>
              <p:nvPr/>
            </p:nvSpPr>
            <p:spPr bwMode="auto">
              <a:xfrm>
                <a:off x="1603" y="2549"/>
                <a:ext cx="101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8" name="Line 68"/>
              <p:cNvSpPr>
                <a:spLocks noChangeShapeType="1"/>
              </p:cNvSpPr>
              <p:nvPr/>
            </p:nvSpPr>
            <p:spPr bwMode="auto">
              <a:xfrm>
                <a:off x="1603" y="2497"/>
                <a:ext cx="103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9" name="Line 69"/>
              <p:cNvSpPr>
                <a:spLocks noChangeShapeType="1"/>
              </p:cNvSpPr>
              <p:nvPr/>
            </p:nvSpPr>
            <p:spPr bwMode="auto">
              <a:xfrm>
                <a:off x="1603" y="2481"/>
                <a:ext cx="10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0" name="Line 70"/>
              <p:cNvSpPr>
                <a:spLocks noChangeShapeType="1"/>
              </p:cNvSpPr>
              <p:nvPr/>
            </p:nvSpPr>
            <p:spPr bwMode="auto">
              <a:xfrm>
                <a:off x="1603" y="2462"/>
                <a:ext cx="105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1" name="Line 71"/>
              <p:cNvSpPr>
                <a:spLocks noChangeShapeType="1"/>
              </p:cNvSpPr>
              <p:nvPr/>
            </p:nvSpPr>
            <p:spPr bwMode="auto">
              <a:xfrm>
                <a:off x="1603" y="2446"/>
                <a:ext cx="105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2" name="Line 72"/>
              <p:cNvSpPr>
                <a:spLocks noChangeShapeType="1"/>
              </p:cNvSpPr>
              <p:nvPr/>
            </p:nvSpPr>
            <p:spPr bwMode="auto">
              <a:xfrm>
                <a:off x="1603" y="2429"/>
                <a:ext cx="106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3" name="Line 73"/>
              <p:cNvSpPr>
                <a:spLocks noChangeShapeType="1"/>
              </p:cNvSpPr>
              <p:nvPr/>
            </p:nvSpPr>
            <p:spPr bwMode="auto">
              <a:xfrm>
                <a:off x="1603" y="2411"/>
                <a:ext cx="10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4" name="Line 74"/>
              <p:cNvSpPr>
                <a:spLocks noChangeShapeType="1"/>
              </p:cNvSpPr>
              <p:nvPr/>
            </p:nvSpPr>
            <p:spPr bwMode="auto">
              <a:xfrm>
                <a:off x="1603" y="2395"/>
                <a:ext cx="108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5" name="Line 75"/>
              <p:cNvSpPr>
                <a:spLocks noChangeShapeType="1"/>
              </p:cNvSpPr>
              <p:nvPr/>
            </p:nvSpPr>
            <p:spPr bwMode="auto">
              <a:xfrm>
                <a:off x="1603" y="2378"/>
                <a:ext cx="10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6" name="Line 76"/>
              <p:cNvSpPr>
                <a:spLocks noChangeShapeType="1"/>
              </p:cNvSpPr>
              <p:nvPr/>
            </p:nvSpPr>
            <p:spPr bwMode="auto">
              <a:xfrm>
                <a:off x="1603" y="2360"/>
                <a:ext cx="108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7" name="Line 77"/>
              <p:cNvSpPr>
                <a:spLocks noChangeShapeType="1"/>
              </p:cNvSpPr>
              <p:nvPr/>
            </p:nvSpPr>
            <p:spPr bwMode="auto">
              <a:xfrm>
                <a:off x="1603" y="2343"/>
                <a:ext cx="109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8" name="Line 78"/>
              <p:cNvSpPr>
                <a:spLocks noChangeShapeType="1"/>
              </p:cNvSpPr>
              <p:nvPr/>
            </p:nvSpPr>
            <p:spPr bwMode="auto">
              <a:xfrm>
                <a:off x="1603" y="2308"/>
                <a:ext cx="11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9" name="Line 79"/>
              <p:cNvSpPr>
                <a:spLocks noChangeShapeType="1"/>
              </p:cNvSpPr>
              <p:nvPr/>
            </p:nvSpPr>
            <p:spPr bwMode="auto">
              <a:xfrm>
                <a:off x="1603" y="2292"/>
                <a:ext cx="112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0" name="Line 80"/>
              <p:cNvSpPr>
                <a:spLocks noChangeShapeType="1"/>
              </p:cNvSpPr>
              <p:nvPr/>
            </p:nvSpPr>
            <p:spPr bwMode="auto">
              <a:xfrm>
                <a:off x="1603" y="2273"/>
                <a:ext cx="112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1" name="Line 81"/>
              <p:cNvSpPr>
                <a:spLocks noChangeShapeType="1"/>
              </p:cNvSpPr>
              <p:nvPr/>
            </p:nvSpPr>
            <p:spPr bwMode="auto">
              <a:xfrm>
                <a:off x="1603" y="2257"/>
                <a:ext cx="112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2" name="Line 82"/>
              <p:cNvSpPr>
                <a:spLocks noChangeShapeType="1"/>
              </p:cNvSpPr>
              <p:nvPr/>
            </p:nvSpPr>
            <p:spPr bwMode="auto">
              <a:xfrm>
                <a:off x="1603" y="2240"/>
                <a:ext cx="113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3" name="Line 83"/>
              <p:cNvSpPr>
                <a:spLocks noChangeShapeType="1"/>
              </p:cNvSpPr>
              <p:nvPr/>
            </p:nvSpPr>
            <p:spPr bwMode="auto">
              <a:xfrm>
                <a:off x="1603" y="2222"/>
                <a:ext cx="11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4" name="Line 84"/>
              <p:cNvSpPr>
                <a:spLocks noChangeShapeType="1"/>
              </p:cNvSpPr>
              <p:nvPr/>
            </p:nvSpPr>
            <p:spPr bwMode="auto">
              <a:xfrm>
                <a:off x="1603" y="2205"/>
                <a:ext cx="113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5" name="Line 85"/>
              <p:cNvSpPr>
                <a:spLocks noChangeShapeType="1"/>
              </p:cNvSpPr>
              <p:nvPr/>
            </p:nvSpPr>
            <p:spPr bwMode="auto">
              <a:xfrm>
                <a:off x="1603" y="2189"/>
                <a:ext cx="114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6" name="Line 86"/>
              <p:cNvSpPr>
                <a:spLocks noChangeShapeType="1"/>
              </p:cNvSpPr>
              <p:nvPr/>
            </p:nvSpPr>
            <p:spPr bwMode="auto">
              <a:xfrm>
                <a:off x="1603" y="2170"/>
                <a:ext cx="115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7" name="Line 87"/>
              <p:cNvSpPr>
                <a:spLocks noChangeShapeType="1"/>
              </p:cNvSpPr>
              <p:nvPr/>
            </p:nvSpPr>
            <p:spPr bwMode="auto">
              <a:xfrm>
                <a:off x="1603" y="2135"/>
                <a:ext cx="116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8" name="Line 88"/>
              <p:cNvSpPr>
                <a:spLocks noChangeShapeType="1"/>
              </p:cNvSpPr>
              <p:nvPr/>
            </p:nvSpPr>
            <p:spPr bwMode="auto">
              <a:xfrm>
                <a:off x="1603" y="2119"/>
                <a:ext cx="116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9" name="Line 89"/>
              <p:cNvSpPr>
                <a:spLocks noChangeShapeType="1"/>
              </p:cNvSpPr>
              <p:nvPr/>
            </p:nvSpPr>
            <p:spPr bwMode="auto">
              <a:xfrm>
                <a:off x="1603" y="2102"/>
                <a:ext cx="11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0" name="Line 90"/>
              <p:cNvSpPr>
                <a:spLocks noChangeShapeType="1"/>
              </p:cNvSpPr>
              <p:nvPr/>
            </p:nvSpPr>
            <p:spPr bwMode="auto">
              <a:xfrm>
                <a:off x="1603" y="2084"/>
                <a:ext cx="11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1" name="Line 91"/>
              <p:cNvSpPr>
                <a:spLocks noChangeShapeType="1"/>
              </p:cNvSpPr>
              <p:nvPr/>
            </p:nvSpPr>
            <p:spPr bwMode="auto">
              <a:xfrm>
                <a:off x="1603" y="2067"/>
                <a:ext cx="11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2" name="Line 92"/>
              <p:cNvSpPr>
                <a:spLocks noChangeShapeType="1"/>
              </p:cNvSpPr>
              <p:nvPr/>
            </p:nvSpPr>
            <p:spPr bwMode="auto">
              <a:xfrm>
                <a:off x="1603" y="2051"/>
                <a:ext cx="118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3" name="Line 93"/>
              <p:cNvSpPr>
                <a:spLocks noChangeShapeType="1"/>
              </p:cNvSpPr>
              <p:nvPr/>
            </p:nvSpPr>
            <p:spPr bwMode="auto">
              <a:xfrm>
                <a:off x="1603" y="2032"/>
                <a:ext cx="11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4" name="Line 94"/>
              <p:cNvSpPr>
                <a:spLocks noChangeShapeType="1"/>
              </p:cNvSpPr>
              <p:nvPr/>
            </p:nvSpPr>
            <p:spPr bwMode="auto">
              <a:xfrm>
                <a:off x="1603" y="2016"/>
                <a:ext cx="118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5" name="Line 95"/>
              <p:cNvSpPr>
                <a:spLocks noChangeShapeType="1"/>
              </p:cNvSpPr>
              <p:nvPr/>
            </p:nvSpPr>
            <p:spPr bwMode="auto">
              <a:xfrm>
                <a:off x="1603" y="2000"/>
                <a:ext cx="119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6" name="Line 96"/>
              <p:cNvSpPr>
                <a:spLocks noChangeShapeType="1"/>
              </p:cNvSpPr>
              <p:nvPr/>
            </p:nvSpPr>
            <p:spPr bwMode="auto">
              <a:xfrm>
                <a:off x="1603" y="1981"/>
                <a:ext cx="119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7" name="Line 97"/>
              <p:cNvSpPr>
                <a:spLocks noChangeShapeType="1"/>
              </p:cNvSpPr>
              <p:nvPr/>
            </p:nvSpPr>
            <p:spPr bwMode="auto">
              <a:xfrm>
                <a:off x="1603" y="1965"/>
                <a:ext cx="119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8" name="Line 98"/>
              <p:cNvSpPr>
                <a:spLocks noChangeShapeType="1"/>
              </p:cNvSpPr>
              <p:nvPr/>
            </p:nvSpPr>
            <p:spPr bwMode="auto">
              <a:xfrm>
                <a:off x="1603" y="1946"/>
                <a:ext cx="120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9" name="Line 99"/>
              <p:cNvSpPr>
                <a:spLocks noChangeShapeType="1"/>
              </p:cNvSpPr>
              <p:nvPr/>
            </p:nvSpPr>
            <p:spPr bwMode="auto">
              <a:xfrm>
                <a:off x="1603" y="1930"/>
                <a:ext cx="120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0" name="Line 100"/>
              <p:cNvSpPr>
                <a:spLocks noChangeShapeType="1"/>
              </p:cNvSpPr>
              <p:nvPr/>
            </p:nvSpPr>
            <p:spPr bwMode="auto">
              <a:xfrm>
                <a:off x="1603" y="1913"/>
                <a:ext cx="12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1" name="Line 101"/>
              <p:cNvSpPr>
                <a:spLocks noChangeShapeType="1"/>
              </p:cNvSpPr>
              <p:nvPr/>
            </p:nvSpPr>
            <p:spPr bwMode="auto">
              <a:xfrm>
                <a:off x="1603" y="1895"/>
                <a:ext cx="122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2" name="Line 102"/>
              <p:cNvSpPr>
                <a:spLocks noChangeShapeType="1"/>
              </p:cNvSpPr>
              <p:nvPr/>
            </p:nvSpPr>
            <p:spPr bwMode="auto">
              <a:xfrm>
                <a:off x="1603" y="1878"/>
                <a:ext cx="123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3" name="Line 103"/>
              <p:cNvSpPr>
                <a:spLocks noChangeShapeType="1"/>
              </p:cNvSpPr>
              <p:nvPr/>
            </p:nvSpPr>
            <p:spPr bwMode="auto">
              <a:xfrm>
                <a:off x="1603" y="1862"/>
                <a:ext cx="124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4" name="Line 104"/>
              <p:cNvSpPr>
                <a:spLocks noChangeShapeType="1"/>
              </p:cNvSpPr>
              <p:nvPr/>
            </p:nvSpPr>
            <p:spPr bwMode="auto">
              <a:xfrm>
                <a:off x="1603" y="1843"/>
                <a:ext cx="12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5" name="Line 105"/>
              <p:cNvSpPr>
                <a:spLocks noChangeShapeType="1"/>
              </p:cNvSpPr>
              <p:nvPr/>
            </p:nvSpPr>
            <p:spPr bwMode="auto">
              <a:xfrm>
                <a:off x="1603" y="1827"/>
                <a:ext cx="12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6" name="Line 106"/>
              <p:cNvSpPr>
                <a:spLocks noChangeShapeType="1"/>
              </p:cNvSpPr>
              <p:nvPr/>
            </p:nvSpPr>
            <p:spPr bwMode="auto">
              <a:xfrm>
                <a:off x="1603" y="1810"/>
                <a:ext cx="12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7" name="Line 107"/>
              <p:cNvSpPr>
                <a:spLocks noChangeShapeType="1"/>
              </p:cNvSpPr>
              <p:nvPr/>
            </p:nvSpPr>
            <p:spPr bwMode="auto">
              <a:xfrm>
                <a:off x="1603" y="1792"/>
                <a:ext cx="12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8" name="Line 108"/>
              <p:cNvSpPr>
                <a:spLocks noChangeShapeType="1"/>
              </p:cNvSpPr>
              <p:nvPr/>
            </p:nvSpPr>
            <p:spPr bwMode="auto">
              <a:xfrm>
                <a:off x="1603" y="1775"/>
                <a:ext cx="127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9" name="Line 109"/>
              <p:cNvSpPr>
                <a:spLocks noChangeShapeType="1"/>
              </p:cNvSpPr>
              <p:nvPr/>
            </p:nvSpPr>
            <p:spPr bwMode="auto">
              <a:xfrm>
                <a:off x="1603" y="1757"/>
                <a:ext cx="128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0" name="Line 110"/>
              <p:cNvSpPr>
                <a:spLocks noChangeShapeType="1"/>
              </p:cNvSpPr>
              <p:nvPr/>
            </p:nvSpPr>
            <p:spPr bwMode="auto">
              <a:xfrm>
                <a:off x="1603" y="1740"/>
                <a:ext cx="13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1" name="Line 111"/>
              <p:cNvSpPr>
                <a:spLocks noChangeShapeType="1"/>
              </p:cNvSpPr>
              <p:nvPr/>
            </p:nvSpPr>
            <p:spPr bwMode="auto">
              <a:xfrm>
                <a:off x="1603" y="1724"/>
                <a:ext cx="13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2" name="Line 112"/>
              <p:cNvSpPr>
                <a:spLocks noChangeShapeType="1"/>
              </p:cNvSpPr>
              <p:nvPr/>
            </p:nvSpPr>
            <p:spPr bwMode="auto">
              <a:xfrm>
                <a:off x="1603" y="1705"/>
                <a:ext cx="131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3" name="Line 113"/>
              <p:cNvSpPr>
                <a:spLocks noChangeShapeType="1"/>
              </p:cNvSpPr>
              <p:nvPr/>
            </p:nvSpPr>
            <p:spPr bwMode="auto">
              <a:xfrm>
                <a:off x="1603" y="1689"/>
                <a:ext cx="131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4" name="Line 114"/>
              <p:cNvSpPr>
                <a:spLocks noChangeShapeType="1"/>
              </p:cNvSpPr>
              <p:nvPr/>
            </p:nvSpPr>
            <p:spPr bwMode="auto">
              <a:xfrm>
                <a:off x="1603" y="1672"/>
                <a:ext cx="13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5" name="Line 115"/>
              <p:cNvSpPr>
                <a:spLocks noChangeShapeType="1"/>
              </p:cNvSpPr>
              <p:nvPr/>
            </p:nvSpPr>
            <p:spPr bwMode="auto">
              <a:xfrm>
                <a:off x="1603" y="1654"/>
                <a:ext cx="13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6" name="Line 116"/>
              <p:cNvSpPr>
                <a:spLocks noChangeShapeType="1"/>
              </p:cNvSpPr>
              <p:nvPr/>
            </p:nvSpPr>
            <p:spPr bwMode="auto">
              <a:xfrm>
                <a:off x="1603" y="1637"/>
                <a:ext cx="13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7" name="Line 117"/>
              <p:cNvSpPr>
                <a:spLocks noChangeShapeType="1"/>
              </p:cNvSpPr>
              <p:nvPr/>
            </p:nvSpPr>
            <p:spPr bwMode="auto">
              <a:xfrm>
                <a:off x="1603" y="1621"/>
                <a:ext cx="13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8" name="Line 118"/>
              <p:cNvSpPr>
                <a:spLocks noChangeShapeType="1"/>
              </p:cNvSpPr>
              <p:nvPr/>
            </p:nvSpPr>
            <p:spPr bwMode="auto">
              <a:xfrm>
                <a:off x="1603" y="1603"/>
                <a:ext cx="13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9" name="Line 119"/>
              <p:cNvSpPr>
                <a:spLocks noChangeShapeType="1"/>
              </p:cNvSpPr>
              <p:nvPr/>
            </p:nvSpPr>
            <p:spPr bwMode="auto">
              <a:xfrm>
                <a:off x="1603" y="1586"/>
                <a:ext cx="136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0" name="Line 120"/>
              <p:cNvSpPr>
                <a:spLocks noChangeShapeType="1"/>
              </p:cNvSpPr>
              <p:nvPr/>
            </p:nvSpPr>
            <p:spPr bwMode="auto">
              <a:xfrm>
                <a:off x="1603" y="1568"/>
                <a:ext cx="136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1" name="Line 121"/>
              <p:cNvSpPr>
                <a:spLocks noChangeShapeType="1"/>
              </p:cNvSpPr>
              <p:nvPr/>
            </p:nvSpPr>
            <p:spPr bwMode="auto">
              <a:xfrm>
                <a:off x="1603" y="1551"/>
                <a:ext cx="136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2" name="Line 122"/>
              <p:cNvSpPr>
                <a:spLocks noChangeShapeType="1"/>
              </p:cNvSpPr>
              <p:nvPr/>
            </p:nvSpPr>
            <p:spPr bwMode="auto">
              <a:xfrm>
                <a:off x="1603" y="1535"/>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3" name="Line 123"/>
              <p:cNvSpPr>
                <a:spLocks noChangeShapeType="1"/>
              </p:cNvSpPr>
              <p:nvPr/>
            </p:nvSpPr>
            <p:spPr bwMode="auto">
              <a:xfrm>
                <a:off x="1603" y="1500"/>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4" name="Line 124"/>
              <p:cNvSpPr>
                <a:spLocks noChangeShapeType="1"/>
              </p:cNvSpPr>
              <p:nvPr/>
            </p:nvSpPr>
            <p:spPr bwMode="auto">
              <a:xfrm>
                <a:off x="1603" y="1483"/>
                <a:ext cx="13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5" name="Line 125"/>
              <p:cNvSpPr>
                <a:spLocks noChangeShapeType="1"/>
              </p:cNvSpPr>
              <p:nvPr/>
            </p:nvSpPr>
            <p:spPr bwMode="auto">
              <a:xfrm>
                <a:off x="1603" y="1465"/>
                <a:ext cx="13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6" name="Line 126"/>
              <p:cNvSpPr>
                <a:spLocks noChangeShapeType="1"/>
              </p:cNvSpPr>
              <p:nvPr/>
            </p:nvSpPr>
            <p:spPr bwMode="auto">
              <a:xfrm>
                <a:off x="1603" y="1448"/>
                <a:ext cx="138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7" name="Line 127"/>
              <p:cNvSpPr>
                <a:spLocks noChangeShapeType="1"/>
              </p:cNvSpPr>
              <p:nvPr/>
            </p:nvSpPr>
            <p:spPr bwMode="auto">
              <a:xfrm>
                <a:off x="1603" y="1432"/>
                <a:ext cx="13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8" name="Line 128"/>
              <p:cNvSpPr>
                <a:spLocks noChangeShapeType="1"/>
              </p:cNvSpPr>
              <p:nvPr/>
            </p:nvSpPr>
            <p:spPr bwMode="auto">
              <a:xfrm>
                <a:off x="1603" y="1413"/>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9" name="Line 129"/>
              <p:cNvSpPr>
                <a:spLocks noChangeShapeType="1"/>
              </p:cNvSpPr>
              <p:nvPr/>
            </p:nvSpPr>
            <p:spPr bwMode="auto">
              <a:xfrm>
                <a:off x="1603" y="1397"/>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0" name="Line 130"/>
              <p:cNvSpPr>
                <a:spLocks noChangeShapeType="1"/>
              </p:cNvSpPr>
              <p:nvPr/>
            </p:nvSpPr>
            <p:spPr bwMode="auto">
              <a:xfrm>
                <a:off x="1603" y="1378"/>
                <a:ext cx="13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1" name="Line 131"/>
              <p:cNvSpPr>
                <a:spLocks noChangeShapeType="1"/>
              </p:cNvSpPr>
              <p:nvPr/>
            </p:nvSpPr>
            <p:spPr bwMode="auto">
              <a:xfrm>
                <a:off x="1603" y="1362"/>
                <a:ext cx="140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2" name="Line 132"/>
              <p:cNvSpPr>
                <a:spLocks noChangeShapeType="1"/>
              </p:cNvSpPr>
              <p:nvPr/>
            </p:nvSpPr>
            <p:spPr bwMode="auto">
              <a:xfrm>
                <a:off x="1603" y="1327"/>
                <a:ext cx="14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3" name="Line 133"/>
              <p:cNvSpPr>
                <a:spLocks noChangeShapeType="1"/>
              </p:cNvSpPr>
              <p:nvPr/>
            </p:nvSpPr>
            <p:spPr bwMode="auto">
              <a:xfrm>
                <a:off x="1603" y="1310"/>
                <a:ext cx="14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4" name="Line 134"/>
              <p:cNvSpPr>
                <a:spLocks noChangeShapeType="1"/>
              </p:cNvSpPr>
              <p:nvPr/>
            </p:nvSpPr>
            <p:spPr bwMode="auto">
              <a:xfrm>
                <a:off x="1603" y="1294"/>
                <a:ext cx="141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5" name="Line 135"/>
              <p:cNvSpPr>
                <a:spLocks noChangeShapeType="1"/>
              </p:cNvSpPr>
              <p:nvPr/>
            </p:nvSpPr>
            <p:spPr bwMode="auto">
              <a:xfrm>
                <a:off x="1603" y="1275"/>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6" name="Line 136"/>
              <p:cNvSpPr>
                <a:spLocks noChangeShapeType="1"/>
              </p:cNvSpPr>
              <p:nvPr/>
            </p:nvSpPr>
            <p:spPr bwMode="auto">
              <a:xfrm>
                <a:off x="1603" y="1259"/>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7" name="Line 137"/>
              <p:cNvSpPr>
                <a:spLocks noChangeShapeType="1"/>
              </p:cNvSpPr>
              <p:nvPr/>
            </p:nvSpPr>
            <p:spPr bwMode="auto">
              <a:xfrm>
                <a:off x="1603" y="1243"/>
                <a:ext cx="143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8" name="Line 138"/>
              <p:cNvSpPr>
                <a:spLocks noChangeShapeType="1"/>
              </p:cNvSpPr>
              <p:nvPr/>
            </p:nvSpPr>
            <p:spPr bwMode="auto">
              <a:xfrm>
                <a:off x="1603" y="1224"/>
                <a:ext cx="144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9" name="Line 139"/>
              <p:cNvSpPr>
                <a:spLocks noChangeShapeType="1"/>
              </p:cNvSpPr>
              <p:nvPr/>
            </p:nvSpPr>
            <p:spPr bwMode="auto">
              <a:xfrm>
                <a:off x="1603" y="1208"/>
                <a:ext cx="146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0" name="Line 140"/>
              <p:cNvSpPr>
                <a:spLocks noChangeShapeType="1"/>
              </p:cNvSpPr>
              <p:nvPr/>
            </p:nvSpPr>
            <p:spPr bwMode="auto">
              <a:xfrm>
                <a:off x="1603" y="1189"/>
                <a:ext cx="146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1" name="Line 141"/>
              <p:cNvSpPr>
                <a:spLocks noChangeShapeType="1"/>
              </p:cNvSpPr>
              <p:nvPr/>
            </p:nvSpPr>
            <p:spPr bwMode="auto">
              <a:xfrm>
                <a:off x="1603" y="1173"/>
                <a:ext cx="148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2" name="Line 142"/>
              <p:cNvSpPr>
                <a:spLocks noChangeShapeType="1"/>
              </p:cNvSpPr>
              <p:nvPr/>
            </p:nvSpPr>
            <p:spPr bwMode="auto">
              <a:xfrm>
                <a:off x="1603" y="1156"/>
                <a:ext cx="152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3" name="Line 143"/>
              <p:cNvSpPr>
                <a:spLocks noChangeShapeType="1"/>
              </p:cNvSpPr>
              <p:nvPr/>
            </p:nvSpPr>
            <p:spPr bwMode="auto">
              <a:xfrm>
                <a:off x="1603" y="1138"/>
                <a:ext cx="152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4" name="Line 144"/>
              <p:cNvSpPr>
                <a:spLocks noChangeShapeType="1"/>
              </p:cNvSpPr>
              <p:nvPr/>
            </p:nvSpPr>
            <p:spPr bwMode="auto">
              <a:xfrm>
                <a:off x="1603" y="1121"/>
                <a:ext cx="153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5" name="Line 145"/>
              <p:cNvSpPr>
                <a:spLocks noChangeShapeType="1"/>
              </p:cNvSpPr>
              <p:nvPr/>
            </p:nvSpPr>
            <p:spPr bwMode="auto">
              <a:xfrm>
                <a:off x="1603" y="1105"/>
                <a:ext cx="153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6" name="Line 146"/>
              <p:cNvSpPr>
                <a:spLocks noChangeShapeType="1"/>
              </p:cNvSpPr>
              <p:nvPr/>
            </p:nvSpPr>
            <p:spPr bwMode="auto">
              <a:xfrm>
                <a:off x="1603" y="1086"/>
                <a:ext cx="15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7" name="Line 147"/>
              <p:cNvSpPr>
                <a:spLocks noChangeShapeType="1"/>
              </p:cNvSpPr>
              <p:nvPr/>
            </p:nvSpPr>
            <p:spPr bwMode="auto">
              <a:xfrm>
                <a:off x="1603" y="1070"/>
                <a:ext cx="15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8" name="Line 148"/>
              <p:cNvSpPr>
                <a:spLocks noChangeShapeType="1"/>
              </p:cNvSpPr>
              <p:nvPr/>
            </p:nvSpPr>
            <p:spPr bwMode="auto">
              <a:xfrm>
                <a:off x="1603" y="1053"/>
                <a:ext cx="15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49" name="Line 149"/>
              <p:cNvSpPr>
                <a:spLocks noChangeShapeType="1"/>
              </p:cNvSpPr>
              <p:nvPr/>
            </p:nvSpPr>
            <p:spPr bwMode="auto">
              <a:xfrm>
                <a:off x="1603" y="1035"/>
                <a:ext cx="15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0" name="Line 150"/>
              <p:cNvSpPr>
                <a:spLocks noChangeShapeType="1"/>
              </p:cNvSpPr>
              <p:nvPr/>
            </p:nvSpPr>
            <p:spPr bwMode="auto">
              <a:xfrm>
                <a:off x="1603" y="1018"/>
                <a:ext cx="157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1" name="Line 151"/>
              <p:cNvSpPr>
                <a:spLocks noChangeShapeType="1"/>
              </p:cNvSpPr>
              <p:nvPr/>
            </p:nvSpPr>
            <p:spPr bwMode="auto">
              <a:xfrm>
                <a:off x="1603" y="1000"/>
                <a:ext cx="157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2" name="Line 152"/>
              <p:cNvSpPr>
                <a:spLocks noChangeShapeType="1"/>
              </p:cNvSpPr>
              <p:nvPr/>
            </p:nvSpPr>
            <p:spPr bwMode="auto">
              <a:xfrm>
                <a:off x="1603" y="983"/>
                <a:ext cx="158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3" name="Line 153"/>
              <p:cNvSpPr>
                <a:spLocks noChangeShapeType="1"/>
              </p:cNvSpPr>
              <p:nvPr/>
            </p:nvSpPr>
            <p:spPr bwMode="auto">
              <a:xfrm>
                <a:off x="1603" y="967"/>
                <a:ext cx="159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4" name="Line 154"/>
              <p:cNvSpPr>
                <a:spLocks noChangeShapeType="1"/>
              </p:cNvSpPr>
              <p:nvPr/>
            </p:nvSpPr>
            <p:spPr bwMode="auto">
              <a:xfrm>
                <a:off x="1603" y="932"/>
                <a:ext cx="160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5" name="Line 155"/>
              <p:cNvSpPr>
                <a:spLocks noChangeShapeType="1"/>
              </p:cNvSpPr>
              <p:nvPr/>
            </p:nvSpPr>
            <p:spPr bwMode="auto">
              <a:xfrm>
                <a:off x="1603" y="915"/>
                <a:ext cx="161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6" name="Line 156"/>
              <p:cNvSpPr>
                <a:spLocks noChangeShapeType="1"/>
              </p:cNvSpPr>
              <p:nvPr/>
            </p:nvSpPr>
            <p:spPr bwMode="auto">
              <a:xfrm>
                <a:off x="1603" y="897"/>
                <a:ext cx="163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7" name="Line 157"/>
              <p:cNvSpPr>
                <a:spLocks noChangeShapeType="1"/>
              </p:cNvSpPr>
              <p:nvPr/>
            </p:nvSpPr>
            <p:spPr bwMode="auto">
              <a:xfrm>
                <a:off x="1603" y="880"/>
                <a:ext cx="16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8" name="Line 158"/>
              <p:cNvSpPr>
                <a:spLocks noChangeShapeType="1"/>
              </p:cNvSpPr>
              <p:nvPr/>
            </p:nvSpPr>
            <p:spPr bwMode="auto">
              <a:xfrm>
                <a:off x="1603" y="864"/>
                <a:ext cx="164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9" name="Line 159"/>
              <p:cNvSpPr>
                <a:spLocks noChangeShapeType="1"/>
              </p:cNvSpPr>
              <p:nvPr/>
            </p:nvSpPr>
            <p:spPr bwMode="auto">
              <a:xfrm>
                <a:off x="1603" y="845"/>
                <a:ext cx="165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0" name="Line 160"/>
              <p:cNvSpPr>
                <a:spLocks noChangeShapeType="1"/>
              </p:cNvSpPr>
              <p:nvPr/>
            </p:nvSpPr>
            <p:spPr bwMode="auto">
              <a:xfrm>
                <a:off x="1603" y="829"/>
                <a:ext cx="166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1" name="Line 161"/>
              <p:cNvSpPr>
                <a:spLocks noChangeShapeType="1"/>
              </p:cNvSpPr>
              <p:nvPr/>
            </p:nvSpPr>
            <p:spPr bwMode="auto">
              <a:xfrm>
                <a:off x="1603" y="811"/>
                <a:ext cx="167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2" name="Line 162"/>
              <p:cNvSpPr>
                <a:spLocks noChangeShapeType="1"/>
              </p:cNvSpPr>
              <p:nvPr/>
            </p:nvSpPr>
            <p:spPr bwMode="auto">
              <a:xfrm>
                <a:off x="1603" y="794"/>
                <a:ext cx="16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3" name="Line 163"/>
              <p:cNvSpPr>
                <a:spLocks noChangeShapeType="1"/>
              </p:cNvSpPr>
              <p:nvPr/>
            </p:nvSpPr>
            <p:spPr bwMode="auto">
              <a:xfrm>
                <a:off x="1603" y="778"/>
                <a:ext cx="16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4" name="Line 164"/>
              <p:cNvSpPr>
                <a:spLocks noChangeShapeType="1"/>
              </p:cNvSpPr>
              <p:nvPr/>
            </p:nvSpPr>
            <p:spPr bwMode="auto">
              <a:xfrm>
                <a:off x="1603" y="759"/>
                <a:ext cx="169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5" name="Line 165"/>
              <p:cNvSpPr>
                <a:spLocks noChangeShapeType="1"/>
              </p:cNvSpPr>
              <p:nvPr/>
            </p:nvSpPr>
            <p:spPr bwMode="auto">
              <a:xfrm>
                <a:off x="1603" y="743"/>
                <a:ext cx="170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6" name="Line 166"/>
              <p:cNvSpPr>
                <a:spLocks noChangeShapeType="1"/>
              </p:cNvSpPr>
              <p:nvPr/>
            </p:nvSpPr>
            <p:spPr bwMode="auto">
              <a:xfrm>
                <a:off x="1603" y="726"/>
                <a:ext cx="171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7" name="Line 167"/>
              <p:cNvSpPr>
                <a:spLocks noChangeShapeType="1"/>
              </p:cNvSpPr>
              <p:nvPr/>
            </p:nvSpPr>
            <p:spPr bwMode="auto">
              <a:xfrm>
                <a:off x="1603" y="708"/>
                <a:ext cx="172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8" name="Line 168"/>
              <p:cNvSpPr>
                <a:spLocks noChangeShapeType="1"/>
              </p:cNvSpPr>
              <p:nvPr/>
            </p:nvSpPr>
            <p:spPr bwMode="auto">
              <a:xfrm>
                <a:off x="1603" y="691"/>
                <a:ext cx="172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9" name="Line 169"/>
              <p:cNvSpPr>
                <a:spLocks noChangeShapeType="1"/>
              </p:cNvSpPr>
              <p:nvPr/>
            </p:nvSpPr>
            <p:spPr bwMode="auto">
              <a:xfrm>
                <a:off x="1603" y="675"/>
                <a:ext cx="1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0" name="Line 170"/>
              <p:cNvSpPr>
                <a:spLocks noChangeShapeType="1"/>
              </p:cNvSpPr>
              <p:nvPr/>
            </p:nvSpPr>
            <p:spPr bwMode="auto">
              <a:xfrm>
                <a:off x="1603" y="656"/>
                <a:ext cx="174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1" name="Line 171"/>
              <p:cNvSpPr>
                <a:spLocks noChangeShapeType="1"/>
              </p:cNvSpPr>
              <p:nvPr/>
            </p:nvSpPr>
            <p:spPr bwMode="auto">
              <a:xfrm>
                <a:off x="1603" y="640"/>
                <a:ext cx="1751"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2" name="Line 172"/>
              <p:cNvSpPr>
                <a:spLocks noChangeShapeType="1"/>
              </p:cNvSpPr>
              <p:nvPr/>
            </p:nvSpPr>
            <p:spPr bwMode="auto">
              <a:xfrm>
                <a:off x="1603" y="623"/>
                <a:ext cx="175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3" name="Line 173"/>
              <p:cNvSpPr>
                <a:spLocks noChangeShapeType="1"/>
              </p:cNvSpPr>
              <p:nvPr/>
            </p:nvSpPr>
            <p:spPr bwMode="auto">
              <a:xfrm>
                <a:off x="1603" y="588"/>
                <a:ext cx="17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4" name="Line 174"/>
              <p:cNvSpPr>
                <a:spLocks noChangeShapeType="1"/>
              </p:cNvSpPr>
              <p:nvPr/>
            </p:nvSpPr>
            <p:spPr bwMode="auto">
              <a:xfrm>
                <a:off x="1603" y="570"/>
                <a:ext cx="176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5" name="Line 175"/>
              <p:cNvSpPr>
                <a:spLocks noChangeShapeType="1"/>
              </p:cNvSpPr>
              <p:nvPr/>
            </p:nvSpPr>
            <p:spPr bwMode="auto">
              <a:xfrm>
                <a:off x="1603" y="553"/>
                <a:ext cx="177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6" name="Line 176"/>
              <p:cNvSpPr>
                <a:spLocks noChangeShapeType="1"/>
              </p:cNvSpPr>
              <p:nvPr/>
            </p:nvSpPr>
            <p:spPr bwMode="auto">
              <a:xfrm>
                <a:off x="1603" y="537"/>
                <a:ext cx="178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7" name="Line 177"/>
              <p:cNvSpPr>
                <a:spLocks noChangeShapeType="1"/>
              </p:cNvSpPr>
              <p:nvPr/>
            </p:nvSpPr>
            <p:spPr bwMode="auto">
              <a:xfrm>
                <a:off x="1603" y="518"/>
                <a:ext cx="179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8" name="Line 178"/>
              <p:cNvSpPr>
                <a:spLocks noChangeShapeType="1"/>
              </p:cNvSpPr>
              <p:nvPr/>
            </p:nvSpPr>
            <p:spPr bwMode="auto">
              <a:xfrm>
                <a:off x="1603" y="502"/>
                <a:ext cx="17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9" name="Line 179"/>
              <p:cNvSpPr>
                <a:spLocks noChangeShapeType="1"/>
              </p:cNvSpPr>
              <p:nvPr/>
            </p:nvSpPr>
            <p:spPr bwMode="auto">
              <a:xfrm>
                <a:off x="1603" y="485"/>
                <a:ext cx="1807"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0" name="Line 180"/>
              <p:cNvSpPr>
                <a:spLocks noChangeShapeType="1"/>
              </p:cNvSpPr>
              <p:nvPr/>
            </p:nvSpPr>
            <p:spPr bwMode="auto">
              <a:xfrm>
                <a:off x="1603" y="467"/>
                <a:ext cx="180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1" name="Line 181"/>
              <p:cNvSpPr>
                <a:spLocks noChangeShapeType="1"/>
              </p:cNvSpPr>
              <p:nvPr/>
            </p:nvSpPr>
            <p:spPr bwMode="auto">
              <a:xfrm>
                <a:off x="1603" y="451"/>
                <a:ext cx="181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2" name="Line 182"/>
              <p:cNvSpPr>
                <a:spLocks noChangeShapeType="1"/>
              </p:cNvSpPr>
              <p:nvPr/>
            </p:nvSpPr>
            <p:spPr bwMode="auto">
              <a:xfrm>
                <a:off x="1603" y="416"/>
                <a:ext cx="1846"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3" name="Line 183"/>
              <p:cNvSpPr>
                <a:spLocks noChangeShapeType="1"/>
              </p:cNvSpPr>
              <p:nvPr/>
            </p:nvSpPr>
            <p:spPr bwMode="auto">
              <a:xfrm>
                <a:off x="1603" y="399"/>
                <a:ext cx="1852"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4" name="Line 184"/>
              <p:cNvSpPr>
                <a:spLocks noChangeShapeType="1"/>
              </p:cNvSpPr>
              <p:nvPr/>
            </p:nvSpPr>
            <p:spPr bwMode="auto">
              <a:xfrm>
                <a:off x="1603" y="381"/>
                <a:ext cx="1854"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5" name="Line 185"/>
              <p:cNvSpPr>
                <a:spLocks noChangeShapeType="1"/>
              </p:cNvSpPr>
              <p:nvPr/>
            </p:nvSpPr>
            <p:spPr bwMode="auto">
              <a:xfrm>
                <a:off x="1603" y="364"/>
                <a:ext cx="1860"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6" name="Line 186"/>
              <p:cNvSpPr>
                <a:spLocks noChangeShapeType="1"/>
              </p:cNvSpPr>
              <p:nvPr/>
            </p:nvSpPr>
            <p:spPr bwMode="auto">
              <a:xfrm>
                <a:off x="1603" y="348"/>
                <a:ext cx="1875"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7" name="Line 187"/>
              <p:cNvSpPr>
                <a:spLocks noChangeShapeType="1"/>
              </p:cNvSpPr>
              <p:nvPr/>
            </p:nvSpPr>
            <p:spPr bwMode="auto">
              <a:xfrm>
                <a:off x="1603" y="313"/>
                <a:ext cx="187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8" name="Line 188"/>
              <p:cNvSpPr>
                <a:spLocks noChangeShapeType="1"/>
              </p:cNvSpPr>
              <p:nvPr/>
            </p:nvSpPr>
            <p:spPr bwMode="auto">
              <a:xfrm>
                <a:off x="1603" y="296"/>
                <a:ext cx="1893"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9" name="Line 189"/>
              <p:cNvSpPr>
                <a:spLocks noChangeShapeType="1"/>
              </p:cNvSpPr>
              <p:nvPr/>
            </p:nvSpPr>
            <p:spPr bwMode="auto">
              <a:xfrm>
                <a:off x="1603" y="278"/>
                <a:ext cx="1899"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0" name="Line 190"/>
              <p:cNvSpPr>
                <a:spLocks noChangeShapeType="1"/>
              </p:cNvSpPr>
              <p:nvPr/>
            </p:nvSpPr>
            <p:spPr bwMode="auto">
              <a:xfrm>
                <a:off x="1603" y="261"/>
                <a:ext cx="1908" cy="0"/>
              </a:xfrm>
              <a:prstGeom prst="line">
                <a:avLst/>
              </a:prstGeom>
              <a:noFill/>
              <a:ln w="19050">
                <a:solidFill>
                  <a:srgbClr val="A0A0A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1" name="Line 191"/>
              <p:cNvSpPr>
                <a:spLocks noChangeShapeType="1"/>
              </p:cNvSpPr>
              <p:nvPr/>
            </p:nvSpPr>
            <p:spPr bwMode="auto">
              <a:xfrm>
                <a:off x="1603" y="3616"/>
                <a:ext cx="323"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2" name="Line 192"/>
              <p:cNvSpPr>
                <a:spLocks noChangeShapeType="1"/>
              </p:cNvSpPr>
              <p:nvPr/>
            </p:nvSpPr>
            <p:spPr bwMode="auto">
              <a:xfrm>
                <a:off x="1603" y="3082"/>
                <a:ext cx="858"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3" name="Line 193"/>
              <p:cNvSpPr>
                <a:spLocks noChangeShapeType="1"/>
              </p:cNvSpPr>
              <p:nvPr/>
            </p:nvSpPr>
            <p:spPr bwMode="auto">
              <a:xfrm>
                <a:off x="1603" y="2687"/>
                <a:ext cx="990"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4" name="Line 194"/>
              <p:cNvSpPr>
                <a:spLocks noChangeShapeType="1"/>
              </p:cNvSpPr>
              <p:nvPr/>
            </p:nvSpPr>
            <p:spPr bwMode="auto">
              <a:xfrm>
                <a:off x="1603" y="2532"/>
                <a:ext cx="102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5" name="Line 195"/>
              <p:cNvSpPr>
                <a:spLocks noChangeShapeType="1"/>
              </p:cNvSpPr>
              <p:nvPr/>
            </p:nvSpPr>
            <p:spPr bwMode="auto">
              <a:xfrm>
                <a:off x="1603" y="2514"/>
                <a:ext cx="1027"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6" name="Line 196"/>
              <p:cNvSpPr>
                <a:spLocks noChangeShapeType="1"/>
              </p:cNvSpPr>
              <p:nvPr/>
            </p:nvSpPr>
            <p:spPr bwMode="auto">
              <a:xfrm>
                <a:off x="1603" y="2154"/>
                <a:ext cx="116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7" name="Line 197"/>
              <p:cNvSpPr>
                <a:spLocks noChangeShapeType="1"/>
              </p:cNvSpPr>
              <p:nvPr/>
            </p:nvSpPr>
            <p:spPr bwMode="auto">
              <a:xfrm>
                <a:off x="1603" y="1516"/>
                <a:ext cx="1373"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8" name="Line 198"/>
              <p:cNvSpPr>
                <a:spLocks noChangeShapeType="1"/>
              </p:cNvSpPr>
              <p:nvPr/>
            </p:nvSpPr>
            <p:spPr bwMode="auto">
              <a:xfrm>
                <a:off x="1603" y="1345"/>
                <a:ext cx="1401"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9" name="Line 199"/>
              <p:cNvSpPr>
                <a:spLocks noChangeShapeType="1"/>
              </p:cNvSpPr>
              <p:nvPr/>
            </p:nvSpPr>
            <p:spPr bwMode="auto">
              <a:xfrm>
                <a:off x="1603" y="605"/>
                <a:ext cx="1766"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0" name="Line 200"/>
              <p:cNvSpPr>
                <a:spLocks noChangeShapeType="1"/>
              </p:cNvSpPr>
              <p:nvPr/>
            </p:nvSpPr>
            <p:spPr bwMode="auto">
              <a:xfrm>
                <a:off x="1603" y="434"/>
                <a:ext cx="1846"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1" name="Line 201"/>
              <p:cNvSpPr>
                <a:spLocks noChangeShapeType="1"/>
              </p:cNvSpPr>
              <p:nvPr/>
            </p:nvSpPr>
            <p:spPr bwMode="auto">
              <a:xfrm>
                <a:off x="1603" y="245"/>
                <a:ext cx="2010" cy="0"/>
              </a:xfrm>
              <a:prstGeom prst="line">
                <a:avLst/>
              </a:prstGeom>
              <a:noFill/>
              <a:ln w="19050">
                <a:solidFill>
                  <a:srgbClr val="1A476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2" name="Line 202"/>
              <p:cNvSpPr>
                <a:spLocks noChangeShapeType="1"/>
              </p:cNvSpPr>
              <p:nvPr/>
            </p:nvSpPr>
            <p:spPr bwMode="auto">
              <a:xfrm>
                <a:off x="1603" y="2325"/>
                <a:ext cx="1103"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3" name="Line 203"/>
              <p:cNvSpPr>
                <a:spLocks noChangeShapeType="1"/>
              </p:cNvSpPr>
              <p:nvPr/>
            </p:nvSpPr>
            <p:spPr bwMode="auto">
              <a:xfrm>
                <a:off x="1603" y="948"/>
                <a:ext cx="1601"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4" name="Line 204"/>
              <p:cNvSpPr>
                <a:spLocks noChangeShapeType="1"/>
              </p:cNvSpPr>
              <p:nvPr/>
            </p:nvSpPr>
            <p:spPr bwMode="auto">
              <a:xfrm>
                <a:off x="1603" y="329"/>
                <a:ext cx="1879"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474" name="Line 206"/>
            <p:cNvSpPr>
              <a:spLocks noChangeShapeType="1"/>
            </p:cNvSpPr>
            <p:nvPr/>
          </p:nvSpPr>
          <p:spPr bwMode="auto">
            <a:xfrm>
              <a:off x="1603" y="226"/>
              <a:ext cx="2368" cy="0"/>
            </a:xfrm>
            <a:prstGeom prst="line">
              <a:avLst/>
            </a:prstGeom>
            <a:noFill/>
            <a:ln w="19050">
              <a:solidFill>
                <a:srgbClr val="90353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5" name="Rectangle 207"/>
            <p:cNvSpPr>
              <a:spLocks noChangeArrowheads="1"/>
            </p:cNvSpPr>
            <p:nvPr/>
          </p:nvSpPr>
          <p:spPr bwMode="auto">
            <a:xfrm>
              <a:off x="1990" y="3553"/>
              <a:ext cx="47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Lesotho</a:t>
              </a:r>
              <a:endParaRPr lang="en-US" altLang="en-US" dirty="0"/>
            </a:p>
          </p:txBody>
        </p:sp>
        <p:sp>
          <p:nvSpPr>
            <p:cNvPr id="476" name="Rectangle 208"/>
            <p:cNvSpPr>
              <a:spLocks noChangeArrowheads="1"/>
            </p:cNvSpPr>
            <p:nvPr/>
          </p:nvSpPr>
          <p:spPr bwMode="auto">
            <a:xfrm>
              <a:off x="2523" y="3020"/>
              <a:ext cx="45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Zambia</a:t>
              </a:r>
              <a:endParaRPr lang="en-US" altLang="en-US" dirty="0"/>
            </a:p>
          </p:txBody>
        </p:sp>
        <p:sp>
          <p:nvSpPr>
            <p:cNvPr id="477" name="Rectangle 209"/>
            <p:cNvSpPr>
              <a:spLocks noChangeArrowheads="1"/>
            </p:cNvSpPr>
            <p:nvPr/>
          </p:nvSpPr>
          <p:spPr bwMode="auto">
            <a:xfrm>
              <a:off x="2657" y="2625"/>
              <a:ext cx="28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India</a:t>
              </a:r>
              <a:endParaRPr lang="en-US" altLang="en-US" dirty="0"/>
            </a:p>
          </p:txBody>
        </p:sp>
        <p:sp>
          <p:nvSpPr>
            <p:cNvPr id="478" name="Rectangle 210"/>
            <p:cNvSpPr>
              <a:spLocks noChangeArrowheads="1"/>
            </p:cNvSpPr>
            <p:nvPr/>
          </p:nvSpPr>
          <p:spPr bwMode="auto">
            <a:xfrm>
              <a:off x="2686" y="2496"/>
              <a:ext cx="22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Iraq</a:t>
              </a:r>
              <a:endParaRPr lang="en-US" altLang="en-US" dirty="0"/>
            </a:p>
          </p:txBody>
        </p:sp>
        <p:sp>
          <p:nvSpPr>
            <p:cNvPr id="479" name="Rectangle 211"/>
            <p:cNvSpPr>
              <a:spLocks noChangeArrowheads="1"/>
            </p:cNvSpPr>
            <p:nvPr/>
          </p:nvSpPr>
          <p:spPr bwMode="auto">
            <a:xfrm>
              <a:off x="2694" y="2400"/>
              <a:ext cx="38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Sudan</a:t>
              </a:r>
              <a:endParaRPr lang="en-US" altLang="en-US" dirty="0"/>
            </a:p>
          </p:txBody>
        </p:sp>
        <p:sp>
          <p:nvSpPr>
            <p:cNvPr id="480" name="Rectangle 212"/>
            <p:cNvSpPr>
              <a:spLocks noChangeArrowheads="1"/>
            </p:cNvSpPr>
            <p:nvPr/>
          </p:nvSpPr>
          <p:spPr bwMode="auto">
            <a:xfrm>
              <a:off x="2825" y="2090"/>
              <a:ext cx="51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Pakistan</a:t>
              </a:r>
              <a:endParaRPr lang="en-US" altLang="en-US" dirty="0"/>
            </a:p>
          </p:txBody>
        </p:sp>
        <p:sp>
          <p:nvSpPr>
            <p:cNvPr id="481" name="Rectangle 213"/>
            <p:cNvSpPr>
              <a:spLocks noChangeArrowheads="1"/>
            </p:cNvSpPr>
            <p:nvPr/>
          </p:nvSpPr>
          <p:spPr bwMode="auto">
            <a:xfrm>
              <a:off x="3039" y="1454"/>
              <a:ext cx="31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Libya</a:t>
              </a:r>
              <a:endParaRPr lang="en-US" altLang="en-US" dirty="0"/>
            </a:p>
          </p:txBody>
        </p:sp>
        <p:sp>
          <p:nvSpPr>
            <p:cNvPr id="482" name="Rectangle 214"/>
            <p:cNvSpPr>
              <a:spLocks noChangeArrowheads="1"/>
            </p:cNvSpPr>
            <p:nvPr/>
          </p:nvSpPr>
          <p:spPr bwMode="auto">
            <a:xfrm>
              <a:off x="3068" y="1282"/>
              <a:ext cx="34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China</a:t>
              </a:r>
              <a:endParaRPr lang="en-US" altLang="en-US" dirty="0"/>
            </a:p>
          </p:txBody>
        </p:sp>
        <p:sp>
          <p:nvSpPr>
            <p:cNvPr id="483" name="Rectangle 215"/>
            <p:cNvSpPr>
              <a:spLocks noChangeArrowheads="1"/>
            </p:cNvSpPr>
            <p:nvPr/>
          </p:nvSpPr>
          <p:spPr bwMode="auto">
            <a:xfrm>
              <a:off x="3432" y="557"/>
              <a:ext cx="93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United Kingdom</a:t>
              </a:r>
              <a:endParaRPr lang="en-US" altLang="en-US" dirty="0"/>
            </a:p>
          </p:txBody>
        </p:sp>
        <p:sp>
          <p:nvSpPr>
            <p:cNvPr id="484" name="Rectangle 216"/>
            <p:cNvSpPr>
              <a:spLocks noChangeArrowheads="1"/>
            </p:cNvSpPr>
            <p:nvPr/>
          </p:nvSpPr>
          <p:spPr bwMode="auto">
            <a:xfrm>
              <a:off x="3467" y="432"/>
              <a:ext cx="46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Canada</a:t>
              </a:r>
              <a:endParaRPr lang="en-US" altLang="en-US" dirty="0"/>
            </a:p>
          </p:txBody>
        </p:sp>
        <p:sp>
          <p:nvSpPr>
            <p:cNvPr id="485" name="Rectangle 217"/>
            <p:cNvSpPr>
              <a:spLocks noChangeArrowheads="1"/>
            </p:cNvSpPr>
            <p:nvPr/>
          </p:nvSpPr>
          <p:spPr bwMode="auto">
            <a:xfrm>
              <a:off x="3677" y="221"/>
              <a:ext cx="672"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000000"/>
                  </a:solidFill>
                </a:rPr>
                <a:t>San Marino</a:t>
              </a:r>
              <a:endParaRPr lang="en-US" altLang="en-US" dirty="0"/>
            </a:p>
          </p:txBody>
        </p:sp>
        <p:sp>
          <p:nvSpPr>
            <p:cNvPr id="486" name="Rectangle 218"/>
            <p:cNvSpPr>
              <a:spLocks noChangeArrowheads="1"/>
            </p:cNvSpPr>
            <p:nvPr/>
          </p:nvSpPr>
          <p:spPr bwMode="auto">
            <a:xfrm>
              <a:off x="2770" y="2263"/>
              <a:ext cx="106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P1</a:t>
              </a:r>
              <a:endParaRPr lang="en-US" altLang="en-US" dirty="0"/>
            </a:p>
          </p:txBody>
        </p:sp>
        <p:sp>
          <p:nvSpPr>
            <p:cNvPr id="487" name="Rectangle 219"/>
            <p:cNvSpPr>
              <a:spLocks noChangeArrowheads="1"/>
            </p:cNvSpPr>
            <p:nvPr/>
          </p:nvSpPr>
          <p:spPr bwMode="auto">
            <a:xfrm>
              <a:off x="3268" y="887"/>
              <a:ext cx="113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P25</a:t>
              </a:r>
              <a:endParaRPr lang="en-US" altLang="en-US" dirty="0"/>
            </a:p>
          </p:txBody>
        </p:sp>
        <p:sp>
          <p:nvSpPr>
            <p:cNvPr id="488" name="Rectangle 220"/>
            <p:cNvSpPr>
              <a:spLocks noChangeArrowheads="1"/>
            </p:cNvSpPr>
            <p:nvPr/>
          </p:nvSpPr>
          <p:spPr bwMode="auto">
            <a:xfrm>
              <a:off x="3546" y="336"/>
              <a:ext cx="113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P50</a:t>
              </a:r>
              <a:endParaRPr lang="en-US" altLang="en-US" dirty="0"/>
            </a:p>
          </p:txBody>
        </p:sp>
        <p:sp>
          <p:nvSpPr>
            <p:cNvPr id="489" name="Rectangle 221"/>
            <p:cNvSpPr>
              <a:spLocks noChangeArrowheads="1"/>
            </p:cNvSpPr>
            <p:nvPr/>
          </p:nvSpPr>
          <p:spPr bwMode="auto">
            <a:xfrm>
              <a:off x="4033" y="125"/>
              <a:ext cx="121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500" dirty="0">
                  <a:solidFill>
                    <a:srgbClr val="90353B"/>
                  </a:solidFill>
                </a:rPr>
                <a:t>United States - P100</a:t>
              </a:r>
              <a:endParaRPr lang="en-US" altLang="en-US" dirty="0"/>
            </a:p>
          </p:txBody>
        </p:sp>
        <p:sp>
          <p:nvSpPr>
            <p:cNvPr id="490" name="Line 222"/>
            <p:cNvSpPr>
              <a:spLocks noChangeShapeType="1"/>
            </p:cNvSpPr>
            <p:nvPr/>
          </p:nvSpPr>
          <p:spPr bwMode="auto">
            <a:xfrm flipV="1">
              <a:off x="1507" y="132"/>
              <a:ext cx="0" cy="3579"/>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1" name="Line 223"/>
            <p:cNvSpPr>
              <a:spLocks noChangeShapeType="1"/>
            </p:cNvSpPr>
            <p:nvPr/>
          </p:nvSpPr>
          <p:spPr bwMode="auto">
            <a:xfrm>
              <a:off x="1507" y="3711"/>
              <a:ext cx="2790" cy="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2" name="Line 224"/>
            <p:cNvSpPr>
              <a:spLocks noChangeShapeType="1"/>
            </p:cNvSpPr>
            <p:nvPr/>
          </p:nvSpPr>
          <p:spPr bwMode="auto">
            <a:xfrm>
              <a:off x="1603"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3" name="Rectangle 225"/>
            <p:cNvSpPr>
              <a:spLocks noChangeArrowheads="1"/>
            </p:cNvSpPr>
            <p:nvPr/>
          </p:nvSpPr>
          <p:spPr bwMode="auto">
            <a:xfrm>
              <a:off x="1519"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60</a:t>
              </a:r>
              <a:endParaRPr lang="en-US" altLang="en-US" dirty="0"/>
            </a:p>
          </p:txBody>
        </p:sp>
        <p:sp>
          <p:nvSpPr>
            <p:cNvPr id="494" name="Line 226"/>
            <p:cNvSpPr>
              <a:spLocks noChangeShapeType="1"/>
            </p:cNvSpPr>
            <p:nvPr/>
          </p:nvSpPr>
          <p:spPr bwMode="auto">
            <a:xfrm>
              <a:off x="2035"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5" name="Rectangle 227"/>
            <p:cNvSpPr>
              <a:spLocks noChangeArrowheads="1"/>
            </p:cNvSpPr>
            <p:nvPr/>
          </p:nvSpPr>
          <p:spPr bwMode="auto">
            <a:xfrm>
              <a:off x="1951"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65</a:t>
              </a:r>
              <a:endParaRPr lang="en-US" altLang="en-US" dirty="0"/>
            </a:p>
          </p:txBody>
        </p:sp>
        <p:sp>
          <p:nvSpPr>
            <p:cNvPr id="496" name="Line 228"/>
            <p:cNvSpPr>
              <a:spLocks noChangeShapeType="1"/>
            </p:cNvSpPr>
            <p:nvPr/>
          </p:nvSpPr>
          <p:spPr bwMode="auto">
            <a:xfrm>
              <a:off x="2470"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7" name="Rectangle 229"/>
            <p:cNvSpPr>
              <a:spLocks noChangeArrowheads="1"/>
            </p:cNvSpPr>
            <p:nvPr/>
          </p:nvSpPr>
          <p:spPr bwMode="auto">
            <a:xfrm>
              <a:off x="2385"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70</a:t>
              </a:r>
              <a:endParaRPr lang="en-US" altLang="en-US" dirty="0"/>
            </a:p>
          </p:txBody>
        </p:sp>
        <p:sp>
          <p:nvSpPr>
            <p:cNvPr id="498" name="Line 230"/>
            <p:cNvSpPr>
              <a:spLocks noChangeShapeType="1"/>
            </p:cNvSpPr>
            <p:nvPr/>
          </p:nvSpPr>
          <p:spPr bwMode="auto">
            <a:xfrm>
              <a:off x="2902"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9" name="Rectangle 231"/>
            <p:cNvSpPr>
              <a:spLocks noChangeArrowheads="1"/>
            </p:cNvSpPr>
            <p:nvPr/>
          </p:nvSpPr>
          <p:spPr bwMode="auto">
            <a:xfrm>
              <a:off x="2817"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75</a:t>
              </a:r>
              <a:endParaRPr lang="en-US" altLang="en-US" dirty="0"/>
            </a:p>
          </p:txBody>
        </p:sp>
        <p:sp>
          <p:nvSpPr>
            <p:cNvPr id="500" name="Line 232"/>
            <p:cNvSpPr>
              <a:spLocks noChangeShapeType="1"/>
            </p:cNvSpPr>
            <p:nvPr/>
          </p:nvSpPr>
          <p:spPr bwMode="auto">
            <a:xfrm>
              <a:off x="3336"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1" name="Rectangle 233"/>
            <p:cNvSpPr>
              <a:spLocks noChangeArrowheads="1"/>
            </p:cNvSpPr>
            <p:nvPr/>
          </p:nvSpPr>
          <p:spPr bwMode="auto">
            <a:xfrm>
              <a:off x="3251"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80</a:t>
              </a:r>
              <a:endParaRPr lang="en-US" altLang="en-US" dirty="0"/>
            </a:p>
          </p:txBody>
        </p:sp>
        <p:sp>
          <p:nvSpPr>
            <p:cNvPr id="502" name="Line 234"/>
            <p:cNvSpPr>
              <a:spLocks noChangeShapeType="1"/>
            </p:cNvSpPr>
            <p:nvPr/>
          </p:nvSpPr>
          <p:spPr bwMode="auto">
            <a:xfrm>
              <a:off x="3768"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3" name="Rectangle 235"/>
            <p:cNvSpPr>
              <a:spLocks noChangeArrowheads="1"/>
            </p:cNvSpPr>
            <p:nvPr/>
          </p:nvSpPr>
          <p:spPr bwMode="auto">
            <a:xfrm>
              <a:off x="3683"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85</a:t>
              </a:r>
              <a:endParaRPr lang="en-US" altLang="en-US" dirty="0"/>
            </a:p>
          </p:txBody>
        </p:sp>
        <p:sp>
          <p:nvSpPr>
            <p:cNvPr id="504" name="Line 236"/>
            <p:cNvSpPr>
              <a:spLocks noChangeShapeType="1"/>
            </p:cNvSpPr>
            <p:nvPr/>
          </p:nvSpPr>
          <p:spPr bwMode="auto">
            <a:xfrm>
              <a:off x="4202" y="3711"/>
              <a:ext cx="0" cy="6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5" name="Rectangle 237"/>
            <p:cNvSpPr>
              <a:spLocks noChangeArrowheads="1"/>
            </p:cNvSpPr>
            <p:nvPr/>
          </p:nvSpPr>
          <p:spPr bwMode="auto">
            <a:xfrm>
              <a:off x="4118" y="3802"/>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90</a:t>
              </a:r>
              <a:endParaRPr lang="en-US" altLang="en-US" dirty="0"/>
            </a:p>
          </p:txBody>
        </p:sp>
        <p:sp>
          <p:nvSpPr>
            <p:cNvPr id="506" name="Rectangle 238"/>
            <p:cNvSpPr>
              <a:spLocks noChangeArrowheads="1"/>
            </p:cNvSpPr>
            <p:nvPr/>
          </p:nvSpPr>
          <p:spPr bwMode="auto">
            <a:xfrm>
              <a:off x="1431" y="3991"/>
              <a:ext cx="322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900" dirty="0">
                  <a:solidFill>
                    <a:srgbClr val="000000"/>
                  </a:solidFill>
                </a:rPr>
                <a:t>Expected Age at Death for 40 Year Old Men</a:t>
              </a:r>
              <a:endParaRPr lang="en-US" altLang="en-US" dirty="0"/>
            </a:p>
          </p:txBody>
        </p:sp>
      </p:grpSp>
    </p:spTree>
    <p:extLst>
      <p:ext uri="{BB962C8B-B14F-4D97-AF65-F5344CB8AC3E}">
        <p14:creationId xmlns:p14="http://schemas.microsoft.com/office/powerpoint/2010/main" val="1073983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AE85E8-82C5-A232-D284-9A50E9A8BB98}"/>
              </a:ext>
            </a:extLst>
          </p:cNvPr>
          <p:cNvPicPr>
            <a:picLocks noGrp="1" noChangeAspect="1"/>
          </p:cNvPicPr>
          <p:nvPr>
            <p:ph idx="1"/>
          </p:nvPr>
        </p:nvPicPr>
        <p:blipFill>
          <a:blip r:embed="rId3"/>
          <a:stretch>
            <a:fillRect/>
          </a:stretch>
        </p:blipFill>
        <p:spPr>
          <a:xfrm>
            <a:off x="320040" y="675184"/>
            <a:ext cx="11548872" cy="5416190"/>
          </a:xfrm>
        </p:spPr>
      </p:pic>
    </p:spTree>
    <p:extLst>
      <p:ext uri="{BB962C8B-B14F-4D97-AF65-F5344CB8AC3E}">
        <p14:creationId xmlns:p14="http://schemas.microsoft.com/office/powerpoint/2010/main" val="666529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8885" y="194698"/>
            <a:ext cx="11266713" cy="1325563"/>
          </a:xfrm>
        </p:spPr>
        <p:txBody>
          <a:bodyPr>
            <a:normAutofit/>
          </a:bodyPr>
          <a:lstStyle/>
          <a:p>
            <a:pPr algn="ctr"/>
            <a:r>
              <a:rPr lang="en-US"/>
              <a:t>Social determinants of health and the geographies of disadvantage</a:t>
            </a:r>
            <a:endParaRPr lang="en-US" dirty="0"/>
          </a:p>
        </p:txBody>
      </p:sp>
      <p:sp>
        <p:nvSpPr>
          <p:cNvPr id="3" name="Content Placeholder 2"/>
          <p:cNvSpPr>
            <a:spLocks noGrp="1"/>
          </p:cNvSpPr>
          <p:nvPr>
            <p:ph idx="1"/>
          </p:nvPr>
        </p:nvSpPr>
        <p:spPr>
          <a:xfrm>
            <a:off x="246744" y="1794050"/>
            <a:ext cx="4455886" cy="5063950"/>
          </a:xfrm>
        </p:spPr>
        <p:txBody>
          <a:bodyPr>
            <a:normAutofit fontScale="92500" lnSpcReduction="10000"/>
          </a:bodyPr>
          <a:lstStyle/>
          <a:p>
            <a:r>
              <a:rPr lang="en-US"/>
              <a:t>Our immediate physical surroundings, social relationships and cultural milieus within which we and other people function and interact</a:t>
            </a:r>
          </a:p>
          <a:p>
            <a:r>
              <a:rPr lang="en-US"/>
              <a:t>Inequality is produced and reproduced over time through your social determinants of health</a:t>
            </a:r>
          </a:p>
          <a:p>
            <a:r>
              <a:rPr lang="en-US"/>
              <a:t>We often inherit the social determinants of health of our parents as well as from where we live</a:t>
            </a:r>
          </a:p>
          <a:p>
            <a:endParaRPr lang="en-US" dirty="0"/>
          </a:p>
        </p:txBody>
      </p:sp>
      <p:pic>
        <p:nvPicPr>
          <p:cNvPr id="5" name="Picture 4" descr="A child in a red and blue jacket&#10;&#10;Description automatically generated">
            <a:extLst>
              <a:ext uri="{FF2B5EF4-FFF2-40B4-BE49-F238E27FC236}">
                <a16:creationId xmlns:a16="http://schemas.microsoft.com/office/drawing/2014/main" id="{663CD573-F308-6EDB-9E61-5AFD6B91C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874" y="1714960"/>
            <a:ext cx="3520907" cy="4667249"/>
          </a:xfrm>
          <a:prstGeom prst="rect">
            <a:avLst/>
          </a:prstGeom>
        </p:spPr>
      </p:pic>
      <p:pic>
        <p:nvPicPr>
          <p:cNvPr id="7" name="Picture 6" descr="A close-up of a child smiling&#10;&#10;Description automatically generated">
            <a:extLst>
              <a:ext uri="{FF2B5EF4-FFF2-40B4-BE49-F238E27FC236}">
                <a16:creationId xmlns:a16="http://schemas.microsoft.com/office/drawing/2014/main" id="{304AD50F-C52B-FB49-C9EA-E247E6A1AB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2367" y="1714959"/>
            <a:ext cx="3293231" cy="4679855"/>
          </a:xfrm>
          <a:prstGeom prst="rect">
            <a:avLst/>
          </a:prstGeom>
        </p:spPr>
      </p:pic>
    </p:spTree>
    <p:extLst>
      <p:ext uri="{BB962C8B-B14F-4D97-AF65-F5344CB8AC3E}">
        <p14:creationId xmlns:p14="http://schemas.microsoft.com/office/powerpoint/2010/main" val="175795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hlinkClick r:id="rId3"/>
            <a:extLst>
              <a:ext uri="{FF2B5EF4-FFF2-40B4-BE49-F238E27FC236}">
                <a16:creationId xmlns:a16="http://schemas.microsoft.com/office/drawing/2014/main" id="{2479D022-0741-C958-5420-FA2CCF83E082}"/>
              </a:ext>
            </a:extLst>
          </p:cNvPr>
          <p:cNvPicPr>
            <a:picLocks noChangeAspect="1"/>
          </p:cNvPicPr>
          <p:nvPr/>
        </p:nvPicPr>
        <p:blipFill rotWithShape="1">
          <a:blip r:embed="rId4"/>
          <a:srcRect t="20405"/>
          <a:stretch>
            <a:fillRect/>
          </a:stretch>
        </p:blipFill>
        <p:spPr>
          <a:xfrm>
            <a:off x="4974447" y="367862"/>
            <a:ext cx="7217553" cy="4619435"/>
          </a:xfrm>
          <a:prstGeom prst="rect">
            <a:avLst/>
          </a:prstGeom>
          <a:ln w="53975">
            <a:noFill/>
          </a:ln>
        </p:spPr>
      </p:pic>
      <p:pic>
        <p:nvPicPr>
          <p:cNvPr id="6" name="Picture 5">
            <a:extLst>
              <a:ext uri="{FF2B5EF4-FFF2-40B4-BE49-F238E27FC236}">
                <a16:creationId xmlns:a16="http://schemas.microsoft.com/office/drawing/2014/main" id="{79A0ACBB-AAD1-64C5-6BDC-E0DBFCEC6CB3}"/>
              </a:ext>
            </a:extLst>
          </p:cNvPr>
          <p:cNvPicPr>
            <a:picLocks noChangeAspect="1"/>
          </p:cNvPicPr>
          <p:nvPr/>
        </p:nvPicPr>
        <p:blipFill rotWithShape="1">
          <a:blip r:embed="rId5"/>
          <a:srcRect t="17800"/>
          <a:stretch/>
        </p:blipFill>
        <p:spPr>
          <a:xfrm>
            <a:off x="6187329" y="5274545"/>
            <a:ext cx="4594810" cy="830179"/>
          </a:xfrm>
          <a:prstGeom prst="rect">
            <a:avLst/>
          </a:prstGeom>
        </p:spPr>
      </p:pic>
      <p:sp>
        <p:nvSpPr>
          <p:cNvPr id="3" name="Content Placeholder 2">
            <a:extLst>
              <a:ext uri="{FF2B5EF4-FFF2-40B4-BE49-F238E27FC236}">
                <a16:creationId xmlns:a16="http://schemas.microsoft.com/office/drawing/2014/main" id="{753895F6-A4BB-4EA2-6839-AC7A0705BE3D}"/>
              </a:ext>
            </a:extLst>
          </p:cNvPr>
          <p:cNvSpPr txBox="1">
            <a:spLocks/>
          </p:cNvSpPr>
          <p:nvPr/>
        </p:nvSpPr>
        <p:spPr>
          <a:xfrm>
            <a:off x="346500" y="625685"/>
            <a:ext cx="4455886" cy="5063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Rural and urban location is often used to stand in for one’s social determinants of health</a:t>
            </a:r>
          </a:p>
          <a:p>
            <a:r>
              <a:rPr lang="en-US" dirty="0"/>
              <a:t>A better question to ask is why rural areas over have lower lifespans</a:t>
            </a:r>
          </a:p>
          <a:p>
            <a:pPr marL="0" indent="0">
              <a:buNone/>
            </a:pPr>
            <a:endParaRPr lang="en-US" dirty="0"/>
          </a:p>
          <a:p>
            <a:endParaRPr lang="en-US" dirty="0"/>
          </a:p>
        </p:txBody>
      </p:sp>
    </p:spTree>
    <p:extLst>
      <p:ext uri="{BB962C8B-B14F-4D97-AF65-F5344CB8AC3E}">
        <p14:creationId xmlns:p14="http://schemas.microsoft.com/office/powerpoint/2010/main" val="3576727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AF2F-2A6C-1521-72F7-69309F671094}"/>
              </a:ext>
            </a:extLst>
          </p:cNvPr>
          <p:cNvSpPr>
            <a:spLocks noGrp="1"/>
          </p:cNvSpPr>
          <p:nvPr>
            <p:ph type="title"/>
          </p:nvPr>
        </p:nvSpPr>
        <p:spPr>
          <a:xfrm>
            <a:off x="838200" y="365125"/>
            <a:ext cx="6342089" cy="1325563"/>
          </a:xfrm>
        </p:spPr>
        <p:txBody>
          <a:bodyPr>
            <a:normAutofit/>
          </a:bodyPr>
          <a:lstStyle/>
          <a:p>
            <a:pPr algn="ctr"/>
            <a:r>
              <a:rPr lang="en-US" dirty="0"/>
              <a:t>The index of deep disadvantage</a:t>
            </a:r>
          </a:p>
        </p:txBody>
      </p:sp>
      <p:sp>
        <p:nvSpPr>
          <p:cNvPr id="3" name="Content Placeholder 2">
            <a:extLst>
              <a:ext uri="{FF2B5EF4-FFF2-40B4-BE49-F238E27FC236}">
                <a16:creationId xmlns:a16="http://schemas.microsoft.com/office/drawing/2014/main" id="{99A3C9D5-697E-981A-63FB-E691190AD3AF}"/>
              </a:ext>
            </a:extLst>
          </p:cNvPr>
          <p:cNvSpPr>
            <a:spLocks noGrp="1"/>
          </p:cNvSpPr>
          <p:nvPr>
            <p:ph idx="1"/>
          </p:nvPr>
        </p:nvSpPr>
        <p:spPr>
          <a:xfrm>
            <a:off x="539646" y="1825625"/>
            <a:ext cx="7255239" cy="4351338"/>
          </a:xfrm>
        </p:spPr>
        <p:txBody>
          <a:bodyPr wrap="square">
            <a:noAutofit/>
          </a:bodyPr>
          <a:lstStyle/>
          <a:p>
            <a:pPr>
              <a:lnSpc>
                <a:spcPct val="108000"/>
              </a:lnSpc>
              <a:spcBef>
                <a:spcPts val="0"/>
              </a:spcBef>
              <a:spcAft>
                <a:spcPts val="1500"/>
              </a:spcAft>
              <a:defRPr sz="3000">
                <a:solidFill>
                  <a:srgbClr val="000000"/>
                </a:solidFill>
                <a:latin typeface="Calibri"/>
              </a:defRPr>
            </a:pPr>
            <a:r>
              <a:rPr dirty="0">
                <a:solidFill>
                  <a:srgbClr val="000000"/>
                </a:solidFill>
                <a:latin typeface="Calibri"/>
              </a:rPr>
              <a:t>Combines income, life expectancy, low birth weight and intergenerational mobility.</a:t>
            </a:r>
          </a:p>
          <a:p>
            <a:pPr>
              <a:lnSpc>
                <a:spcPct val="108000"/>
              </a:lnSpc>
              <a:spcBef>
                <a:spcPts val="0"/>
              </a:spcBef>
              <a:spcAft>
                <a:spcPts val="1500"/>
              </a:spcAft>
              <a:defRPr sz="3000">
                <a:solidFill>
                  <a:srgbClr val="000000"/>
                </a:solidFill>
                <a:latin typeface="Calibri"/>
              </a:defRPr>
            </a:pPr>
            <a:r>
              <a:rPr dirty="0">
                <a:solidFill>
                  <a:srgbClr val="000000"/>
                </a:solidFill>
                <a:latin typeface="Calibri"/>
              </a:rPr>
              <a:t>Most disadvantaged places: mostly rural, sharp class divides, and exploitation by a single industry.</a:t>
            </a:r>
          </a:p>
          <a:p>
            <a:pPr>
              <a:lnSpc>
                <a:spcPct val="108000"/>
              </a:lnSpc>
              <a:spcBef>
                <a:spcPts val="0"/>
              </a:spcBef>
              <a:spcAft>
                <a:spcPts val="1500"/>
              </a:spcAft>
              <a:defRPr sz="3000">
                <a:solidFill>
                  <a:srgbClr val="000000"/>
                </a:solidFill>
                <a:latin typeface="Calibri"/>
              </a:defRPr>
            </a:pPr>
            <a:r>
              <a:rPr dirty="0">
                <a:solidFill>
                  <a:srgbClr val="000000"/>
                </a:solidFill>
                <a:latin typeface="Calibri"/>
              </a:rPr>
              <a:t>Most advantaged places: pockets of the Midwest with a strong middle class and diverse small industry.</a:t>
            </a:r>
          </a:p>
        </p:txBody>
      </p:sp>
      <p:pic>
        <p:nvPicPr>
          <p:cNvPr id="5" name="Picture 4" descr="Princeton sociologist Kathryn Edin's research reveals that the most disadvantaged areas in the U.S. are primarily rural, concentrated in Appalachia, the Deep South's cotton and tobacco belts, and South Texas, rather than urban cities.&#10;&#10;AI-generated content may be incorrect.">
            <a:extLst>
              <a:ext uri="{FF2B5EF4-FFF2-40B4-BE49-F238E27FC236}">
                <a16:creationId xmlns:a16="http://schemas.microsoft.com/office/drawing/2014/main" id="{26619081-8AEF-C496-CD83-1A2AC3BF59A8}"/>
              </a:ext>
            </a:extLst>
          </p:cNvPr>
          <p:cNvPicPr>
            <a:picLocks noChangeAspect="1"/>
          </p:cNvPicPr>
          <p:nvPr/>
        </p:nvPicPr>
        <p:blipFill>
          <a:blip r:embed="rId3"/>
          <a:srcRect r="47790"/>
          <a:stretch>
            <a:fillRect/>
          </a:stretch>
        </p:blipFill>
        <p:spPr>
          <a:xfrm>
            <a:off x="8019736" y="681037"/>
            <a:ext cx="3852473" cy="5731180"/>
          </a:xfrm>
          <a:prstGeom prst="rect">
            <a:avLst/>
          </a:prstGeom>
        </p:spPr>
      </p:pic>
    </p:spTree>
    <p:extLst>
      <p:ext uri="{BB962C8B-B14F-4D97-AF65-F5344CB8AC3E}">
        <p14:creationId xmlns:p14="http://schemas.microsoft.com/office/powerpoint/2010/main" val="1499631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united states&#10;&#10;AI-generated content may be incorrect.">
            <a:extLst>
              <a:ext uri="{FF2B5EF4-FFF2-40B4-BE49-F238E27FC236}">
                <a16:creationId xmlns:a16="http://schemas.microsoft.com/office/drawing/2014/main" id="{3D6B2FCC-BD4E-3550-8ADE-674EB83F1E3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1503" t="12871" r="9952"/>
          <a:stretch>
            <a:fillRect/>
          </a:stretch>
        </p:blipFill>
        <p:spPr>
          <a:xfrm>
            <a:off x="921455" y="164592"/>
            <a:ext cx="10346041" cy="6455664"/>
          </a:xfrm>
        </p:spPr>
      </p:pic>
    </p:spTree>
    <p:extLst>
      <p:ext uri="{BB962C8B-B14F-4D97-AF65-F5344CB8AC3E}">
        <p14:creationId xmlns:p14="http://schemas.microsoft.com/office/powerpoint/2010/main" val="2416916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D3149-EBA6-01A0-A252-2828CAC31C6A}"/>
              </a:ext>
            </a:extLst>
          </p:cNvPr>
          <p:cNvSpPr>
            <a:spLocks noGrp="1"/>
          </p:cNvSpPr>
          <p:nvPr>
            <p:ph type="title"/>
          </p:nvPr>
        </p:nvSpPr>
        <p:spPr>
          <a:xfrm>
            <a:off x="1596570" y="365125"/>
            <a:ext cx="9173029" cy="1325563"/>
          </a:xfrm>
        </p:spPr>
        <p:txBody>
          <a:bodyPr/>
          <a:lstStyle/>
          <a:p>
            <a:pPr algn="ctr"/>
            <a:r>
              <a:rPr lang="en-US" dirty="0"/>
              <a:t>The nonmetro mortality penalty</a:t>
            </a:r>
          </a:p>
        </p:txBody>
      </p:sp>
      <p:sp>
        <p:nvSpPr>
          <p:cNvPr id="3" name="Content Placeholder 2">
            <a:extLst>
              <a:ext uri="{FF2B5EF4-FFF2-40B4-BE49-F238E27FC236}">
                <a16:creationId xmlns:a16="http://schemas.microsoft.com/office/drawing/2014/main" id="{E8AAFB2D-73FC-FB79-ADB8-8BE72332D42B}"/>
              </a:ext>
            </a:extLst>
          </p:cNvPr>
          <p:cNvSpPr>
            <a:spLocks noGrp="1"/>
          </p:cNvSpPr>
          <p:nvPr>
            <p:ph idx="1"/>
          </p:nvPr>
        </p:nvSpPr>
        <p:spPr>
          <a:xfrm>
            <a:off x="233595" y="1690688"/>
            <a:ext cx="4831892" cy="4351338"/>
          </a:xfrm>
        </p:spPr>
        <p:txBody>
          <a:bodyPr>
            <a:noAutofit/>
          </a:bodyPr>
          <a:lstStyle/>
          <a:p>
            <a:r>
              <a:rPr lang="en-US" sz="3200" dirty="0">
                <a:latin typeface="+mj-lt"/>
              </a:rPr>
              <a:t>Applies outside of large metropolitan areas, where there is</a:t>
            </a:r>
          </a:p>
          <a:p>
            <a:pPr lvl="1"/>
            <a:r>
              <a:rPr lang="en-US" sz="2800" dirty="0">
                <a:latin typeface="+mj-lt"/>
              </a:rPr>
              <a:t>Limited access to healthcare</a:t>
            </a:r>
          </a:p>
          <a:p>
            <a:pPr lvl="1"/>
            <a:r>
              <a:rPr lang="en-US" sz="2800" dirty="0">
                <a:latin typeface="+mj-lt"/>
              </a:rPr>
              <a:t>Higher prevalence of chronic diseases</a:t>
            </a:r>
          </a:p>
          <a:p>
            <a:pPr lvl="1"/>
            <a:r>
              <a:rPr lang="en-US" sz="2800" dirty="0">
                <a:latin typeface="+mj-lt"/>
              </a:rPr>
              <a:t>Lack of economic opportunities</a:t>
            </a:r>
          </a:p>
          <a:p>
            <a:pPr lvl="1"/>
            <a:r>
              <a:rPr lang="en-US" sz="2800" dirty="0">
                <a:latin typeface="+mj-lt"/>
              </a:rPr>
              <a:t>Workplace risks</a:t>
            </a:r>
          </a:p>
        </p:txBody>
      </p:sp>
      <p:pic>
        <p:nvPicPr>
          <p:cNvPr id="8" name="Picture 7" descr="A group of houses in a yard&#10;&#10;Description automatically generated">
            <a:extLst>
              <a:ext uri="{FF2B5EF4-FFF2-40B4-BE49-F238E27FC236}">
                <a16:creationId xmlns:a16="http://schemas.microsoft.com/office/drawing/2014/main" id="{0662698E-90BC-5E42-83D0-049DFE9BF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817" y="1797050"/>
            <a:ext cx="6600589" cy="3841749"/>
          </a:xfrm>
          <a:prstGeom prst="rect">
            <a:avLst/>
          </a:prstGeom>
        </p:spPr>
      </p:pic>
    </p:spTree>
    <p:extLst>
      <p:ext uri="{BB962C8B-B14F-4D97-AF65-F5344CB8AC3E}">
        <p14:creationId xmlns:p14="http://schemas.microsoft.com/office/powerpoint/2010/main" val="4034512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BC4FC-4607-F242-CA21-A971E004D6CD}"/>
              </a:ext>
            </a:extLst>
          </p:cNvPr>
          <p:cNvSpPr>
            <a:spLocks noGrp="1"/>
          </p:cNvSpPr>
          <p:nvPr>
            <p:ph idx="1"/>
          </p:nvPr>
        </p:nvSpPr>
        <p:spPr>
          <a:xfrm>
            <a:off x="838200" y="581891"/>
            <a:ext cx="3767051" cy="5595072"/>
          </a:xfrm>
        </p:spPr>
        <p:txBody>
          <a:bodyPr>
            <a:normAutofit/>
          </a:bodyPr>
          <a:lstStyle/>
          <a:p>
            <a:r>
              <a:rPr lang="en-US" dirty="0"/>
              <a:t>The wealthy live longer everywhere</a:t>
            </a:r>
          </a:p>
          <a:p>
            <a:r>
              <a:rPr lang="en-US" dirty="0"/>
              <a:t>For the poor lifespan is more sensitive to where you live</a:t>
            </a:r>
          </a:p>
          <a:p>
            <a:r>
              <a:rPr lang="en-US" dirty="0"/>
              <a:t>A better question to ask about the geography of disadvantage is where and under what conditions do the poor live longer</a:t>
            </a:r>
          </a:p>
          <a:p>
            <a:endParaRPr lang="en-US" dirty="0"/>
          </a:p>
        </p:txBody>
      </p:sp>
      <p:pic>
        <p:nvPicPr>
          <p:cNvPr id="9" name="Picture 8" descr="The image is a map displaying life expectancy for 40-year-olds in various U.S. counties, with income levels below $28,000, adjusted for race.&#10;&#10;AI-generated content may be incorrect.">
            <a:hlinkClick r:id="rId2"/>
            <a:extLst>
              <a:ext uri="{FF2B5EF4-FFF2-40B4-BE49-F238E27FC236}">
                <a16:creationId xmlns:a16="http://schemas.microsoft.com/office/drawing/2014/main" id="{05D1699B-E1B3-F72E-2584-2353BA77AEC7}"/>
              </a:ext>
            </a:extLst>
          </p:cNvPr>
          <p:cNvPicPr>
            <a:picLocks noChangeAspect="1"/>
          </p:cNvPicPr>
          <p:nvPr/>
        </p:nvPicPr>
        <p:blipFill>
          <a:blip r:embed="rId3"/>
          <a:srcRect t="26522"/>
          <a:stretch>
            <a:fillRect/>
          </a:stretch>
        </p:blipFill>
        <p:spPr>
          <a:xfrm>
            <a:off x="5129347" y="581891"/>
            <a:ext cx="6356025" cy="5288393"/>
          </a:xfrm>
          <a:prstGeom prst="rect">
            <a:avLst/>
          </a:prstGeom>
          <a:ln w="44450">
            <a:noFill/>
          </a:ln>
        </p:spPr>
      </p:pic>
    </p:spTree>
    <p:extLst>
      <p:ext uri="{BB962C8B-B14F-4D97-AF65-F5344CB8AC3E}">
        <p14:creationId xmlns:p14="http://schemas.microsoft.com/office/powerpoint/2010/main" val="408258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p:cNvGrpSpPr>
            <a:grpSpLocks noChangeAspect="1"/>
          </p:cNvGrpSpPr>
          <p:nvPr/>
        </p:nvGrpSpPr>
        <p:grpSpPr bwMode="auto">
          <a:xfrm>
            <a:off x="1524000" y="103191"/>
            <a:ext cx="9144000" cy="6651625"/>
            <a:chOff x="0" y="65"/>
            <a:chExt cx="5760" cy="4190"/>
          </a:xfrm>
        </p:grpSpPr>
        <p:sp>
          <p:nvSpPr>
            <p:cNvPr id="6" name="AutoShape 3"/>
            <p:cNvSpPr>
              <a:spLocks noChangeAspect="1" noChangeArrowheads="1" noTextEdit="1"/>
            </p:cNvSpPr>
            <p:nvPr/>
          </p:nvSpPr>
          <p:spPr bwMode="auto">
            <a:xfrm>
              <a:off x="0" y="65"/>
              <a:ext cx="5760" cy="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Rectangle 7"/>
            <p:cNvSpPr>
              <a:spLocks noChangeArrowheads="1"/>
            </p:cNvSpPr>
            <p:nvPr/>
          </p:nvSpPr>
          <p:spPr bwMode="auto">
            <a:xfrm>
              <a:off x="548" y="449"/>
              <a:ext cx="5083" cy="3069"/>
            </a:xfrm>
            <a:prstGeom prst="rect">
              <a:avLst/>
            </a:prstGeom>
            <a:solidFill>
              <a:srgbClr val="FFFFFF"/>
            </a:solidFill>
            <a:ln w="11113">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Line 8"/>
            <p:cNvSpPr>
              <a:spLocks noChangeShapeType="1"/>
            </p:cNvSpPr>
            <p:nvPr/>
          </p:nvSpPr>
          <p:spPr bwMode="auto">
            <a:xfrm>
              <a:off x="548" y="3427"/>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Line 9"/>
            <p:cNvSpPr>
              <a:spLocks noChangeShapeType="1"/>
            </p:cNvSpPr>
            <p:nvPr/>
          </p:nvSpPr>
          <p:spPr bwMode="auto">
            <a:xfrm>
              <a:off x="548" y="2705"/>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Line 10"/>
            <p:cNvSpPr>
              <a:spLocks noChangeShapeType="1"/>
            </p:cNvSpPr>
            <p:nvPr/>
          </p:nvSpPr>
          <p:spPr bwMode="auto">
            <a:xfrm>
              <a:off x="548" y="1982"/>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Line 11"/>
            <p:cNvSpPr>
              <a:spLocks noChangeShapeType="1"/>
            </p:cNvSpPr>
            <p:nvPr/>
          </p:nvSpPr>
          <p:spPr bwMode="auto">
            <a:xfrm>
              <a:off x="548" y="1263"/>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Line 12"/>
            <p:cNvSpPr>
              <a:spLocks noChangeShapeType="1"/>
            </p:cNvSpPr>
            <p:nvPr/>
          </p:nvSpPr>
          <p:spPr bwMode="auto">
            <a:xfrm>
              <a:off x="548" y="540"/>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auto">
            <a:xfrm>
              <a:off x="887" y="906"/>
              <a:ext cx="4653" cy="1271"/>
            </a:xfrm>
            <a:custGeom>
              <a:avLst/>
              <a:gdLst>
                <a:gd name="T0" fmla="*/ 0 w 1333"/>
                <a:gd name="T1" fmla="*/ 364 h 364"/>
                <a:gd name="T2" fmla="*/ 70 w 1333"/>
                <a:gd name="T3" fmla="*/ 300 h 364"/>
                <a:gd name="T4" fmla="*/ 140 w 1333"/>
                <a:gd name="T5" fmla="*/ 319 h 364"/>
                <a:gd name="T6" fmla="*/ 210 w 1333"/>
                <a:gd name="T7" fmla="*/ 329 h 364"/>
                <a:gd name="T8" fmla="*/ 280 w 1333"/>
                <a:gd name="T9" fmla="*/ 315 h 364"/>
                <a:gd name="T10" fmla="*/ 350 w 1333"/>
                <a:gd name="T11" fmla="*/ 309 h 364"/>
                <a:gd name="T12" fmla="*/ 421 w 1333"/>
                <a:gd name="T13" fmla="*/ 301 h 364"/>
                <a:gd name="T14" fmla="*/ 491 w 1333"/>
                <a:gd name="T15" fmla="*/ 270 h 364"/>
                <a:gd name="T16" fmla="*/ 561 w 1333"/>
                <a:gd name="T17" fmla="*/ 265 h 364"/>
                <a:gd name="T18" fmla="*/ 631 w 1333"/>
                <a:gd name="T19" fmla="*/ 258 h 364"/>
                <a:gd name="T20" fmla="*/ 701 w 1333"/>
                <a:gd name="T21" fmla="*/ 242 h 364"/>
                <a:gd name="T22" fmla="*/ 771 w 1333"/>
                <a:gd name="T23" fmla="*/ 225 h 364"/>
                <a:gd name="T24" fmla="*/ 842 w 1333"/>
                <a:gd name="T25" fmla="*/ 211 h 364"/>
                <a:gd name="T26" fmla="*/ 912 w 1333"/>
                <a:gd name="T27" fmla="*/ 185 h 364"/>
                <a:gd name="T28" fmla="*/ 982 w 1333"/>
                <a:gd name="T29" fmla="*/ 195 h 364"/>
                <a:gd name="T30" fmla="*/ 1052 w 1333"/>
                <a:gd name="T31" fmla="*/ 141 h 364"/>
                <a:gd name="T32" fmla="*/ 1122 w 1333"/>
                <a:gd name="T33" fmla="*/ 132 h 364"/>
                <a:gd name="T34" fmla="*/ 1192 w 1333"/>
                <a:gd name="T35" fmla="*/ 99 h 364"/>
                <a:gd name="T36" fmla="*/ 1262 w 1333"/>
                <a:gd name="T37" fmla="*/ 50 h 364"/>
                <a:gd name="T38" fmla="*/ 1333 w 1333"/>
                <a:gd name="T3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364">
                  <a:moveTo>
                    <a:pt x="0" y="364"/>
                  </a:moveTo>
                  <a:lnTo>
                    <a:pt x="70" y="300"/>
                  </a:lnTo>
                  <a:lnTo>
                    <a:pt x="140" y="319"/>
                  </a:lnTo>
                  <a:lnTo>
                    <a:pt x="210" y="329"/>
                  </a:lnTo>
                  <a:lnTo>
                    <a:pt x="280" y="315"/>
                  </a:lnTo>
                  <a:lnTo>
                    <a:pt x="350" y="309"/>
                  </a:lnTo>
                  <a:lnTo>
                    <a:pt x="421" y="301"/>
                  </a:lnTo>
                  <a:lnTo>
                    <a:pt x="491" y="270"/>
                  </a:lnTo>
                  <a:lnTo>
                    <a:pt x="561" y="265"/>
                  </a:lnTo>
                  <a:lnTo>
                    <a:pt x="631" y="258"/>
                  </a:lnTo>
                  <a:lnTo>
                    <a:pt x="701" y="242"/>
                  </a:lnTo>
                  <a:lnTo>
                    <a:pt x="771" y="225"/>
                  </a:lnTo>
                  <a:lnTo>
                    <a:pt x="842" y="211"/>
                  </a:lnTo>
                  <a:lnTo>
                    <a:pt x="912" y="185"/>
                  </a:lnTo>
                  <a:lnTo>
                    <a:pt x="982" y="195"/>
                  </a:lnTo>
                  <a:lnTo>
                    <a:pt x="1052" y="141"/>
                  </a:lnTo>
                  <a:lnTo>
                    <a:pt x="1122" y="132"/>
                  </a:lnTo>
                  <a:lnTo>
                    <a:pt x="1192" y="99"/>
                  </a:lnTo>
                  <a:lnTo>
                    <a:pt x="1262" y="50"/>
                  </a:lnTo>
                  <a:lnTo>
                    <a:pt x="1333" y="0"/>
                  </a:lnTo>
                </a:path>
              </a:pathLst>
            </a:custGeom>
            <a:noFill/>
            <a:ln w="22225">
              <a:solidFill>
                <a:srgbClr val="1A476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p:nvSpPr>
          <p:spPr bwMode="auto">
            <a:xfrm>
              <a:off x="887" y="934"/>
              <a:ext cx="4653" cy="1446"/>
            </a:xfrm>
            <a:custGeom>
              <a:avLst/>
              <a:gdLst>
                <a:gd name="T0" fmla="*/ 0 w 1333"/>
                <a:gd name="T1" fmla="*/ 414 h 414"/>
                <a:gd name="T2" fmla="*/ 70 w 1333"/>
                <a:gd name="T3" fmla="*/ 348 h 414"/>
                <a:gd name="T4" fmla="*/ 140 w 1333"/>
                <a:gd name="T5" fmla="*/ 345 h 414"/>
                <a:gd name="T6" fmla="*/ 210 w 1333"/>
                <a:gd name="T7" fmla="*/ 336 h 414"/>
                <a:gd name="T8" fmla="*/ 280 w 1333"/>
                <a:gd name="T9" fmla="*/ 319 h 414"/>
                <a:gd name="T10" fmla="*/ 350 w 1333"/>
                <a:gd name="T11" fmla="*/ 297 h 414"/>
                <a:gd name="T12" fmla="*/ 421 w 1333"/>
                <a:gd name="T13" fmla="*/ 305 h 414"/>
                <a:gd name="T14" fmla="*/ 491 w 1333"/>
                <a:gd name="T15" fmla="*/ 257 h 414"/>
                <a:gd name="T16" fmla="*/ 561 w 1333"/>
                <a:gd name="T17" fmla="*/ 262 h 414"/>
                <a:gd name="T18" fmla="*/ 631 w 1333"/>
                <a:gd name="T19" fmla="*/ 238 h 414"/>
                <a:gd name="T20" fmla="*/ 701 w 1333"/>
                <a:gd name="T21" fmla="*/ 236 h 414"/>
                <a:gd name="T22" fmla="*/ 771 w 1333"/>
                <a:gd name="T23" fmla="*/ 215 h 414"/>
                <a:gd name="T24" fmla="*/ 842 w 1333"/>
                <a:gd name="T25" fmla="*/ 187 h 414"/>
                <a:gd name="T26" fmla="*/ 912 w 1333"/>
                <a:gd name="T27" fmla="*/ 188 h 414"/>
                <a:gd name="T28" fmla="*/ 982 w 1333"/>
                <a:gd name="T29" fmla="*/ 151 h 414"/>
                <a:gd name="T30" fmla="*/ 1052 w 1333"/>
                <a:gd name="T31" fmla="*/ 169 h 414"/>
                <a:gd name="T32" fmla="*/ 1122 w 1333"/>
                <a:gd name="T33" fmla="*/ 131 h 414"/>
                <a:gd name="T34" fmla="*/ 1192 w 1333"/>
                <a:gd name="T35" fmla="*/ 102 h 414"/>
                <a:gd name="T36" fmla="*/ 1262 w 1333"/>
                <a:gd name="T37" fmla="*/ 52 h 414"/>
                <a:gd name="T38" fmla="*/ 1333 w 1333"/>
                <a:gd name="T39"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14">
                  <a:moveTo>
                    <a:pt x="0" y="414"/>
                  </a:moveTo>
                  <a:lnTo>
                    <a:pt x="70" y="348"/>
                  </a:lnTo>
                  <a:lnTo>
                    <a:pt x="140" y="345"/>
                  </a:lnTo>
                  <a:lnTo>
                    <a:pt x="210" y="336"/>
                  </a:lnTo>
                  <a:lnTo>
                    <a:pt x="280" y="319"/>
                  </a:lnTo>
                  <a:lnTo>
                    <a:pt x="350" y="297"/>
                  </a:lnTo>
                  <a:lnTo>
                    <a:pt x="421" y="305"/>
                  </a:lnTo>
                  <a:lnTo>
                    <a:pt x="491" y="257"/>
                  </a:lnTo>
                  <a:lnTo>
                    <a:pt x="561" y="262"/>
                  </a:lnTo>
                  <a:lnTo>
                    <a:pt x="631" y="238"/>
                  </a:lnTo>
                  <a:lnTo>
                    <a:pt x="701" y="236"/>
                  </a:lnTo>
                  <a:lnTo>
                    <a:pt x="771" y="215"/>
                  </a:lnTo>
                  <a:lnTo>
                    <a:pt x="842" y="187"/>
                  </a:lnTo>
                  <a:lnTo>
                    <a:pt x="912" y="188"/>
                  </a:lnTo>
                  <a:lnTo>
                    <a:pt x="982" y="151"/>
                  </a:lnTo>
                  <a:lnTo>
                    <a:pt x="1052" y="169"/>
                  </a:lnTo>
                  <a:lnTo>
                    <a:pt x="1122" y="131"/>
                  </a:lnTo>
                  <a:lnTo>
                    <a:pt x="1192" y="102"/>
                  </a:lnTo>
                  <a:lnTo>
                    <a:pt x="1262" y="52"/>
                  </a:lnTo>
                  <a:lnTo>
                    <a:pt x="1333" y="0"/>
                  </a:lnTo>
                </a:path>
              </a:pathLst>
            </a:custGeom>
            <a:noFill/>
            <a:ln w="22225">
              <a:solidFill>
                <a:srgbClr val="90353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p:nvSpPr>
          <p:spPr bwMode="auto">
            <a:xfrm>
              <a:off x="887" y="927"/>
              <a:ext cx="4653" cy="1683"/>
            </a:xfrm>
            <a:custGeom>
              <a:avLst/>
              <a:gdLst>
                <a:gd name="T0" fmla="*/ 0 w 1333"/>
                <a:gd name="T1" fmla="*/ 482 h 482"/>
                <a:gd name="T2" fmla="*/ 70 w 1333"/>
                <a:gd name="T3" fmla="*/ 407 h 482"/>
                <a:gd name="T4" fmla="*/ 140 w 1333"/>
                <a:gd name="T5" fmla="*/ 413 h 482"/>
                <a:gd name="T6" fmla="*/ 210 w 1333"/>
                <a:gd name="T7" fmla="*/ 393 h 482"/>
                <a:gd name="T8" fmla="*/ 280 w 1333"/>
                <a:gd name="T9" fmla="*/ 379 h 482"/>
                <a:gd name="T10" fmla="*/ 350 w 1333"/>
                <a:gd name="T11" fmla="*/ 388 h 482"/>
                <a:gd name="T12" fmla="*/ 421 w 1333"/>
                <a:gd name="T13" fmla="*/ 341 h 482"/>
                <a:gd name="T14" fmla="*/ 491 w 1333"/>
                <a:gd name="T15" fmla="*/ 324 h 482"/>
                <a:gd name="T16" fmla="*/ 561 w 1333"/>
                <a:gd name="T17" fmla="*/ 298 h 482"/>
                <a:gd name="T18" fmla="*/ 631 w 1333"/>
                <a:gd name="T19" fmla="*/ 276 h 482"/>
                <a:gd name="T20" fmla="*/ 701 w 1333"/>
                <a:gd name="T21" fmla="*/ 277 h 482"/>
                <a:gd name="T22" fmla="*/ 771 w 1333"/>
                <a:gd name="T23" fmla="*/ 247 h 482"/>
                <a:gd name="T24" fmla="*/ 842 w 1333"/>
                <a:gd name="T25" fmla="*/ 209 h 482"/>
                <a:gd name="T26" fmla="*/ 912 w 1333"/>
                <a:gd name="T27" fmla="*/ 194 h 482"/>
                <a:gd name="T28" fmla="*/ 982 w 1333"/>
                <a:gd name="T29" fmla="*/ 191 h 482"/>
                <a:gd name="T30" fmla="*/ 1052 w 1333"/>
                <a:gd name="T31" fmla="*/ 175 h 482"/>
                <a:gd name="T32" fmla="*/ 1122 w 1333"/>
                <a:gd name="T33" fmla="*/ 139 h 482"/>
                <a:gd name="T34" fmla="*/ 1192 w 1333"/>
                <a:gd name="T35" fmla="*/ 109 h 482"/>
                <a:gd name="T36" fmla="*/ 1262 w 1333"/>
                <a:gd name="T37" fmla="*/ 55 h 482"/>
                <a:gd name="T38" fmla="*/ 1333 w 1333"/>
                <a:gd name="T39"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82">
                  <a:moveTo>
                    <a:pt x="0" y="482"/>
                  </a:moveTo>
                  <a:lnTo>
                    <a:pt x="70" y="407"/>
                  </a:lnTo>
                  <a:lnTo>
                    <a:pt x="140" y="413"/>
                  </a:lnTo>
                  <a:lnTo>
                    <a:pt x="210" y="393"/>
                  </a:lnTo>
                  <a:lnTo>
                    <a:pt x="280" y="379"/>
                  </a:lnTo>
                  <a:lnTo>
                    <a:pt x="350" y="388"/>
                  </a:lnTo>
                  <a:lnTo>
                    <a:pt x="421" y="341"/>
                  </a:lnTo>
                  <a:lnTo>
                    <a:pt x="491" y="324"/>
                  </a:lnTo>
                  <a:lnTo>
                    <a:pt x="561" y="298"/>
                  </a:lnTo>
                  <a:lnTo>
                    <a:pt x="631" y="276"/>
                  </a:lnTo>
                  <a:lnTo>
                    <a:pt x="701" y="277"/>
                  </a:lnTo>
                  <a:lnTo>
                    <a:pt x="771" y="247"/>
                  </a:lnTo>
                  <a:lnTo>
                    <a:pt x="842" y="209"/>
                  </a:lnTo>
                  <a:lnTo>
                    <a:pt x="912" y="194"/>
                  </a:lnTo>
                  <a:lnTo>
                    <a:pt x="982" y="191"/>
                  </a:lnTo>
                  <a:lnTo>
                    <a:pt x="1052" y="175"/>
                  </a:lnTo>
                  <a:lnTo>
                    <a:pt x="1122" y="139"/>
                  </a:lnTo>
                  <a:lnTo>
                    <a:pt x="1192" y="109"/>
                  </a:lnTo>
                  <a:lnTo>
                    <a:pt x="1262" y="55"/>
                  </a:lnTo>
                  <a:lnTo>
                    <a:pt x="1333" y="0"/>
                  </a:lnTo>
                </a:path>
              </a:pathLst>
            </a:custGeom>
            <a:noFill/>
            <a:ln w="22225">
              <a:solidFill>
                <a:srgbClr val="55752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p:nvSpPr>
          <p:spPr bwMode="auto">
            <a:xfrm>
              <a:off x="887" y="1039"/>
              <a:ext cx="4653" cy="2057"/>
            </a:xfrm>
            <a:custGeom>
              <a:avLst/>
              <a:gdLst>
                <a:gd name="T0" fmla="*/ 0 w 1333"/>
                <a:gd name="T1" fmla="*/ 589 h 589"/>
                <a:gd name="T2" fmla="*/ 70 w 1333"/>
                <a:gd name="T3" fmla="*/ 491 h 589"/>
                <a:gd name="T4" fmla="*/ 140 w 1333"/>
                <a:gd name="T5" fmla="*/ 474 h 589"/>
                <a:gd name="T6" fmla="*/ 210 w 1333"/>
                <a:gd name="T7" fmla="*/ 433 h 589"/>
                <a:gd name="T8" fmla="*/ 280 w 1333"/>
                <a:gd name="T9" fmla="*/ 411 h 589"/>
                <a:gd name="T10" fmla="*/ 350 w 1333"/>
                <a:gd name="T11" fmla="*/ 368 h 589"/>
                <a:gd name="T12" fmla="*/ 421 w 1333"/>
                <a:gd name="T13" fmla="*/ 320 h 589"/>
                <a:gd name="T14" fmla="*/ 491 w 1333"/>
                <a:gd name="T15" fmla="*/ 266 h 589"/>
                <a:gd name="T16" fmla="*/ 561 w 1333"/>
                <a:gd name="T17" fmla="*/ 257 h 589"/>
                <a:gd name="T18" fmla="*/ 631 w 1333"/>
                <a:gd name="T19" fmla="*/ 229 h 589"/>
                <a:gd name="T20" fmla="*/ 701 w 1333"/>
                <a:gd name="T21" fmla="*/ 220 h 589"/>
                <a:gd name="T22" fmla="*/ 771 w 1333"/>
                <a:gd name="T23" fmla="*/ 204 h 589"/>
                <a:gd name="T24" fmla="*/ 842 w 1333"/>
                <a:gd name="T25" fmla="*/ 187 h 589"/>
                <a:gd name="T26" fmla="*/ 912 w 1333"/>
                <a:gd name="T27" fmla="*/ 175 h 589"/>
                <a:gd name="T28" fmla="*/ 982 w 1333"/>
                <a:gd name="T29" fmla="*/ 150 h 589"/>
                <a:gd name="T30" fmla="*/ 1052 w 1333"/>
                <a:gd name="T31" fmla="*/ 133 h 589"/>
                <a:gd name="T32" fmla="*/ 1122 w 1333"/>
                <a:gd name="T33" fmla="*/ 104 h 589"/>
                <a:gd name="T34" fmla="*/ 1192 w 1333"/>
                <a:gd name="T35" fmla="*/ 80 h 589"/>
                <a:gd name="T36" fmla="*/ 1262 w 1333"/>
                <a:gd name="T37" fmla="*/ 33 h 589"/>
                <a:gd name="T38" fmla="*/ 1333 w 1333"/>
                <a:gd name="T39" fmla="*/ 0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589">
                  <a:moveTo>
                    <a:pt x="0" y="589"/>
                  </a:moveTo>
                  <a:lnTo>
                    <a:pt x="70" y="491"/>
                  </a:lnTo>
                  <a:lnTo>
                    <a:pt x="140" y="474"/>
                  </a:lnTo>
                  <a:lnTo>
                    <a:pt x="210" y="433"/>
                  </a:lnTo>
                  <a:lnTo>
                    <a:pt x="280" y="411"/>
                  </a:lnTo>
                  <a:lnTo>
                    <a:pt x="350" y="368"/>
                  </a:lnTo>
                  <a:lnTo>
                    <a:pt x="421" y="320"/>
                  </a:lnTo>
                  <a:lnTo>
                    <a:pt x="491" y="266"/>
                  </a:lnTo>
                  <a:lnTo>
                    <a:pt x="561" y="257"/>
                  </a:lnTo>
                  <a:lnTo>
                    <a:pt x="631" y="229"/>
                  </a:lnTo>
                  <a:lnTo>
                    <a:pt x="701" y="220"/>
                  </a:lnTo>
                  <a:lnTo>
                    <a:pt x="771" y="204"/>
                  </a:lnTo>
                  <a:lnTo>
                    <a:pt x="842" y="187"/>
                  </a:lnTo>
                  <a:lnTo>
                    <a:pt x="912" y="175"/>
                  </a:lnTo>
                  <a:lnTo>
                    <a:pt x="982" y="150"/>
                  </a:lnTo>
                  <a:lnTo>
                    <a:pt x="1052" y="133"/>
                  </a:lnTo>
                  <a:lnTo>
                    <a:pt x="1122" y="104"/>
                  </a:lnTo>
                  <a:lnTo>
                    <a:pt x="1192" y="80"/>
                  </a:lnTo>
                  <a:lnTo>
                    <a:pt x="1262" y="33"/>
                  </a:lnTo>
                  <a:lnTo>
                    <a:pt x="1333" y="0"/>
                  </a:lnTo>
                </a:path>
              </a:pathLst>
            </a:custGeom>
            <a:noFill/>
            <a:ln w="22225">
              <a:solidFill>
                <a:srgbClr val="E37E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 name="Rectangle 17"/>
            <p:cNvSpPr>
              <a:spLocks noChangeArrowheads="1"/>
            </p:cNvSpPr>
            <p:nvPr/>
          </p:nvSpPr>
          <p:spPr bwMode="auto">
            <a:xfrm>
              <a:off x="1149" y="1825"/>
              <a:ext cx="70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1A476F"/>
                  </a:solidFill>
                </a:rPr>
                <a:t>New York City</a:t>
              </a:r>
              <a:endParaRPr lang="en-US" altLang="en-US" dirty="0"/>
            </a:p>
          </p:txBody>
        </p:sp>
        <p:sp>
          <p:nvSpPr>
            <p:cNvPr id="20" name="Rectangle 18"/>
            <p:cNvSpPr>
              <a:spLocks noChangeArrowheads="1"/>
            </p:cNvSpPr>
            <p:nvPr/>
          </p:nvSpPr>
          <p:spPr bwMode="auto">
            <a:xfrm>
              <a:off x="1149" y="2139"/>
              <a:ext cx="72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90353B"/>
                  </a:solidFill>
                </a:rPr>
                <a:t>San Francisco</a:t>
              </a:r>
              <a:endParaRPr lang="en-US" altLang="en-US" dirty="0"/>
            </a:p>
          </p:txBody>
        </p:sp>
        <p:sp>
          <p:nvSpPr>
            <p:cNvPr id="21" name="Rectangle 19"/>
            <p:cNvSpPr>
              <a:spLocks noChangeArrowheads="1"/>
            </p:cNvSpPr>
            <p:nvPr/>
          </p:nvSpPr>
          <p:spPr bwMode="auto">
            <a:xfrm>
              <a:off x="1145" y="2387"/>
              <a:ext cx="3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55752F"/>
                  </a:solidFill>
                </a:rPr>
                <a:t>Dallas</a:t>
              </a:r>
              <a:endParaRPr lang="en-US" altLang="en-US" dirty="0"/>
            </a:p>
          </p:txBody>
        </p:sp>
        <p:sp>
          <p:nvSpPr>
            <p:cNvPr id="22" name="Rectangle 20"/>
            <p:cNvSpPr>
              <a:spLocks noChangeArrowheads="1"/>
            </p:cNvSpPr>
            <p:nvPr/>
          </p:nvSpPr>
          <p:spPr bwMode="auto">
            <a:xfrm>
              <a:off x="1142" y="2778"/>
              <a:ext cx="3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E37E00"/>
                  </a:solidFill>
                </a:rPr>
                <a:t>Detroit</a:t>
              </a:r>
              <a:endParaRPr lang="en-US" altLang="en-US" dirty="0"/>
            </a:p>
          </p:txBody>
        </p:sp>
        <p:sp>
          <p:nvSpPr>
            <p:cNvPr id="23" name="Line 21"/>
            <p:cNvSpPr>
              <a:spLocks noChangeShapeType="1"/>
            </p:cNvSpPr>
            <p:nvPr/>
          </p:nvSpPr>
          <p:spPr bwMode="auto">
            <a:xfrm flipV="1">
              <a:off x="548" y="449"/>
              <a:ext cx="0" cy="306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4" name="Line 22"/>
            <p:cNvSpPr>
              <a:spLocks noChangeShapeType="1"/>
            </p:cNvSpPr>
            <p:nvPr/>
          </p:nvSpPr>
          <p:spPr bwMode="auto">
            <a:xfrm flipH="1">
              <a:off x="492" y="3427"/>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5" name="Rectangle 23"/>
            <p:cNvSpPr>
              <a:spLocks noChangeArrowheads="1"/>
            </p:cNvSpPr>
            <p:nvPr/>
          </p:nvSpPr>
          <p:spPr bwMode="auto">
            <a:xfrm rot="16200000">
              <a:off x="314" y="3304"/>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70</a:t>
              </a:r>
              <a:endParaRPr lang="en-US" altLang="en-US" dirty="0"/>
            </a:p>
          </p:txBody>
        </p:sp>
        <p:sp>
          <p:nvSpPr>
            <p:cNvPr id="26" name="Line 24"/>
            <p:cNvSpPr>
              <a:spLocks noChangeShapeType="1"/>
            </p:cNvSpPr>
            <p:nvPr/>
          </p:nvSpPr>
          <p:spPr bwMode="auto">
            <a:xfrm flipH="1">
              <a:off x="492" y="2705"/>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7" name="Rectangle 25"/>
            <p:cNvSpPr>
              <a:spLocks noChangeArrowheads="1"/>
            </p:cNvSpPr>
            <p:nvPr/>
          </p:nvSpPr>
          <p:spPr bwMode="auto">
            <a:xfrm rot="16200000">
              <a:off x="314" y="2581"/>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75</a:t>
              </a:r>
              <a:endParaRPr lang="en-US" altLang="en-US" dirty="0"/>
            </a:p>
          </p:txBody>
        </p:sp>
        <p:sp>
          <p:nvSpPr>
            <p:cNvPr id="28" name="Line 26"/>
            <p:cNvSpPr>
              <a:spLocks noChangeShapeType="1"/>
            </p:cNvSpPr>
            <p:nvPr/>
          </p:nvSpPr>
          <p:spPr bwMode="auto">
            <a:xfrm flipH="1">
              <a:off x="492" y="1982"/>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9" name="Rectangle 27"/>
            <p:cNvSpPr>
              <a:spLocks noChangeArrowheads="1"/>
            </p:cNvSpPr>
            <p:nvPr/>
          </p:nvSpPr>
          <p:spPr bwMode="auto">
            <a:xfrm rot="16200000">
              <a:off x="314" y="1858"/>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80</a:t>
              </a:r>
              <a:endParaRPr lang="en-US" altLang="en-US" dirty="0"/>
            </a:p>
          </p:txBody>
        </p:sp>
        <p:sp>
          <p:nvSpPr>
            <p:cNvPr id="30" name="Line 28"/>
            <p:cNvSpPr>
              <a:spLocks noChangeShapeType="1"/>
            </p:cNvSpPr>
            <p:nvPr/>
          </p:nvSpPr>
          <p:spPr bwMode="auto">
            <a:xfrm flipH="1">
              <a:off x="492" y="1263"/>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1" name="Rectangle 29"/>
            <p:cNvSpPr>
              <a:spLocks noChangeArrowheads="1"/>
            </p:cNvSpPr>
            <p:nvPr/>
          </p:nvSpPr>
          <p:spPr bwMode="auto">
            <a:xfrm rot="16200000">
              <a:off x="314" y="1139"/>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85</a:t>
              </a:r>
              <a:endParaRPr lang="en-US" altLang="en-US" dirty="0"/>
            </a:p>
          </p:txBody>
        </p:sp>
        <p:sp>
          <p:nvSpPr>
            <p:cNvPr id="32" name="Line 30"/>
            <p:cNvSpPr>
              <a:spLocks noChangeShapeType="1"/>
            </p:cNvSpPr>
            <p:nvPr/>
          </p:nvSpPr>
          <p:spPr bwMode="auto">
            <a:xfrm flipH="1">
              <a:off x="492" y="540"/>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Rectangle 31"/>
            <p:cNvSpPr>
              <a:spLocks noChangeArrowheads="1"/>
            </p:cNvSpPr>
            <p:nvPr/>
          </p:nvSpPr>
          <p:spPr bwMode="auto">
            <a:xfrm rot="16200000">
              <a:off x="314" y="415"/>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90</a:t>
              </a:r>
              <a:endParaRPr lang="en-US" altLang="en-US" dirty="0"/>
            </a:p>
          </p:txBody>
        </p:sp>
        <p:sp>
          <p:nvSpPr>
            <p:cNvPr id="34" name="Rectangle 32"/>
            <p:cNvSpPr>
              <a:spLocks noChangeArrowheads="1"/>
            </p:cNvSpPr>
            <p:nvPr/>
          </p:nvSpPr>
          <p:spPr bwMode="auto">
            <a:xfrm rot="16200000">
              <a:off x="-1372" y="1799"/>
              <a:ext cx="31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Expected Age at Death for 40 Year Olds in Years</a:t>
              </a:r>
              <a:endParaRPr lang="en-US" altLang="en-US" dirty="0"/>
            </a:p>
          </p:txBody>
        </p:sp>
        <p:sp>
          <p:nvSpPr>
            <p:cNvPr id="35" name="Line 33"/>
            <p:cNvSpPr>
              <a:spLocks noChangeShapeType="1"/>
            </p:cNvSpPr>
            <p:nvPr/>
          </p:nvSpPr>
          <p:spPr bwMode="auto">
            <a:xfrm>
              <a:off x="548" y="3518"/>
              <a:ext cx="5083"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Line 34"/>
            <p:cNvSpPr>
              <a:spLocks noChangeShapeType="1"/>
            </p:cNvSpPr>
            <p:nvPr/>
          </p:nvSpPr>
          <p:spPr bwMode="auto">
            <a:xfrm>
              <a:off x="642"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7" name="Rectangle 35"/>
            <p:cNvSpPr>
              <a:spLocks noChangeArrowheads="1"/>
            </p:cNvSpPr>
            <p:nvPr/>
          </p:nvSpPr>
          <p:spPr bwMode="auto">
            <a:xfrm>
              <a:off x="604"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0</a:t>
              </a:r>
              <a:endParaRPr lang="en-US" altLang="en-US" dirty="0"/>
            </a:p>
          </p:txBody>
        </p:sp>
        <p:sp>
          <p:nvSpPr>
            <p:cNvPr id="38" name="Line 36"/>
            <p:cNvSpPr>
              <a:spLocks noChangeShapeType="1"/>
            </p:cNvSpPr>
            <p:nvPr/>
          </p:nvSpPr>
          <p:spPr bwMode="auto">
            <a:xfrm>
              <a:off x="1864"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Rectangle 37"/>
            <p:cNvSpPr>
              <a:spLocks noChangeArrowheads="1"/>
            </p:cNvSpPr>
            <p:nvPr/>
          </p:nvSpPr>
          <p:spPr bwMode="auto">
            <a:xfrm>
              <a:off x="1826"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5</a:t>
              </a:r>
              <a:endParaRPr lang="en-US" altLang="en-US" dirty="0"/>
            </a:p>
          </p:txBody>
        </p:sp>
        <p:sp>
          <p:nvSpPr>
            <p:cNvPr id="40" name="Rectangle 38"/>
            <p:cNvSpPr>
              <a:spLocks noChangeArrowheads="1"/>
            </p:cNvSpPr>
            <p:nvPr/>
          </p:nvSpPr>
          <p:spPr bwMode="auto">
            <a:xfrm>
              <a:off x="1707" y="3792"/>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$30k</a:t>
              </a:r>
              <a:endParaRPr lang="en-US" altLang="en-US" sz="1700" dirty="0"/>
            </a:p>
          </p:txBody>
        </p:sp>
        <p:sp>
          <p:nvSpPr>
            <p:cNvPr id="41" name="Line 39"/>
            <p:cNvSpPr>
              <a:spLocks noChangeShapeType="1"/>
            </p:cNvSpPr>
            <p:nvPr/>
          </p:nvSpPr>
          <p:spPr bwMode="auto">
            <a:xfrm>
              <a:off x="3089"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Rectangle 40"/>
            <p:cNvSpPr>
              <a:spLocks noChangeArrowheads="1"/>
            </p:cNvSpPr>
            <p:nvPr/>
          </p:nvSpPr>
          <p:spPr bwMode="auto">
            <a:xfrm>
              <a:off x="3009"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10</a:t>
              </a:r>
              <a:endParaRPr lang="en-US" altLang="en-US" dirty="0"/>
            </a:p>
          </p:txBody>
        </p:sp>
        <p:sp>
          <p:nvSpPr>
            <p:cNvPr id="43" name="Rectangle 41"/>
            <p:cNvSpPr>
              <a:spLocks noChangeArrowheads="1"/>
            </p:cNvSpPr>
            <p:nvPr/>
          </p:nvSpPr>
          <p:spPr bwMode="auto">
            <a:xfrm>
              <a:off x="2932" y="3792"/>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$60k</a:t>
              </a:r>
              <a:endParaRPr lang="en-US" altLang="en-US" sz="1700" dirty="0"/>
            </a:p>
          </p:txBody>
        </p:sp>
        <p:sp>
          <p:nvSpPr>
            <p:cNvPr id="44" name="Line 42"/>
            <p:cNvSpPr>
              <a:spLocks noChangeShapeType="1"/>
            </p:cNvSpPr>
            <p:nvPr/>
          </p:nvSpPr>
          <p:spPr bwMode="auto">
            <a:xfrm>
              <a:off x="4315"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Rectangle 43"/>
            <p:cNvSpPr>
              <a:spLocks noChangeArrowheads="1"/>
            </p:cNvSpPr>
            <p:nvPr/>
          </p:nvSpPr>
          <p:spPr bwMode="auto">
            <a:xfrm>
              <a:off x="4234"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15</a:t>
              </a:r>
              <a:endParaRPr lang="en-US" altLang="en-US" dirty="0"/>
            </a:p>
          </p:txBody>
        </p:sp>
        <p:sp>
          <p:nvSpPr>
            <p:cNvPr id="46" name="Rectangle 44"/>
            <p:cNvSpPr>
              <a:spLocks noChangeArrowheads="1"/>
            </p:cNvSpPr>
            <p:nvPr/>
          </p:nvSpPr>
          <p:spPr bwMode="auto">
            <a:xfrm>
              <a:off x="4119" y="3792"/>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$101k</a:t>
              </a:r>
              <a:endParaRPr lang="en-US" altLang="en-US" sz="1700" dirty="0"/>
            </a:p>
          </p:txBody>
        </p:sp>
        <p:sp>
          <p:nvSpPr>
            <p:cNvPr id="48" name="Line 45"/>
            <p:cNvSpPr>
              <a:spLocks noChangeShapeType="1"/>
            </p:cNvSpPr>
            <p:nvPr/>
          </p:nvSpPr>
          <p:spPr bwMode="auto">
            <a:xfrm>
              <a:off x="5540"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 name="Rectangle 46"/>
            <p:cNvSpPr>
              <a:spLocks noChangeArrowheads="1"/>
            </p:cNvSpPr>
            <p:nvPr/>
          </p:nvSpPr>
          <p:spPr bwMode="auto">
            <a:xfrm>
              <a:off x="5460"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20</a:t>
              </a:r>
              <a:endParaRPr lang="en-US" altLang="en-US" dirty="0"/>
            </a:p>
          </p:txBody>
        </p:sp>
        <p:sp>
          <p:nvSpPr>
            <p:cNvPr id="50" name="Rectangle 47"/>
            <p:cNvSpPr>
              <a:spLocks noChangeArrowheads="1"/>
            </p:cNvSpPr>
            <p:nvPr/>
          </p:nvSpPr>
          <p:spPr bwMode="auto">
            <a:xfrm>
              <a:off x="5345" y="3792"/>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$683k</a:t>
              </a:r>
              <a:endParaRPr lang="en-US" altLang="en-US" sz="1700" dirty="0"/>
            </a:p>
          </p:txBody>
        </p:sp>
        <p:sp>
          <p:nvSpPr>
            <p:cNvPr id="51" name="Rectangle 48"/>
            <p:cNvSpPr>
              <a:spLocks noChangeArrowheads="1"/>
            </p:cNvSpPr>
            <p:nvPr/>
          </p:nvSpPr>
          <p:spPr bwMode="auto">
            <a:xfrm>
              <a:off x="2238" y="3966"/>
              <a:ext cx="16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Household Income Ventile</a:t>
              </a:r>
              <a:endParaRPr lang="en-US" altLang="en-US" dirty="0"/>
            </a:p>
          </p:txBody>
        </p:sp>
        <p:sp>
          <p:nvSpPr>
            <p:cNvPr id="52" name="Rectangle 49"/>
            <p:cNvSpPr>
              <a:spLocks noChangeArrowheads="1"/>
            </p:cNvSpPr>
            <p:nvPr/>
          </p:nvSpPr>
          <p:spPr bwMode="auto">
            <a:xfrm>
              <a:off x="3062" y="191"/>
              <a:ext cx="5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dirty="0">
                  <a:solidFill>
                    <a:srgbClr val="1E2D53"/>
                  </a:solidFill>
                </a:rPr>
                <a:t> </a:t>
              </a:r>
              <a:endParaRPr lang="en-US" altLang="en-US" dirty="0"/>
            </a:p>
          </p:txBody>
        </p:sp>
      </p:grpSp>
      <p:sp>
        <p:nvSpPr>
          <p:cNvPr id="47" name="TextBox 46"/>
          <p:cNvSpPr txBox="1"/>
          <p:nvPr/>
        </p:nvSpPr>
        <p:spPr>
          <a:xfrm>
            <a:off x="2182022" y="115672"/>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Race-Adjusted Expected Age at Death vs. Household Income </a:t>
            </a:r>
          </a:p>
          <a:p>
            <a:pPr algn="ctr"/>
            <a:r>
              <a:rPr lang="en-US" b="1" dirty="0">
                <a:solidFill>
                  <a:srgbClr val="002060"/>
                </a:solidFill>
                <a:latin typeface="Arial" panose="020B0604020202020204" pitchFamily="34" charset="0"/>
                <a:cs typeface="Arial" panose="020B0604020202020204" pitchFamily="34" charset="0"/>
              </a:rPr>
              <a:t>for Men in Selected Major Cities</a:t>
            </a:r>
          </a:p>
        </p:txBody>
      </p:sp>
    </p:spTree>
    <p:extLst>
      <p:ext uri="{BB962C8B-B14F-4D97-AF65-F5344CB8AC3E}">
        <p14:creationId xmlns:p14="http://schemas.microsoft.com/office/powerpoint/2010/main" val="3585592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p:cNvGrpSpPr>
            <a:grpSpLocks noChangeAspect="1"/>
          </p:cNvGrpSpPr>
          <p:nvPr/>
        </p:nvGrpSpPr>
        <p:grpSpPr bwMode="auto">
          <a:xfrm>
            <a:off x="1524000" y="103191"/>
            <a:ext cx="9144000" cy="6651625"/>
            <a:chOff x="0" y="65"/>
            <a:chExt cx="5760" cy="4190"/>
          </a:xfrm>
        </p:grpSpPr>
        <p:sp>
          <p:nvSpPr>
            <p:cNvPr id="4" name="AutoShape 3"/>
            <p:cNvSpPr>
              <a:spLocks noChangeAspect="1" noChangeArrowheads="1" noTextEdit="1"/>
            </p:cNvSpPr>
            <p:nvPr/>
          </p:nvSpPr>
          <p:spPr bwMode="auto">
            <a:xfrm>
              <a:off x="0" y="65"/>
              <a:ext cx="5760" cy="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Rectangle 7"/>
            <p:cNvSpPr>
              <a:spLocks noChangeArrowheads="1"/>
            </p:cNvSpPr>
            <p:nvPr/>
          </p:nvSpPr>
          <p:spPr bwMode="auto">
            <a:xfrm>
              <a:off x="548" y="449"/>
              <a:ext cx="5083" cy="3069"/>
            </a:xfrm>
            <a:prstGeom prst="rect">
              <a:avLst/>
            </a:prstGeom>
            <a:solidFill>
              <a:srgbClr val="FFFFFF"/>
            </a:solidFill>
            <a:ln w="11113">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Line 8"/>
            <p:cNvSpPr>
              <a:spLocks noChangeShapeType="1"/>
            </p:cNvSpPr>
            <p:nvPr/>
          </p:nvSpPr>
          <p:spPr bwMode="auto">
            <a:xfrm>
              <a:off x="548" y="2705"/>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Line 9"/>
            <p:cNvSpPr>
              <a:spLocks noChangeShapeType="1"/>
            </p:cNvSpPr>
            <p:nvPr/>
          </p:nvSpPr>
          <p:spPr bwMode="auto">
            <a:xfrm>
              <a:off x="548" y="1982"/>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 name="Line 10"/>
            <p:cNvSpPr>
              <a:spLocks noChangeShapeType="1"/>
            </p:cNvSpPr>
            <p:nvPr/>
          </p:nvSpPr>
          <p:spPr bwMode="auto">
            <a:xfrm>
              <a:off x="548" y="1263"/>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Line 11"/>
            <p:cNvSpPr>
              <a:spLocks noChangeShapeType="1"/>
            </p:cNvSpPr>
            <p:nvPr/>
          </p:nvSpPr>
          <p:spPr bwMode="auto">
            <a:xfrm>
              <a:off x="548" y="540"/>
              <a:ext cx="5083" cy="0"/>
            </a:xfrm>
            <a:prstGeom prst="line">
              <a:avLst/>
            </a:prstGeom>
            <a:noFill/>
            <a:ln w="22225">
              <a:solidFill>
                <a:srgbClr val="EAF2F3"/>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p:nvSpPr>
          <p:spPr bwMode="auto">
            <a:xfrm>
              <a:off x="887" y="711"/>
              <a:ext cx="4653" cy="754"/>
            </a:xfrm>
            <a:custGeom>
              <a:avLst/>
              <a:gdLst>
                <a:gd name="T0" fmla="*/ 0 w 1333"/>
                <a:gd name="T1" fmla="*/ 216 h 216"/>
                <a:gd name="T2" fmla="*/ 70 w 1333"/>
                <a:gd name="T3" fmla="*/ 176 h 216"/>
                <a:gd name="T4" fmla="*/ 140 w 1333"/>
                <a:gd name="T5" fmla="*/ 200 h 216"/>
                <a:gd name="T6" fmla="*/ 210 w 1333"/>
                <a:gd name="T7" fmla="*/ 198 h 216"/>
                <a:gd name="T8" fmla="*/ 280 w 1333"/>
                <a:gd name="T9" fmla="*/ 184 h 216"/>
                <a:gd name="T10" fmla="*/ 350 w 1333"/>
                <a:gd name="T11" fmla="*/ 189 h 216"/>
                <a:gd name="T12" fmla="*/ 421 w 1333"/>
                <a:gd name="T13" fmla="*/ 177 h 216"/>
                <a:gd name="T14" fmla="*/ 491 w 1333"/>
                <a:gd name="T15" fmla="*/ 175 h 216"/>
                <a:gd name="T16" fmla="*/ 561 w 1333"/>
                <a:gd name="T17" fmla="*/ 166 h 216"/>
                <a:gd name="T18" fmla="*/ 631 w 1333"/>
                <a:gd name="T19" fmla="*/ 182 h 216"/>
                <a:gd name="T20" fmla="*/ 701 w 1333"/>
                <a:gd name="T21" fmla="*/ 160 h 216"/>
                <a:gd name="T22" fmla="*/ 771 w 1333"/>
                <a:gd name="T23" fmla="*/ 145 h 216"/>
                <a:gd name="T24" fmla="*/ 842 w 1333"/>
                <a:gd name="T25" fmla="*/ 149 h 216"/>
                <a:gd name="T26" fmla="*/ 912 w 1333"/>
                <a:gd name="T27" fmla="*/ 145 h 216"/>
                <a:gd name="T28" fmla="*/ 982 w 1333"/>
                <a:gd name="T29" fmla="*/ 113 h 216"/>
                <a:gd name="T30" fmla="*/ 1052 w 1333"/>
                <a:gd name="T31" fmla="*/ 107 h 216"/>
                <a:gd name="T32" fmla="*/ 1122 w 1333"/>
                <a:gd name="T33" fmla="*/ 88 h 216"/>
                <a:gd name="T34" fmla="*/ 1192 w 1333"/>
                <a:gd name="T35" fmla="*/ 75 h 216"/>
                <a:gd name="T36" fmla="*/ 1262 w 1333"/>
                <a:gd name="T37" fmla="*/ 19 h 216"/>
                <a:gd name="T38" fmla="*/ 1333 w 1333"/>
                <a:gd name="T39"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216">
                  <a:moveTo>
                    <a:pt x="0" y="216"/>
                  </a:moveTo>
                  <a:lnTo>
                    <a:pt x="70" y="176"/>
                  </a:lnTo>
                  <a:lnTo>
                    <a:pt x="140" y="200"/>
                  </a:lnTo>
                  <a:lnTo>
                    <a:pt x="210" y="198"/>
                  </a:lnTo>
                  <a:lnTo>
                    <a:pt x="280" y="184"/>
                  </a:lnTo>
                  <a:lnTo>
                    <a:pt x="350" y="189"/>
                  </a:lnTo>
                  <a:lnTo>
                    <a:pt x="421" y="177"/>
                  </a:lnTo>
                  <a:lnTo>
                    <a:pt x="491" y="175"/>
                  </a:lnTo>
                  <a:lnTo>
                    <a:pt x="561" y="166"/>
                  </a:lnTo>
                  <a:lnTo>
                    <a:pt x="631" y="182"/>
                  </a:lnTo>
                  <a:lnTo>
                    <a:pt x="701" y="160"/>
                  </a:lnTo>
                  <a:lnTo>
                    <a:pt x="771" y="145"/>
                  </a:lnTo>
                  <a:lnTo>
                    <a:pt x="842" y="149"/>
                  </a:lnTo>
                  <a:lnTo>
                    <a:pt x="912" y="145"/>
                  </a:lnTo>
                  <a:lnTo>
                    <a:pt x="982" y="113"/>
                  </a:lnTo>
                  <a:lnTo>
                    <a:pt x="1052" y="107"/>
                  </a:lnTo>
                  <a:lnTo>
                    <a:pt x="1122" y="88"/>
                  </a:lnTo>
                  <a:lnTo>
                    <a:pt x="1192" y="75"/>
                  </a:lnTo>
                  <a:lnTo>
                    <a:pt x="1262" y="19"/>
                  </a:lnTo>
                  <a:lnTo>
                    <a:pt x="1333" y="0"/>
                  </a:lnTo>
                </a:path>
              </a:pathLst>
            </a:custGeom>
            <a:noFill/>
            <a:ln w="22225">
              <a:solidFill>
                <a:srgbClr val="1A476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p:nvSpPr>
          <p:spPr bwMode="auto">
            <a:xfrm>
              <a:off x="887" y="788"/>
              <a:ext cx="4653" cy="799"/>
            </a:xfrm>
            <a:custGeom>
              <a:avLst/>
              <a:gdLst>
                <a:gd name="T0" fmla="*/ 0 w 1333"/>
                <a:gd name="T1" fmla="*/ 229 h 229"/>
                <a:gd name="T2" fmla="*/ 70 w 1333"/>
                <a:gd name="T3" fmla="*/ 206 h 229"/>
                <a:gd name="T4" fmla="*/ 140 w 1333"/>
                <a:gd name="T5" fmla="*/ 223 h 229"/>
                <a:gd name="T6" fmla="*/ 210 w 1333"/>
                <a:gd name="T7" fmla="*/ 205 h 229"/>
                <a:gd name="T8" fmla="*/ 280 w 1333"/>
                <a:gd name="T9" fmla="*/ 229 h 229"/>
                <a:gd name="T10" fmla="*/ 350 w 1333"/>
                <a:gd name="T11" fmla="*/ 217 h 229"/>
                <a:gd name="T12" fmla="*/ 421 w 1333"/>
                <a:gd name="T13" fmla="*/ 193 h 229"/>
                <a:gd name="T14" fmla="*/ 491 w 1333"/>
                <a:gd name="T15" fmla="*/ 185 h 229"/>
                <a:gd name="T16" fmla="*/ 561 w 1333"/>
                <a:gd name="T17" fmla="*/ 149 h 229"/>
                <a:gd name="T18" fmla="*/ 631 w 1333"/>
                <a:gd name="T19" fmla="*/ 185 h 229"/>
                <a:gd name="T20" fmla="*/ 701 w 1333"/>
                <a:gd name="T21" fmla="*/ 158 h 229"/>
                <a:gd name="T22" fmla="*/ 771 w 1333"/>
                <a:gd name="T23" fmla="*/ 145 h 229"/>
                <a:gd name="T24" fmla="*/ 842 w 1333"/>
                <a:gd name="T25" fmla="*/ 132 h 229"/>
                <a:gd name="T26" fmla="*/ 912 w 1333"/>
                <a:gd name="T27" fmla="*/ 128 h 229"/>
                <a:gd name="T28" fmla="*/ 982 w 1333"/>
                <a:gd name="T29" fmla="*/ 121 h 229"/>
                <a:gd name="T30" fmla="*/ 1052 w 1333"/>
                <a:gd name="T31" fmla="*/ 106 h 229"/>
                <a:gd name="T32" fmla="*/ 1122 w 1333"/>
                <a:gd name="T33" fmla="*/ 98 h 229"/>
                <a:gd name="T34" fmla="*/ 1192 w 1333"/>
                <a:gd name="T35" fmla="*/ 49 h 229"/>
                <a:gd name="T36" fmla="*/ 1262 w 1333"/>
                <a:gd name="T37" fmla="*/ 27 h 229"/>
                <a:gd name="T38" fmla="*/ 1333 w 1333"/>
                <a:gd name="T39"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229">
                  <a:moveTo>
                    <a:pt x="0" y="229"/>
                  </a:moveTo>
                  <a:lnTo>
                    <a:pt x="70" y="206"/>
                  </a:lnTo>
                  <a:lnTo>
                    <a:pt x="140" y="223"/>
                  </a:lnTo>
                  <a:lnTo>
                    <a:pt x="210" y="205"/>
                  </a:lnTo>
                  <a:lnTo>
                    <a:pt x="280" y="229"/>
                  </a:lnTo>
                  <a:lnTo>
                    <a:pt x="350" y="217"/>
                  </a:lnTo>
                  <a:lnTo>
                    <a:pt x="421" y="193"/>
                  </a:lnTo>
                  <a:lnTo>
                    <a:pt x="491" y="185"/>
                  </a:lnTo>
                  <a:lnTo>
                    <a:pt x="561" y="149"/>
                  </a:lnTo>
                  <a:lnTo>
                    <a:pt x="631" y="185"/>
                  </a:lnTo>
                  <a:lnTo>
                    <a:pt x="701" y="158"/>
                  </a:lnTo>
                  <a:lnTo>
                    <a:pt x="771" y="145"/>
                  </a:lnTo>
                  <a:lnTo>
                    <a:pt x="842" y="132"/>
                  </a:lnTo>
                  <a:lnTo>
                    <a:pt x="912" y="128"/>
                  </a:lnTo>
                  <a:lnTo>
                    <a:pt x="982" y="121"/>
                  </a:lnTo>
                  <a:lnTo>
                    <a:pt x="1052" y="106"/>
                  </a:lnTo>
                  <a:lnTo>
                    <a:pt x="1122" y="98"/>
                  </a:lnTo>
                  <a:lnTo>
                    <a:pt x="1192" y="49"/>
                  </a:lnTo>
                  <a:lnTo>
                    <a:pt x="1262" y="27"/>
                  </a:lnTo>
                  <a:lnTo>
                    <a:pt x="1333" y="0"/>
                  </a:lnTo>
                </a:path>
              </a:pathLst>
            </a:custGeom>
            <a:noFill/>
            <a:ln w="22225">
              <a:solidFill>
                <a:srgbClr val="90353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p:nvSpPr>
          <p:spPr bwMode="auto">
            <a:xfrm>
              <a:off x="887" y="711"/>
              <a:ext cx="4653" cy="1131"/>
            </a:xfrm>
            <a:custGeom>
              <a:avLst/>
              <a:gdLst>
                <a:gd name="T0" fmla="*/ 0 w 1333"/>
                <a:gd name="T1" fmla="*/ 324 h 324"/>
                <a:gd name="T2" fmla="*/ 70 w 1333"/>
                <a:gd name="T3" fmla="*/ 296 h 324"/>
                <a:gd name="T4" fmla="*/ 140 w 1333"/>
                <a:gd name="T5" fmla="*/ 265 h 324"/>
                <a:gd name="T6" fmla="*/ 210 w 1333"/>
                <a:gd name="T7" fmla="*/ 269 h 324"/>
                <a:gd name="T8" fmla="*/ 280 w 1333"/>
                <a:gd name="T9" fmla="*/ 254 h 324"/>
                <a:gd name="T10" fmla="*/ 350 w 1333"/>
                <a:gd name="T11" fmla="*/ 262 h 324"/>
                <a:gd name="T12" fmla="*/ 421 w 1333"/>
                <a:gd name="T13" fmla="*/ 217 h 324"/>
                <a:gd name="T14" fmla="*/ 491 w 1333"/>
                <a:gd name="T15" fmla="*/ 186 h 324"/>
                <a:gd name="T16" fmla="*/ 561 w 1333"/>
                <a:gd name="T17" fmla="*/ 233 h 324"/>
                <a:gd name="T18" fmla="*/ 631 w 1333"/>
                <a:gd name="T19" fmla="*/ 176 h 324"/>
                <a:gd name="T20" fmla="*/ 701 w 1333"/>
                <a:gd name="T21" fmla="*/ 144 h 324"/>
                <a:gd name="T22" fmla="*/ 771 w 1333"/>
                <a:gd name="T23" fmla="*/ 151 h 324"/>
                <a:gd name="T24" fmla="*/ 842 w 1333"/>
                <a:gd name="T25" fmla="*/ 128 h 324"/>
                <a:gd name="T26" fmla="*/ 912 w 1333"/>
                <a:gd name="T27" fmla="*/ 146 h 324"/>
                <a:gd name="T28" fmla="*/ 982 w 1333"/>
                <a:gd name="T29" fmla="*/ 120 h 324"/>
                <a:gd name="T30" fmla="*/ 1052 w 1333"/>
                <a:gd name="T31" fmla="*/ 93 h 324"/>
                <a:gd name="T32" fmla="*/ 1122 w 1333"/>
                <a:gd name="T33" fmla="*/ 66 h 324"/>
                <a:gd name="T34" fmla="*/ 1192 w 1333"/>
                <a:gd name="T35" fmla="*/ 53 h 324"/>
                <a:gd name="T36" fmla="*/ 1262 w 1333"/>
                <a:gd name="T37" fmla="*/ 18 h 324"/>
                <a:gd name="T38" fmla="*/ 1333 w 1333"/>
                <a:gd name="T39"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324">
                  <a:moveTo>
                    <a:pt x="0" y="324"/>
                  </a:moveTo>
                  <a:lnTo>
                    <a:pt x="70" y="296"/>
                  </a:lnTo>
                  <a:lnTo>
                    <a:pt x="140" y="265"/>
                  </a:lnTo>
                  <a:lnTo>
                    <a:pt x="210" y="269"/>
                  </a:lnTo>
                  <a:lnTo>
                    <a:pt x="280" y="254"/>
                  </a:lnTo>
                  <a:lnTo>
                    <a:pt x="350" y="262"/>
                  </a:lnTo>
                  <a:lnTo>
                    <a:pt x="421" y="217"/>
                  </a:lnTo>
                  <a:lnTo>
                    <a:pt x="491" y="186"/>
                  </a:lnTo>
                  <a:lnTo>
                    <a:pt x="561" y="233"/>
                  </a:lnTo>
                  <a:lnTo>
                    <a:pt x="631" y="176"/>
                  </a:lnTo>
                  <a:lnTo>
                    <a:pt x="701" y="144"/>
                  </a:lnTo>
                  <a:lnTo>
                    <a:pt x="771" y="151"/>
                  </a:lnTo>
                  <a:lnTo>
                    <a:pt x="842" y="128"/>
                  </a:lnTo>
                  <a:lnTo>
                    <a:pt x="912" y="146"/>
                  </a:lnTo>
                  <a:lnTo>
                    <a:pt x="982" y="120"/>
                  </a:lnTo>
                  <a:lnTo>
                    <a:pt x="1052" y="93"/>
                  </a:lnTo>
                  <a:lnTo>
                    <a:pt x="1122" y="66"/>
                  </a:lnTo>
                  <a:lnTo>
                    <a:pt x="1192" y="53"/>
                  </a:lnTo>
                  <a:lnTo>
                    <a:pt x="1262" y="18"/>
                  </a:lnTo>
                  <a:lnTo>
                    <a:pt x="1333" y="0"/>
                  </a:lnTo>
                </a:path>
              </a:pathLst>
            </a:custGeom>
            <a:noFill/>
            <a:ln w="22225">
              <a:solidFill>
                <a:srgbClr val="55752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p:nvSpPr>
          <p:spPr bwMode="auto">
            <a:xfrm>
              <a:off x="887" y="735"/>
              <a:ext cx="4653" cy="1474"/>
            </a:xfrm>
            <a:custGeom>
              <a:avLst/>
              <a:gdLst>
                <a:gd name="T0" fmla="*/ 0 w 1333"/>
                <a:gd name="T1" fmla="*/ 422 h 422"/>
                <a:gd name="T2" fmla="*/ 70 w 1333"/>
                <a:gd name="T3" fmla="*/ 354 h 422"/>
                <a:gd name="T4" fmla="*/ 140 w 1333"/>
                <a:gd name="T5" fmla="*/ 331 h 422"/>
                <a:gd name="T6" fmla="*/ 210 w 1333"/>
                <a:gd name="T7" fmla="*/ 302 h 422"/>
                <a:gd name="T8" fmla="*/ 280 w 1333"/>
                <a:gd name="T9" fmla="*/ 293 h 422"/>
                <a:gd name="T10" fmla="*/ 350 w 1333"/>
                <a:gd name="T11" fmla="*/ 239 h 422"/>
                <a:gd name="T12" fmla="*/ 421 w 1333"/>
                <a:gd name="T13" fmla="*/ 224 h 422"/>
                <a:gd name="T14" fmla="*/ 491 w 1333"/>
                <a:gd name="T15" fmla="*/ 197 h 422"/>
                <a:gd name="T16" fmla="*/ 561 w 1333"/>
                <a:gd name="T17" fmla="*/ 181 h 422"/>
                <a:gd name="T18" fmla="*/ 631 w 1333"/>
                <a:gd name="T19" fmla="*/ 168 h 422"/>
                <a:gd name="T20" fmla="*/ 701 w 1333"/>
                <a:gd name="T21" fmla="*/ 147 h 422"/>
                <a:gd name="T22" fmla="*/ 771 w 1333"/>
                <a:gd name="T23" fmla="*/ 126 h 422"/>
                <a:gd name="T24" fmla="*/ 842 w 1333"/>
                <a:gd name="T25" fmla="*/ 136 h 422"/>
                <a:gd name="T26" fmla="*/ 912 w 1333"/>
                <a:gd name="T27" fmla="*/ 108 h 422"/>
                <a:gd name="T28" fmla="*/ 982 w 1333"/>
                <a:gd name="T29" fmla="*/ 105 h 422"/>
                <a:gd name="T30" fmla="*/ 1052 w 1333"/>
                <a:gd name="T31" fmla="*/ 100 h 422"/>
                <a:gd name="T32" fmla="*/ 1122 w 1333"/>
                <a:gd name="T33" fmla="*/ 78 h 422"/>
                <a:gd name="T34" fmla="*/ 1192 w 1333"/>
                <a:gd name="T35" fmla="*/ 70 h 422"/>
                <a:gd name="T36" fmla="*/ 1262 w 1333"/>
                <a:gd name="T37" fmla="*/ 38 h 422"/>
                <a:gd name="T38" fmla="*/ 1333 w 1333"/>
                <a:gd name="T39"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3" h="422">
                  <a:moveTo>
                    <a:pt x="0" y="422"/>
                  </a:moveTo>
                  <a:lnTo>
                    <a:pt x="70" y="354"/>
                  </a:lnTo>
                  <a:lnTo>
                    <a:pt x="140" y="331"/>
                  </a:lnTo>
                  <a:lnTo>
                    <a:pt x="210" y="302"/>
                  </a:lnTo>
                  <a:lnTo>
                    <a:pt x="280" y="293"/>
                  </a:lnTo>
                  <a:lnTo>
                    <a:pt x="350" y="239"/>
                  </a:lnTo>
                  <a:lnTo>
                    <a:pt x="421" y="224"/>
                  </a:lnTo>
                  <a:lnTo>
                    <a:pt x="491" y="197"/>
                  </a:lnTo>
                  <a:lnTo>
                    <a:pt x="561" y="181"/>
                  </a:lnTo>
                  <a:lnTo>
                    <a:pt x="631" y="168"/>
                  </a:lnTo>
                  <a:lnTo>
                    <a:pt x="701" y="147"/>
                  </a:lnTo>
                  <a:lnTo>
                    <a:pt x="771" y="126"/>
                  </a:lnTo>
                  <a:lnTo>
                    <a:pt x="842" y="136"/>
                  </a:lnTo>
                  <a:lnTo>
                    <a:pt x="912" y="108"/>
                  </a:lnTo>
                  <a:lnTo>
                    <a:pt x="982" y="105"/>
                  </a:lnTo>
                  <a:lnTo>
                    <a:pt x="1052" y="100"/>
                  </a:lnTo>
                  <a:lnTo>
                    <a:pt x="1122" y="78"/>
                  </a:lnTo>
                  <a:lnTo>
                    <a:pt x="1192" y="70"/>
                  </a:lnTo>
                  <a:lnTo>
                    <a:pt x="1262" y="38"/>
                  </a:lnTo>
                  <a:lnTo>
                    <a:pt x="1333" y="0"/>
                  </a:lnTo>
                </a:path>
              </a:pathLst>
            </a:custGeom>
            <a:noFill/>
            <a:ln w="22225">
              <a:solidFill>
                <a:srgbClr val="E37E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Rectangle 16"/>
            <p:cNvSpPr>
              <a:spLocks noChangeArrowheads="1"/>
            </p:cNvSpPr>
            <p:nvPr/>
          </p:nvSpPr>
          <p:spPr bwMode="auto">
            <a:xfrm>
              <a:off x="586" y="1189"/>
              <a:ext cx="70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1A476F"/>
                  </a:solidFill>
                </a:rPr>
                <a:t>New York City</a:t>
              </a:r>
              <a:endParaRPr lang="en-US" altLang="en-US" dirty="0"/>
            </a:p>
          </p:txBody>
        </p:sp>
        <p:sp>
          <p:nvSpPr>
            <p:cNvPr id="17" name="Rectangle 17"/>
            <p:cNvSpPr>
              <a:spLocks noChangeArrowheads="1"/>
            </p:cNvSpPr>
            <p:nvPr/>
          </p:nvSpPr>
          <p:spPr bwMode="auto">
            <a:xfrm>
              <a:off x="573" y="1577"/>
              <a:ext cx="72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90353B"/>
                  </a:solidFill>
                </a:rPr>
                <a:t>San Francisco</a:t>
              </a:r>
              <a:endParaRPr lang="en-US" altLang="en-US" dirty="0"/>
            </a:p>
          </p:txBody>
        </p:sp>
        <p:sp>
          <p:nvSpPr>
            <p:cNvPr id="18" name="Rectangle 18"/>
            <p:cNvSpPr>
              <a:spLocks noChangeArrowheads="1"/>
            </p:cNvSpPr>
            <p:nvPr/>
          </p:nvSpPr>
          <p:spPr bwMode="auto">
            <a:xfrm>
              <a:off x="583" y="1849"/>
              <a:ext cx="3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55752F"/>
                  </a:solidFill>
                </a:rPr>
                <a:t>Dallas</a:t>
              </a:r>
              <a:endParaRPr lang="en-US" altLang="en-US" dirty="0"/>
            </a:p>
          </p:txBody>
        </p:sp>
        <p:sp>
          <p:nvSpPr>
            <p:cNvPr id="19" name="Rectangle 19"/>
            <p:cNvSpPr>
              <a:spLocks noChangeArrowheads="1"/>
            </p:cNvSpPr>
            <p:nvPr/>
          </p:nvSpPr>
          <p:spPr bwMode="auto">
            <a:xfrm>
              <a:off x="579" y="2244"/>
              <a:ext cx="3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E37E00"/>
                  </a:solidFill>
                </a:rPr>
                <a:t>Detroit</a:t>
              </a:r>
              <a:endParaRPr lang="en-US" altLang="en-US" dirty="0"/>
            </a:p>
          </p:txBody>
        </p:sp>
        <p:sp>
          <p:nvSpPr>
            <p:cNvPr id="20" name="Line 20"/>
            <p:cNvSpPr>
              <a:spLocks noChangeShapeType="1"/>
            </p:cNvSpPr>
            <p:nvPr/>
          </p:nvSpPr>
          <p:spPr bwMode="auto">
            <a:xfrm flipV="1">
              <a:off x="548" y="449"/>
              <a:ext cx="0" cy="306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 name="Line 21"/>
            <p:cNvSpPr>
              <a:spLocks noChangeShapeType="1"/>
            </p:cNvSpPr>
            <p:nvPr/>
          </p:nvSpPr>
          <p:spPr bwMode="auto">
            <a:xfrm flipH="1">
              <a:off x="492" y="3427"/>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 name="Rectangle 22"/>
            <p:cNvSpPr>
              <a:spLocks noChangeArrowheads="1"/>
            </p:cNvSpPr>
            <p:nvPr/>
          </p:nvSpPr>
          <p:spPr bwMode="auto">
            <a:xfrm rot="16200000">
              <a:off x="314" y="3304"/>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70</a:t>
              </a:r>
              <a:endParaRPr lang="en-US" altLang="en-US" dirty="0"/>
            </a:p>
          </p:txBody>
        </p:sp>
        <p:sp>
          <p:nvSpPr>
            <p:cNvPr id="23" name="Line 23"/>
            <p:cNvSpPr>
              <a:spLocks noChangeShapeType="1"/>
            </p:cNvSpPr>
            <p:nvPr/>
          </p:nvSpPr>
          <p:spPr bwMode="auto">
            <a:xfrm flipH="1">
              <a:off x="492" y="2705"/>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4" name="Rectangle 24"/>
            <p:cNvSpPr>
              <a:spLocks noChangeArrowheads="1"/>
            </p:cNvSpPr>
            <p:nvPr/>
          </p:nvSpPr>
          <p:spPr bwMode="auto">
            <a:xfrm rot="16200000">
              <a:off x="314" y="2581"/>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75</a:t>
              </a:r>
              <a:endParaRPr lang="en-US" altLang="en-US" dirty="0"/>
            </a:p>
          </p:txBody>
        </p:sp>
        <p:sp>
          <p:nvSpPr>
            <p:cNvPr id="25" name="Line 25"/>
            <p:cNvSpPr>
              <a:spLocks noChangeShapeType="1"/>
            </p:cNvSpPr>
            <p:nvPr/>
          </p:nvSpPr>
          <p:spPr bwMode="auto">
            <a:xfrm flipH="1">
              <a:off x="492" y="1982"/>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6" name="Rectangle 26"/>
            <p:cNvSpPr>
              <a:spLocks noChangeArrowheads="1"/>
            </p:cNvSpPr>
            <p:nvPr/>
          </p:nvSpPr>
          <p:spPr bwMode="auto">
            <a:xfrm rot="16200000">
              <a:off x="314" y="1858"/>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80</a:t>
              </a:r>
              <a:endParaRPr lang="en-US" altLang="en-US" dirty="0"/>
            </a:p>
          </p:txBody>
        </p:sp>
        <p:sp>
          <p:nvSpPr>
            <p:cNvPr id="27" name="Line 27"/>
            <p:cNvSpPr>
              <a:spLocks noChangeShapeType="1"/>
            </p:cNvSpPr>
            <p:nvPr/>
          </p:nvSpPr>
          <p:spPr bwMode="auto">
            <a:xfrm flipH="1">
              <a:off x="492" y="1263"/>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8" name="Rectangle 28"/>
            <p:cNvSpPr>
              <a:spLocks noChangeArrowheads="1"/>
            </p:cNvSpPr>
            <p:nvPr/>
          </p:nvSpPr>
          <p:spPr bwMode="auto">
            <a:xfrm rot="16200000">
              <a:off x="314" y="1139"/>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85</a:t>
              </a:r>
              <a:endParaRPr lang="en-US" altLang="en-US" dirty="0"/>
            </a:p>
          </p:txBody>
        </p:sp>
        <p:sp>
          <p:nvSpPr>
            <p:cNvPr id="29" name="Line 29"/>
            <p:cNvSpPr>
              <a:spLocks noChangeShapeType="1"/>
            </p:cNvSpPr>
            <p:nvPr/>
          </p:nvSpPr>
          <p:spPr bwMode="auto">
            <a:xfrm flipH="1">
              <a:off x="492" y="540"/>
              <a:ext cx="56"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0" name="Rectangle 30"/>
            <p:cNvSpPr>
              <a:spLocks noChangeArrowheads="1"/>
            </p:cNvSpPr>
            <p:nvPr/>
          </p:nvSpPr>
          <p:spPr bwMode="auto">
            <a:xfrm rot="16200000">
              <a:off x="314" y="415"/>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90</a:t>
              </a:r>
              <a:endParaRPr lang="en-US" altLang="en-US" dirty="0"/>
            </a:p>
          </p:txBody>
        </p:sp>
        <p:sp>
          <p:nvSpPr>
            <p:cNvPr id="31" name="Rectangle 31"/>
            <p:cNvSpPr>
              <a:spLocks noChangeArrowheads="1"/>
            </p:cNvSpPr>
            <p:nvPr/>
          </p:nvSpPr>
          <p:spPr bwMode="auto">
            <a:xfrm rot="16200000">
              <a:off x="-1372" y="1799"/>
              <a:ext cx="31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Expected Age at Death for 40 Year Olds in Years</a:t>
              </a:r>
              <a:endParaRPr lang="en-US" altLang="en-US" dirty="0"/>
            </a:p>
          </p:txBody>
        </p:sp>
        <p:sp>
          <p:nvSpPr>
            <p:cNvPr id="32" name="Line 32"/>
            <p:cNvSpPr>
              <a:spLocks noChangeShapeType="1"/>
            </p:cNvSpPr>
            <p:nvPr/>
          </p:nvSpPr>
          <p:spPr bwMode="auto">
            <a:xfrm>
              <a:off x="548" y="3518"/>
              <a:ext cx="5083" cy="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Line 33"/>
            <p:cNvSpPr>
              <a:spLocks noChangeShapeType="1"/>
            </p:cNvSpPr>
            <p:nvPr/>
          </p:nvSpPr>
          <p:spPr bwMode="auto">
            <a:xfrm>
              <a:off x="642"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4" name="Rectangle 34"/>
            <p:cNvSpPr>
              <a:spLocks noChangeArrowheads="1"/>
            </p:cNvSpPr>
            <p:nvPr/>
          </p:nvSpPr>
          <p:spPr bwMode="auto">
            <a:xfrm>
              <a:off x="604"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0</a:t>
              </a:r>
              <a:endParaRPr lang="en-US" altLang="en-US" dirty="0"/>
            </a:p>
          </p:txBody>
        </p:sp>
        <p:sp>
          <p:nvSpPr>
            <p:cNvPr id="35" name="Line 35"/>
            <p:cNvSpPr>
              <a:spLocks noChangeShapeType="1"/>
            </p:cNvSpPr>
            <p:nvPr/>
          </p:nvSpPr>
          <p:spPr bwMode="auto">
            <a:xfrm>
              <a:off x="1864"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Rectangle 36"/>
            <p:cNvSpPr>
              <a:spLocks noChangeArrowheads="1"/>
            </p:cNvSpPr>
            <p:nvPr/>
          </p:nvSpPr>
          <p:spPr bwMode="auto">
            <a:xfrm>
              <a:off x="1826" y="3606"/>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5</a:t>
              </a:r>
              <a:endParaRPr lang="en-US" altLang="en-US" dirty="0"/>
            </a:p>
          </p:txBody>
        </p:sp>
        <p:sp>
          <p:nvSpPr>
            <p:cNvPr id="37" name="Rectangle 37"/>
            <p:cNvSpPr>
              <a:spLocks noChangeArrowheads="1"/>
            </p:cNvSpPr>
            <p:nvPr/>
          </p:nvSpPr>
          <p:spPr bwMode="auto">
            <a:xfrm>
              <a:off x="1707"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$27k</a:t>
              </a:r>
              <a:endParaRPr lang="en-US" altLang="en-US" sz="1700" dirty="0"/>
            </a:p>
          </p:txBody>
        </p:sp>
        <p:sp>
          <p:nvSpPr>
            <p:cNvPr id="38" name="Line 38"/>
            <p:cNvSpPr>
              <a:spLocks noChangeShapeType="1"/>
            </p:cNvSpPr>
            <p:nvPr/>
          </p:nvSpPr>
          <p:spPr bwMode="auto">
            <a:xfrm>
              <a:off x="3089"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Rectangle 39"/>
            <p:cNvSpPr>
              <a:spLocks noChangeArrowheads="1"/>
            </p:cNvSpPr>
            <p:nvPr/>
          </p:nvSpPr>
          <p:spPr bwMode="auto">
            <a:xfrm>
              <a:off x="3009"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10</a:t>
              </a:r>
              <a:endParaRPr lang="en-US" altLang="en-US" dirty="0"/>
            </a:p>
          </p:txBody>
        </p:sp>
        <p:sp>
          <p:nvSpPr>
            <p:cNvPr id="40" name="Rectangle 40"/>
            <p:cNvSpPr>
              <a:spLocks noChangeArrowheads="1"/>
            </p:cNvSpPr>
            <p:nvPr/>
          </p:nvSpPr>
          <p:spPr bwMode="auto">
            <a:xfrm>
              <a:off x="2932"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$54k</a:t>
              </a:r>
              <a:endParaRPr lang="en-US" altLang="en-US" sz="1700" dirty="0"/>
            </a:p>
          </p:txBody>
        </p:sp>
        <p:sp>
          <p:nvSpPr>
            <p:cNvPr id="41" name="Line 41"/>
            <p:cNvSpPr>
              <a:spLocks noChangeShapeType="1"/>
            </p:cNvSpPr>
            <p:nvPr/>
          </p:nvSpPr>
          <p:spPr bwMode="auto">
            <a:xfrm>
              <a:off x="4315"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Rectangle 42"/>
            <p:cNvSpPr>
              <a:spLocks noChangeArrowheads="1"/>
            </p:cNvSpPr>
            <p:nvPr/>
          </p:nvSpPr>
          <p:spPr bwMode="auto">
            <a:xfrm>
              <a:off x="4234"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15</a:t>
              </a:r>
              <a:endParaRPr lang="en-US" altLang="en-US" dirty="0"/>
            </a:p>
          </p:txBody>
        </p:sp>
        <p:sp>
          <p:nvSpPr>
            <p:cNvPr id="43" name="Rectangle 43"/>
            <p:cNvSpPr>
              <a:spLocks noChangeArrowheads="1"/>
            </p:cNvSpPr>
            <p:nvPr/>
          </p:nvSpPr>
          <p:spPr bwMode="auto">
            <a:xfrm>
              <a:off x="4158" y="3774"/>
              <a:ext cx="29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$95k</a:t>
              </a:r>
              <a:endParaRPr lang="en-US" altLang="en-US" sz="1700" dirty="0"/>
            </a:p>
          </p:txBody>
        </p:sp>
        <p:sp>
          <p:nvSpPr>
            <p:cNvPr id="44" name="Line 44"/>
            <p:cNvSpPr>
              <a:spLocks noChangeShapeType="1"/>
            </p:cNvSpPr>
            <p:nvPr/>
          </p:nvSpPr>
          <p:spPr bwMode="auto">
            <a:xfrm>
              <a:off x="5540" y="3518"/>
              <a:ext cx="0" cy="60"/>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Rectangle 45"/>
            <p:cNvSpPr>
              <a:spLocks noChangeArrowheads="1"/>
            </p:cNvSpPr>
            <p:nvPr/>
          </p:nvSpPr>
          <p:spPr bwMode="auto">
            <a:xfrm>
              <a:off x="5460" y="3606"/>
              <a:ext cx="1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20</a:t>
              </a:r>
              <a:endParaRPr lang="en-US" altLang="en-US" dirty="0"/>
            </a:p>
          </p:txBody>
        </p:sp>
        <p:sp>
          <p:nvSpPr>
            <p:cNvPr id="46" name="Rectangle 46"/>
            <p:cNvSpPr>
              <a:spLocks noChangeArrowheads="1"/>
            </p:cNvSpPr>
            <p:nvPr/>
          </p:nvSpPr>
          <p:spPr bwMode="auto">
            <a:xfrm>
              <a:off x="5345" y="3774"/>
              <a:ext cx="3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rPr>
                <a:t>$653k</a:t>
              </a:r>
              <a:endParaRPr lang="en-US" altLang="en-US" sz="1700" dirty="0"/>
            </a:p>
          </p:txBody>
        </p:sp>
        <p:sp>
          <p:nvSpPr>
            <p:cNvPr id="87" name="Rectangle 47"/>
            <p:cNvSpPr>
              <a:spLocks noChangeArrowheads="1"/>
            </p:cNvSpPr>
            <p:nvPr/>
          </p:nvSpPr>
          <p:spPr bwMode="auto">
            <a:xfrm>
              <a:off x="2238" y="3966"/>
              <a:ext cx="16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Household Income Ventile</a:t>
              </a:r>
              <a:endParaRPr lang="en-US" altLang="en-US" dirty="0"/>
            </a:p>
          </p:txBody>
        </p:sp>
        <p:sp>
          <p:nvSpPr>
            <p:cNvPr id="88" name="Rectangle 48"/>
            <p:cNvSpPr>
              <a:spLocks noChangeArrowheads="1"/>
            </p:cNvSpPr>
            <p:nvPr/>
          </p:nvSpPr>
          <p:spPr bwMode="auto">
            <a:xfrm>
              <a:off x="3062" y="191"/>
              <a:ext cx="5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dirty="0">
                  <a:solidFill>
                    <a:srgbClr val="1E2D53"/>
                  </a:solidFill>
                </a:rPr>
                <a:t> </a:t>
              </a:r>
              <a:endParaRPr lang="en-US" altLang="en-US" dirty="0"/>
            </a:p>
          </p:txBody>
        </p:sp>
      </p:grpSp>
      <p:sp>
        <p:nvSpPr>
          <p:cNvPr id="47" name="TextBox 46"/>
          <p:cNvSpPr txBox="1"/>
          <p:nvPr/>
        </p:nvSpPr>
        <p:spPr>
          <a:xfrm>
            <a:off x="2182022" y="115672"/>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Race-Adjusted Expected Age at Death vs. Household Income </a:t>
            </a:r>
          </a:p>
          <a:p>
            <a:pPr algn="ctr"/>
            <a:r>
              <a:rPr lang="en-US" b="1" dirty="0">
                <a:solidFill>
                  <a:srgbClr val="002060"/>
                </a:solidFill>
                <a:latin typeface="Arial" panose="020B0604020202020204" pitchFamily="34" charset="0"/>
                <a:cs typeface="Arial" panose="020B0604020202020204" pitchFamily="34" charset="0"/>
              </a:rPr>
              <a:t>for Women in Selected Major Cities</a:t>
            </a:r>
          </a:p>
        </p:txBody>
      </p:sp>
    </p:spTree>
    <p:extLst>
      <p:ext uri="{BB962C8B-B14F-4D97-AF65-F5344CB8AC3E}">
        <p14:creationId xmlns:p14="http://schemas.microsoft.com/office/powerpoint/2010/main" val="231405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762224" y="914403"/>
          <a:ext cx="8677176" cy="5445225"/>
        </p:xfrm>
        <a:graphic>
          <a:graphicData uri="http://schemas.openxmlformats.org/drawingml/2006/table">
            <a:tbl>
              <a:tblPr firstRow="1" firstCol="1" bandRow="1"/>
              <a:tblGrid>
                <a:gridCol w="752376">
                  <a:extLst>
                    <a:ext uri="{9D8B030D-6E8A-4147-A177-3AD203B41FA5}">
                      <a16:colId xmlns:a16="http://schemas.microsoft.com/office/drawing/2014/main" val="20000"/>
                    </a:ext>
                  </a:extLst>
                </a:gridCol>
                <a:gridCol w="1871229">
                  <a:extLst>
                    <a:ext uri="{9D8B030D-6E8A-4147-A177-3AD203B41FA5}">
                      <a16:colId xmlns:a16="http://schemas.microsoft.com/office/drawing/2014/main" val="20001"/>
                    </a:ext>
                  </a:extLst>
                </a:gridCol>
                <a:gridCol w="109971">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1905000">
                  <a:extLst>
                    <a:ext uri="{9D8B030D-6E8A-4147-A177-3AD203B41FA5}">
                      <a16:colId xmlns:a16="http://schemas.microsoft.com/office/drawing/2014/main" val="20006"/>
                    </a:ext>
                  </a:extLst>
                </a:gridCol>
                <a:gridCol w="1524000">
                  <a:extLst>
                    <a:ext uri="{9D8B030D-6E8A-4147-A177-3AD203B41FA5}">
                      <a16:colId xmlns:a16="http://schemas.microsoft.com/office/drawing/2014/main" val="20007"/>
                    </a:ext>
                  </a:extLst>
                </a:gridCol>
              </a:tblGrid>
              <a:tr h="152400">
                <a:tc gridSpan="2">
                  <a:txBody>
                    <a:bodyPr/>
                    <a:lstStyle/>
                    <a:p>
                      <a:endParaRPr lang="en-US" sz="1000" dirty="0">
                        <a:latin typeface="Arial" panose="020B0604020202020204" pitchFamily="34" charset="0"/>
                        <a:cs typeface="Arial" panose="020B0604020202020204" pitchFamily="34" charset="0"/>
                      </a:endParaRPr>
                    </a:p>
                  </a:txBody>
                  <a:tcPr marL="51786" marR="51786" marT="0" marB="0" anchor="ctr">
                    <a:lnL w="12700" cmpd="sng">
                      <a:solidFill>
                        <a:srgbClr val="FFFFFF"/>
                      </a:solidFill>
                    </a:lnL>
                    <a:lnR w="12700" cmpd="sng">
                      <a:solidFill>
                        <a:srgbClr val="FFFFFF"/>
                      </a:solidFill>
                    </a:lnR>
                    <a:lnT w="1905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gridSpan="6">
                  <a:txBody>
                    <a:bodyPr/>
                    <a:lstStyle>
                      <a:lvl1pPr marL="0" algn="l" defTabSz="457200" rtl="0" eaLnBrk="1" latinLnBrk="0" hangingPunct="1">
                        <a:defRPr sz="1800" b="1" kern="1200">
                          <a:solidFill>
                            <a:schemeClr val="lt1"/>
                          </a:solidFill>
                          <a:latin typeface="Arial"/>
                          <a:ea typeface="Arial"/>
                          <a:cs typeface="Arial"/>
                        </a:defRPr>
                      </a:lvl1pPr>
                      <a:lvl2pPr marL="457200" algn="l" defTabSz="457200" rtl="0" eaLnBrk="1" latinLnBrk="0" hangingPunct="1">
                        <a:defRPr sz="1800" b="1" kern="1200">
                          <a:solidFill>
                            <a:schemeClr val="lt1"/>
                          </a:solidFill>
                          <a:latin typeface="Arial"/>
                          <a:ea typeface="Arial"/>
                          <a:cs typeface="Arial"/>
                        </a:defRPr>
                      </a:lvl2pPr>
                      <a:lvl3pPr marL="914400" algn="l" defTabSz="457200" rtl="0" eaLnBrk="1" latinLnBrk="0" hangingPunct="1">
                        <a:defRPr sz="1800" b="1" kern="1200">
                          <a:solidFill>
                            <a:schemeClr val="lt1"/>
                          </a:solidFill>
                          <a:latin typeface="Arial"/>
                          <a:ea typeface="Arial"/>
                          <a:cs typeface="Arial"/>
                        </a:defRPr>
                      </a:lvl3pPr>
                      <a:lvl4pPr marL="1371600" algn="l" defTabSz="457200" rtl="0" eaLnBrk="1" latinLnBrk="0" hangingPunct="1">
                        <a:defRPr sz="1800" b="1" kern="1200">
                          <a:solidFill>
                            <a:schemeClr val="lt1"/>
                          </a:solidFill>
                          <a:latin typeface="Arial"/>
                          <a:ea typeface="Arial"/>
                          <a:cs typeface="Arial"/>
                        </a:defRPr>
                      </a:lvl4pPr>
                      <a:lvl5pPr marL="1828800" algn="l" defTabSz="457200" rtl="0" eaLnBrk="1" latinLnBrk="0" hangingPunct="1">
                        <a:defRPr sz="1800" b="1" kern="1200">
                          <a:solidFill>
                            <a:schemeClr val="lt1"/>
                          </a:solidFill>
                          <a:latin typeface="Arial"/>
                          <a:ea typeface="Arial"/>
                          <a:cs typeface="Arial"/>
                        </a:defRPr>
                      </a:lvl5pPr>
                      <a:lvl6pPr marL="2286000" algn="l" defTabSz="457200" rtl="0" eaLnBrk="1" latinLnBrk="0" hangingPunct="1">
                        <a:defRPr sz="1800" b="1" kern="1200">
                          <a:solidFill>
                            <a:schemeClr val="lt1"/>
                          </a:solidFill>
                          <a:latin typeface="Arial"/>
                          <a:ea typeface="Arial"/>
                          <a:cs typeface="Arial"/>
                        </a:defRPr>
                      </a:lvl6pPr>
                      <a:lvl7pPr marL="2743200" algn="l" defTabSz="457200" rtl="0" eaLnBrk="1" latinLnBrk="0" hangingPunct="1">
                        <a:defRPr sz="1800" b="1" kern="1200">
                          <a:solidFill>
                            <a:schemeClr val="lt1"/>
                          </a:solidFill>
                          <a:latin typeface="Arial"/>
                          <a:ea typeface="Arial"/>
                          <a:cs typeface="Arial"/>
                        </a:defRPr>
                      </a:lvl7pPr>
                      <a:lvl8pPr marL="3200400" algn="l" defTabSz="457200" rtl="0" eaLnBrk="1" latinLnBrk="0" hangingPunct="1">
                        <a:defRPr sz="1800" b="1" kern="1200">
                          <a:solidFill>
                            <a:schemeClr val="lt1"/>
                          </a:solidFill>
                          <a:latin typeface="Arial"/>
                          <a:ea typeface="Arial"/>
                          <a:cs typeface="Arial"/>
                        </a:defRPr>
                      </a:lvl8pPr>
                      <a:lvl9pPr marL="3657600" algn="l" defTabSz="457200" rtl="0" eaLnBrk="1" latinLnBrk="0" hangingPunct="1">
                        <a:defRPr sz="1800" b="1" kern="1200">
                          <a:solidFill>
                            <a:schemeClr val="lt1"/>
                          </a:solidFill>
                          <a:latin typeface="Arial"/>
                          <a:ea typeface="Arial"/>
                          <a:cs typeface="Arial"/>
                        </a:defRPr>
                      </a:lvl9pPr>
                    </a:lstStyle>
                    <a:p>
                      <a:pPr marL="0" marR="0" indent="0" algn="ctr" defTabSz="457200" rtl="0" eaLnBrk="1" fontAlgn="auto" latinLnBrk="0" hangingPunct="1">
                        <a:lnSpc>
                          <a:spcPct val="115000"/>
                        </a:lnSpc>
                        <a:spcBef>
                          <a:spcPts val="0"/>
                        </a:spcBef>
                        <a:spcAft>
                          <a:spcPts val="0"/>
                        </a:spcAft>
                        <a:buClrTx/>
                        <a:buSzTx/>
                        <a:buFontTx/>
                        <a:buNone/>
                        <a:tabLst/>
                        <a:defRPr/>
                      </a:pPr>
                      <a:endParaRPr lang="en-US" sz="1000" b="0" kern="1200" dirty="0">
                        <a:solidFill>
                          <a:schemeClr val="tx1"/>
                        </a:solidFill>
                        <a:effectLst/>
                        <a:latin typeface="Arial" panose="020B0604020202020204" pitchFamily="34" charset="0"/>
                        <a:ea typeface="Calibri"/>
                        <a:cs typeface="Arial" panose="020B0604020202020204" pitchFamily="34" charset="0"/>
                      </a:endParaRPr>
                    </a:p>
                  </a:txBody>
                  <a:tcPr marL="51786" marR="51786"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5822">
                <a:tc gridSpan="4">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600" b="1" kern="1200" dirty="0">
                          <a:solidFill>
                            <a:schemeClr val="tx1"/>
                          </a:solidFill>
                          <a:effectLst/>
                          <a:latin typeface="Arial" panose="020B0604020202020204" pitchFamily="34" charset="0"/>
                          <a:ea typeface="Calibri"/>
                          <a:cs typeface="Arial" panose="020B0604020202020204" pitchFamily="34" charset="0"/>
                        </a:rPr>
                        <a:t>Top</a:t>
                      </a:r>
                      <a:r>
                        <a:rPr lang="en-US" sz="1600" b="1" kern="1200" baseline="0" dirty="0">
                          <a:solidFill>
                            <a:schemeClr val="tx1"/>
                          </a:solidFill>
                          <a:effectLst/>
                          <a:latin typeface="Arial" panose="020B0604020202020204" pitchFamily="34" charset="0"/>
                          <a:ea typeface="Calibri"/>
                          <a:cs typeface="Arial" panose="020B0604020202020204" pitchFamily="34" charset="0"/>
                        </a:rPr>
                        <a:t> 10 CZs</a:t>
                      </a:r>
                      <a:endParaRPr lang="en-US" sz="1600" b="1" kern="1200" dirty="0">
                        <a:solidFill>
                          <a:schemeClr val="tx1"/>
                        </a:solidFill>
                        <a:effectLst/>
                        <a:latin typeface="Arial" panose="020B0604020202020204" pitchFamily="34" charset="0"/>
                        <a:ea typeface="Calibri"/>
                        <a:cs typeface="Arial" panose="020B0604020202020204" pitchFamily="34" charset="0"/>
                      </a:endParaRP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tc>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3">
                  <a:txBody>
                    <a:bodyPr/>
                    <a:lstStyle/>
                    <a:p>
                      <a:pPr algn="ctr"/>
                      <a:r>
                        <a:rPr lang="en-US" sz="1600" b="1" dirty="0">
                          <a:latin typeface="Arial" panose="020B0604020202020204" pitchFamily="34" charset="0"/>
                          <a:cs typeface="Arial" panose="020B0604020202020204" pitchFamily="34" charset="0"/>
                        </a:rPr>
                        <a:t>Bottom 10 CZs</a:t>
                      </a: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569732">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600" b="0" kern="1200" dirty="0">
                          <a:solidFill>
                            <a:schemeClr val="tx1"/>
                          </a:solidFill>
                          <a:effectLst/>
                          <a:latin typeface="Arial" panose="020B0604020202020204" pitchFamily="34" charset="0"/>
                          <a:ea typeface="Calibri"/>
                          <a:cs typeface="Arial" panose="020B0604020202020204" pitchFamily="34" charset="0"/>
                        </a:rPr>
                        <a:t>Rank</a:t>
                      </a: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p>
                      <a:pPr algn="ctr"/>
                      <a:r>
                        <a:rPr lang="en-US" sz="1600" dirty="0">
                          <a:latin typeface="Arial" panose="020B0604020202020204" pitchFamily="34" charset="0"/>
                          <a:cs typeface="Arial" panose="020B0604020202020204" pitchFamily="34" charset="0"/>
                        </a:rPr>
                        <a:t>CZ</a:t>
                      </a: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600" dirty="0">
                          <a:latin typeface="Arial" panose="020B0604020202020204" pitchFamily="34" charset="0"/>
                          <a:cs typeface="Arial" panose="020B0604020202020204" pitchFamily="34" charset="0"/>
                        </a:rPr>
                        <a:t>Expected Age at Death</a:t>
                      </a:r>
                    </a:p>
                  </a:txBody>
                  <a:tcPr marL="51786" marR="51786"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en-US" sz="1600" dirty="0">
                        <a:latin typeface="Arial" panose="020B0604020202020204" pitchFamily="34" charset="0"/>
                        <a:cs typeface="Arial" panose="020B0604020202020204" pitchFamily="34" charset="0"/>
                      </a:endParaRP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600" dirty="0">
                          <a:latin typeface="Arial" panose="020B0604020202020204" pitchFamily="34" charset="0"/>
                          <a:cs typeface="Arial" panose="020B0604020202020204" pitchFamily="34" charset="0"/>
                        </a:rPr>
                        <a:t>Rank</a:t>
                      </a: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600" dirty="0">
                          <a:latin typeface="Arial" panose="020B0604020202020204" pitchFamily="34" charset="0"/>
                          <a:cs typeface="Arial" panose="020B0604020202020204" pitchFamily="34" charset="0"/>
                        </a:rPr>
                        <a:t>CZ</a:t>
                      </a: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600" dirty="0">
                          <a:latin typeface="Arial" panose="020B0604020202020204" pitchFamily="34" charset="0"/>
                          <a:cs typeface="Arial" panose="020B0604020202020204" pitchFamily="34" charset="0"/>
                        </a:rPr>
                        <a:t>Expected Age at Death</a:t>
                      </a:r>
                    </a:p>
                  </a:txBody>
                  <a:tcPr marL="51786" marR="5178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20525">
                <a:tc>
                  <a:txBody>
                    <a:bodyPr/>
                    <a:lstStyle/>
                    <a:p>
                      <a:pPr algn="ctr" fontAlgn="b"/>
                      <a:r>
                        <a:rPr lang="en-US" sz="1600" b="0" i="0" u="none" strike="noStrike" dirty="0">
                          <a:solidFill>
                            <a:srgbClr val="000000"/>
                          </a:solidFill>
                          <a:effectLst/>
                          <a:latin typeface="Arial"/>
                        </a:rPr>
                        <a:t>1</a:t>
                      </a:r>
                    </a:p>
                  </a:txBody>
                  <a:tcPr marL="12700" marR="12700" marT="1270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New York, NY</a:t>
                      </a:r>
                    </a:p>
                  </a:txBody>
                  <a:tcPr marL="12700" marR="12700" marT="1270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81.8 (81.6, 82.0)</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91</a:t>
                      </a:r>
                    </a:p>
                  </a:txBody>
                  <a:tcPr marL="12700" marR="12700" marT="1270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San Antonio, TX</a:t>
                      </a:r>
                    </a:p>
                  </a:txBody>
                  <a:tcPr marL="4763" marR="4763" marT="4763"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78.0 (77.6, 78.4)</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3"/>
                  </a:ext>
                </a:extLst>
              </a:tr>
              <a:tr h="420525">
                <a:tc>
                  <a:txBody>
                    <a:bodyPr/>
                    <a:lstStyle/>
                    <a:p>
                      <a:pPr algn="ctr" fontAlgn="b"/>
                      <a:r>
                        <a:rPr lang="en-US" sz="1600" b="0" i="0" u="none" strike="noStrike" dirty="0">
                          <a:solidFill>
                            <a:srgbClr val="000000"/>
                          </a:solidFill>
                          <a:effectLst/>
                          <a:latin typeface="Arial"/>
                        </a:rPr>
                        <a:t>2</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Santa Barbara, CA</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81.7 (81.3, 82.1)</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92</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Louisville, KY</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77.9 (77.7, 78.2)</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4"/>
                  </a:ext>
                </a:extLst>
              </a:tr>
              <a:tr h="420525">
                <a:tc>
                  <a:txBody>
                    <a:bodyPr/>
                    <a:lstStyle/>
                    <a:p>
                      <a:pPr algn="ctr" fontAlgn="b"/>
                      <a:r>
                        <a:rPr lang="en-US" sz="1600" b="0" i="0" u="none" strike="noStrike" dirty="0">
                          <a:solidFill>
                            <a:srgbClr val="000000"/>
                          </a:solidFill>
                          <a:effectLst/>
                          <a:latin typeface="Arial"/>
                        </a:rPr>
                        <a:t>3</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San Jose, CA</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81.6 (81.2, 82.0)</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93</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Toledo, OH</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77.9 (77.6, 78.2)</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5"/>
                  </a:ext>
                </a:extLst>
              </a:tr>
              <a:tr h="420525">
                <a:tc>
                  <a:txBody>
                    <a:bodyPr/>
                    <a:lstStyle/>
                    <a:p>
                      <a:pPr algn="ctr" fontAlgn="b"/>
                      <a:r>
                        <a:rPr lang="en-US" sz="1600" b="0" i="0" u="none" strike="noStrike" dirty="0">
                          <a:solidFill>
                            <a:srgbClr val="000000"/>
                          </a:solidFill>
                          <a:effectLst/>
                          <a:latin typeface="Arial"/>
                        </a:rPr>
                        <a:t>4</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Miami, FL</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81.2 (80.9, 81.6)</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94</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Cincinnati, OH</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77.9 (77.7, 78.1)</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6"/>
                  </a:ext>
                </a:extLst>
              </a:tr>
              <a:tr h="420525">
                <a:tc>
                  <a:txBody>
                    <a:bodyPr/>
                    <a:lstStyle/>
                    <a:p>
                      <a:pPr algn="ctr" fontAlgn="b"/>
                      <a:r>
                        <a:rPr lang="en-US" sz="1600" b="0" i="0" u="none" strike="noStrike" dirty="0">
                          <a:solidFill>
                            <a:srgbClr val="000000"/>
                          </a:solidFill>
                          <a:effectLst/>
                          <a:latin typeface="Arial"/>
                        </a:rPr>
                        <a:t>5</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Los Angeles, CA</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81.1 (80.9, 81.4)</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95</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Detroit, MI</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77.7 (77.5, 77.8)</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7"/>
                  </a:ext>
                </a:extLst>
              </a:tr>
              <a:tr h="420525">
                <a:tc>
                  <a:txBody>
                    <a:bodyPr/>
                    <a:lstStyle/>
                    <a:p>
                      <a:pPr algn="ctr" fontAlgn="b"/>
                      <a:r>
                        <a:rPr lang="en-US" sz="1600" b="0" i="0" u="none" strike="noStrike" dirty="0">
                          <a:solidFill>
                            <a:srgbClr val="000000"/>
                          </a:solidFill>
                          <a:effectLst/>
                          <a:latin typeface="Arial"/>
                        </a:rPr>
                        <a:t>6</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San</a:t>
                      </a:r>
                      <a:r>
                        <a:rPr lang="en-US" sz="1600" b="0" i="0" u="none" strike="noStrike" baseline="0" dirty="0">
                          <a:solidFill>
                            <a:srgbClr val="000000"/>
                          </a:solidFill>
                          <a:effectLst/>
                          <a:latin typeface="Arial"/>
                        </a:rPr>
                        <a:t> Diego, CA</a:t>
                      </a:r>
                      <a:endParaRPr lang="en-US" sz="1600" b="0" i="0" u="none" strike="noStrike" dirty="0">
                        <a:solidFill>
                          <a:srgbClr val="000000"/>
                        </a:solidFill>
                        <a:effectLst/>
                        <a:latin typeface="Arial"/>
                      </a:endParaRP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81.1 (80.8, 81.4)</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96</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Tulsa, OK</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77.6 (77.4, 77.9)</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8"/>
                  </a:ext>
                </a:extLst>
              </a:tr>
              <a:tr h="420525">
                <a:tc>
                  <a:txBody>
                    <a:bodyPr/>
                    <a:lstStyle/>
                    <a:p>
                      <a:pPr algn="ctr" fontAlgn="b"/>
                      <a:r>
                        <a:rPr lang="en-US" sz="1600" b="0" i="0" u="none" strike="noStrike" dirty="0">
                          <a:solidFill>
                            <a:srgbClr val="000000"/>
                          </a:solidFill>
                          <a:effectLst/>
                          <a:latin typeface="Arial"/>
                        </a:rPr>
                        <a:t>7</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San Francisco, CA</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80.9 (80.6, 81.3)</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97</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Indianapolis, IN</a:t>
                      </a: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77.6 (77.4, 77.8)</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09"/>
                  </a:ext>
                </a:extLst>
              </a:tr>
              <a:tr h="420525">
                <a:tc>
                  <a:txBody>
                    <a:bodyPr/>
                    <a:lstStyle/>
                    <a:p>
                      <a:pPr algn="ctr" fontAlgn="b"/>
                      <a:r>
                        <a:rPr lang="en-US" sz="1600" b="0" i="0" u="none" strike="noStrike" dirty="0">
                          <a:solidFill>
                            <a:srgbClr val="000000"/>
                          </a:solidFill>
                          <a:effectLst/>
                          <a:latin typeface="Arial"/>
                        </a:rPr>
                        <a:t>8</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Santa Rosa, CA</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80.8 (80.5, 81.2)</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98</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Oklahoma</a:t>
                      </a:r>
                      <a:r>
                        <a:rPr lang="en-US" sz="1600" b="0" i="0" u="none" strike="noStrike" baseline="0" dirty="0">
                          <a:effectLst/>
                          <a:latin typeface="Arial" panose="020B0604020202020204" pitchFamily="34" charset="0"/>
                          <a:cs typeface="Arial" panose="020B0604020202020204" pitchFamily="34" charset="0"/>
                        </a:rPr>
                        <a:t> City, OK</a:t>
                      </a:r>
                      <a:endParaRPr lang="en-US" sz="1600" b="0" i="0" u="none" strike="noStrike" dirty="0">
                        <a:effectLst/>
                        <a:latin typeface="Arial" panose="020B0604020202020204" pitchFamily="34" charset="0"/>
                        <a:cs typeface="Arial" panose="020B0604020202020204" pitchFamily="34" charset="0"/>
                      </a:endParaRP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77.6 (77.3, 77.8)</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10"/>
                  </a:ext>
                </a:extLst>
              </a:tr>
              <a:tr h="420525">
                <a:tc>
                  <a:txBody>
                    <a:bodyPr/>
                    <a:lstStyle/>
                    <a:p>
                      <a:pPr algn="ctr" fontAlgn="b"/>
                      <a:r>
                        <a:rPr lang="en-US" sz="1600" b="0" i="0" u="none" strike="noStrike" dirty="0">
                          <a:solidFill>
                            <a:srgbClr val="000000"/>
                          </a:solidFill>
                          <a:effectLst/>
                          <a:latin typeface="Arial"/>
                        </a:rPr>
                        <a:t>9</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Newark, NJ</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80.7 (80.5, 80.9)</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99</a:t>
                      </a:r>
                    </a:p>
                  </a:txBody>
                  <a:tcPr marL="12700" marR="12700" marT="12700"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Las Vegas,</a:t>
                      </a:r>
                      <a:r>
                        <a:rPr lang="en-US" sz="1600" b="0" i="0" u="none" strike="noStrike" baseline="0" dirty="0">
                          <a:effectLst/>
                          <a:latin typeface="Arial" panose="020B0604020202020204" pitchFamily="34" charset="0"/>
                          <a:cs typeface="Arial" panose="020B0604020202020204" pitchFamily="34" charset="0"/>
                        </a:rPr>
                        <a:t> NV</a:t>
                      </a:r>
                      <a:endParaRPr lang="en-US" sz="1600" b="0" i="0" u="none" strike="noStrike" dirty="0">
                        <a:effectLst/>
                        <a:latin typeface="Arial" panose="020B0604020202020204" pitchFamily="34" charset="0"/>
                        <a:cs typeface="Arial" panose="020B0604020202020204" pitchFamily="34" charset="0"/>
                      </a:endParaRPr>
                    </a:p>
                  </a:txBody>
                  <a:tcPr marL="4763" marR="4763" marT="4763"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77.6 (77.4, 77.8)</a:t>
                      </a:r>
                    </a:p>
                  </a:txBody>
                  <a:tcPr marL="9525" marR="9525" marT="9525" marB="0" anchor="b">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11"/>
                  </a:ext>
                </a:extLst>
              </a:tr>
              <a:tr h="420525">
                <a:tc>
                  <a:txBody>
                    <a:bodyPr/>
                    <a:lstStyle/>
                    <a:p>
                      <a:pPr algn="ctr" fontAlgn="b"/>
                      <a:r>
                        <a:rPr lang="en-US" sz="1600" b="0" i="0" u="none" strike="noStrike" dirty="0">
                          <a:solidFill>
                            <a:srgbClr val="000000"/>
                          </a:solidFill>
                          <a:effectLst/>
                          <a:latin typeface="Arial"/>
                        </a:rPr>
                        <a:t>10</a:t>
                      </a:r>
                    </a:p>
                  </a:txBody>
                  <a:tcPr marL="12700" marR="12700" marT="12700"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gridSpan="2">
                  <a:txBody>
                    <a:bodyPr/>
                    <a:lstStyle/>
                    <a:p>
                      <a:pPr algn="l" fontAlgn="b"/>
                      <a:r>
                        <a:rPr lang="en-US" sz="1600" b="0" i="0" u="none" strike="noStrike" dirty="0">
                          <a:solidFill>
                            <a:srgbClr val="000000"/>
                          </a:solidFill>
                          <a:effectLst/>
                          <a:latin typeface="Arial"/>
                        </a:rPr>
                        <a:t>Port</a:t>
                      </a:r>
                      <a:r>
                        <a:rPr lang="en-US" sz="1600" b="0" i="0" u="none" strike="noStrike" baseline="0" dirty="0">
                          <a:solidFill>
                            <a:srgbClr val="000000"/>
                          </a:solidFill>
                          <a:effectLst/>
                          <a:latin typeface="Arial"/>
                        </a:rPr>
                        <a:t> St. Lucie, FL</a:t>
                      </a:r>
                      <a:endParaRPr lang="en-US" sz="1600" b="0" i="0" u="none" strike="noStrike" dirty="0">
                        <a:solidFill>
                          <a:srgbClr val="000000"/>
                        </a:solidFill>
                        <a:effectLst/>
                        <a:latin typeface="Arial"/>
                      </a:endParaRPr>
                    </a:p>
                  </a:txBody>
                  <a:tcPr marL="12700" marR="12700" marT="12700"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hMerge="1">
                  <a:txBody>
                    <a:bodyPr/>
                    <a:lstStyle/>
                    <a:p>
                      <a:pPr algn="ctr" fontAlgn="b"/>
                      <a:endParaRPr lang="en-US" sz="1600" b="0" i="0" u="none" strike="noStrike" dirty="0">
                        <a:solidFill>
                          <a:srgbClr val="000000"/>
                        </a:solidFill>
                        <a:effectLst/>
                        <a:latin typeface="Arial"/>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80.7 (80.5, 80.9)</a:t>
                      </a: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ctr" fontAlgn="b"/>
                      <a:r>
                        <a:rPr lang="en-US" sz="1600" b="0" i="0" u="none" strike="noStrike" dirty="0">
                          <a:solidFill>
                            <a:srgbClr val="000000"/>
                          </a:solidFill>
                          <a:effectLst/>
                          <a:latin typeface="Arial"/>
                        </a:rPr>
                        <a:t>100</a:t>
                      </a:r>
                    </a:p>
                  </a:txBody>
                  <a:tcPr marL="12700" marR="12700" marT="12700"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effectLst/>
                          <a:latin typeface="Arial" panose="020B0604020202020204" pitchFamily="34" charset="0"/>
                          <a:cs typeface="Arial" panose="020B0604020202020204" pitchFamily="34" charset="0"/>
                        </a:rPr>
                        <a:t>Gary, IN</a:t>
                      </a:r>
                    </a:p>
                  </a:txBody>
                  <a:tcPr marL="4763" marR="4763" marT="4763"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l" fontAlgn="b"/>
                      <a:r>
                        <a:rPr lang="en-US" sz="1600" b="0" i="0" u="none" strike="noStrike" dirty="0">
                          <a:solidFill>
                            <a:srgbClr val="000000"/>
                          </a:solidFill>
                          <a:effectLst/>
                          <a:latin typeface="Arial" panose="020B0604020202020204" pitchFamily="34" charset="0"/>
                          <a:cs typeface="Arial" panose="020B0604020202020204" pitchFamily="34" charset="0"/>
                        </a:rPr>
                        <a:t>77.4 (77.1, 77.8)</a:t>
                      </a: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12"/>
                  </a:ext>
                </a:extLst>
              </a:tr>
              <a:tr h="177164">
                <a:tc>
                  <a:txBody>
                    <a:bodyPr/>
                    <a:lstStyle/>
                    <a:p>
                      <a:pPr algn="ctr" rtl="0"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gridSpan="2">
                  <a:txBody>
                    <a:bodyPr/>
                    <a:lstStyle/>
                    <a:p>
                      <a:pPr algn="ctr" rtl="0"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hMerge="1">
                  <a:txBody>
                    <a:bodyPr/>
                    <a:lstStyle/>
                    <a:p>
                      <a:endParaRPr lang="en-US" sz="1000" dirty="0"/>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endParaRPr lang="en-US" sz="1600" dirty="0">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ctr"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ctr" rtl="0"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l" rtl="0"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tc>
                  <a:txBody>
                    <a:bodyPr/>
                    <a:lstStyle/>
                    <a:p>
                      <a:pPr algn="ctr" rtl="0" fontAlgn="b"/>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noFill/>
                    </a:lnL>
                    <a:lnR w="12700" cmpd="sng">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tint val="40000"/>
                      </a:srgbClr>
                    </a:solidFill>
                  </a:tcPr>
                </a:tc>
                <a:extLst>
                  <a:ext uri="{0D108BD9-81ED-4DB2-BD59-A6C34878D82A}">
                    <a16:rowId xmlns:a16="http://schemas.microsoft.com/office/drawing/2014/main" val="10013"/>
                  </a:ext>
                </a:extLst>
              </a:tr>
            </a:tbl>
          </a:graphicData>
        </a:graphic>
      </p:graphicFrame>
      <p:sp>
        <p:nvSpPr>
          <p:cNvPr id="4" name="Rectangle 161"/>
          <p:cNvSpPr>
            <a:spLocks noChangeArrowheads="1"/>
          </p:cNvSpPr>
          <p:nvPr/>
        </p:nvSpPr>
        <p:spPr bwMode="auto">
          <a:xfrm>
            <a:off x="1524003" y="152400"/>
            <a:ext cx="914400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fontAlgn="base">
              <a:spcBef>
                <a:spcPct val="0"/>
              </a:spcBef>
              <a:spcAft>
                <a:spcPct val="0"/>
              </a:spcAft>
            </a:pPr>
            <a:r>
              <a:rPr lang="en-US" b="1" dirty="0">
                <a:solidFill>
                  <a:srgbClr val="1E2D53"/>
                </a:solidFill>
                <a:latin typeface="Arial" panose="020B0604020202020204" pitchFamily="34" charset="0"/>
                <a:cs typeface="Arial" panose="020B0604020202020204" pitchFamily="34" charset="0"/>
              </a:rPr>
              <a:t>Race-Adjusted Expected Age at Death for 40 Year Olds in Bottom Quartile</a:t>
            </a:r>
          </a:p>
          <a:p>
            <a:pPr algn="ctr" fontAlgn="base">
              <a:spcBef>
                <a:spcPct val="0"/>
              </a:spcBef>
              <a:spcAft>
                <a:spcPct val="0"/>
              </a:spcAft>
            </a:pPr>
            <a:r>
              <a:rPr lang="en-US" dirty="0">
                <a:solidFill>
                  <a:srgbClr val="1E2D53"/>
                </a:solidFill>
                <a:latin typeface="Arial" panose="020B0604020202020204" pitchFamily="34" charset="0"/>
                <a:cs typeface="Arial" panose="020B0604020202020204" pitchFamily="34" charset="0"/>
              </a:rPr>
              <a:t>Top 10 and Bottom 10 CZs Among 100 Largest CZs</a:t>
            </a:r>
          </a:p>
        </p:txBody>
      </p:sp>
      <p:sp>
        <p:nvSpPr>
          <p:cNvPr id="5" name="TextBox 4"/>
          <p:cNvSpPr txBox="1"/>
          <p:nvPr/>
        </p:nvSpPr>
        <p:spPr>
          <a:xfrm>
            <a:off x="1828803" y="6412468"/>
            <a:ext cx="5205207" cy="369332"/>
          </a:xfrm>
          <a:prstGeom prst="rect">
            <a:avLst/>
          </a:prstGeom>
          <a:noFill/>
        </p:spPr>
        <p:txBody>
          <a:bodyPr wrap="none" rtlCol="0">
            <a:spAutoFit/>
          </a:bodyPr>
          <a:lstStyle/>
          <a:p>
            <a:r>
              <a:rPr lang="en-US" i="1" dirty="0"/>
              <a:t>Note: 95% confidence intervals shown in parentheses</a:t>
            </a:r>
          </a:p>
        </p:txBody>
      </p:sp>
    </p:spTree>
    <p:extLst>
      <p:ext uri="{BB962C8B-B14F-4D97-AF65-F5344CB8AC3E}">
        <p14:creationId xmlns:p14="http://schemas.microsoft.com/office/powerpoint/2010/main" val="4272340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Rectangle 106"/>
          <p:cNvSpPr>
            <a:spLocks noChangeArrowheads="1"/>
          </p:cNvSpPr>
          <p:nvPr/>
        </p:nvSpPr>
        <p:spPr bwMode="auto">
          <a:xfrm>
            <a:off x="6951584" y="339728"/>
            <a:ext cx="8976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r>
              <a:rPr lang="en-US" altLang="en-US" sz="2500" dirty="0">
                <a:solidFill>
                  <a:srgbClr val="1E2D53"/>
                </a:solidFill>
              </a:rPr>
              <a:t> </a:t>
            </a:r>
            <a:endParaRPr lang="en-US" altLang="en-US" dirty="0"/>
          </a:p>
        </p:txBody>
      </p:sp>
      <p:sp>
        <p:nvSpPr>
          <p:cNvPr id="392" name="TextBox 391"/>
          <p:cNvSpPr txBox="1"/>
          <p:nvPr/>
        </p:nvSpPr>
        <p:spPr>
          <a:xfrm>
            <a:off x="1940039" y="153364"/>
            <a:ext cx="8247857" cy="646331"/>
          </a:xfrm>
          <a:prstGeom prst="rect">
            <a:avLst/>
          </a:prstGeom>
          <a:noFill/>
        </p:spPr>
        <p:txBody>
          <a:bodyPr wrap="square" rtlCol="0">
            <a:spAutoFit/>
          </a:bodyPr>
          <a:lstStyle/>
          <a:p>
            <a:pPr algn="ctr"/>
            <a:r>
              <a:rPr lang="en-US" b="1" dirty="0">
                <a:solidFill>
                  <a:srgbClr val="002060"/>
                </a:solidFill>
                <a:latin typeface="Arial" panose="020B0604020202020204" pitchFamily="34" charset="0"/>
                <a:cs typeface="Arial" panose="020B0604020202020204" pitchFamily="34" charset="0"/>
              </a:rPr>
              <a:t>Correlations of Expected Age at Death with Other Factors</a:t>
            </a:r>
          </a:p>
          <a:p>
            <a:pPr algn="ctr"/>
            <a:r>
              <a:rPr lang="en-US" dirty="0">
                <a:solidFill>
                  <a:srgbClr val="002060"/>
                </a:solidFill>
                <a:latin typeface="Arial" panose="020B0604020202020204" pitchFamily="34" charset="0"/>
                <a:cs typeface="Arial" panose="020B0604020202020204" pitchFamily="34" charset="0"/>
              </a:rPr>
              <a:t>For Individuals in Bottom Quartile of Income Distribution</a:t>
            </a:r>
          </a:p>
        </p:txBody>
      </p:sp>
      <p:pic>
        <p:nvPicPr>
          <p:cNvPr id="3" name="Picture 2"/>
          <p:cNvPicPr>
            <a:picLocks noChangeAspect="1"/>
          </p:cNvPicPr>
          <p:nvPr/>
        </p:nvPicPr>
        <p:blipFill>
          <a:blip r:embed="rId3"/>
          <a:stretch>
            <a:fillRect/>
          </a:stretch>
        </p:blipFill>
        <p:spPr>
          <a:xfrm>
            <a:off x="2076941" y="960120"/>
            <a:ext cx="8035068" cy="5641848"/>
          </a:xfrm>
          <a:prstGeom prst="rect">
            <a:avLst/>
          </a:prstGeom>
        </p:spPr>
      </p:pic>
    </p:spTree>
    <p:extLst>
      <p:ext uri="{BB962C8B-B14F-4D97-AF65-F5344CB8AC3E}">
        <p14:creationId xmlns:p14="http://schemas.microsoft.com/office/powerpoint/2010/main" val="342256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74B5C-C26F-DF6C-C7A3-2E625F0E975D}"/>
              </a:ext>
            </a:extLst>
          </p:cNvPr>
          <p:cNvSpPr>
            <a:spLocks noGrp="1"/>
          </p:cNvSpPr>
          <p:nvPr>
            <p:ph type="title"/>
          </p:nvPr>
        </p:nvSpPr>
        <p:spPr>
          <a:xfrm>
            <a:off x="457200" y="320040"/>
            <a:ext cx="6382512" cy="1152144"/>
          </a:xfrm>
        </p:spPr>
        <p:txBody>
          <a:bodyPr>
            <a:normAutofit/>
          </a:bodyPr>
          <a:lstStyle/>
          <a:p>
            <a:pPr>
              <a:defRPr sz="3400"/>
            </a:pPr>
            <a:r>
              <a:rPr lang="en-US" sz="3600" dirty="0"/>
              <a:t>Midlife deaths of despair</a:t>
            </a:r>
          </a:p>
        </p:txBody>
      </p:sp>
      <p:sp>
        <p:nvSpPr>
          <p:cNvPr id="3" name="Content Placeholder 2">
            <a:extLst>
              <a:ext uri="{FF2B5EF4-FFF2-40B4-BE49-F238E27FC236}">
                <a16:creationId xmlns:a16="http://schemas.microsoft.com/office/drawing/2014/main" id="{0D48D4E1-580F-1C05-75F1-354E9832967F}"/>
              </a:ext>
            </a:extLst>
          </p:cNvPr>
          <p:cNvSpPr>
            <a:spLocks noGrp="1"/>
          </p:cNvSpPr>
          <p:nvPr>
            <p:ph idx="1"/>
          </p:nvPr>
        </p:nvSpPr>
        <p:spPr>
          <a:xfrm>
            <a:off x="524615" y="1790587"/>
            <a:ext cx="6157686" cy="4778375"/>
          </a:xfrm>
        </p:spPr>
        <p:txBody>
          <a:bodyPr>
            <a:normAutofit lnSpcReduction="10000"/>
          </a:bodyPr>
          <a:lstStyle/>
          <a:p>
            <a:r>
              <a:rPr lang="en-US" dirty="0"/>
              <a:t>Refers to deaths caused by suicide, drug overdose, and alcohol-related diseases primarily among </a:t>
            </a:r>
            <a:r>
              <a:rPr lang="en-US" dirty="0">
                <a:solidFill>
                  <a:srgbClr val="FF0000"/>
                </a:solidFill>
              </a:rPr>
              <a:t>working class middle-aged adults</a:t>
            </a:r>
          </a:p>
          <a:p>
            <a:r>
              <a:rPr lang="en-US" dirty="0"/>
              <a:t>Term coined in 2015 study highlighting rise in these types of deaths especially among whites 45-54 over past few decades</a:t>
            </a:r>
          </a:p>
          <a:p>
            <a:r>
              <a:rPr lang="en-US" dirty="0"/>
              <a:t>Associated with job loss, wage stagnation and reduced economic opportunities especially in areas affected by deindustrialization</a:t>
            </a:r>
          </a:p>
          <a:p>
            <a:endParaRPr lang="en-US" dirty="0"/>
          </a:p>
        </p:txBody>
      </p:sp>
      <p:pic>
        <p:nvPicPr>
          <p:cNvPr id="5" name="Picture 4" descr="A book cover of a person's hands&#10;&#10;Description automatically generated">
            <a:extLst>
              <a:ext uri="{FF2B5EF4-FFF2-40B4-BE49-F238E27FC236}">
                <a16:creationId xmlns:a16="http://schemas.microsoft.com/office/drawing/2014/main" id="{114F32FF-A957-051A-8CB2-B886C0842C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5543" y="0"/>
            <a:ext cx="4511842" cy="6858000"/>
          </a:xfrm>
          <a:prstGeom prst="rect">
            <a:avLst/>
          </a:prstGeom>
        </p:spPr>
      </p:pic>
    </p:spTree>
    <p:extLst>
      <p:ext uri="{BB962C8B-B14F-4D97-AF65-F5344CB8AC3E}">
        <p14:creationId xmlns:p14="http://schemas.microsoft.com/office/powerpoint/2010/main" val="1834216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E077A3-2F96-47E9-873E-08EAEE9848D9}"/>
              </a:ext>
            </a:extLst>
          </p:cNvPr>
          <p:cNvPicPr>
            <a:picLocks noGrp="1" noChangeAspect="1"/>
          </p:cNvPicPr>
          <p:nvPr>
            <p:ph idx="1"/>
          </p:nvPr>
        </p:nvPicPr>
        <p:blipFill>
          <a:blip r:embed="rId3"/>
          <a:stretch>
            <a:fillRect/>
          </a:stretch>
        </p:blipFill>
        <p:spPr>
          <a:xfrm>
            <a:off x="359975" y="236667"/>
            <a:ext cx="11287381" cy="6358361"/>
          </a:xfrm>
        </p:spPr>
      </p:pic>
    </p:spTree>
    <p:extLst>
      <p:ext uri="{BB962C8B-B14F-4D97-AF65-F5344CB8AC3E}">
        <p14:creationId xmlns:p14="http://schemas.microsoft.com/office/powerpoint/2010/main" val="2877538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29356A35-99FC-42A3-8F2F-C67198D075FB}"/>
              </a:ext>
            </a:extLst>
          </p:cNvPr>
          <p:cNvPicPr>
            <a:picLocks noGrp="1" noChangeAspect="1"/>
          </p:cNvPicPr>
          <p:nvPr>
            <p:ph idx="1"/>
          </p:nvPr>
        </p:nvPicPr>
        <p:blipFill>
          <a:blip r:embed="rId4"/>
          <a:stretch>
            <a:fillRect/>
          </a:stretch>
        </p:blipFill>
        <p:spPr>
          <a:xfrm>
            <a:off x="0" y="727753"/>
            <a:ext cx="12192000" cy="5481922"/>
          </a:xfrm>
          <a:ln w="41275">
            <a:noFill/>
          </a:ln>
        </p:spPr>
      </p:pic>
    </p:spTree>
    <p:extLst>
      <p:ext uri="{BB962C8B-B14F-4D97-AF65-F5344CB8AC3E}">
        <p14:creationId xmlns:p14="http://schemas.microsoft.com/office/powerpoint/2010/main" val="982923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8AD8B91-E337-7856-AC4B-1BC4EDCF5584}"/>
              </a:ext>
            </a:extLst>
          </p:cNvPr>
          <p:cNvSpPr>
            <a:spLocks noGrp="1"/>
          </p:cNvSpPr>
          <p:nvPr>
            <p:ph idx="1"/>
          </p:nvPr>
        </p:nvSpPr>
        <p:spPr>
          <a:xfrm>
            <a:off x="566057" y="393700"/>
            <a:ext cx="4577443" cy="6070250"/>
          </a:xfrm>
        </p:spPr>
        <p:txBody>
          <a:bodyPr wrap="square">
            <a:noAutofit/>
          </a:bodyPr>
          <a:lstStyle/>
          <a:p>
            <a:pPr>
              <a:lnSpc>
                <a:spcPct val="108000"/>
              </a:lnSpc>
              <a:spcBef>
                <a:spcPts val="0"/>
              </a:spcBef>
              <a:spcAft>
                <a:spcPts val="1500"/>
              </a:spcAft>
              <a:defRPr sz="3000">
                <a:solidFill>
                  <a:srgbClr val="000000"/>
                </a:solidFill>
                <a:latin typeface="Calibri"/>
              </a:defRPr>
            </a:pPr>
            <a:r>
              <a:rPr sz="3000" dirty="0">
                <a:solidFill>
                  <a:srgbClr val="000000"/>
                </a:solidFill>
                <a:latin typeface="Calibri"/>
              </a:rPr>
              <a:t>Rates increased among middle-aged adults</a:t>
            </a:r>
            <a:r>
              <a:rPr lang="en-US" sz="3000" dirty="0">
                <a:solidFill>
                  <a:srgbClr val="000000"/>
                </a:solidFill>
                <a:latin typeface="Calibri"/>
              </a:rPr>
              <a:t> </a:t>
            </a:r>
            <a:r>
              <a:rPr sz="3000" dirty="0">
                <a:solidFill>
                  <a:srgbClr val="000000"/>
                </a:solidFill>
                <a:latin typeface="Calibri"/>
              </a:rPr>
              <a:t>without college degrees, </a:t>
            </a:r>
            <a:r>
              <a:rPr lang="en-US" sz="3000" dirty="0">
                <a:solidFill>
                  <a:srgbClr val="000000"/>
                </a:solidFill>
                <a:latin typeface="Calibri"/>
              </a:rPr>
              <a:t>irrespective of race</a:t>
            </a:r>
          </a:p>
          <a:p>
            <a:pPr>
              <a:lnSpc>
                <a:spcPct val="108000"/>
              </a:lnSpc>
              <a:spcBef>
                <a:spcPts val="0"/>
              </a:spcBef>
              <a:spcAft>
                <a:spcPts val="1500"/>
              </a:spcAft>
              <a:defRPr sz="3000">
                <a:solidFill>
                  <a:srgbClr val="000000"/>
                </a:solidFill>
                <a:latin typeface="Calibri"/>
              </a:defRPr>
            </a:pPr>
            <a:r>
              <a:rPr lang="en-US" dirty="0"/>
              <a:t>Mortality has also increased among a younger cohort (next slide)</a:t>
            </a:r>
          </a:p>
          <a:p>
            <a:pPr>
              <a:lnSpc>
                <a:spcPct val="108000"/>
              </a:lnSpc>
              <a:spcBef>
                <a:spcPts val="0"/>
              </a:spcBef>
              <a:spcAft>
                <a:spcPts val="1500"/>
              </a:spcAft>
              <a:defRPr sz="3000">
                <a:solidFill>
                  <a:srgbClr val="000000"/>
                </a:solidFill>
                <a:latin typeface="Calibri"/>
              </a:defRPr>
            </a:pPr>
            <a:endParaRPr sz="3000" dirty="0">
              <a:solidFill>
                <a:srgbClr val="000000"/>
              </a:solidFill>
              <a:latin typeface="Calibri"/>
            </a:endParaRPr>
          </a:p>
        </p:txBody>
      </p:sp>
      <p:pic>
        <p:nvPicPr>
          <p:cNvPr id="9" name="Picture 8">
            <a:extLst>
              <a:ext uri="{FF2B5EF4-FFF2-40B4-BE49-F238E27FC236}">
                <a16:creationId xmlns:a16="http://schemas.microsoft.com/office/drawing/2014/main" id="{032F6794-D679-2F33-945B-4A455301CF71}"/>
              </a:ext>
            </a:extLst>
          </p:cNvPr>
          <p:cNvPicPr>
            <a:picLocks noChangeAspect="1"/>
          </p:cNvPicPr>
          <p:nvPr/>
        </p:nvPicPr>
        <p:blipFill>
          <a:blip r:embed="rId3"/>
          <a:srcRect b="6371"/>
          <a:stretch>
            <a:fillRect/>
          </a:stretch>
        </p:blipFill>
        <p:spPr>
          <a:xfrm>
            <a:off x="5958798" y="393700"/>
            <a:ext cx="5166401" cy="6070250"/>
          </a:xfrm>
          <a:prstGeom prst="rect">
            <a:avLst/>
          </a:prstGeom>
        </p:spPr>
      </p:pic>
    </p:spTree>
    <p:extLst>
      <p:ext uri="{BB962C8B-B14F-4D97-AF65-F5344CB8AC3E}">
        <p14:creationId xmlns:p14="http://schemas.microsoft.com/office/powerpoint/2010/main" val="2551662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5F07A6-C153-3567-1101-6DFA6A2979D1}"/>
              </a:ext>
            </a:extLst>
          </p:cNvPr>
          <p:cNvPicPr>
            <a:picLocks noGrp="1" noChangeAspect="1"/>
          </p:cNvPicPr>
          <p:nvPr>
            <p:ph idx="1"/>
          </p:nvPr>
        </p:nvPicPr>
        <p:blipFill>
          <a:blip r:embed="rId3"/>
          <a:stretch>
            <a:fillRect/>
          </a:stretch>
        </p:blipFill>
        <p:spPr>
          <a:xfrm>
            <a:off x="1219200" y="76200"/>
            <a:ext cx="9220200" cy="6470160"/>
          </a:xfrm>
        </p:spPr>
      </p:pic>
    </p:spTree>
    <p:extLst>
      <p:ext uri="{BB962C8B-B14F-4D97-AF65-F5344CB8AC3E}">
        <p14:creationId xmlns:p14="http://schemas.microsoft.com/office/powerpoint/2010/main" val="1996715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5D3F71-4BA4-3B8F-D54B-51E5E0495B06}"/>
              </a:ext>
            </a:extLst>
          </p:cNvPr>
          <p:cNvPicPr>
            <a:picLocks noGrp="1" noChangeAspect="1"/>
          </p:cNvPicPr>
          <p:nvPr>
            <p:ph idx="1"/>
          </p:nvPr>
        </p:nvPicPr>
        <p:blipFill rotWithShape="1">
          <a:blip r:embed="rId3"/>
          <a:srcRect t="18163"/>
          <a:stretch/>
        </p:blipFill>
        <p:spPr>
          <a:xfrm>
            <a:off x="5811672" y="758411"/>
            <a:ext cx="5923309" cy="5341177"/>
          </a:xfrm>
        </p:spPr>
      </p:pic>
      <p:pic>
        <p:nvPicPr>
          <p:cNvPr id="7" name="Picture 6">
            <a:extLst>
              <a:ext uri="{FF2B5EF4-FFF2-40B4-BE49-F238E27FC236}">
                <a16:creationId xmlns:a16="http://schemas.microsoft.com/office/drawing/2014/main" id="{25E89BFE-D0FC-EE08-024E-9A83645CA70B}"/>
              </a:ext>
            </a:extLst>
          </p:cNvPr>
          <p:cNvPicPr>
            <a:picLocks noChangeAspect="1"/>
          </p:cNvPicPr>
          <p:nvPr/>
        </p:nvPicPr>
        <p:blipFill rotWithShape="1">
          <a:blip r:embed="rId4"/>
          <a:srcRect l="18707" t="42537" r="14459"/>
          <a:stretch/>
        </p:blipFill>
        <p:spPr>
          <a:xfrm>
            <a:off x="652818" y="165695"/>
            <a:ext cx="5158854" cy="1873155"/>
          </a:xfrm>
          <a:prstGeom prst="rect">
            <a:avLst/>
          </a:prstGeom>
        </p:spPr>
      </p:pic>
      <p:sp>
        <p:nvSpPr>
          <p:cNvPr id="2" name="Content Placeholder 2">
            <a:extLst>
              <a:ext uri="{FF2B5EF4-FFF2-40B4-BE49-F238E27FC236}">
                <a16:creationId xmlns:a16="http://schemas.microsoft.com/office/drawing/2014/main" id="{180B765B-865A-3D93-B2E0-2BBBAF14FBC3}"/>
              </a:ext>
            </a:extLst>
          </p:cNvPr>
          <p:cNvSpPr txBox="1">
            <a:spLocks/>
          </p:cNvSpPr>
          <p:nvPr/>
        </p:nvSpPr>
        <p:spPr>
          <a:xfrm>
            <a:off x="452573" y="2038850"/>
            <a:ext cx="53590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500" dirty="0"/>
              <a:t>No longer just a middle age phenomena</a:t>
            </a:r>
          </a:p>
          <a:p>
            <a:r>
              <a:rPr lang="en-US" sz="2500" dirty="0"/>
              <a:t>20% rise in mortality 2019-2021 </a:t>
            </a:r>
          </a:p>
          <a:p>
            <a:r>
              <a:rPr lang="en-US" sz="2500" dirty="0"/>
              <a:t>COVID explains only a small share of the rise.</a:t>
            </a:r>
          </a:p>
          <a:p>
            <a:r>
              <a:rPr lang="en-US" sz="2500" dirty="0"/>
              <a:t>Firearms, overdoses, homicide, suicide, and traffic deaths increased sharply.</a:t>
            </a:r>
          </a:p>
          <a:p>
            <a:r>
              <a:rPr lang="en-US" sz="2500" dirty="0"/>
              <a:t>Rates have dropped but remain above pre-pandemic levels.</a:t>
            </a:r>
          </a:p>
          <a:p>
            <a:pPr marL="0" indent="0">
              <a:buNone/>
            </a:pPr>
            <a:endParaRPr lang="en-US" dirty="0"/>
          </a:p>
        </p:txBody>
      </p:sp>
    </p:spTree>
    <p:extLst>
      <p:ext uri="{BB962C8B-B14F-4D97-AF65-F5344CB8AC3E}">
        <p14:creationId xmlns:p14="http://schemas.microsoft.com/office/powerpoint/2010/main" val="2433575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11FDC0-F2FD-BE58-3D49-2BFDBED80435}"/>
              </a:ext>
            </a:extLst>
          </p:cNvPr>
          <p:cNvPicPr>
            <a:picLocks noGrp="1" noChangeAspect="1"/>
          </p:cNvPicPr>
          <p:nvPr>
            <p:ph idx="1"/>
          </p:nvPr>
        </p:nvPicPr>
        <p:blipFill>
          <a:blip r:embed="rId3"/>
          <a:stretch>
            <a:fillRect/>
          </a:stretch>
        </p:blipFill>
        <p:spPr>
          <a:xfrm>
            <a:off x="381000" y="228600"/>
            <a:ext cx="11201400" cy="6546855"/>
          </a:xfrm>
        </p:spPr>
      </p:pic>
    </p:spTree>
    <p:extLst>
      <p:ext uri="{BB962C8B-B14F-4D97-AF65-F5344CB8AC3E}">
        <p14:creationId xmlns:p14="http://schemas.microsoft.com/office/powerpoint/2010/main" val="140261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e image depicts a Lexis diagram illustrating the percentage change in external causes of mortality for different age groups from 1979 to 2019.&#10;&#10;AI-generated content may be incorrect.">
            <a:extLst>
              <a:ext uri="{FF2B5EF4-FFF2-40B4-BE49-F238E27FC236}">
                <a16:creationId xmlns:a16="http://schemas.microsoft.com/office/drawing/2014/main" id="{71B80286-4387-E6EB-B984-963581F54876}"/>
              </a:ext>
            </a:extLst>
          </p:cNvPr>
          <p:cNvPicPr>
            <a:picLocks noGrp="1" noChangeAspect="1"/>
          </p:cNvPicPr>
          <p:nvPr>
            <p:ph idx="1"/>
          </p:nvPr>
        </p:nvPicPr>
        <p:blipFill>
          <a:blip r:embed="rId2"/>
          <a:stretch>
            <a:fillRect/>
          </a:stretch>
        </p:blipFill>
        <p:spPr>
          <a:xfrm>
            <a:off x="2667787" y="223867"/>
            <a:ext cx="6856425" cy="6410266"/>
          </a:xfrm>
          <a:prstGeom prst="rect">
            <a:avLst/>
          </a:prstGeom>
        </p:spPr>
      </p:pic>
    </p:spTree>
    <p:extLst>
      <p:ext uri="{BB962C8B-B14F-4D97-AF65-F5344CB8AC3E}">
        <p14:creationId xmlns:p14="http://schemas.microsoft.com/office/powerpoint/2010/main" val="613014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0D66BF9-8DF0-E596-269D-542E922772B7}"/>
              </a:ext>
            </a:extLst>
          </p:cNvPr>
          <p:cNvPicPr>
            <a:picLocks noChangeAspect="1"/>
          </p:cNvPicPr>
          <p:nvPr/>
        </p:nvPicPr>
        <p:blipFill>
          <a:blip r:embed="rId3"/>
          <a:stretch>
            <a:fillRect/>
          </a:stretch>
        </p:blipFill>
        <p:spPr>
          <a:xfrm>
            <a:off x="3592613" y="121633"/>
            <a:ext cx="5006774" cy="6614733"/>
          </a:xfrm>
          <a:prstGeom prst="rect">
            <a:avLst/>
          </a:prstGeom>
        </p:spPr>
      </p:pic>
    </p:spTree>
    <p:extLst>
      <p:ext uri="{BB962C8B-B14F-4D97-AF65-F5344CB8AC3E}">
        <p14:creationId xmlns:p14="http://schemas.microsoft.com/office/powerpoint/2010/main" val="2770806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a line and a red line&#10;&#10;Description automatically generated">
            <a:extLst>
              <a:ext uri="{FF2B5EF4-FFF2-40B4-BE49-F238E27FC236}">
                <a16:creationId xmlns:a16="http://schemas.microsoft.com/office/drawing/2014/main" id="{410B2706-AB29-2588-2490-592D1C98C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505" y="438431"/>
            <a:ext cx="7726927" cy="5981137"/>
          </a:xfrm>
          <a:prstGeom prst="rect">
            <a:avLst/>
          </a:prstGeom>
        </p:spPr>
      </p:pic>
      <p:sp>
        <p:nvSpPr>
          <p:cNvPr id="3" name="Content Placeholder 2">
            <a:extLst>
              <a:ext uri="{FF2B5EF4-FFF2-40B4-BE49-F238E27FC236}">
                <a16:creationId xmlns:a16="http://schemas.microsoft.com/office/drawing/2014/main" id="{09D1D81B-1E51-8DCE-6346-8D478D88BF19}"/>
              </a:ext>
            </a:extLst>
          </p:cNvPr>
          <p:cNvSpPr txBox="1">
            <a:spLocks/>
          </p:cNvSpPr>
          <p:nvPr/>
        </p:nvSpPr>
        <p:spPr>
          <a:xfrm>
            <a:off x="116114" y="725714"/>
            <a:ext cx="3628573" cy="5451249"/>
          </a:xfrm>
          <a:prstGeom prst="rect">
            <a:avLst/>
          </a:prstGeom>
        </p:spPr>
        <p:txBody>
          <a:bodyPr vert="horz" wrap="square"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8000"/>
              </a:lnSpc>
              <a:spcBef>
                <a:spcPts val="0"/>
              </a:spcBef>
              <a:spcAft>
                <a:spcPts val="1500"/>
              </a:spcAft>
              <a:buFont typeface="Arial" panose="020B0604020202020204" pitchFamily="34" charset="0"/>
              <a:buChar char="•"/>
              <a:defRPr sz="2800">
                <a:solidFill>
                  <a:srgbClr val="000000"/>
                </a:solidFill>
                <a:latin typeface="Calibri"/>
              </a:defRPr>
            </a:pPr>
            <a:r>
              <a:rPr sz="2800" dirty="0">
                <a:solidFill>
                  <a:srgbClr val="000000"/>
                </a:solidFill>
                <a:latin typeface="Calibri"/>
              </a:rPr>
              <a:t>Without a degree: disadvantages in jobs, health care and political influence.</a:t>
            </a:r>
          </a:p>
          <a:p>
            <a:pPr marL="342900" indent="-342900" algn="l">
              <a:lnSpc>
                <a:spcPct val="108000"/>
              </a:lnSpc>
              <a:spcBef>
                <a:spcPts val="0"/>
              </a:spcBef>
              <a:spcAft>
                <a:spcPts val="1500"/>
              </a:spcAft>
              <a:buFont typeface="Arial" panose="020B0604020202020204" pitchFamily="34" charset="0"/>
              <a:buChar char="•"/>
              <a:defRPr sz="2800">
                <a:solidFill>
                  <a:srgbClr val="000000"/>
                </a:solidFill>
                <a:latin typeface="Calibri"/>
              </a:defRPr>
            </a:pPr>
            <a:r>
              <a:rPr sz="2800" dirty="0">
                <a:solidFill>
                  <a:srgbClr val="000000"/>
                </a:solidFill>
                <a:latin typeface="Calibri"/>
              </a:rPr>
              <a:t>College attendance also reflects advantages already in place</a:t>
            </a:r>
            <a:r>
              <a:rPr lang="en-US" sz="2800" dirty="0">
                <a:solidFill>
                  <a:srgbClr val="000000"/>
                </a:solidFill>
                <a:latin typeface="Calibri"/>
              </a:rPr>
              <a:t> thru social determinants of health and their impacts after college</a:t>
            </a:r>
          </a:p>
        </p:txBody>
      </p:sp>
    </p:spTree>
    <p:extLst>
      <p:ext uri="{BB962C8B-B14F-4D97-AF65-F5344CB8AC3E}">
        <p14:creationId xmlns:p14="http://schemas.microsoft.com/office/powerpoint/2010/main" val="4023904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6F784A-9A05-440D-BFC3-BD7774D86AC0}"/>
              </a:ext>
            </a:extLst>
          </p:cNvPr>
          <p:cNvPicPr>
            <a:picLocks noGrp="1" noChangeAspect="1"/>
          </p:cNvPicPr>
          <p:nvPr>
            <p:ph idx="1"/>
          </p:nvPr>
        </p:nvPicPr>
        <p:blipFill>
          <a:blip r:embed="rId3"/>
          <a:stretch>
            <a:fillRect/>
          </a:stretch>
        </p:blipFill>
        <p:spPr>
          <a:xfrm>
            <a:off x="3196216" y="-95002"/>
            <a:ext cx="8879670" cy="6760528"/>
          </a:xfrm>
        </p:spPr>
      </p:pic>
      <p:sp>
        <p:nvSpPr>
          <p:cNvPr id="4" name="Content Placeholder 2">
            <a:extLst>
              <a:ext uri="{FF2B5EF4-FFF2-40B4-BE49-F238E27FC236}">
                <a16:creationId xmlns:a16="http://schemas.microsoft.com/office/drawing/2014/main" id="{5F1DAE29-9B5E-4B73-441B-C0384C7D4F59}"/>
              </a:ext>
            </a:extLst>
          </p:cNvPr>
          <p:cNvSpPr txBox="1">
            <a:spLocks/>
          </p:cNvSpPr>
          <p:nvPr/>
        </p:nvSpPr>
        <p:spPr>
          <a:xfrm>
            <a:off x="116114" y="725714"/>
            <a:ext cx="3628573" cy="54512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800" dirty="0"/>
              <a:t>This class gap creates a second class citizen effect that also contributes to political instability</a:t>
            </a:r>
          </a:p>
          <a:p>
            <a:endParaRPr lang="en-US" dirty="0"/>
          </a:p>
        </p:txBody>
      </p:sp>
    </p:spTree>
    <p:extLst>
      <p:ext uri="{BB962C8B-B14F-4D97-AF65-F5344CB8AC3E}">
        <p14:creationId xmlns:p14="http://schemas.microsoft.com/office/powerpoint/2010/main" val="1831870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FCE53A-4D42-4851-BFEC-AECB952D5566}"/>
              </a:ext>
            </a:extLst>
          </p:cNvPr>
          <p:cNvPicPr>
            <a:picLocks noChangeAspect="1"/>
          </p:cNvPicPr>
          <p:nvPr/>
        </p:nvPicPr>
        <p:blipFill>
          <a:blip r:embed="rId3"/>
          <a:stretch>
            <a:fillRect/>
          </a:stretch>
        </p:blipFill>
        <p:spPr>
          <a:xfrm>
            <a:off x="6421086" y="0"/>
            <a:ext cx="5435834" cy="6858000"/>
          </a:xfrm>
          <a:prstGeom prst="rect">
            <a:avLst/>
          </a:prstGeom>
        </p:spPr>
      </p:pic>
      <p:sp>
        <p:nvSpPr>
          <p:cNvPr id="11" name="Content Placeholder 2">
            <a:extLst>
              <a:ext uri="{FF2B5EF4-FFF2-40B4-BE49-F238E27FC236}">
                <a16:creationId xmlns:a16="http://schemas.microsoft.com/office/drawing/2014/main" id="{FB499404-4B75-9A60-26C7-39C6C5ECDE4E}"/>
              </a:ext>
            </a:extLst>
          </p:cNvPr>
          <p:cNvSpPr>
            <a:spLocks noGrp="1"/>
          </p:cNvSpPr>
          <p:nvPr>
            <p:ph idx="1"/>
          </p:nvPr>
        </p:nvSpPr>
        <p:spPr>
          <a:xfrm>
            <a:off x="513115" y="403224"/>
            <a:ext cx="5257800" cy="6033201"/>
          </a:xfrm>
        </p:spPr>
        <p:txBody>
          <a:bodyPr>
            <a:normAutofit/>
          </a:bodyPr>
          <a:lstStyle/>
          <a:p>
            <a:r>
              <a:rPr lang="en-US" sz="2800" dirty="0">
                <a:latin typeface="Calibri Light" panose="020F0302020204030204" pitchFamily="34" charset="0"/>
                <a:cs typeface="Calibri Light" panose="020F0302020204030204" pitchFamily="34" charset="0"/>
              </a:rPr>
              <a:t>You should not have to go to college to have a better chance of a longer, healthier life </a:t>
            </a:r>
            <a:endParaRPr lang="en-US" dirty="0">
              <a:latin typeface="Calibri Light" panose="020F0302020204030204" pitchFamily="34" charset="0"/>
              <a:cs typeface="Calibri Light" panose="020F0302020204030204" pitchFamily="34" charset="0"/>
            </a:endParaRPr>
          </a:p>
          <a:p>
            <a:r>
              <a:rPr lang="en-US" sz="2800" dirty="0">
                <a:latin typeface="Calibri Light" panose="020F0302020204030204" pitchFamily="34" charset="0"/>
                <a:cs typeface="Calibri Light" panose="020F0302020204030204" pitchFamily="34" charset="0"/>
              </a:rPr>
              <a:t>Universities and colleges  also have the inadvertent impact of reinforcing existing economic disparities</a:t>
            </a:r>
          </a:p>
          <a:p>
            <a:r>
              <a:rPr lang="en-US" dirty="0">
                <a:latin typeface="Calibri Light" panose="020F0302020204030204" pitchFamily="34" charset="0"/>
                <a:cs typeface="Calibri Light" panose="020F0302020204030204" pitchFamily="34" charset="0"/>
              </a:rPr>
              <a:t>Expensive private or elite public universities are competitive also because getting in becomes a class identity</a:t>
            </a:r>
            <a:endParaRPr lang="en-US" sz="2800" dirty="0">
              <a:latin typeface="Calibri Light" panose="020F0302020204030204" pitchFamily="34" charset="0"/>
              <a:cs typeface="Calibri Light" panose="020F0302020204030204" pitchFamily="34" charset="0"/>
            </a:endParaRPr>
          </a:p>
          <a:p>
            <a:pPr marL="0" indent="0">
              <a:buNone/>
            </a:pPr>
            <a:endParaRPr lang="en-US" sz="28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16110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FE77-6A59-D833-082E-9ED49BDB935E}"/>
              </a:ext>
            </a:extLst>
          </p:cNvPr>
          <p:cNvSpPr>
            <a:spLocks noGrp="1"/>
          </p:cNvSpPr>
          <p:nvPr>
            <p:ph type="title"/>
          </p:nvPr>
        </p:nvSpPr>
        <p:spPr/>
        <p:txBody>
          <a:bodyPr/>
          <a:lstStyle/>
          <a:p>
            <a:r>
              <a:rPr lang="en-US" dirty="0"/>
              <a:t>Reframing the deaths of despair model</a:t>
            </a:r>
          </a:p>
        </p:txBody>
      </p:sp>
      <p:sp>
        <p:nvSpPr>
          <p:cNvPr id="3" name="Content Placeholder 2">
            <a:extLst>
              <a:ext uri="{FF2B5EF4-FFF2-40B4-BE49-F238E27FC236}">
                <a16:creationId xmlns:a16="http://schemas.microsoft.com/office/drawing/2014/main" id="{11C06182-3189-5967-8C2F-8FCB9A20D9DF}"/>
              </a:ext>
            </a:extLst>
          </p:cNvPr>
          <p:cNvSpPr>
            <a:spLocks noGrp="1"/>
          </p:cNvSpPr>
          <p:nvPr>
            <p:ph idx="1"/>
          </p:nvPr>
        </p:nvSpPr>
        <p:spPr/>
        <p:txBody>
          <a:bodyPr/>
          <a:lstStyle/>
          <a:p>
            <a:pPr lvl="0"/>
            <a:r>
              <a:rPr lang="en-US" dirty="0"/>
              <a:t>Countries in Europe experienced similar shifts in manufacturing, job outsourcing, and rural economic stagnation, yet their life expectancies continued to climb during the same periods.</a:t>
            </a:r>
          </a:p>
          <a:p>
            <a:pPr lvl="0"/>
            <a:r>
              <a:rPr lang="en-US" dirty="0"/>
              <a:t>Despair as epidemic psychological state is less a cause than distinct American structural failures: a profit-driven healthcare system, a lack of robust social safety nets, and a failure to regulate highly addictive pharmaceutical product</a:t>
            </a:r>
          </a:p>
          <a:p>
            <a:endParaRPr lang="en-US" dirty="0"/>
          </a:p>
        </p:txBody>
      </p:sp>
    </p:spTree>
    <p:extLst>
      <p:ext uri="{BB962C8B-B14F-4D97-AF65-F5344CB8AC3E}">
        <p14:creationId xmlns:p14="http://schemas.microsoft.com/office/powerpoint/2010/main" val="3983260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B1209-9A0C-3930-7737-A6C5BF51E145}"/>
              </a:ext>
            </a:extLst>
          </p:cNvPr>
          <p:cNvSpPr>
            <a:spLocks noGrp="1"/>
          </p:cNvSpPr>
          <p:nvPr>
            <p:ph type="title"/>
          </p:nvPr>
        </p:nvSpPr>
        <p:spPr/>
        <p:txBody>
          <a:bodyPr/>
          <a:lstStyle/>
          <a:p>
            <a:r>
              <a:rPr lang="en-US" dirty="0"/>
              <a:t>Deaths of despair and the collapse of the Soviet Union</a:t>
            </a:r>
          </a:p>
        </p:txBody>
      </p:sp>
      <p:sp>
        <p:nvSpPr>
          <p:cNvPr id="3" name="Content Placeholder 2">
            <a:extLst>
              <a:ext uri="{FF2B5EF4-FFF2-40B4-BE49-F238E27FC236}">
                <a16:creationId xmlns:a16="http://schemas.microsoft.com/office/drawing/2014/main" id="{0BB4F5C6-9B3D-DC91-9A2C-BBE384C091C1}"/>
              </a:ext>
            </a:extLst>
          </p:cNvPr>
          <p:cNvSpPr>
            <a:spLocks noGrp="1"/>
          </p:cNvSpPr>
          <p:nvPr>
            <p:ph idx="1"/>
          </p:nvPr>
        </p:nvSpPr>
        <p:spPr/>
        <p:txBody>
          <a:bodyPr>
            <a:normAutofit lnSpcReduction="10000"/>
          </a:bodyPr>
          <a:lstStyle/>
          <a:p>
            <a:r>
              <a:rPr lang="en-US" dirty="0"/>
              <a:t>In the early 1990s, in the aftermath of the collapse of the Soviet Union, life expectancy in former Soviet Union and Eastern Europe fell dramatically. </a:t>
            </a:r>
          </a:p>
          <a:p>
            <a:r>
              <a:rPr lang="en-US" dirty="0"/>
              <a:t>In Russia, between 1989 and 1995 there were 1.3 to 1.7 million premature deaths as life expectancy fell from 70 in 1989 to 64 in 1995.</a:t>
            </a:r>
          </a:p>
          <a:p>
            <a:r>
              <a:rPr lang="en-US" dirty="0"/>
              <a:t>Significant increase in suicides and drug and alcohol abuse, leading to an increase in cardiovascular and liver diseases in middle aged men and women. </a:t>
            </a:r>
          </a:p>
          <a:p>
            <a:r>
              <a:rPr lang="en-US" dirty="0"/>
              <a:t>Not direct deprivation, nor collapse of the health system that were driving these deaths. - psychological stress likely brought on by the shock of the severe economic transition.  </a:t>
            </a:r>
          </a:p>
        </p:txBody>
      </p:sp>
    </p:spTree>
    <p:extLst>
      <p:ext uri="{BB962C8B-B14F-4D97-AF65-F5344CB8AC3E}">
        <p14:creationId xmlns:p14="http://schemas.microsoft.com/office/powerpoint/2010/main" val="737980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F0DC-45BD-51AB-E514-7AD11E2B0B6A}"/>
              </a:ext>
            </a:extLst>
          </p:cNvPr>
          <p:cNvSpPr>
            <a:spLocks noGrp="1"/>
          </p:cNvSpPr>
          <p:nvPr>
            <p:ph type="title"/>
          </p:nvPr>
        </p:nvSpPr>
        <p:spPr/>
        <p:txBody>
          <a:bodyPr/>
          <a:lstStyle/>
          <a:p>
            <a:pPr algn="ctr"/>
            <a:r>
              <a:rPr lang="en-US" dirty="0"/>
              <a:t>Deaths of despair did not happen in much of western Europe</a:t>
            </a:r>
          </a:p>
        </p:txBody>
      </p:sp>
      <p:sp>
        <p:nvSpPr>
          <p:cNvPr id="3" name="Content Placeholder 2">
            <a:extLst>
              <a:ext uri="{FF2B5EF4-FFF2-40B4-BE49-F238E27FC236}">
                <a16:creationId xmlns:a16="http://schemas.microsoft.com/office/drawing/2014/main" id="{5DF4ED13-D42C-DBEA-FA18-DD2557F22623}"/>
              </a:ext>
            </a:extLst>
          </p:cNvPr>
          <p:cNvSpPr>
            <a:spLocks noGrp="1"/>
          </p:cNvSpPr>
          <p:nvPr>
            <p:ph idx="1"/>
          </p:nvPr>
        </p:nvSpPr>
        <p:spPr/>
        <p:txBody>
          <a:bodyPr>
            <a:normAutofit lnSpcReduction="10000"/>
          </a:bodyPr>
          <a:lstStyle/>
          <a:p>
            <a:r>
              <a:rPr lang="en-US" dirty="0"/>
              <a:t>European countries have not experienced deaths of despair even though the impact of globalization has also been an outsourcing of jobs and manufacturing</a:t>
            </a:r>
          </a:p>
          <a:p>
            <a:r>
              <a:rPr lang="en-US" dirty="0"/>
              <a:t>Most European countries have experienced an improvement in the health of less educated in recent years</a:t>
            </a:r>
          </a:p>
          <a:p>
            <a:r>
              <a:rPr lang="en-US" dirty="0"/>
              <a:t>Attributed to better social safety net when economic opportunities disappear</a:t>
            </a:r>
          </a:p>
          <a:p>
            <a:r>
              <a:rPr lang="en-US" dirty="0"/>
              <a:t>More varied post-high school educational opportunities – trades and craft education is much better developed in Europe</a:t>
            </a:r>
          </a:p>
          <a:p>
            <a:r>
              <a:rPr lang="en-US" dirty="0"/>
              <a:t>Pharmaceutical laws regulate opioids much more stringently </a:t>
            </a:r>
          </a:p>
        </p:txBody>
      </p:sp>
    </p:spTree>
    <p:extLst>
      <p:ext uri="{BB962C8B-B14F-4D97-AF65-F5344CB8AC3E}">
        <p14:creationId xmlns:p14="http://schemas.microsoft.com/office/powerpoint/2010/main" val="3317795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15CB-4F32-9BA9-2B3C-294F35DCBF68}"/>
              </a:ext>
            </a:extLst>
          </p:cNvPr>
          <p:cNvSpPr>
            <a:spLocks noGrp="1"/>
          </p:cNvSpPr>
          <p:nvPr>
            <p:ph type="title"/>
          </p:nvPr>
        </p:nvSpPr>
        <p:spPr>
          <a:xfrm>
            <a:off x="377371" y="267607"/>
            <a:ext cx="5950424" cy="1325563"/>
          </a:xfrm>
        </p:spPr>
        <p:txBody>
          <a:bodyPr/>
          <a:lstStyle/>
          <a:p>
            <a:r>
              <a:rPr lang="en-US" dirty="0"/>
              <a:t>Scotland is an exception</a:t>
            </a:r>
          </a:p>
        </p:txBody>
      </p:sp>
      <p:sp>
        <p:nvSpPr>
          <p:cNvPr id="3" name="Content Placeholder 2">
            <a:extLst>
              <a:ext uri="{FF2B5EF4-FFF2-40B4-BE49-F238E27FC236}">
                <a16:creationId xmlns:a16="http://schemas.microsoft.com/office/drawing/2014/main" id="{9B838CE7-D016-2199-4B02-F4B047DA7D0A}"/>
              </a:ext>
            </a:extLst>
          </p:cNvPr>
          <p:cNvSpPr>
            <a:spLocks noGrp="1"/>
          </p:cNvSpPr>
          <p:nvPr>
            <p:ph idx="1"/>
          </p:nvPr>
        </p:nvSpPr>
        <p:spPr>
          <a:xfrm>
            <a:off x="377371" y="1825625"/>
            <a:ext cx="5466663" cy="4709886"/>
          </a:xfrm>
        </p:spPr>
        <p:txBody>
          <a:bodyPr>
            <a:normAutofit/>
          </a:bodyPr>
          <a:lstStyle/>
          <a:p>
            <a:r>
              <a:rPr lang="en-US" dirty="0"/>
              <a:t>Harder hit by deindustrialization and outsourcing of mining, manufacturing, and shipbuilding</a:t>
            </a:r>
          </a:p>
          <a:p>
            <a:r>
              <a:rPr lang="en-US" dirty="0"/>
              <a:t>Historically high rates of alcoholism</a:t>
            </a:r>
          </a:p>
          <a:p>
            <a:r>
              <a:rPr lang="en-US" dirty="0"/>
              <a:t>High rates of opioid-related deaths following deindustrialization</a:t>
            </a:r>
          </a:p>
          <a:p>
            <a:r>
              <a:rPr lang="en-US" dirty="0"/>
              <a:t>Scotland’s government has limited control of economic policies that originate from the UK government</a:t>
            </a:r>
          </a:p>
        </p:txBody>
      </p:sp>
      <p:pic>
        <p:nvPicPr>
          <p:cNvPr id="7" name="Picture 6" descr="A group of people walking on a street&#10;&#10;Description automatically generated">
            <a:extLst>
              <a:ext uri="{FF2B5EF4-FFF2-40B4-BE49-F238E27FC236}">
                <a16:creationId xmlns:a16="http://schemas.microsoft.com/office/drawing/2014/main" id="{EAF288E2-8114-D7B6-CEB1-724099EA9F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795" y="267607"/>
            <a:ext cx="5688439" cy="5871936"/>
          </a:xfrm>
          <a:prstGeom prst="rect">
            <a:avLst/>
          </a:prstGeom>
        </p:spPr>
      </p:pic>
    </p:spTree>
    <p:extLst>
      <p:ext uri="{BB962C8B-B14F-4D97-AF65-F5344CB8AC3E}">
        <p14:creationId xmlns:p14="http://schemas.microsoft.com/office/powerpoint/2010/main" val="1542916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6578E-7D7F-95A4-F337-2D4A56B2DBBD}"/>
              </a:ext>
            </a:extLst>
          </p:cNvPr>
          <p:cNvSpPr>
            <a:spLocks noGrp="1"/>
          </p:cNvSpPr>
          <p:nvPr>
            <p:ph type="title"/>
          </p:nvPr>
        </p:nvSpPr>
        <p:spPr/>
        <p:txBody>
          <a:bodyPr>
            <a:normAutofit/>
          </a:bodyPr>
          <a:lstStyle/>
          <a:p>
            <a:pPr algn="ctr"/>
            <a:r>
              <a:rPr lang="en-US" dirty="0"/>
              <a:t>Inequality emerges in economic systems. What matters is the response to it. </a:t>
            </a:r>
          </a:p>
        </p:txBody>
      </p:sp>
      <p:sp>
        <p:nvSpPr>
          <p:cNvPr id="3" name="Content Placeholder 2">
            <a:extLst>
              <a:ext uri="{FF2B5EF4-FFF2-40B4-BE49-F238E27FC236}">
                <a16:creationId xmlns:a16="http://schemas.microsoft.com/office/drawing/2014/main" id="{4869B399-FEEA-D3DD-30CA-C93D67745E58}"/>
              </a:ext>
            </a:extLst>
          </p:cNvPr>
          <p:cNvSpPr>
            <a:spLocks noGrp="1"/>
          </p:cNvSpPr>
          <p:nvPr>
            <p:ph idx="1"/>
          </p:nvPr>
        </p:nvSpPr>
        <p:spPr>
          <a:xfrm>
            <a:off x="838200" y="1825625"/>
            <a:ext cx="5983514" cy="4351338"/>
          </a:xfrm>
        </p:spPr>
        <p:txBody>
          <a:bodyPr>
            <a:normAutofit lnSpcReduction="10000"/>
          </a:bodyPr>
          <a:lstStyle/>
          <a:p>
            <a:r>
              <a:rPr lang="en-US" dirty="0"/>
              <a:t>European countries more aggressive about reshaping prosperity</a:t>
            </a:r>
          </a:p>
          <a:p>
            <a:r>
              <a:rPr lang="en-US" dirty="0"/>
              <a:t>Consumption taxes used to pay for universal health care and housing, child care and early child education.</a:t>
            </a:r>
          </a:p>
          <a:p>
            <a:r>
              <a:rPr lang="en-US" dirty="0"/>
              <a:t>Unions are more powerful and labor laws are more protective of workers.</a:t>
            </a:r>
          </a:p>
          <a:p>
            <a:r>
              <a:rPr lang="en-US" dirty="0"/>
              <a:t>Job protections have prevented the spread of precarious, low-pay work prevalent across the U.S. service sector. </a:t>
            </a:r>
          </a:p>
          <a:p>
            <a:pPr marL="0" indent="0">
              <a:buNone/>
            </a:pPr>
            <a:endParaRPr lang="en-US" dirty="0"/>
          </a:p>
          <a:p>
            <a:endParaRPr lang="en-US" dirty="0"/>
          </a:p>
        </p:txBody>
      </p:sp>
      <p:pic>
        <p:nvPicPr>
          <p:cNvPr id="4" name="Content Placeholder 4">
            <a:extLst>
              <a:ext uri="{FF2B5EF4-FFF2-40B4-BE49-F238E27FC236}">
                <a16:creationId xmlns:a16="http://schemas.microsoft.com/office/drawing/2014/main" id="{8224BF9D-D013-B960-506F-F8C2EE4D9796}"/>
              </a:ext>
            </a:extLst>
          </p:cNvPr>
          <p:cNvPicPr>
            <a:picLocks noChangeAspect="1"/>
          </p:cNvPicPr>
          <p:nvPr/>
        </p:nvPicPr>
        <p:blipFill>
          <a:blip r:embed="rId3"/>
          <a:stretch>
            <a:fillRect/>
          </a:stretch>
        </p:blipFill>
        <p:spPr>
          <a:xfrm>
            <a:off x="6821714" y="1690688"/>
            <a:ext cx="4566677" cy="4351338"/>
          </a:xfrm>
          <a:prstGeom prst="rect">
            <a:avLst/>
          </a:prstGeom>
        </p:spPr>
      </p:pic>
    </p:spTree>
    <p:extLst>
      <p:ext uri="{BB962C8B-B14F-4D97-AF65-F5344CB8AC3E}">
        <p14:creationId xmlns:p14="http://schemas.microsoft.com/office/powerpoint/2010/main" val="1806975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nline Media 5" title="Country Doctor | Official Trailer | HBO">
            <a:hlinkClick r:id="" action="ppaction://media"/>
            <a:extLst>
              <a:ext uri="{FF2B5EF4-FFF2-40B4-BE49-F238E27FC236}">
                <a16:creationId xmlns:a16="http://schemas.microsoft.com/office/drawing/2014/main" id="{BD322A8F-AF4C-A356-F24E-26057B586B3D}"/>
              </a:ext>
            </a:extLst>
          </p:cNvPr>
          <p:cNvPicPr>
            <a:picLocks noGrp="1" noRot="1" noChangeAspect="1"/>
          </p:cNvPicPr>
          <p:nvPr>
            <p:ph idx="1"/>
            <a:videoFile r:link="rId1"/>
          </p:nvPr>
        </p:nvPicPr>
        <p:blipFill>
          <a:blip r:embed="rId4"/>
          <a:stretch>
            <a:fillRect/>
          </a:stretch>
        </p:blipFill>
        <p:spPr>
          <a:xfrm>
            <a:off x="152083" y="146455"/>
            <a:ext cx="11887833" cy="6711545"/>
          </a:xfrm>
          <a:prstGeom prst="rect">
            <a:avLst/>
          </a:prstGeom>
        </p:spPr>
      </p:pic>
    </p:spTree>
    <p:extLst>
      <p:ext uri="{BB962C8B-B14F-4D97-AF65-F5344CB8AC3E}">
        <p14:creationId xmlns:p14="http://schemas.microsoft.com/office/powerpoint/2010/main" val="298798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DA9A3-1AC3-C0EB-2052-9B9172FF3F58}"/>
              </a:ext>
            </a:extLst>
          </p:cNvPr>
          <p:cNvSpPr>
            <a:spLocks noGrp="1"/>
          </p:cNvSpPr>
          <p:nvPr>
            <p:ph type="title"/>
          </p:nvPr>
        </p:nvSpPr>
        <p:spPr/>
        <p:txBody>
          <a:bodyPr/>
          <a:lstStyle/>
          <a:p>
            <a:r>
              <a:rPr lang="en-US" dirty="0"/>
              <a:t>Rural health care decline: hospital closures</a:t>
            </a:r>
          </a:p>
        </p:txBody>
      </p:sp>
      <p:pic>
        <p:nvPicPr>
          <p:cNvPr id="4" name="Picture 3">
            <a:extLst>
              <a:ext uri="{FF2B5EF4-FFF2-40B4-BE49-F238E27FC236}">
                <a16:creationId xmlns:a16="http://schemas.microsoft.com/office/drawing/2014/main" id="{782F9697-2203-9DFD-4545-A8DDD4BFE796}"/>
              </a:ext>
            </a:extLst>
          </p:cNvPr>
          <p:cNvPicPr>
            <a:picLocks noChangeAspect="1"/>
          </p:cNvPicPr>
          <p:nvPr/>
        </p:nvPicPr>
        <p:blipFill>
          <a:blip r:embed="rId3"/>
          <a:stretch>
            <a:fillRect/>
          </a:stretch>
        </p:blipFill>
        <p:spPr>
          <a:xfrm>
            <a:off x="6763121" y="1704610"/>
            <a:ext cx="5150020" cy="4459811"/>
          </a:xfrm>
          <a:prstGeom prst="rect">
            <a:avLst/>
          </a:prstGeom>
        </p:spPr>
      </p:pic>
      <p:pic>
        <p:nvPicPr>
          <p:cNvPr id="5" name="Online Media 11" title="Rural Hospitals Across Tennessee At Risk Of Closing">
            <a:hlinkClick r:id="" action="ppaction://media"/>
            <a:extLst>
              <a:ext uri="{FF2B5EF4-FFF2-40B4-BE49-F238E27FC236}">
                <a16:creationId xmlns:a16="http://schemas.microsoft.com/office/drawing/2014/main" id="{12C43492-6119-40BC-18DC-4E61C5BCF22D}"/>
              </a:ext>
            </a:extLst>
          </p:cNvPr>
          <p:cNvPicPr>
            <a:picLocks noRot="1" noChangeAspect="1"/>
          </p:cNvPicPr>
          <p:nvPr>
            <a:videoFile r:link="rId1"/>
          </p:nvPr>
        </p:nvPicPr>
        <p:blipFill>
          <a:blip r:embed="rId4"/>
          <a:stretch>
            <a:fillRect/>
          </a:stretch>
        </p:blipFill>
        <p:spPr>
          <a:xfrm>
            <a:off x="145597" y="1843315"/>
            <a:ext cx="6374406" cy="3598724"/>
          </a:xfrm>
          <a:prstGeom prst="rect">
            <a:avLst/>
          </a:prstGeom>
        </p:spPr>
      </p:pic>
    </p:spTree>
    <p:extLst>
      <p:ext uri="{BB962C8B-B14F-4D97-AF65-F5344CB8AC3E}">
        <p14:creationId xmlns:p14="http://schemas.microsoft.com/office/powerpoint/2010/main" val="33437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8E69-CF47-4BDA-8C9D-AC6CEB692A35}"/>
              </a:ext>
            </a:extLst>
          </p:cNvPr>
          <p:cNvSpPr>
            <a:spLocks noGrp="1"/>
          </p:cNvSpPr>
          <p:nvPr>
            <p:ph type="title"/>
          </p:nvPr>
        </p:nvSpPr>
        <p:spPr>
          <a:xfrm>
            <a:off x="0" y="175163"/>
            <a:ext cx="11695871" cy="1325563"/>
          </a:xfrm>
        </p:spPr>
        <p:txBody>
          <a:bodyPr/>
          <a:lstStyle/>
          <a:p>
            <a:pPr algn="ctr"/>
            <a:r>
              <a:rPr lang="en-US" dirty="0"/>
              <a:t>Why are US rural hospitals closing?</a:t>
            </a:r>
          </a:p>
        </p:txBody>
      </p:sp>
      <p:sp>
        <p:nvSpPr>
          <p:cNvPr id="3" name="Content Placeholder 2">
            <a:extLst>
              <a:ext uri="{FF2B5EF4-FFF2-40B4-BE49-F238E27FC236}">
                <a16:creationId xmlns:a16="http://schemas.microsoft.com/office/drawing/2014/main" id="{ACC78666-A2E5-4468-B462-4DE88D163860}"/>
              </a:ext>
            </a:extLst>
          </p:cNvPr>
          <p:cNvSpPr>
            <a:spLocks noGrp="1"/>
          </p:cNvSpPr>
          <p:nvPr>
            <p:ph idx="1"/>
          </p:nvPr>
        </p:nvSpPr>
        <p:spPr>
          <a:xfrm>
            <a:off x="257978" y="1828800"/>
            <a:ext cx="4330351" cy="4551902"/>
          </a:xfrm>
        </p:spPr>
        <p:txBody>
          <a:bodyPr>
            <a:normAutofit/>
          </a:bodyPr>
          <a:lstStyle/>
          <a:p>
            <a:r>
              <a:rPr lang="en-US" sz="3200" dirty="0"/>
              <a:t>Shrinking rural populations</a:t>
            </a:r>
          </a:p>
          <a:p>
            <a:r>
              <a:rPr lang="en-US" sz="3200" dirty="0"/>
              <a:t>Rural residents are older, sicker, and poorer</a:t>
            </a:r>
          </a:p>
          <a:p>
            <a:r>
              <a:rPr lang="en-US" sz="3200" dirty="0"/>
              <a:t>Aging hospital facilities</a:t>
            </a:r>
          </a:p>
          <a:p>
            <a:r>
              <a:rPr lang="en-US" sz="3200" dirty="0"/>
              <a:t>Large number of uninsured </a:t>
            </a:r>
          </a:p>
          <a:p>
            <a:r>
              <a:rPr lang="en-US" sz="3200" dirty="0"/>
              <a:t>The Medicaid coverage gap</a:t>
            </a:r>
          </a:p>
        </p:txBody>
      </p:sp>
      <p:pic>
        <p:nvPicPr>
          <p:cNvPr id="8" name="Online Media 7" title="US: More rural hospitals at risk of closing">
            <a:hlinkClick r:id="" action="ppaction://media"/>
            <a:extLst>
              <a:ext uri="{FF2B5EF4-FFF2-40B4-BE49-F238E27FC236}">
                <a16:creationId xmlns:a16="http://schemas.microsoft.com/office/drawing/2014/main" id="{5B04619F-BDEB-0A95-45A7-3D9DE6A81C9E}"/>
              </a:ext>
            </a:extLst>
          </p:cNvPr>
          <p:cNvPicPr>
            <a:picLocks noRot="1" noChangeAspect="1"/>
          </p:cNvPicPr>
          <p:nvPr>
            <a:videoFile r:link="rId1"/>
          </p:nvPr>
        </p:nvPicPr>
        <p:blipFill>
          <a:blip r:embed="rId4"/>
          <a:stretch>
            <a:fillRect/>
          </a:stretch>
        </p:blipFill>
        <p:spPr>
          <a:xfrm>
            <a:off x="5293415" y="1828800"/>
            <a:ext cx="6640607" cy="3751943"/>
          </a:xfrm>
          <a:prstGeom prst="rect">
            <a:avLst/>
          </a:prstGeom>
        </p:spPr>
      </p:pic>
    </p:spTree>
    <p:extLst>
      <p:ext uri="{BB962C8B-B14F-4D97-AF65-F5344CB8AC3E}">
        <p14:creationId xmlns:p14="http://schemas.microsoft.com/office/powerpoint/2010/main" val="163265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0C84A-202C-4BDC-B501-E3082F1A9082}"/>
              </a:ext>
            </a:extLst>
          </p:cNvPr>
          <p:cNvSpPr>
            <a:spLocks noGrp="1"/>
          </p:cNvSpPr>
          <p:nvPr>
            <p:ph type="title"/>
          </p:nvPr>
        </p:nvSpPr>
        <p:spPr>
          <a:xfrm>
            <a:off x="5025726" y="365125"/>
            <a:ext cx="6830994" cy="1325563"/>
          </a:xfrm>
        </p:spPr>
        <p:txBody>
          <a:bodyPr/>
          <a:lstStyle/>
          <a:p>
            <a:pPr algn="ctr"/>
            <a:r>
              <a:rPr lang="en-US" dirty="0"/>
              <a:t>Health care shortage areas</a:t>
            </a:r>
          </a:p>
        </p:txBody>
      </p:sp>
      <p:sp>
        <p:nvSpPr>
          <p:cNvPr id="3" name="Content Placeholder 2">
            <a:extLst>
              <a:ext uri="{FF2B5EF4-FFF2-40B4-BE49-F238E27FC236}">
                <a16:creationId xmlns:a16="http://schemas.microsoft.com/office/drawing/2014/main" id="{E64A6DAC-55BA-4C73-8334-492A6721657F}"/>
              </a:ext>
            </a:extLst>
          </p:cNvPr>
          <p:cNvSpPr>
            <a:spLocks noGrp="1"/>
          </p:cNvSpPr>
          <p:nvPr>
            <p:ph idx="1"/>
          </p:nvPr>
        </p:nvSpPr>
        <p:spPr>
          <a:xfrm>
            <a:off x="563880" y="365125"/>
            <a:ext cx="4008120" cy="6281335"/>
          </a:xfrm>
        </p:spPr>
        <p:txBody>
          <a:bodyPr>
            <a:normAutofit/>
          </a:bodyPr>
          <a:lstStyle/>
          <a:p>
            <a:r>
              <a:rPr lang="en-US" dirty="0"/>
              <a:t>Tennessee has recently lost 14% of its rural physicians and 18% of its rural hospitals, leaving 2.5 million residents with insufficient access to medical care. </a:t>
            </a:r>
          </a:p>
          <a:p>
            <a:r>
              <a:rPr lang="en-US" dirty="0"/>
              <a:t>A record 50 million rural Americans live in "health care shortage areas," where the number of hospitals, family doctors, surgeons and paramedics has declined to 20-year lows.</a:t>
            </a:r>
          </a:p>
          <a:p>
            <a:endParaRPr lang="en-US" dirty="0"/>
          </a:p>
        </p:txBody>
      </p:sp>
      <p:pic>
        <p:nvPicPr>
          <p:cNvPr id="6" name="Picture 5" descr="A group of people in blue coats at tables&#10;&#10;Description automatically generated">
            <a:extLst>
              <a:ext uri="{FF2B5EF4-FFF2-40B4-BE49-F238E27FC236}">
                <a16:creationId xmlns:a16="http://schemas.microsoft.com/office/drawing/2014/main" id="{2F6A1C1C-0BB9-1720-B6CB-E5BB2D09C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5726" y="1690688"/>
            <a:ext cx="7166274" cy="4610303"/>
          </a:xfrm>
          <a:prstGeom prst="rect">
            <a:avLst/>
          </a:prstGeom>
        </p:spPr>
      </p:pic>
    </p:spTree>
    <p:extLst>
      <p:ext uri="{BB962C8B-B14F-4D97-AF65-F5344CB8AC3E}">
        <p14:creationId xmlns:p14="http://schemas.microsoft.com/office/powerpoint/2010/main" val="3887530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0DFB61-3028-4635-9804-4EC281457F19}"/>
              </a:ext>
            </a:extLst>
          </p:cNvPr>
          <p:cNvPicPr>
            <a:picLocks noGrp="1" noChangeAspect="1"/>
          </p:cNvPicPr>
          <p:nvPr>
            <p:ph idx="1"/>
          </p:nvPr>
        </p:nvPicPr>
        <p:blipFill rotWithShape="1">
          <a:blip r:embed="rId3"/>
          <a:srcRect l="39359" r="11576" b="13970"/>
          <a:stretch/>
        </p:blipFill>
        <p:spPr>
          <a:xfrm>
            <a:off x="193028" y="386080"/>
            <a:ext cx="4601726" cy="5846610"/>
          </a:xfrm>
        </p:spPr>
      </p:pic>
      <p:pic>
        <p:nvPicPr>
          <p:cNvPr id="7" name="Picture 6">
            <a:extLst>
              <a:ext uri="{FF2B5EF4-FFF2-40B4-BE49-F238E27FC236}">
                <a16:creationId xmlns:a16="http://schemas.microsoft.com/office/drawing/2014/main" id="{DFF20C74-FDAB-40ED-A65C-BD33F45D97F0}"/>
              </a:ext>
            </a:extLst>
          </p:cNvPr>
          <p:cNvPicPr>
            <a:picLocks noChangeAspect="1"/>
          </p:cNvPicPr>
          <p:nvPr/>
        </p:nvPicPr>
        <p:blipFill>
          <a:blip r:embed="rId4"/>
          <a:stretch>
            <a:fillRect/>
          </a:stretch>
        </p:blipFill>
        <p:spPr>
          <a:xfrm>
            <a:off x="5165571" y="246669"/>
            <a:ext cx="6650257" cy="1536894"/>
          </a:xfrm>
          <a:prstGeom prst="rect">
            <a:avLst/>
          </a:prstGeom>
        </p:spPr>
      </p:pic>
      <p:pic>
        <p:nvPicPr>
          <p:cNvPr id="9" name="Picture 8">
            <a:extLst>
              <a:ext uri="{FF2B5EF4-FFF2-40B4-BE49-F238E27FC236}">
                <a16:creationId xmlns:a16="http://schemas.microsoft.com/office/drawing/2014/main" id="{6332266E-88DD-4C8A-AD1D-4DB37FB4BAB6}"/>
              </a:ext>
            </a:extLst>
          </p:cNvPr>
          <p:cNvPicPr>
            <a:picLocks noChangeAspect="1"/>
          </p:cNvPicPr>
          <p:nvPr/>
        </p:nvPicPr>
        <p:blipFill>
          <a:blip r:embed="rId5"/>
          <a:stretch>
            <a:fillRect/>
          </a:stretch>
        </p:blipFill>
        <p:spPr>
          <a:xfrm>
            <a:off x="5165571" y="1893978"/>
            <a:ext cx="6650257" cy="4790832"/>
          </a:xfrm>
          <a:prstGeom prst="rect">
            <a:avLst/>
          </a:prstGeom>
        </p:spPr>
      </p:pic>
    </p:spTree>
    <p:extLst>
      <p:ext uri="{BB962C8B-B14F-4D97-AF65-F5344CB8AC3E}">
        <p14:creationId xmlns:p14="http://schemas.microsoft.com/office/powerpoint/2010/main" val="3888374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65F18-5609-4CF5-A538-8830FB9CCB90}"/>
              </a:ext>
            </a:extLst>
          </p:cNvPr>
          <p:cNvSpPr>
            <a:spLocks noGrp="1"/>
          </p:cNvSpPr>
          <p:nvPr>
            <p:ph idx="1"/>
          </p:nvPr>
        </p:nvSpPr>
        <p:spPr>
          <a:xfrm>
            <a:off x="269824" y="332509"/>
            <a:ext cx="4332157" cy="6415732"/>
          </a:xfrm>
        </p:spPr>
        <p:txBody>
          <a:bodyPr>
            <a:normAutofit/>
          </a:bodyPr>
          <a:lstStyle/>
          <a:p>
            <a:r>
              <a:rPr lang="en-US" b="1" dirty="0">
                <a:latin typeface="+mj-lt"/>
              </a:rPr>
              <a:t>Defined in terms of physical distance </a:t>
            </a:r>
            <a:r>
              <a:rPr lang="en-US" dirty="0">
                <a:latin typeface="+mj-lt"/>
              </a:rPr>
              <a:t>as in medical ‘deserts’</a:t>
            </a:r>
          </a:p>
          <a:p>
            <a:r>
              <a:rPr lang="en-US" b="1" dirty="0">
                <a:latin typeface="+mj-lt"/>
              </a:rPr>
              <a:t>Defined as a relative distance </a:t>
            </a:r>
            <a:r>
              <a:rPr lang="en-US" dirty="0">
                <a:latin typeface="+mj-lt"/>
              </a:rPr>
              <a:t>- a treatment may be close by but unavailable due to monetary cost</a:t>
            </a:r>
          </a:p>
          <a:p>
            <a:r>
              <a:rPr lang="en-US" b="1" dirty="0">
                <a:latin typeface="+mj-lt"/>
              </a:rPr>
              <a:t>Distance can also be economic</a:t>
            </a:r>
            <a:r>
              <a:rPr lang="en-US" dirty="0">
                <a:latin typeface="+mj-lt"/>
              </a:rPr>
              <a:t>:  access to medicines or treatments may not exist because the profit incentives to develop or provide them are low</a:t>
            </a:r>
          </a:p>
          <a:p>
            <a:endParaRPr lang="en-US" dirty="0">
              <a:latin typeface="+mj-lt"/>
            </a:endParaRPr>
          </a:p>
        </p:txBody>
      </p:sp>
      <p:pic>
        <p:nvPicPr>
          <p:cNvPr id="7" name="Picture 6">
            <a:extLst>
              <a:ext uri="{FF2B5EF4-FFF2-40B4-BE49-F238E27FC236}">
                <a16:creationId xmlns:a16="http://schemas.microsoft.com/office/drawing/2014/main" id="{0B370D73-8A13-4C8F-896F-72FFDA93159A}"/>
              </a:ext>
            </a:extLst>
          </p:cNvPr>
          <p:cNvPicPr>
            <a:picLocks noChangeAspect="1"/>
          </p:cNvPicPr>
          <p:nvPr/>
        </p:nvPicPr>
        <p:blipFill>
          <a:blip r:embed="rId3"/>
          <a:stretch>
            <a:fillRect/>
          </a:stretch>
        </p:blipFill>
        <p:spPr>
          <a:xfrm>
            <a:off x="5004262" y="1684704"/>
            <a:ext cx="6545322" cy="4990960"/>
          </a:xfrm>
          <a:prstGeom prst="rect">
            <a:avLst/>
          </a:prstGeom>
        </p:spPr>
      </p:pic>
      <p:sp>
        <p:nvSpPr>
          <p:cNvPr id="2" name="Title 1">
            <a:extLst>
              <a:ext uri="{FF2B5EF4-FFF2-40B4-BE49-F238E27FC236}">
                <a16:creationId xmlns:a16="http://schemas.microsoft.com/office/drawing/2014/main" id="{975254BA-179D-3883-601A-4364EBEB34AE}"/>
              </a:ext>
            </a:extLst>
          </p:cNvPr>
          <p:cNvSpPr>
            <a:spLocks noGrp="1"/>
          </p:cNvSpPr>
          <p:nvPr>
            <p:ph type="title"/>
          </p:nvPr>
        </p:nvSpPr>
        <p:spPr>
          <a:xfrm>
            <a:off x="5004262" y="182336"/>
            <a:ext cx="6830994" cy="1325563"/>
          </a:xfrm>
        </p:spPr>
        <p:txBody>
          <a:bodyPr/>
          <a:lstStyle/>
          <a:p>
            <a:pPr algn="ctr"/>
            <a:r>
              <a:rPr lang="en-US" dirty="0"/>
              <a:t>Definitions of distance in health care access</a:t>
            </a:r>
          </a:p>
        </p:txBody>
      </p:sp>
    </p:spTree>
    <p:extLst>
      <p:ext uri="{BB962C8B-B14F-4D97-AF65-F5344CB8AC3E}">
        <p14:creationId xmlns:p14="http://schemas.microsoft.com/office/powerpoint/2010/main" val="2741932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F6187-A6D2-502D-7D40-767E1DF78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AF2A4-F394-CBFC-56C2-B76D0DAF7E05}"/>
              </a:ext>
            </a:extLst>
          </p:cNvPr>
          <p:cNvSpPr>
            <a:spLocks noGrp="1"/>
          </p:cNvSpPr>
          <p:nvPr>
            <p:ph type="title"/>
          </p:nvPr>
        </p:nvSpPr>
        <p:spPr>
          <a:xfrm>
            <a:off x="5342965" y="250351"/>
            <a:ext cx="6422293" cy="1325563"/>
          </a:xfrm>
        </p:spPr>
        <p:txBody>
          <a:bodyPr/>
          <a:lstStyle/>
          <a:p>
            <a:pPr algn="ctr"/>
            <a:r>
              <a:rPr lang="en-US" dirty="0"/>
              <a:t>The Medicaid coverage gap</a:t>
            </a:r>
          </a:p>
        </p:txBody>
      </p:sp>
      <p:sp>
        <p:nvSpPr>
          <p:cNvPr id="3" name="Content Placeholder 2">
            <a:extLst>
              <a:ext uri="{FF2B5EF4-FFF2-40B4-BE49-F238E27FC236}">
                <a16:creationId xmlns:a16="http://schemas.microsoft.com/office/drawing/2014/main" id="{6CD594E9-3CAD-B6DE-C73B-C8CF1205DDA8}"/>
              </a:ext>
            </a:extLst>
          </p:cNvPr>
          <p:cNvSpPr>
            <a:spLocks noGrp="1"/>
          </p:cNvSpPr>
          <p:nvPr>
            <p:ph idx="1"/>
          </p:nvPr>
        </p:nvSpPr>
        <p:spPr>
          <a:xfrm>
            <a:off x="242956" y="268942"/>
            <a:ext cx="5100009" cy="6380644"/>
          </a:xfrm>
        </p:spPr>
        <p:txBody>
          <a:bodyPr>
            <a:normAutofit/>
          </a:bodyPr>
          <a:lstStyle/>
          <a:p>
            <a:r>
              <a:rPr lang="en-US" sz="3200" dirty="0"/>
              <a:t>If a state did not approve and adopt Medicaid expansion, only the very poor qualify for Medicaid</a:t>
            </a:r>
          </a:p>
          <a:p>
            <a:r>
              <a:rPr lang="en-US" sz="3200" dirty="0"/>
              <a:t>Many poor make too much for Medicaid but can’t afford health insurance if not provided by their employer</a:t>
            </a:r>
          </a:p>
          <a:p>
            <a:r>
              <a:rPr lang="en-US" sz="3200" dirty="0"/>
              <a:t>Financially unrealistic for hospitals that operate on a for profit model when many patients can’t pay </a:t>
            </a:r>
          </a:p>
        </p:txBody>
      </p:sp>
      <p:pic>
        <p:nvPicPr>
          <p:cNvPr id="8" name="Picture 7" descr="The image displays a map of the United States, highlighting the 41 states and District of Columbia that have adopted and implemented a particular policy, with asterisks indicating states that have not done so.&#10;&#10;AI-generated content may be incorrect.">
            <a:extLst>
              <a:ext uri="{FF2B5EF4-FFF2-40B4-BE49-F238E27FC236}">
                <a16:creationId xmlns:a16="http://schemas.microsoft.com/office/drawing/2014/main" id="{8CAC9B1A-0276-D5F6-2EC9-29492F6FC062}"/>
              </a:ext>
            </a:extLst>
          </p:cNvPr>
          <p:cNvPicPr>
            <a:picLocks noChangeAspect="1"/>
          </p:cNvPicPr>
          <p:nvPr/>
        </p:nvPicPr>
        <p:blipFill>
          <a:blip r:embed="rId3"/>
          <a:srcRect r="26529" b="90967"/>
          <a:stretch>
            <a:fillRect/>
          </a:stretch>
        </p:blipFill>
        <p:spPr>
          <a:xfrm>
            <a:off x="376517" y="5907833"/>
            <a:ext cx="11438965" cy="681225"/>
          </a:xfrm>
          <a:prstGeom prst="rect">
            <a:avLst/>
          </a:prstGeom>
        </p:spPr>
      </p:pic>
      <p:pic>
        <p:nvPicPr>
          <p:cNvPr id="12" name="Picture 11" descr="The image displays a map of the United States, highlighting the 41 states and District of Columbia that have adopted and implemented a particular policy, with asterisks indicating states that have not done so.&#10;&#10;AI-generated content may be incorrect.">
            <a:extLst>
              <a:ext uri="{FF2B5EF4-FFF2-40B4-BE49-F238E27FC236}">
                <a16:creationId xmlns:a16="http://schemas.microsoft.com/office/drawing/2014/main" id="{08A6B6C2-5AF2-4F1F-CD51-8F18FAD617AC}"/>
              </a:ext>
            </a:extLst>
          </p:cNvPr>
          <p:cNvPicPr>
            <a:picLocks noChangeAspect="1"/>
          </p:cNvPicPr>
          <p:nvPr/>
        </p:nvPicPr>
        <p:blipFill>
          <a:blip r:embed="rId3"/>
          <a:srcRect l="26391" t="9581"/>
          <a:stretch>
            <a:fillRect/>
          </a:stretch>
        </p:blipFill>
        <p:spPr>
          <a:xfrm>
            <a:off x="5464906" y="1888787"/>
            <a:ext cx="6228634" cy="3706172"/>
          </a:xfrm>
          <a:prstGeom prst="rect">
            <a:avLst/>
          </a:prstGeom>
        </p:spPr>
      </p:pic>
    </p:spTree>
    <p:extLst>
      <p:ext uri="{BB962C8B-B14F-4D97-AF65-F5344CB8AC3E}">
        <p14:creationId xmlns:p14="http://schemas.microsoft.com/office/powerpoint/2010/main" val="34514268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06E5-BAEB-AC25-83A4-E21010585C44}"/>
              </a:ext>
            </a:extLst>
          </p:cNvPr>
          <p:cNvSpPr>
            <a:spLocks noGrp="1"/>
          </p:cNvSpPr>
          <p:nvPr>
            <p:ph type="title"/>
          </p:nvPr>
        </p:nvSpPr>
        <p:spPr/>
        <p:txBody>
          <a:bodyPr/>
          <a:lstStyle/>
          <a:p>
            <a:pPr algn="ctr"/>
            <a:r>
              <a:rPr lang="en-US" dirty="0"/>
              <a:t>How poverty affects health</a:t>
            </a:r>
          </a:p>
        </p:txBody>
      </p:sp>
      <p:sp>
        <p:nvSpPr>
          <p:cNvPr id="3" name="Content Placeholder 2">
            <a:extLst>
              <a:ext uri="{FF2B5EF4-FFF2-40B4-BE49-F238E27FC236}">
                <a16:creationId xmlns:a16="http://schemas.microsoft.com/office/drawing/2014/main" id="{1987C5F1-4082-0029-C533-6B18AF912561}"/>
              </a:ext>
            </a:extLst>
          </p:cNvPr>
          <p:cNvSpPr>
            <a:spLocks noGrp="1"/>
          </p:cNvSpPr>
          <p:nvPr>
            <p:ph idx="1"/>
          </p:nvPr>
        </p:nvSpPr>
        <p:spPr/>
        <p:txBody>
          <a:bodyPr/>
          <a:lstStyle/>
          <a:p>
            <a:r>
              <a:rPr lang="en-US" dirty="0"/>
              <a:t>. </a:t>
            </a:r>
          </a:p>
        </p:txBody>
      </p:sp>
      <p:pic>
        <p:nvPicPr>
          <p:cNvPr id="4" name="Content Placeholder 3"/>
          <p:cNvPicPr>
            <a:picLocks noChangeAspect="1"/>
          </p:cNvPicPr>
          <p:nvPr/>
        </p:nvPicPr>
        <p:blipFill>
          <a:blip r:embed="rId3"/>
          <a:stretch>
            <a:fillRect/>
          </a:stretch>
        </p:blipFill>
        <p:spPr>
          <a:xfrm>
            <a:off x="3221777" y="2384287"/>
            <a:ext cx="5748445" cy="4281764"/>
          </a:xfrm>
          <a:prstGeom prst="rect">
            <a:avLst/>
          </a:prstGeom>
        </p:spPr>
      </p:pic>
      <p:pic>
        <p:nvPicPr>
          <p:cNvPr id="11" name="Picture 10">
            <a:extLst>
              <a:ext uri="{FF2B5EF4-FFF2-40B4-BE49-F238E27FC236}">
                <a16:creationId xmlns:a16="http://schemas.microsoft.com/office/drawing/2014/main" id="{5B22E643-E977-CA65-F654-6C706301F95D}"/>
              </a:ext>
            </a:extLst>
          </p:cNvPr>
          <p:cNvPicPr>
            <a:picLocks noChangeAspect="1"/>
          </p:cNvPicPr>
          <p:nvPr/>
        </p:nvPicPr>
        <p:blipFill>
          <a:blip r:embed="rId4"/>
          <a:stretch>
            <a:fillRect/>
          </a:stretch>
        </p:blipFill>
        <p:spPr>
          <a:xfrm>
            <a:off x="3221777" y="1690688"/>
            <a:ext cx="5711546" cy="771387"/>
          </a:xfrm>
          <a:prstGeom prst="rect">
            <a:avLst/>
          </a:prstGeom>
        </p:spPr>
      </p:pic>
    </p:spTree>
    <p:extLst>
      <p:ext uri="{BB962C8B-B14F-4D97-AF65-F5344CB8AC3E}">
        <p14:creationId xmlns:p14="http://schemas.microsoft.com/office/powerpoint/2010/main" val="4288226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51DE78C-36B9-479D-B12C-4EFFD6E47C35}"/>
              </a:ext>
            </a:extLst>
          </p:cNvPr>
          <p:cNvSpPr txBox="1">
            <a:spLocks/>
          </p:cNvSpPr>
          <p:nvPr/>
        </p:nvSpPr>
        <p:spPr>
          <a:xfrm>
            <a:off x="6096000" y="1563722"/>
            <a:ext cx="5841851" cy="4975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0" name="Picture 9" descr="A person standing next to a fire hydrant&#10;&#10;Description automatically generated">
            <a:extLst>
              <a:ext uri="{FF2B5EF4-FFF2-40B4-BE49-F238E27FC236}">
                <a16:creationId xmlns:a16="http://schemas.microsoft.com/office/drawing/2014/main" id="{56115DC1-2CF7-4DF7-8AD4-51060B793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0"/>
            <a:ext cx="5558730" cy="6858000"/>
          </a:xfrm>
          <a:prstGeom prst="rect">
            <a:avLst/>
          </a:prstGeom>
        </p:spPr>
      </p:pic>
      <p:sp>
        <p:nvSpPr>
          <p:cNvPr id="7" name="Content Placeholder 6">
            <a:extLst>
              <a:ext uri="{FF2B5EF4-FFF2-40B4-BE49-F238E27FC236}">
                <a16:creationId xmlns:a16="http://schemas.microsoft.com/office/drawing/2014/main" id="{57E6B870-F42A-8AFF-7F5F-3D0B84423FE7}"/>
              </a:ext>
            </a:extLst>
          </p:cNvPr>
          <p:cNvSpPr>
            <a:spLocks noGrp="1"/>
          </p:cNvSpPr>
          <p:nvPr>
            <p:ph idx="1"/>
          </p:nvPr>
        </p:nvSpPr>
        <p:spPr>
          <a:xfrm>
            <a:off x="254150" y="315884"/>
            <a:ext cx="5558730" cy="6222993"/>
          </a:xfrm>
        </p:spPr>
        <p:txBody>
          <a:bodyPr>
            <a:normAutofit lnSpcReduction="10000"/>
          </a:bodyPr>
          <a:lstStyle/>
          <a:p>
            <a:r>
              <a:rPr lang="en-US" dirty="0"/>
              <a:t>Julio Payes was working 80 hours a week at two full-time jobs. </a:t>
            </a:r>
          </a:p>
          <a:p>
            <a:r>
              <a:rPr lang="en-US" dirty="0"/>
              <a:t>He began his day with the graveyard shift at a 24-hour McDonald’s, where he served burgers and fries from 10 p.m. to 6 a.m. </a:t>
            </a:r>
          </a:p>
          <a:p>
            <a:r>
              <a:rPr lang="en-US" dirty="0"/>
              <a:t>Afterward he had two hours to rest and shower. Then he’d clock in at Aerotek, going anywhere the temp service sent him between 8 a.m. and 4 p.m. </a:t>
            </a:r>
          </a:p>
          <a:p>
            <a:r>
              <a:rPr lang="en-US" dirty="0"/>
              <a:t> Each job paid minimum wage. </a:t>
            </a:r>
          </a:p>
          <a:p>
            <a:r>
              <a:rPr lang="en-US" dirty="0"/>
              <a:t>He had to work up to 16 hours a day, seven days a week. </a:t>
            </a:r>
          </a:p>
        </p:txBody>
      </p:sp>
    </p:spTree>
    <p:extLst>
      <p:ext uri="{BB962C8B-B14F-4D97-AF65-F5344CB8AC3E}">
        <p14:creationId xmlns:p14="http://schemas.microsoft.com/office/powerpoint/2010/main" val="831116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62497" y="780762"/>
            <a:ext cx="5741324" cy="1325563"/>
          </a:xfrm>
        </p:spPr>
        <p:txBody>
          <a:bodyPr>
            <a:normAutofit fontScale="90000"/>
          </a:bodyPr>
          <a:lstStyle/>
          <a:p>
            <a:pPr algn="ctr"/>
            <a:r>
              <a:rPr lang="en-US" sz="4900" dirty="0"/>
              <a:t>Working poverty as health risk</a:t>
            </a:r>
            <a:br>
              <a:rPr lang="en-US" dirty="0"/>
            </a:br>
            <a:endParaRPr lang="en-US" dirty="0"/>
          </a:p>
        </p:txBody>
      </p:sp>
      <p:sp>
        <p:nvSpPr>
          <p:cNvPr id="3" name="Content Placeholder 2"/>
          <p:cNvSpPr>
            <a:spLocks noGrp="1"/>
          </p:cNvSpPr>
          <p:nvPr>
            <p:ph idx="1"/>
          </p:nvPr>
        </p:nvSpPr>
        <p:spPr>
          <a:xfrm>
            <a:off x="453886" y="332510"/>
            <a:ext cx="4633503" cy="6442364"/>
          </a:xfrm>
        </p:spPr>
        <p:txBody>
          <a:bodyPr>
            <a:normAutofit/>
          </a:bodyPr>
          <a:lstStyle/>
          <a:p>
            <a:r>
              <a:rPr lang="en-US" dirty="0"/>
              <a:t>Low-skilled workers reported fewer unmet medical needs in states with higher minimum-wage rates.</a:t>
            </a:r>
          </a:p>
          <a:p>
            <a:r>
              <a:rPr lang="en-US" dirty="0"/>
              <a:t>In low-wage states, workers went to work sick and skipped medical appts</a:t>
            </a:r>
          </a:p>
          <a:p>
            <a:r>
              <a:rPr lang="en-US" dirty="0"/>
              <a:t>Increases to minimum wage associated with decreased rates of smoking</a:t>
            </a:r>
          </a:p>
          <a:p>
            <a:r>
              <a:rPr lang="en-US" dirty="0"/>
              <a:t>Higher wages allow parents working in the low-wage labor market to keep more food at home</a:t>
            </a:r>
          </a:p>
        </p:txBody>
      </p:sp>
      <p:pic>
        <p:nvPicPr>
          <p:cNvPr id="5" name="Picture 4" descr="The image depicts a map of the United States, color-coded to represent different salary ranges for minimum wage levels, with various regions shaded to indicate their respective wage brackets.&#10;&#10;AI-generated content may be incorrect.">
            <a:extLst>
              <a:ext uri="{FF2B5EF4-FFF2-40B4-BE49-F238E27FC236}">
                <a16:creationId xmlns:a16="http://schemas.microsoft.com/office/drawing/2014/main" id="{61D1FA0B-1F4D-4A61-ABB1-63F88BB9FA89}"/>
              </a:ext>
            </a:extLst>
          </p:cNvPr>
          <p:cNvPicPr>
            <a:picLocks noChangeAspect="1"/>
          </p:cNvPicPr>
          <p:nvPr/>
        </p:nvPicPr>
        <p:blipFill>
          <a:blip r:embed="rId3"/>
          <a:stretch>
            <a:fillRect/>
          </a:stretch>
        </p:blipFill>
        <p:spPr>
          <a:xfrm>
            <a:off x="5087389" y="2287777"/>
            <a:ext cx="6240253" cy="3789461"/>
          </a:xfrm>
          <a:prstGeom prst="rect">
            <a:avLst/>
          </a:prstGeom>
        </p:spPr>
      </p:pic>
      <p:pic>
        <p:nvPicPr>
          <p:cNvPr id="7" name="Picture 6" descr="Minimum Wage in Each State.&#10;&#10;AI-generated content may be incorrect.">
            <a:extLst>
              <a:ext uri="{FF2B5EF4-FFF2-40B4-BE49-F238E27FC236}">
                <a16:creationId xmlns:a16="http://schemas.microsoft.com/office/drawing/2014/main" id="{37A4E964-FD43-C561-7530-82221C157B60}"/>
              </a:ext>
            </a:extLst>
          </p:cNvPr>
          <p:cNvPicPr>
            <a:picLocks noChangeAspect="1"/>
          </p:cNvPicPr>
          <p:nvPr/>
        </p:nvPicPr>
        <p:blipFill>
          <a:blip r:embed="rId4"/>
          <a:stretch>
            <a:fillRect/>
          </a:stretch>
        </p:blipFill>
        <p:spPr>
          <a:xfrm>
            <a:off x="6542400" y="2106325"/>
            <a:ext cx="3330229" cy="533446"/>
          </a:xfrm>
          <a:prstGeom prst="rect">
            <a:avLst/>
          </a:prstGeom>
        </p:spPr>
      </p:pic>
    </p:spTree>
    <p:extLst>
      <p:ext uri="{BB962C8B-B14F-4D97-AF65-F5344CB8AC3E}">
        <p14:creationId xmlns:p14="http://schemas.microsoft.com/office/powerpoint/2010/main" val="760018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A656E-F385-46CC-8C15-3F6D5A76A4F3}"/>
              </a:ext>
            </a:extLst>
          </p:cNvPr>
          <p:cNvSpPr>
            <a:spLocks noGrp="1"/>
          </p:cNvSpPr>
          <p:nvPr>
            <p:ph type="title"/>
          </p:nvPr>
        </p:nvSpPr>
        <p:spPr>
          <a:xfrm>
            <a:off x="418474" y="443276"/>
            <a:ext cx="7121577" cy="1325563"/>
          </a:xfrm>
        </p:spPr>
        <p:txBody>
          <a:bodyPr/>
          <a:lstStyle/>
          <a:p>
            <a:pPr algn="ctr"/>
            <a:r>
              <a:rPr lang="en-US" dirty="0"/>
              <a:t>The rich and the poor age differently</a:t>
            </a:r>
          </a:p>
        </p:txBody>
      </p:sp>
      <p:sp>
        <p:nvSpPr>
          <p:cNvPr id="3" name="Content Placeholder 2">
            <a:extLst>
              <a:ext uri="{FF2B5EF4-FFF2-40B4-BE49-F238E27FC236}">
                <a16:creationId xmlns:a16="http://schemas.microsoft.com/office/drawing/2014/main" id="{D6125F1E-BF5C-457B-9AF3-1D0DECDCA394}"/>
              </a:ext>
            </a:extLst>
          </p:cNvPr>
          <p:cNvSpPr>
            <a:spLocks noGrp="1"/>
          </p:cNvSpPr>
          <p:nvPr>
            <p:ph idx="1"/>
          </p:nvPr>
        </p:nvSpPr>
        <p:spPr>
          <a:xfrm>
            <a:off x="418475" y="2063386"/>
            <a:ext cx="7121577" cy="4351338"/>
          </a:xfrm>
        </p:spPr>
        <p:txBody>
          <a:bodyPr>
            <a:normAutofit/>
          </a:bodyPr>
          <a:lstStyle/>
          <a:p>
            <a:r>
              <a:rPr lang="en-US" sz="3200" dirty="0">
                <a:latin typeface="+mj-lt"/>
              </a:rPr>
              <a:t>Less affluent sectors of society age more rapidly than more privileged groups.</a:t>
            </a:r>
          </a:p>
          <a:p>
            <a:r>
              <a:rPr lang="en-US" sz="3200" dirty="0">
                <a:latin typeface="+mj-lt"/>
              </a:rPr>
              <a:t>Lower socioeconomic status (SES), as defined by wealth,  has been associated with faster decline in age-related functions (right)</a:t>
            </a:r>
          </a:p>
        </p:txBody>
      </p:sp>
      <p:pic>
        <p:nvPicPr>
          <p:cNvPr id="5" name="Picture 4">
            <a:extLst>
              <a:ext uri="{FF2B5EF4-FFF2-40B4-BE49-F238E27FC236}">
                <a16:creationId xmlns:a16="http://schemas.microsoft.com/office/drawing/2014/main" id="{C86D5E5F-B605-42C4-A502-BE378C02F17D}"/>
              </a:ext>
            </a:extLst>
          </p:cNvPr>
          <p:cNvPicPr>
            <a:picLocks noChangeAspect="1"/>
          </p:cNvPicPr>
          <p:nvPr/>
        </p:nvPicPr>
        <p:blipFill>
          <a:blip r:embed="rId3"/>
          <a:stretch>
            <a:fillRect/>
          </a:stretch>
        </p:blipFill>
        <p:spPr>
          <a:xfrm>
            <a:off x="8257001" y="232347"/>
            <a:ext cx="3258844" cy="6393305"/>
          </a:xfrm>
          <a:prstGeom prst="rect">
            <a:avLst/>
          </a:prstGeom>
          <a:ln>
            <a:solidFill>
              <a:schemeClr val="tx1"/>
            </a:solidFill>
          </a:ln>
        </p:spPr>
      </p:pic>
    </p:spTree>
    <p:extLst>
      <p:ext uri="{BB962C8B-B14F-4D97-AF65-F5344CB8AC3E}">
        <p14:creationId xmlns:p14="http://schemas.microsoft.com/office/powerpoint/2010/main" val="355933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357" y="2075543"/>
            <a:ext cx="5635957" cy="4542133"/>
          </a:xfrm>
        </p:spPr>
        <p:txBody>
          <a:bodyPr>
            <a:normAutofit/>
          </a:bodyPr>
          <a:lstStyle/>
          <a:p>
            <a:r>
              <a:rPr lang="en-US" dirty="0"/>
              <a:t>Being poor reduces a person’s cognitive capacity</a:t>
            </a:r>
          </a:p>
          <a:p>
            <a:r>
              <a:rPr lang="en-US" dirty="0"/>
              <a:t>When preoccupied by poverty, we have less mind to give to the rest of life </a:t>
            </a:r>
          </a:p>
          <a:p>
            <a:endParaRPr lang="en-US" dirty="0"/>
          </a:p>
        </p:txBody>
      </p:sp>
      <p:pic>
        <p:nvPicPr>
          <p:cNvPr id="5" name="Picture 4">
            <a:extLst>
              <a:ext uri="{FF2B5EF4-FFF2-40B4-BE49-F238E27FC236}">
                <a16:creationId xmlns:a16="http://schemas.microsoft.com/office/drawing/2014/main" id="{1FB6AB22-CC77-4FF7-D915-0BA2971A04CC}"/>
              </a:ext>
            </a:extLst>
          </p:cNvPr>
          <p:cNvPicPr>
            <a:picLocks noChangeAspect="1"/>
          </p:cNvPicPr>
          <p:nvPr/>
        </p:nvPicPr>
        <p:blipFill>
          <a:blip r:embed="rId3"/>
          <a:stretch>
            <a:fillRect/>
          </a:stretch>
        </p:blipFill>
        <p:spPr>
          <a:xfrm>
            <a:off x="6502714" y="240323"/>
            <a:ext cx="5311600" cy="6226080"/>
          </a:xfrm>
          <a:prstGeom prst="rect">
            <a:avLst/>
          </a:prstGeom>
        </p:spPr>
      </p:pic>
      <p:sp>
        <p:nvSpPr>
          <p:cNvPr id="6" name="Title 1">
            <a:extLst>
              <a:ext uri="{FF2B5EF4-FFF2-40B4-BE49-F238E27FC236}">
                <a16:creationId xmlns:a16="http://schemas.microsoft.com/office/drawing/2014/main" id="{EEB9116E-064F-A129-EF57-3A56EC2A7C3D}"/>
              </a:ext>
            </a:extLst>
          </p:cNvPr>
          <p:cNvSpPr>
            <a:spLocks noGrp="1"/>
          </p:cNvSpPr>
          <p:nvPr>
            <p:ph type="title"/>
          </p:nvPr>
        </p:nvSpPr>
        <p:spPr>
          <a:xfrm>
            <a:off x="486700" y="408668"/>
            <a:ext cx="5718314" cy="1325563"/>
          </a:xfrm>
        </p:spPr>
        <p:txBody>
          <a:bodyPr>
            <a:normAutofit/>
          </a:bodyPr>
          <a:lstStyle/>
          <a:p>
            <a:pPr algn="ctr"/>
            <a:r>
              <a:rPr lang="en-US" dirty="0"/>
              <a:t>The bandwidth tax of poverty</a:t>
            </a:r>
          </a:p>
        </p:txBody>
      </p:sp>
    </p:spTree>
    <p:extLst>
      <p:ext uri="{BB962C8B-B14F-4D97-AF65-F5344CB8AC3E}">
        <p14:creationId xmlns:p14="http://schemas.microsoft.com/office/powerpoint/2010/main" val="17861830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8418</TotalTime>
  <Words>4205</Words>
  <Application>Microsoft Office PowerPoint</Application>
  <PresentationFormat>Widescreen</PresentationFormat>
  <Paragraphs>376</Paragraphs>
  <Slides>47</Slides>
  <Notes>42</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PowerPoint Presentation</vt:lpstr>
      <vt:lpstr>PowerPoint Presentation</vt:lpstr>
      <vt:lpstr>PowerPoint Presentation</vt:lpstr>
      <vt:lpstr>Factors that shape how economic disparities shape health</vt:lpstr>
      <vt:lpstr>PowerPoint Presentation</vt:lpstr>
      <vt:lpstr>PowerPoint Presentation</vt:lpstr>
      <vt:lpstr>PowerPoint Presentation</vt:lpstr>
      <vt:lpstr>PowerPoint Presentation</vt:lpstr>
      <vt:lpstr>Social determinants of health and the geographies of disadvantage</vt:lpstr>
      <vt:lpstr>PowerPoint Presentation</vt:lpstr>
      <vt:lpstr>The index of deep disadvantage</vt:lpstr>
      <vt:lpstr>PowerPoint Presentation</vt:lpstr>
      <vt:lpstr>The nonmetro mortality penalty</vt:lpstr>
      <vt:lpstr>PowerPoint Presentation</vt:lpstr>
      <vt:lpstr>PowerPoint Presentation</vt:lpstr>
      <vt:lpstr>PowerPoint Presentation</vt:lpstr>
      <vt:lpstr>PowerPoint Presentation</vt:lpstr>
      <vt:lpstr>PowerPoint Presentation</vt:lpstr>
      <vt:lpstr>Midlife deaths of despair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Reframing the deaths of despair model</vt:lpstr>
      <vt:lpstr>Deaths of despair and the collapse of the Soviet Union</vt:lpstr>
      <vt:lpstr>Deaths of despair did not happen in much of western Europe</vt:lpstr>
      <vt:lpstr>Scotland is an exception</vt:lpstr>
      <vt:lpstr>Inequality emerges in economic systems. What matters is the response to it. </vt:lpstr>
      <vt:lpstr>PowerPoint Presentation</vt:lpstr>
      <vt:lpstr>Rural health care decline: hospital closures</vt:lpstr>
      <vt:lpstr>Why are US rural hospitals closing?</vt:lpstr>
      <vt:lpstr>Health care shortage areas</vt:lpstr>
      <vt:lpstr>PowerPoint Presentation</vt:lpstr>
      <vt:lpstr>Definitions of distance in health care access</vt:lpstr>
      <vt:lpstr>The Medicaid coverage gap</vt:lpstr>
      <vt:lpstr>How poverty affects health</vt:lpstr>
      <vt:lpstr>PowerPoint Presentation</vt:lpstr>
      <vt:lpstr>Working poverty as health risk </vt:lpstr>
      <vt:lpstr>The rich and the poor age differently</vt:lpstr>
      <vt:lpstr>The bandwidth tax of poverty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disparity and health — restructured draft</dc:title>
  <dc:subject>Structural edit of the supplied lecture: redundant slides removed, sections clarified.</dc:subject>
  <dc:creator>Jon Stallins</dc:creator>
  <dc:description>Original source deck unchanged. Content dates and policy claims are retained, not newly verified.</dc:description>
  <cp:lastModifiedBy>Stallins, Jon A.</cp:lastModifiedBy>
  <cp:revision>316</cp:revision>
  <dcterms:created xsi:type="dcterms:W3CDTF">2018-01-11T14:32:11Z</dcterms:created>
  <dcterms:modified xsi:type="dcterms:W3CDTF">2026-10-06T11:32:39Z</dcterms:modified>
</cp:coreProperties>
</file>