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heme/themeOverride1.xml" ContentType="application/vnd.openxmlformats-officedocument.themeOverr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284" r:id="rId2"/>
    <p:sldId id="383" r:id="rId3"/>
    <p:sldId id="445" r:id="rId4"/>
    <p:sldId id="384" r:id="rId5"/>
    <p:sldId id="387" r:id="rId6"/>
    <p:sldId id="306" r:id="rId7"/>
    <p:sldId id="307" r:id="rId8"/>
    <p:sldId id="416" r:id="rId9"/>
    <p:sldId id="305" r:id="rId10"/>
    <p:sldId id="391" r:id="rId11"/>
    <p:sldId id="390" r:id="rId12"/>
    <p:sldId id="358" r:id="rId13"/>
    <p:sldId id="392" r:id="rId14"/>
    <p:sldId id="316" r:id="rId15"/>
    <p:sldId id="329" r:id="rId16"/>
    <p:sldId id="328" r:id="rId17"/>
    <p:sldId id="397" r:id="rId18"/>
    <p:sldId id="398" r:id="rId19"/>
    <p:sldId id="355" r:id="rId20"/>
    <p:sldId id="507" r:id="rId21"/>
    <p:sldId id="470" r:id="rId22"/>
    <p:sldId id="453" r:id="rId23"/>
    <p:sldId id="432" r:id="rId24"/>
    <p:sldId id="573" r:id="rId25"/>
    <p:sldId id="265" r:id="rId26"/>
    <p:sldId id="319" r:id="rId27"/>
    <p:sldId id="441" r:id="rId28"/>
    <p:sldId id="574" r:id="rId29"/>
    <p:sldId id="407" r:id="rId30"/>
    <p:sldId id="406" r:id="rId31"/>
    <p:sldId id="495" r:id="rId32"/>
    <p:sldId id="409" r:id="rId33"/>
    <p:sldId id="509" r:id="rId34"/>
    <p:sldId id="514" r:id="rId35"/>
    <p:sldId id="515" r:id="rId36"/>
    <p:sldId id="311" r:id="rId37"/>
    <p:sldId id="353" r:id="rId38"/>
    <p:sldId id="274" r:id="rId39"/>
    <p:sldId id="352" r:id="rId40"/>
    <p:sldId id="354" r:id="rId41"/>
    <p:sldId id="575" r:id="rId42"/>
    <p:sldId id="323" r:id="rId43"/>
    <p:sldId id="332" r:id="rId44"/>
    <p:sldId id="576" r:id="rId45"/>
    <p:sldId id="492" r:id="rId46"/>
    <p:sldId id="511" r:id="rId47"/>
    <p:sldId id="510" r:id="rId48"/>
    <p:sldId id="512" r:id="rId49"/>
    <p:sldId id="517" r:id="rId50"/>
    <p:sldId id="513" r:id="rId51"/>
    <p:sldId id="317" r:id="rId52"/>
    <p:sldId id="572" r:id="rId53"/>
    <p:sldId id="493" r:id="rId54"/>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7" autoAdjust="0"/>
    <p:restoredTop sz="56136" autoAdjust="0"/>
  </p:normalViewPr>
  <p:slideViewPr>
    <p:cSldViewPr>
      <p:cViewPr varScale="1">
        <p:scale>
          <a:sx n="35" d="100"/>
          <a:sy n="35" d="100"/>
        </p:scale>
        <p:origin x="1120" y="3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2326"/>
    </p:cViewPr>
  </p:sorterViewPr>
  <p:notesViewPr>
    <p:cSldViewPr>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1196998-EF35-F0E8-AE32-1D7DE9951C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dirty="0"/>
          </a:p>
        </p:txBody>
      </p:sp>
      <p:sp>
        <p:nvSpPr>
          <p:cNvPr id="3" name="Date Placeholder 2">
            <a:extLst>
              <a:ext uri="{FF2B5EF4-FFF2-40B4-BE49-F238E27FC236}">
                <a16:creationId xmlns:a16="http://schemas.microsoft.com/office/drawing/2014/main" id="{52B687D3-94D0-A2A0-CA7F-EF728C021C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16D217E3-CA79-4BAA-BB56-1287D0BCF74F}" type="datetimeFigureOut">
              <a:rPr lang="en-US"/>
              <a:pPr>
                <a:defRPr/>
              </a:pPr>
              <a:t>9/5/2025</a:t>
            </a:fld>
            <a:endParaRPr lang="en-US" dirty="0"/>
          </a:p>
        </p:txBody>
      </p:sp>
      <p:sp>
        <p:nvSpPr>
          <p:cNvPr id="4" name="Footer Placeholder 3">
            <a:extLst>
              <a:ext uri="{FF2B5EF4-FFF2-40B4-BE49-F238E27FC236}">
                <a16:creationId xmlns:a16="http://schemas.microsoft.com/office/drawing/2014/main" id="{CEB81341-0453-35D9-6A7A-2A946F869F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dirty="0"/>
          </a:p>
        </p:txBody>
      </p:sp>
      <p:sp>
        <p:nvSpPr>
          <p:cNvPr id="5" name="Slide Number Placeholder 4">
            <a:extLst>
              <a:ext uri="{FF2B5EF4-FFF2-40B4-BE49-F238E27FC236}">
                <a16:creationId xmlns:a16="http://schemas.microsoft.com/office/drawing/2014/main" id="{A76F5E13-672C-A3C9-C5D8-487D983D4CF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CE90DC6B-972A-44AF-B947-96480D4F64E8}"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4DCD4FD-42E1-D5E1-3D4B-4F12E175B18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charset="0"/>
              </a:defRPr>
            </a:lvl1pPr>
          </a:lstStyle>
          <a:p>
            <a:pPr>
              <a:defRPr/>
            </a:pPr>
            <a:endParaRPr lang="en-US" dirty="0"/>
          </a:p>
        </p:txBody>
      </p:sp>
      <p:sp>
        <p:nvSpPr>
          <p:cNvPr id="29699" name="Rectangle 3">
            <a:extLst>
              <a:ext uri="{FF2B5EF4-FFF2-40B4-BE49-F238E27FC236}">
                <a16:creationId xmlns:a16="http://schemas.microsoft.com/office/drawing/2014/main" id="{A807CE1E-3E1F-9DA6-FD91-AAD219E6F611}"/>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charset="0"/>
              </a:defRPr>
            </a:lvl1pPr>
          </a:lstStyle>
          <a:p>
            <a:pPr>
              <a:defRPr/>
            </a:pPr>
            <a:endParaRPr lang="en-US" dirty="0"/>
          </a:p>
        </p:txBody>
      </p:sp>
      <p:sp>
        <p:nvSpPr>
          <p:cNvPr id="2052" name="Rectangle 4">
            <a:extLst>
              <a:ext uri="{FF2B5EF4-FFF2-40B4-BE49-F238E27FC236}">
                <a16:creationId xmlns:a16="http://schemas.microsoft.com/office/drawing/2014/main" id="{7A9DDC19-3637-1D86-13EE-3B48BA7A862A}"/>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01" name="Rectangle 5">
            <a:extLst>
              <a:ext uri="{FF2B5EF4-FFF2-40B4-BE49-F238E27FC236}">
                <a16:creationId xmlns:a16="http://schemas.microsoft.com/office/drawing/2014/main" id="{AA7FDD9D-B6A0-55A8-0A82-E2F6BCEDAEB1}"/>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2" name="Rectangle 6">
            <a:extLst>
              <a:ext uri="{FF2B5EF4-FFF2-40B4-BE49-F238E27FC236}">
                <a16:creationId xmlns:a16="http://schemas.microsoft.com/office/drawing/2014/main" id="{DCE7A7C7-58D0-5751-217C-BEF178F082D1}"/>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charset="0"/>
              </a:defRPr>
            </a:lvl1pPr>
          </a:lstStyle>
          <a:p>
            <a:pPr>
              <a:defRPr/>
            </a:pPr>
            <a:endParaRPr lang="en-US" dirty="0"/>
          </a:p>
        </p:txBody>
      </p:sp>
      <p:sp>
        <p:nvSpPr>
          <p:cNvPr id="29703" name="Rectangle 7">
            <a:extLst>
              <a:ext uri="{FF2B5EF4-FFF2-40B4-BE49-F238E27FC236}">
                <a16:creationId xmlns:a16="http://schemas.microsoft.com/office/drawing/2014/main" id="{C58F57F5-07FA-E6EA-43AD-4CCA4CA047E2}"/>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F75651E-B26B-4DAB-9291-DD33F2B5C9AF}"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BAE8E5FB-D297-D1DE-3FD1-511C937F155F}"/>
              </a:ext>
            </a:extLst>
          </p:cNvPr>
          <p:cNvSpPr>
            <a:spLocks noGrp="1" noRot="1" noChangeAspect="1" noChangeArrowheads="1" noTextEdit="1"/>
          </p:cNvSpPr>
          <p:nvPr>
            <p:ph type="sldImg"/>
          </p:nvPr>
        </p:nvSpPr>
        <p:spPr>
          <a:ln/>
        </p:spPr>
      </p:sp>
      <p:sp>
        <p:nvSpPr>
          <p:cNvPr id="5123" name="Notes Placeholder 2">
            <a:extLst>
              <a:ext uri="{FF2B5EF4-FFF2-40B4-BE49-F238E27FC236}">
                <a16:creationId xmlns:a16="http://schemas.microsoft.com/office/drawing/2014/main" id="{A1585AC2-D524-25B9-8918-5F0626084B9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5124" name="Slide Number Placeholder 3">
            <a:extLst>
              <a:ext uri="{FF2B5EF4-FFF2-40B4-BE49-F238E27FC236}">
                <a16:creationId xmlns:a16="http://schemas.microsoft.com/office/drawing/2014/main" id="{D5576F78-BDFA-29CD-0A31-8666FF3006C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1823206-2249-40BE-99E0-70AFD06B48F4}" type="slidenum">
              <a:rPr lang="en-US" altLang="en-US" sz="1200" smtClean="0"/>
              <a:pPr/>
              <a:t>1</a:t>
            </a:fld>
            <a:endParaRPr lang="en-US"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0ED9E0C1-F3AA-DDA3-BDA3-A8BA914E4085}"/>
              </a:ext>
            </a:extLst>
          </p:cNvPr>
          <p:cNvSpPr>
            <a:spLocks noGrp="1" noRot="1" noChangeAspect="1" noChangeArrowheads="1" noTextEdit="1"/>
          </p:cNvSpPr>
          <p:nvPr>
            <p:ph type="sldImg"/>
          </p:nvPr>
        </p:nvSpPr>
        <p:spPr>
          <a:ln/>
        </p:spPr>
      </p:sp>
      <p:sp>
        <p:nvSpPr>
          <p:cNvPr id="7171" name="Notes Placeholder 2">
            <a:extLst>
              <a:ext uri="{FF2B5EF4-FFF2-40B4-BE49-F238E27FC236}">
                <a16:creationId xmlns:a16="http://schemas.microsoft.com/office/drawing/2014/main" id="{478B290F-FD8B-B1E8-354F-CC9336A714C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lumpy earth</a:t>
            </a:r>
            <a:endParaRPr lang="en-US" altLang="en-US" dirty="0">
              <a:latin typeface="Times New Roman" panose="02020603050405020304" pitchFamily="18" charset="0"/>
            </a:endParaRPr>
          </a:p>
        </p:txBody>
      </p:sp>
      <p:sp>
        <p:nvSpPr>
          <p:cNvPr id="7172" name="Slide Number Placeholder 3">
            <a:extLst>
              <a:ext uri="{FF2B5EF4-FFF2-40B4-BE49-F238E27FC236}">
                <a16:creationId xmlns:a16="http://schemas.microsoft.com/office/drawing/2014/main" id="{20672C93-5B16-5F63-B525-6C7D648922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DFE5CAC-EC69-4398-942E-66934DC238C5}" type="slidenum">
              <a:rPr lang="en-US" altLang="en-US" sz="1200" smtClean="0"/>
              <a:pPr/>
              <a:t>2</a:t>
            </a:fld>
            <a:endParaRPr lang="en-US"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AF173202-3D4E-8576-A871-A9845A6BF9F8}"/>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9BD008-1896-16C7-E144-DB58A16579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Force exerted by gravity = mass x acceleration (9.8 meters per second squared)</a:t>
            </a:r>
          </a:p>
          <a:p>
            <a:r>
              <a:rPr lang="en-US" altLang="en-US" dirty="0">
                <a:latin typeface="Times New Roman" panose="02020603050405020304" pitchFamily="18" charset="0"/>
              </a:rPr>
              <a:t>Mass = density x volume</a:t>
            </a:r>
          </a:p>
          <a:p>
            <a:endParaRPr lang="en-US" altLang="en-US" dirty="0">
              <a:latin typeface="Times New Roman" panose="02020603050405020304" pitchFamily="18" charset="0"/>
            </a:endParaRPr>
          </a:p>
          <a:p>
            <a:r>
              <a:rPr lang="en-US" altLang="en-US" dirty="0">
                <a:latin typeface="Times New Roman" panose="02020603050405020304" pitchFamily="18" charset="0"/>
              </a:rPr>
              <a:t>There are rocks with different densities, hence mass varies per unit volume over the surface of the earth. Thus the force exerted by gravity differs resulting some parts of the crust being pulled more strongly toward the center of the Earth</a:t>
            </a:r>
          </a:p>
        </p:txBody>
      </p:sp>
      <p:sp>
        <p:nvSpPr>
          <p:cNvPr id="9220" name="Slide Number Placeholder 3">
            <a:extLst>
              <a:ext uri="{FF2B5EF4-FFF2-40B4-BE49-F238E27FC236}">
                <a16:creationId xmlns:a16="http://schemas.microsoft.com/office/drawing/2014/main" id="{C12EF240-2BC8-2B57-C040-D4309131F1E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1DFD32E-2C2A-4522-B5EF-D5F202FE5A26}" type="slidenum">
              <a:rPr lang="en-US" altLang="en-US" sz="1200" smtClean="0"/>
              <a:pPr/>
              <a:t>3</a:t>
            </a:fld>
            <a:endParaRPr lang="en-US"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591BFCD6-CF69-BC22-B5B1-5F4E8BC8EC21}"/>
              </a:ext>
            </a:extLst>
          </p:cNvPr>
          <p:cNvSpPr>
            <a:spLocks noGrp="1" noRot="1" noChangeAspect="1" noChangeArrowheads="1" noTextEdit="1"/>
          </p:cNvSpPr>
          <p:nvPr>
            <p:ph type="sldImg"/>
          </p:nvPr>
        </p:nvSpPr>
        <p:spPr>
          <a:ln/>
        </p:spPr>
      </p:sp>
      <p:sp>
        <p:nvSpPr>
          <p:cNvPr id="11267" name="Notes Placeholder 2">
            <a:extLst>
              <a:ext uri="{FF2B5EF4-FFF2-40B4-BE49-F238E27FC236}">
                <a16:creationId xmlns:a16="http://schemas.microsoft.com/office/drawing/2014/main" id="{454F2DBD-707B-F47F-AF77-2B4C702723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Basaltic rocks are more dense (more mass per unit volume) than granitic rocks. Basaltic crust experienced a slightly greater gravitational force and is down deformed downward relative to granitic areas.</a:t>
            </a:r>
          </a:p>
          <a:p>
            <a:endParaRPr lang="en-US" altLang="en-US" dirty="0">
              <a:latin typeface="Times New Roman" panose="02020603050405020304" pitchFamily="18" charset="0"/>
            </a:endParaRPr>
          </a:p>
        </p:txBody>
      </p:sp>
      <p:sp>
        <p:nvSpPr>
          <p:cNvPr id="11268" name="Slide Number Placeholder 3">
            <a:extLst>
              <a:ext uri="{FF2B5EF4-FFF2-40B4-BE49-F238E27FC236}">
                <a16:creationId xmlns:a16="http://schemas.microsoft.com/office/drawing/2014/main" id="{4C9C3524-E54A-CE23-6A7A-E027D299877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384B95D-51DF-4D01-B4CF-59A990B36C3A}" type="slidenum">
              <a:rPr lang="en-US" altLang="en-US" sz="1200" smtClean="0"/>
              <a:pPr/>
              <a:t>4</a:t>
            </a:fld>
            <a:endParaRPr lang="en-US"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CB81D63C-5A4C-2436-6A2C-90C656C92686}"/>
              </a:ext>
            </a:extLst>
          </p:cNvPr>
          <p:cNvSpPr>
            <a:spLocks noGrp="1" noRot="1" noChangeAspect="1" noChangeArrowheads="1" noTextEdit="1"/>
          </p:cNvSpPr>
          <p:nvPr>
            <p:ph type="sldImg"/>
          </p:nvPr>
        </p:nvSpPr>
        <p:spPr>
          <a:ln/>
        </p:spPr>
      </p:sp>
      <p:sp>
        <p:nvSpPr>
          <p:cNvPr id="13315" name="Notes Placeholder 2">
            <a:extLst>
              <a:ext uri="{FF2B5EF4-FFF2-40B4-BE49-F238E27FC236}">
                <a16:creationId xmlns:a16="http://schemas.microsoft.com/office/drawing/2014/main" id="{256DBABD-F6B0-A5E1-37B3-635EE55B1DF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13316" name="Slide Number Placeholder 3">
            <a:extLst>
              <a:ext uri="{FF2B5EF4-FFF2-40B4-BE49-F238E27FC236}">
                <a16:creationId xmlns:a16="http://schemas.microsoft.com/office/drawing/2014/main" id="{FD872558-EF27-47AC-0F3F-922142624AC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FA8534D-7D44-4890-A4A3-F67B8D9795F0}" type="slidenum">
              <a:rPr lang="en-US" altLang="en-US" sz="1200" smtClean="0"/>
              <a:pPr/>
              <a:t>5</a:t>
            </a:fld>
            <a:endParaRPr lang="en-US"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E9DAB13C-7308-CB79-2AC7-3978416E6FF0}"/>
              </a:ext>
            </a:extLst>
          </p:cNvPr>
          <p:cNvSpPr>
            <a:spLocks noGrp="1" noRot="1" noChangeAspect="1" noChangeArrowheads="1" noTextEdit="1"/>
          </p:cNvSpPr>
          <p:nvPr>
            <p:ph type="sldImg"/>
          </p:nvPr>
        </p:nvSpPr>
        <p:spPr>
          <a:ln/>
        </p:spPr>
      </p:sp>
      <p:sp>
        <p:nvSpPr>
          <p:cNvPr id="15363" name="Notes Placeholder 2">
            <a:extLst>
              <a:ext uri="{FF2B5EF4-FFF2-40B4-BE49-F238E27FC236}">
                <a16:creationId xmlns:a16="http://schemas.microsoft.com/office/drawing/2014/main" id="{201E09F4-0838-FC75-5A4C-54D4BD1C7E3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15364" name="Slide Number Placeholder 3">
            <a:extLst>
              <a:ext uri="{FF2B5EF4-FFF2-40B4-BE49-F238E27FC236}">
                <a16:creationId xmlns:a16="http://schemas.microsoft.com/office/drawing/2014/main" id="{AA9C16BF-F16E-66DD-1700-64C34B82618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B5025FD-B611-4A9C-8BE5-48F14C79F469}" type="slidenum">
              <a:rPr lang="en-US" altLang="en-US" sz="1200" smtClean="0"/>
              <a:pPr/>
              <a:t>6</a:t>
            </a:fld>
            <a:endParaRPr lang="en-US" alt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3618C3A-C86B-E477-8353-0144988F060C}"/>
              </a:ext>
            </a:extLst>
          </p:cNvPr>
          <p:cNvSpPr>
            <a:spLocks noGrp="1" noRot="1" noChangeAspect="1" noChangeArrowheads="1" noTextEdit="1"/>
          </p:cNvSpPr>
          <p:nvPr>
            <p:ph type="sldImg"/>
          </p:nvPr>
        </p:nvSpPr>
        <p:spPr>
          <a:ln/>
        </p:spPr>
      </p:sp>
      <p:sp>
        <p:nvSpPr>
          <p:cNvPr id="17411" name="Rectangle 3">
            <a:extLst>
              <a:ext uri="{FF2B5EF4-FFF2-40B4-BE49-F238E27FC236}">
                <a16:creationId xmlns:a16="http://schemas.microsoft.com/office/drawing/2014/main" id="{EA1C235B-78E4-DBFE-7908-13BF5A64FE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solidFill>
                  <a:srgbClr val="663300"/>
                </a:solidFill>
                <a:latin typeface="Times New Roman" panose="02020603050405020304" pitchFamily="18" charset="0"/>
              </a:rPr>
              <a:t>Appalachians in Eastern Tennessee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5EA5813-A8BD-9A98-D885-9A9ED15A4933}"/>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4D8ED50E-6D23-9DD2-EF46-35E7255A7C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000" dirty="0">
                <a:latin typeface="Times New Roman" panose="02020603050405020304" pitchFamily="18" charset="0"/>
              </a:rPr>
              <a:t>Taconic Orogeny</a:t>
            </a:r>
          </a:p>
          <a:p>
            <a:r>
              <a:rPr lang="en-US" altLang="en-US" sz="1000" dirty="0">
                <a:latin typeface="Times New Roman" panose="02020603050405020304" pitchFamily="18" charset="0"/>
              </a:rPr>
              <a:t>Ordovician~ 438-505 mya</a:t>
            </a:r>
          </a:p>
          <a:p>
            <a:endParaRPr lang="en-US" altLang="en-US" sz="1000" dirty="0">
              <a:latin typeface="Times New Roman" panose="02020603050405020304" pitchFamily="18" charset="0"/>
            </a:endParaRPr>
          </a:p>
          <a:p>
            <a:r>
              <a:rPr lang="en-US" altLang="en-US" sz="1000" dirty="0">
                <a:latin typeface="Times New Roman" panose="02020603050405020304" pitchFamily="18" charset="0"/>
              </a:rPr>
              <a:t>Acadian Orogeny</a:t>
            </a:r>
          </a:p>
          <a:p>
            <a:r>
              <a:rPr lang="en-US" altLang="en-US" sz="1000" dirty="0">
                <a:latin typeface="Times New Roman" panose="02020603050405020304" pitchFamily="18" charset="0"/>
              </a:rPr>
              <a:t>Devonian~ 360-408 mya</a:t>
            </a:r>
          </a:p>
          <a:p>
            <a:endParaRPr lang="en-US" altLang="en-US" sz="1000" dirty="0">
              <a:latin typeface="Times New Roman" panose="02020603050405020304" pitchFamily="18" charset="0"/>
            </a:endParaRPr>
          </a:p>
          <a:p>
            <a:r>
              <a:rPr lang="en-US" altLang="en-US" sz="1000" dirty="0">
                <a:latin typeface="Times New Roman" panose="02020603050405020304" pitchFamily="18" charset="0"/>
              </a:rPr>
              <a:t>Alleghenian-Ouachita Orogeny</a:t>
            </a:r>
          </a:p>
          <a:p>
            <a:r>
              <a:rPr lang="en-US" altLang="en-US" sz="1000" dirty="0">
                <a:latin typeface="Times New Roman" panose="02020603050405020304" pitchFamily="18" charset="0"/>
              </a:rPr>
              <a:t>Permian~ 245-286 mya</a:t>
            </a:r>
          </a:p>
          <a:p>
            <a:r>
              <a:rPr lang="en-US" altLang="en-US" sz="1000" dirty="0">
                <a:latin typeface="Times New Roman" panose="02020603050405020304" pitchFamily="18" charset="0"/>
              </a:rPr>
              <a:t>Formation of a supercontinent Pangaea.</a:t>
            </a:r>
          </a:p>
          <a:p>
            <a:endParaRPr lang="en-US" altLang="en-US" sz="1000" dirty="0">
              <a:latin typeface="Times New Roman" panose="02020603050405020304" pitchFamily="18" charset="0"/>
            </a:endParaRPr>
          </a:p>
          <a:p>
            <a:r>
              <a:rPr lang="en-US" altLang="en-US" sz="1000" dirty="0">
                <a:latin typeface="Times New Roman" panose="02020603050405020304" pitchFamily="18" charset="0"/>
              </a:rPr>
              <a:t>Uplift of Current Appalachian Mountains</a:t>
            </a:r>
          </a:p>
          <a:p>
            <a:r>
              <a:rPr lang="en-US" altLang="en-US" sz="1000" dirty="0">
                <a:latin typeface="Times New Roman" panose="02020603050405020304" pitchFamily="18" charset="0"/>
              </a:rPr>
              <a:t>Tertiary~ 20-30 mya</a:t>
            </a:r>
          </a:p>
          <a:p>
            <a:r>
              <a:rPr lang="en-US" altLang="en-US" sz="1000" dirty="0">
                <a:latin typeface="Times New Roman" panose="02020603050405020304" pitchFamily="18" charset="0"/>
              </a:rPr>
              <a:t>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39BB635F-EC5C-CFCD-FA23-6E7361BC2497}"/>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48F9D557-AB11-21EB-5884-03F9A61A16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25604" name="Slide Number Placeholder 3">
            <a:extLst>
              <a:ext uri="{FF2B5EF4-FFF2-40B4-BE49-F238E27FC236}">
                <a16:creationId xmlns:a16="http://schemas.microsoft.com/office/drawing/2014/main" id="{D95B4848-C59F-EA8B-AAC2-3757ACC7D61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9DC7C51-4C95-44EB-B073-99F71FA0A18B}" type="slidenum">
              <a:rPr lang="en-US" altLang="en-US" sz="1200" smtClean="0"/>
              <a:pPr/>
              <a:t>9</a:t>
            </a:fld>
            <a:endParaRPr lang="en-US" alt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5C3A3C5D-6E08-4357-75B1-341A7A50DDE5}"/>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1FCCB3FE-0091-2371-CA0B-E828A81181C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27652" name="Slide Number Placeholder 3">
            <a:extLst>
              <a:ext uri="{FF2B5EF4-FFF2-40B4-BE49-F238E27FC236}">
                <a16:creationId xmlns:a16="http://schemas.microsoft.com/office/drawing/2014/main" id="{9855517C-2CB7-1EAB-03A3-4912579AB02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0A9FF6F-671B-4B89-9191-D7772415CFC9}" type="slidenum">
              <a:rPr lang="en-US" altLang="en-US" sz="1200" smtClean="0"/>
              <a:pPr/>
              <a:t>10</a:t>
            </a:fld>
            <a:endParaRPr lang="en-US" altLang="en-US"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A15708C5-5A50-E4AA-1CBD-44DFFAF8D73B}"/>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33F57035-C0D0-7FF2-67E6-F208EFFC1D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Himalaya and the entire Tibetan Plateau represent the ongoing collision of two continental Plates (the Indian and Asian plates)</a:t>
            </a:r>
          </a:p>
          <a:p>
            <a:endParaRPr lang="en-US" altLang="en-US" dirty="0">
              <a:latin typeface="Times New Roman" panose="02020603050405020304" pitchFamily="18" charset="0"/>
            </a:endParaRPr>
          </a:p>
        </p:txBody>
      </p:sp>
      <p:sp>
        <p:nvSpPr>
          <p:cNvPr id="29700" name="Slide Number Placeholder 3">
            <a:extLst>
              <a:ext uri="{FF2B5EF4-FFF2-40B4-BE49-F238E27FC236}">
                <a16:creationId xmlns:a16="http://schemas.microsoft.com/office/drawing/2014/main" id="{8CFF0F0C-E432-1CEB-E84E-BBD7A03679B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4DF7DC2-5A40-457E-93E7-A34608056DC7}" type="slidenum">
              <a:rPr lang="en-US" altLang="en-US" sz="1200" smtClean="0"/>
              <a:pPr/>
              <a:t>11</a:t>
            </a:fld>
            <a:endParaRPr lang="en-US" alt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B674BC34-96C1-6666-E070-77227E2DA3EB}"/>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7B603CD2-3C7A-2601-B398-F652BA2AB01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Himalayas, location of many of the world’s highest mountains</a:t>
            </a:r>
          </a:p>
        </p:txBody>
      </p:sp>
      <p:sp>
        <p:nvSpPr>
          <p:cNvPr id="31748" name="Slide Number Placeholder 3">
            <a:extLst>
              <a:ext uri="{FF2B5EF4-FFF2-40B4-BE49-F238E27FC236}">
                <a16:creationId xmlns:a16="http://schemas.microsoft.com/office/drawing/2014/main" id="{7C47C23B-7D05-85BE-EFDA-CFA196C9AFF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02C2076-A9C6-4916-A26D-2173A862AB79}" type="slidenum">
              <a:rPr lang="en-US" altLang="en-US" sz="1200" smtClean="0"/>
              <a:pPr/>
              <a:t>12</a:t>
            </a:fld>
            <a:endParaRPr lang="en-US" altLang="en-US"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916B02B6-36C4-E0CE-62D3-DCC3DA09E3C9}"/>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E77D5848-54DF-4018-112D-69B2E032E19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Geological evidence shows that the top of the Mt. Everest was once the bottom of an ocean. At the summit you will find Mesozoic marine fossils in sedimentary rocks that are about 65 million years old. </a:t>
            </a:r>
          </a:p>
          <a:p>
            <a:endParaRPr lang="en-US" altLang="en-US" dirty="0">
              <a:latin typeface="Times New Roman" panose="02020603050405020304" pitchFamily="18" charset="0"/>
            </a:endParaRPr>
          </a:p>
          <a:p>
            <a:r>
              <a:rPr lang="en-US" altLang="en-US" dirty="0">
                <a:latin typeface="Times New Roman" panose="02020603050405020304" pitchFamily="18" charset="0"/>
              </a:rPr>
              <a:t>There are metamorphic rocks and intrusive igneous rocks, but comparatively little extrusive volcanic rock due to lack of recent subduction</a:t>
            </a:r>
          </a:p>
          <a:p>
            <a:endParaRPr lang="en-US" altLang="en-US" dirty="0">
              <a:latin typeface="Times New Roman" panose="02020603050405020304" pitchFamily="18" charset="0"/>
            </a:endParaRPr>
          </a:p>
        </p:txBody>
      </p:sp>
      <p:sp>
        <p:nvSpPr>
          <p:cNvPr id="33796" name="Slide Number Placeholder 3">
            <a:extLst>
              <a:ext uri="{FF2B5EF4-FFF2-40B4-BE49-F238E27FC236}">
                <a16:creationId xmlns:a16="http://schemas.microsoft.com/office/drawing/2014/main" id="{FE425239-5353-A91E-8735-8E6CE6FE15B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A3D0841-AED9-4F2B-993E-7C8759FEAD2F}" type="slidenum">
              <a:rPr lang="en-US" altLang="en-US" sz="1200" smtClean="0"/>
              <a:pPr/>
              <a:t>13</a:t>
            </a:fld>
            <a:endParaRPr lang="en-US" altLang="en-US"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DDB110E6-5757-9DF9-2DEE-1EF5AE3DEB19}"/>
              </a:ext>
            </a:extLst>
          </p:cNvPr>
          <p:cNvSpPr>
            <a:spLocks noGrp="1" noRot="1" noChangeAspect="1" noChangeArrowheads="1" noTextEdit="1"/>
          </p:cNvSpPr>
          <p:nvPr>
            <p:ph type="sldImg"/>
          </p:nvPr>
        </p:nvSpPr>
        <p:spPr>
          <a:ln/>
        </p:spPr>
      </p:sp>
      <p:sp>
        <p:nvSpPr>
          <p:cNvPr id="35843" name="Notes Placeholder 2">
            <a:extLst>
              <a:ext uri="{FF2B5EF4-FFF2-40B4-BE49-F238E27FC236}">
                <a16:creationId xmlns:a16="http://schemas.microsoft.com/office/drawing/2014/main" id="{AC7BBF42-54D4-43BF-7F60-6DC3A9AAA5C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A</a:t>
            </a:r>
            <a:r>
              <a:rPr lang="en-US" b="0" dirty="0"/>
              <a:t> batholith </a:t>
            </a:r>
            <a:r>
              <a:rPr lang="en-US" dirty="0"/>
              <a:t>is a large mass of intrusive igneous rock (typically granite) that forms deep below the Earth's surface. It is created when magma slowly cools and solidifies beneath the Earth's crust. Over time, erosion can expose these massive rock formations at the surface. Batholiths are often associated with mountain ranges, particularly those formed at convergent tectonic plate boundaries.</a:t>
            </a:r>
            <a:endParaRPr lang="en-US" altLang="en-US" dirty="0">
              <a:latin typeface="Times New Roman" panose="02020603050405020304" pitchFamily="18" charset="0"/>
            </a:endParaRPr>
          </a:p>
        </p:txBody>
      </p:sp>
      <p:sp>
        <p:nvSpPr>
          <p:cNvPr id="35844" name="Slide Number Placeholder 3">
            <a:extLst>
              <a:ext uri="{FF2B5EF4-FFF2-40B4-BE49-F238E27FC236}">
                <a16:creationId xmlns:a16="http://schemas.microsoft.com/office/drawing/2014/main" id="{024490B1-1403-8E5B-2DA7-FD44C15DB50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04958EB-577C-4013-89D8-D3A44AD7B630}" type="slidenum">
              <a:rPr lang="en-US" altLang="en-US" sz="1200" smtClean="0"/>
              <a:pPr/>
              <a:t>14</a:t>
            </a:fld>
            <a:endParaRPr lang="en-US" altLang="en-US"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CB6E7C5A-5337-1FE2-E792-E3221A9906A1}"/>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EC25D7EC-CD8C-882E-2262-29A1D494F1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37892" name="Slide Number Placeholder 3">
            <a:extLst>
              <a:ext uri="{FF2B5EF4-FFF2-40B4-BE49-F238E27FC236}">
                <a16:creationId xmlns:a16="http://schemas.microsoft.com/office/drawing/2014/main" id="{8254850C-C8D4-C20B-5175-9F029B4930C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574767E-F39C-43A9-ABFD-30774DCA087E}" type="slidenum">
              <a:rPr lang="en-US" altLang="en-US" sz="1200" smtClean="0"/>
              <a:pPr/>
              <a:t>15</a:t>
            </a:fld>
            <a:endParaRPr lang="en-US" alt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FE0C7415-748A-AC7D-7A27-2DB5FEFEE128}"/>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1B6E3925-EA33-5DE6-6D9E-1BE0A71295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A cross-section showing the fold and thrust belt of the Canadian Rockies.  Much of the Rockies are composed of sedimentary and metamorphic rock with little extrusive volcanics.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F38CA335-882E-600C-A71F-40380A2DF1DE}"/>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34247A53-84B7-9AFA-B15F-746E7443F7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The Cascade Mountains consist of several active volcanoes (triangles). These volcanoes are developed above a subduction zone that stretches from northern California to southern British Columbia. The subduction zone involves the Juan de Fuca and related oceanic plates that descend beneath the western edge of North America. Unlike typical subduction zones, no trench is present along the continental margin. Instead, terranes and the accretionary wedge have been uplifted to form a series of coast ranges and exotic mountains</a:t>
            </a:r>
          </a:p>
          <a:p>
            <a:endParaRPr lang="en-US" altLang="en-US"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A62D19EC-B9FA-9F7F-8612-009B69B86916}"/>
              </a:ext>
            </a:extLst>
          </p:cNvPr>
          <p:cNvSpPr>
            <a:spLocks noGrp="1" noRot="1" noChangeAspect="1" noChangeArrowheads="1" noTextEdit="1"/>
          </p:cNvSpPr>
          <p:nvPr>
            <p:ph type="sldImg"/>
          </p:nvPr>
        </p:nvSpPr>
        <p:spPr>
          <a:ln/>
        </p:spPr>
      </p:sp>
      <p:sp>
        <p:nvSpPr>
          <p:cNvPr id="44035" name="Notes Placeholder 2">
            <a:extLst>
              <a:ext uri="{FF2B5EF4-FFF2-40B4-BE49-F238E27FC236}">
                <a16:creationId xmlns:a16="http://schemas.microsoft.com/office/drawing/2014/main" id="{8D8605F2-940F-F5A4-872A-91F639D523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Extrusive volcanics, a cooled lava field in the Cascades</a:t>
            </a:r>
          </a:p>
        </p:txBody>
      </p:sp>
      <p:sp>
        <p:nvSpPr>
          <p:cNvPr id="44036" name="Slide Number Placeholder 3">
            <a:extLst>
              <a:ext uri="{FF2B5EF4-FFF2-40B4-BE49-F238E27FC236}">
                <a16:creationId xmlns:a16="http://schemas.microsoft.com/office/drawing/2014/main" id="{D3CD26A9-08EA-8749-BC94-64888AC5CCA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0229537-9D7E-4B15-A1D0-BE3CB1CD1F29}" type="slidenum">
              <a:rPr lang="en-US" altLang="en-US" sz="1200" smtClean="0"/>
              <a:pPr/>
              <a:t>18</a:t>
            </a:fld>
            <a:endParaRPr lang="en-US" alt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E2209B49-52C4-85F5-3955-A5644F90129A}"/>
              </a:ext>
            </a:extLst>
          </p:cNvPr>
          <p:cNvSpPr>
            <a:spLocks noGrp="1" noRot="1" noChangeAspect="1" noChangeArrowheads="1" noTextEdit="1"/>
          </p:cNvSpPr>
          <p:nvPr>
            <p:ph type="sldImg"/>
          </p:nvPr>
        </p:nvSpPr>
        <p:spPr>
          <a:ln/>
        </p:spPr>
      </p:sp>
      <p:sp>
        <p:nvSpPr>
          <p:cNvPr id="101379" name="Notes Placeholder 2">
            <a:extLst>
              <a:ext uri="{FF2B5EF4-FFF2-40B4-BE49-F238E27FC236}">
                <a16:creationId xmlns:a16="http://schemas.microsoft.com/office/drawing/2014/main" id="{410FE04E-6A21-AA47-DE01-9711CB30122D}"/>
              </a:ext>
            </a:extLst>
          </p:cNvPr>
          <p:cNvSpPr>
            <a:spLocks noGrp="1"/>
          </p:cNvSpPr>
          <p:nvPr>
            <p:ph type="body" idx="1"/>
          </p:nvPr>
        </p:nvSpPr>
        <p:spPr>
          <a:ln/>
        </p:spPr>
        <p:txBody>
          <a:bodyPr/>
          <a:lstStyle/>
          <a:p>
            <a:pPr>
              <a:defRPr/>
            </a:pPr>
            <a:r>
              <a:rPr lang="en-US" dirty="0">
                <a:latin typeface="Times New Roman" pitchFamily="18" charset="0"/>
              </a:rPr>
              <a:t>Central California Coast</a:t>
            </a:r>
          </a:p>
          <a:p>
            <a:pPr>
              <a:defRPr/>
            </a:pPr>
            <a:endParaRPr lang="en-US" dirty="0">
              <a:latin typeface="Times New Roman" pitchFamily="18" charset="0"/>
            </a:endParaRPr>
          </a:p>
          <a:p>
            <a:pPr>
              <a:defRPr/>
            </a:pPr>
            <a:r>
              <a:rPr lang="en-US" kern="0" dirty="0">
                <a:latin typeface="Arial" charset="0"/>
              </a:rPr>
              <a:t>Suturing of microplates along on a convergent plate boundary</a:t>
            </a:r>
            <a:br>
              <a:rPr lang="en-US" kern="0" dirty="0">
                <a:latin typeface="Arial" charset="0"/>
              </a:rPr>
            </a:br>
            <a:br>
              <a:rPr lang="en-US" kern="0" dirty="0">
                <a:latin typeface="Arial" charset="0"/>
              </a:rPr>
            </a:br>
            <a:r>
              <a:rPr lang="en-US" kern="0" dirty="0">
                <a:latin typeface="Arial" charset="0"/>
              </a:rPr>
              <a:t>These exotic terranes are welded to the continent and increase its overall size. </a:t>
            </a:r>
          </a:p>
          <a:p>
            <a:pPr>
              <a:defRPr/>
            </a:pPr>
            <a:endParaRPr lang="en-US" dirty="0">
              <a:latin typeface="Times New Roman" pitchFamily="18" charset="0"/>
            </a:endParaRPr>
          </a:p>
        </p:txBody>
      </p:sp>
      <p:sp>
        <p:nvSpPr>
          <p:cNvPr id="46084" name="Slide Number Placeholder 3">
            <a:extLst>
              <a:ext uri="{FF2B5EF4-FFF2-40B4-BE49-F238E27FC236}">
                <a16:creationId xmlns:a16="http://schemas.microsoft.com/office/drawing/2014/main" id="{473E574E-A990-4A28-F47F-375E2789108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618C72F-7B6B-4B92-BC86-5F511D3F3426}" type="slidenum">
              <a:rPr lang="en-US" altLang="en-US" sz="1200" smtClean="0"/>
              <a:pPr/>
              <a:t>19</a:t>
            </a:fld>
            <a:endParaRPr lang="en-US" alt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720C108D-53FB-083C-A45F-D3F78B42DB3D}"/>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29E6E7CE-9409-862D-D967-1FA863ECDA0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By the end of the last ice age about 11,000 years ago, much of northern Europe and North America was covered by ice sheets up to 3 km thick. At the end of the ice age when the glaciers retreated, the removal of the weight from the depressed land led to a post-glacial rebound. Initially the rebound was rapid, proceeding at about 7.5 cm/year. This phase lasted for about 2,000 years, and took place as the ice was being unloaded. Once deglaciation was complete, uplift slowed to about 2.5 cm/year and decreased exponentially after that. Today, typical uplift rates are of the order of 1 cm/year or less, and studies suggest that rebound will continue for about another 10,000 years. </a:t>
            </a: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
        <p:nvSpPr>
          <p:cNvPr id="50180" name="Slide Number Placeholder 3">
            <a:extLst>
              <a:ext uri="{FF2B5EF4-FFF2-40B4-BE49-F238E27FC236}">
                <a16:creationId xmlns:a16="http://schemas.microsoft.com/office/drawing/2014/main" id="{86DB2DFC-C368-7918-32BF-74E5F4F53E6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7F2755D-55FD-4A79-B522-A00604654501}" type="slidenum">
              <a:rPr lang="en-US" altLang="en-US" sz="1200" smtClean="0"/>
              <a:pPr/>
              <a:t>22</a:t>
            </a:fld>
            <a:endParaRPr lang="en-US" alt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9460CD62-C1D7-D60B-09CA-A6D337A101AB}"/>
              </a:ext>
            </a:extLst>
          </p:cNvPr>
          <p:cNvSpPr>
            <a:spLocks noGrp="1" noRot="1" noChangeAspect="1" noChangeArrowheads="1" noTextEdit="1"/>
          </p:cNvSpPr>
          <p:nvPr>
            <p:ph type="sldImg"/>
          </p:nvPr>
        </p:nvSpPr>
        <p:spPr>
          <a:ln/>
        </p:spPr>
      </p:sp>
      <p:sp>
        <p:nvSpPr>
          <p:cNvPr id="52227" name="Notes Placeholder 2">
            <a:extLst>
              <a:ext uri="{FF2B5EF4-FFF2-40B4-BE49-F238E27FC236}">
                <a16:creationId xmlns:a16="http://schemas.microsoft.com/office/drawing/2014/main" id="{3114DF18-6D82-7E93-4215-33ED11C5F9E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As recently as the Viking Age Mälaren was a bay of the Baltic Sea, and seagoing vessels using it were able to sail far into the interior of Sweden. Due to the post-glacial rebound, the mouth of the bay had become so shallow by about 1200 that ships had to unload their cargos near the entrances, and progressively the bay became a lake. The decline of inland cities led to the subsequent foundation of Stockholm at the choke point. The lake's surface currently averages 0.7 meters above sea level.</a:t>
            </a:r>
          </a:p>
          <a:p>
            <a:endParaRPr lang="en-US" altLang="en-US" dirty="0">
              <a:latin typeface="Times New Roman" panose="02020603050405020304" pitchFamily="18" charset="0"/>
            </a:endParaRPr>
          </a:p>
        </p:txBody>
      </p:sp>
      <p:sp>
        <p:nvSpPr>
          <p:cNvPr id="52228" name="Slide Number Placeholder 3">
            <a:extLst>
              <a:ext uri="{FF2B5EF4-FFF2-40B4-BE49-F238E27FC236}">
                <a16:creationId xmlns:a16="http://schemas.microsoft.com/office/drawing/2014/main" id="{79AF0E07-DD0D-A3A8-2D90-4DADD89A14C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95FA188-A844-4B3D-8EAA-3D70194E4621}" type="slidenum">
              <a:rPr lang="en-US" altLang="en-US" sz="1200" smtClean="0"/>
              <a:pPr/>
              <a:t>23</a:t>
            </a:fld>
            <a:endParaRPr lang="en-US" altLang="en-US"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Weathering and erosion by rivers in mountainous terrain can speed uplift. As rock and sediments are removed, particularly when these mountains are high enough to intercept rainfall and increase streamflow, the weight of overburden decreases, and tectonic uplift becomes more efficient and faster. Mount Everest exemplifies this feedback between mountain building, uplift, and fluvial (river) erosion. </a:t>
            </a:r>
            <a:br>
              <a:rPr lang="en-US" dirty="0"/>
            </a:br>
            <a:br>
              <a:rPr lang="en-US" dirty="0"/>
            </a:br>
            <a:r>
              <a:rPr lang="en-US" sz="1200" b="0" i="0" u="none" strike="noStrike" kern="1200" baseline="0" dirty="0">
                <a:solidFill>
                  <a:schemeClr val="tx1"/>
                </a:solidFill>
                <a:latin typeface="Times New Roman" charset="0"/>
                <a:ea typeface="+mn-ea"/>
                <a:cs typeface="+mn-cs"/>
              </a:rPr>
              <a:t>How did Mount Everest come to be the world’s tallest mountain, towering more than 200 </a:t>
            </a:r>
            <a:r>
              <a:rPr lang="en-US" sz="1200" b="0" i="0" u="none" strike="noStrike" kern="1200" baseline="0" dirty="0" err="1">
                <a:solidFill>
                  <a:schemeClr val="tx1"/>
                </a:solidFill>
                <a:latin typeface="Times New Roman" charset="0"/>
                <a:ea typeface="+mn-ea"/>
                <a:cs typeface="+mn-cs"/>
              </a:rPr>
              <a:t>metres</a:t>
            </a:r>
            <a:r>
              <a:rPr lang="en-US" sz="1200" b="0" i="0" u="none" strike="noStrike" kern="1200" baseline="0" dirty="0">
                <a:solidFill>
                  <a:schemeClr val="tx1"/>
                </a:solidFill>
                <a:latin typeface="Times New Roman" charset="0"/>
                <a:ea typeface="+mn-ea"/>
                <a:cs typeface="+mn-cs"/>
              </a:rPr>
              <a:t> above the next two highest peaks? Geologists suggest the mountain </a:t>
            </a:r>
            <a:r>
              <a:rPr lang="en-US" sz="1200" b="0" i="0" u="none" strike="noStrike" kern="1200" baseline="0" dirty="0" err="1">
                <a:solidFill>
                  <a:schemeClr val="tx1"/>
                </a:solidFill>
                <a:latin typeface="Times New Roman" charset="0"/>
                <a:ea typeface="+mn-ea"/>
                <a:cs typeface="+mn-cs"/>
              </a:rPr>
              <a:t>owespart</a:t>
            </a:r>
            <a:r>
              <a:rPr lang="en-US" sz="1200" b="0" i="0" u="none" strike="noStrike" kern="1200" baseline="0" dirty="0">
                <a:solidFill>
                  <a:schemeClr val="tx1"/>
                </a:solidFill>
                <a:latin typeface="Times New Roman" charset="0"/>
                <a:ea typeface="+mn-ea"/>
                <a:cs typeface="+mn-cs"/>
              </a:rPr>
              <a:t> of its extra height to two ancient rivers that flowed through the Himalayas and merged about 89,000 years ago. The resulting erosion removed so much rock and soil that Everest has rebounded upwards by as much as 50 </a:t>
            </a:r>
            <a:r>
              <a:rPr lang="en-US" sz="1200" b="0" i="0" u="none" strike="noStrike" kern="1200" baseline="0" dirty="0" err="1">
                <a:solidFill>
                  <a:schemeClr val="tx1"/>
                </a:solidFill>
                <a:latin typeface="Times New Roman" charset="0"/>
                <a:ea typeface="+mn-ea"/>
                <a:cs typeface="+mn-cs"/>
              </a:rPr>
              <a:t>metres</a:t>
            </a:r>
            <a:r>
              <a:rPr lang="en-US" sz="1200" b="0" i="0" u="none" strike="noStrike" kern="1200" baseline="0" dirty="0">
                <a:solidFill>
                  <a:schemeClr val="tx1"/>
                </a:solidFill>
                <a:latin typeface="Times New Roman" charset="0"/>
                <a:ea typeface="+mn-ea"/>
                <a:cs typeface="+mn-cs"/>
              </a:rPr>
              <a:t>.</a:t>
            </a:r>
          </a:p>
          <a:p>
            <a:endParaRPr lang="en-US" sz="1200" b="0" i="0" u="none" strike="noStrike" kern="1200" baseline="0" dirty="0">
              <a:solidFill>
                <a:schemeClr val="tx1"/>
              </a:solidFill>
              <a:latin typeface="Times New Roman" charset="0"/>
              <a:ea typeface="+mn-ea"/>
              <a:cs typeface="+mn-cs"/>
            </a:endParaRPr>
          </a:p>
          <a:p>
            <a:r>
              <a:rPr lang="en-US" sz="1200" b="0" i="0" u="none" strike="noStrike" kern="1200" baseline="0" dirty="0">
                <a:solidFill>
                  <a:schemeClr val="tx1"/>
                </a:solidFill>
                <a:latin typeface="Times New Roman" charset="0"/>
                <a:ea typeface="+mn-ea"/>
                <a:cs typeface="+mn-cs"/>
              </a:rPr>
              <a:t>Everest, also known as Chomolungma and </a:t>
            </a:r>
            <a:r>
              <a:rPr lang="en-US" sz="1200" b="0" i="0" u="none" strike="noStrike" kern="1200" baseline="0" dirty="0" err="1">
                <a:solidFill>
                  <a:schemeClr val="tx1"/>
                </a:solidFill>
                <a:latin typeface="Times New Roman" charset="0"/>
                <a:ea typeface="+mn-ea"/>
                <a:cs typeface="+mn-cs"/>
              </a:rPr>
              <a:t>Sagarmāthā</a:t>
            </a:r>
            <a:r>
              <a:rPr lang="en-US" sz="1200" b="0" i="0" u="none" strike="noStrike" kern="1200" baseline="0" dirty="0">
                <a:solidFill>
                  <a:schemeClr val="tx1"/>
                </a:solidFill>
                <a:latin typeface="Times New Roman" charset="0"/>
                <a:ea typeface="+mn-ea"/>
                <a:cs typeface="+mn-cs"/>
              </a:rPr>
              <a:t>, stands 8,849 </a:t>
            </a:r>
            <a:r>
              <a:rPr lang="en-US" sz="1200" b="0" i="0" u="none" strike="noStrike" kern="1200" baseline="0" dirty="0" err="1">
                <a:solidFill>
                  <a:schemeClr val="tx1"/>
                </a:solidFill>
                <a:latin typeface="Times New Roman" charset="0"/>
                <a:ea typeface="+mn-ea"/>
                <a:cs typeface="+mn-cs"/>
              </a:rPr>
              <a:t>metres</a:t>
            </a:r>
            <a:r>
              <a:rPr lang="en-US" sz="1200" b="0" i="0" u="none" strike="noStrike" kern="1200" baseline="0" dirty="0">
                <a:solidFill>
                  <a:schemeClr val="tx1"/>
                </a:solidFill>
                <a:latin typeface="Times New Roman" charset="0"/>
                <a:ea typeface="+mn-ea"/>
                <a:cs typeface="+mn-cs"/>
              </a:rPr>
              <a:t> above sea level, in the Himalayan mountain chain, which also contains the world’s third-highest peak, Kanchenjunga (8,586 </a:t>
            </a:r>
            <a:r>
              <a:rPr lang="en-US" sz="1200" b="0" i="0" u="none" strike="noStrike" kern="1200" baseline="0" dirty="0" err="1">
                <a:solidFill>
                  <a:schemeClr val="tx1"/>
                </a:solidFill>
                <a:latin typeface="Times New Roman" charset="0"/>
                <a:ea typeface="+mn-ea"/>
                <a:cs typeface="+mn-cs"/>
              </a:rPr>
              <a:t>metres</a:t>
            </a:r>
            <a:r>
              <a:rPr lang="en-US" sz="1200" b="0" i="0" u="none" strike="noStrike" kern="1200" baseline="0" dirty="0">
                <a:solidFill>
                  <a:schemeClr val="tx1"/>
                </a:solidFill>
                <a:latin typeface="Times New Roman" charset="0"/>
                <a:ea typeface="+mn-ea"/>
                <a:cs typeface="+mn-cs"/>
              </a:rPr>
              <a:t>) and is not far from the second-highest, K2 (8,611metres). The Himalayas have been driven up by the ongoing collision of India with the rest of Asia.</a:t>
            </a:r>
            <a:endParaRPr lang="en-US" dirty="0"/>
          </a:p>
        </p:txBody>
      </p:sp>
      <p:sp>
        <p:nvSpPr>
          <p:cNvPr id="4" name="Slide Number Placeholder 3"/>
          <p:cNvSpPr>
            <a:spLocks noGrp="1"/>
          </p:cNvSpPr>
          <p:nvPr>
            <p:ph type="sldNum" sz="quarter" idx="5"/>
          </p:nvPr>
        </p:nvSpPr>
        <p:spPr/>
        <p:txBody>
          <a:bodyPr/>
          <a:lstStyle/>
          <a:p>
            <a:pPr>
              <a:defRPr/>
            </a:pPr>
            <a:fld id="{EF75651E-B26B-4DAB-9291-DD33F2B5C9AF}" type="slidenum">
              <a:rPr lang="en-US" altLang="en-US" smtClean="0"/>
              <a:pPr>
                <a:defRPr/>
              </a:pPr>
              <a:t>24</a:t>
            </a:fld>
            <a:endParaRPr lang="en-US" altLang="en-US" dirty="0"/>
          </a:p>
        </p:txBody>
      </p:sp>
    </p:spTree>
    <p:extLst>
      <p:ext uri="{BB962C8B-B14F-4D97-AF65-F5344CB8AC3E}">
        <p14:creationId xmlns:p14="http://schemas.microsoft.com/office/powerpoint/2010/main" val="32884922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585DC3BC-91EB-6390-7688-110F4C47B460}"/>
              </a:ext>
            </a:extLst>
          </p:cNvPr>
          <p:cNvSpPr>
            <a:spLocks noGrp="1" noRot="1" noChangeAspect="1" noChangeArrowheads="1" noTextEdit="1"/>
          </p:cNvSpPr>
          <p:nvPr>
            <p:ph type="sldImg"/>
          </p:nvPr>
        </p:nvSpPr>
        <p:spPr>
          <a:ln/>
        </p:spPr>
      </p:sp>
      <p:sp>
        <p:nvSpPr>
          <p:cNvPr id="54275" name="Notes Placeholder 2">
            <a:extLst>
              <a:ext uri="{FF2B5EF4-FFF2-40B4-BE49-F238E27FC236}">
                <a16:creationId xmlns:a16="http://schemas.microsoft.com/office/drawing/2014/main" id="{31EF64CC-5128-05CB-DE12-F492BF96482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The virtually undeformed Colorado plateau of the southwestern United States was uplifted 1.5 to 2 kilometers with some areas reaching 3 kilometers. It was also intruded by diverse magmas, and eroded and deeply incised, creating a dramatic topography that includes the 1.8-km-deep Grand Canyon.  </a:t>
            </a:r>
            <a:br>
              <a:rPr lang="en-US" altLang="en-US" dirty="0">
                <a:latin typeface="Times New Roman" panose="02020603050405020304" pitchFamily="18" charset="0"/>
              </a:rPr>
            </a:br>
            <a:br>
              <a:rPr lang="en-US" altLang="en-US" dirty="0">
                <a:latin typeface="Times New Roman" panose="02020603050405020304" pitchFamily="18" charset="0"/>
              </a:rPr>
            </a:br>
            <a:r>
              <a:rPr lang="en-US" altLang="en-US" dirty="0">
                <a:latin typeface="Times New Roman" panose="02020603050405020304" pitchFamily="18" charset="0"/>
              </a:rPr>
              <a:t>In feet:  4900 to 6500 feet in elevation with some locations just over 10,000 feet</a:t>
            </a:r>
          </a:p>
        </p:txBody>
      </p:sp>
      <p:sp>
        <p:nvSpPr>
          <p:cNvPr id="54276" name="Slide Number Placeholder 3">
            <a:extLst>
              <a:ext uri="{FF2B5EF4-FFF2-40B4-BE49-F238E27FC236}">
                <a16:creationId xmlns:a16="http://schemas.microsoft.com/office/drawing/2014/main" id="{C3B2E50A-7922-9B40-82B9-2827757216C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969B142-9C31-4339-B340-770DF9CA635F}" type="slidenum">
              <a:rPr lang="en-US" altLang="en-US" sz="1200" smtClean="0"/>
              <a:pPr/>
              <a:t>25</a:t>
            </a:fld>
            <a:endParaRPr lang="en-US" altLang="en-US"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338A9031-DEC8-C508-5E8A-22DC57B1EA8B}"/>
              </a:ext>
            </a:extLst>
          </p:cNvPr>
          <p:cNvSpPr>
            <a:spLocks noGrp="1" noRot="1" noChangeAspect="1" noChangeArrowheads="1" noTextEdit="1"/>
          </p:cNvSpPr>
          <p:nvPr>
            <p:ph type="sldImg"/>
          </p:nvPr>
        </p:nvSpPr>
        <p:spPr>
          <a:ln/>
        </p:spPr>
      </p:sp>
      <p:sp>
        <p:nvSpPr>
          <p:cNvPr id="56323" name="Notes Placeholder 2">
            <a:extLst>
              <a:ext uri="{FF2B5EF4-FFF2-40B4-BE49-F238E27FC236}">
                <a16:creationId xmlns:a16="http://schemas.microsoft.com/office/drawing/2014/main" id="{3DD0C6BD-C576-71F7-78CB-3D2EC27405F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Grand Canyon is a mile deep in some locations</a:t>
            </a:r>
          </a:p>
        </p:txBody>
      </p:sp>
      <p:sp>
        <p:nvSpPr>
          <p:cNvPr id="56324" name="Slide Number Placeholder 3">
            <a:extLst>
              <a:ext uri="{FF2B5EF4-FFF2-40B4-BE49-F238E27FC236}">
                <a16:creationId xmlns:a16="http://schemas.microsoft.com/office/drawing/2014/main" id="{8AAA7327-1457-8238-37E8-242A45E647F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6CF5F6B-81C1-4031-BD76-9FB17F079C37}" type="slidenum">
              <a:rPr lang="en-US" altLang="en-US" sz="1200" smtClean="0"/>
              <a:pPr/>
              <a:t>26</a:t>
            </a:fld>
            <a:endParaRPr lang="en-US" altLang="en-US" sz="12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79550175-9538-DA93-D7E2-440B11F9C123}"/>
              </a:ext>
            </a:extLst>
          </p:cNvPr>
          <p:cNvSpPr>
            <a:spLocks noGrp="1" noRot="1" noChangeAspect="1" noChangeArrowheads="1" noTextEdit="1"/>
          </p:cNvSpPr>
          <p:nvPr>
            <p:ph type="sldImg"/>
          </p:nvPr>
        </p:nvSpPr>
        <p:spPr>
          <a:ln/>
        </p:spPr>
      </p:sp>
      <p:sp>
        <p:nvSpPr>
          <p:cNvPr id="58371" name="Notes Placeholder 2">
            <a:extLst>
              <a:ext uri="{FF2B5EF4-FFF2-40B4-BE49-F238E27FC236}">
                <a16:creationId xmlns:a16="http://schemas.microsoft.com/office/drawing/2014/main" id="{A6035E16-723A-EDBE-48DE-C1503CE4E4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rPr>
              <a:t>The non-deformational uplift of the Colorado Plateau and its features was caused in part by mantle drips and delamination</a:t>
            </a:r>
          </a:p>
          <a:p>
            <a:br>
              <a:rPr lang="en-US" altLang="en-US" dirty="0">
                <a:latin typeface="Times New Roman" panose="02020603050405020304" pitchFamily="18" charset="0"/>
              </a:rPr>
            </a:br>
            <a:r>
              <a:rPr lang="en-US" altLang="en-US" dirty="0">
                <a:latin typeface="Times New Roman" panose="02020603050405020304" pitchFamily="18" charset="0"/>
              </a:rPr>
              <a:t>As partially molten material expanded, cooled and solidified after flowing upward, it made the mantle portion of the lithosphere it invaded heavy enough to peel away (delamination) and drip down. The more buoyant asthenosphere then filled the space left above, where it expanded and cause the Colorado Plateau to uplift.</a:t>
            </a:r>
            <a:br>
              <a:rPr lang="en-US" altLang="en-US" dirty="0">
                <a:latin typeface="Times New Roman" panose="02020603050405020304" pitchFamily="18" charset="0"/>
              </a:rPr>
            </a:br>
            <a:br>
              <a:rPr lang="en-US" altLang="en-US" dirty="0">
                <a:latin typeface="Times New Roman" panose="02020603050405020304" pitchFamily="18" charset="0"/>
              </a:rPr>
            </a:br>
            <a:r>
              <a:rPr lang="en-US" altLang="en-US" dirty="0">
                <a:latin typeface="Times New Roman" panose="02020603050405020304" pitchFamily="18" charset="0"/>
              </a:rPr>
              <a:t>Delamination refers to the process where a portion of the lithosphere (the rigid outer layer of the Earth, including the crust and the uppermost part of the mantle) becomes detached and sinks or ‘drips’ into the underlying asthenosphere</a:t>
            </a:r>
          </a:p>
        </p:txBody>
      </p:sp>
      <p:sp>
        <p:nvSpPr>
          <p:cNvPr id="58372" name="Slide Number Placeholder 3">
            <a:extLst>
              <a:ext uri="{FF2B5EF4-FFF2-40B4-BE49-F238E27FC236}">
                <a16:creationId xmlns:a16="http://schemas.microsoft.com/office/drawing/2014/main" id="{B9FCF3BC-8F89-D785-7FC1-97A80902236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98E47FD-C019-4EBB-94A3-D39414CE790E}" type="slidenum">
              <a:rPr lang="en-US" altLang="en-US" sz="1200" smtClean="0"/>
              <a:pPr/>
              <a:t>27</a:t>
            </a:fld>
            <a:endParaRPr lang="en-US" altLang="en-US" sz="12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127D7C6C-C646-F5F7-8E5C-8BE2B1128C71}"/>
              </a:ext>
            </a:extLst>
          </p:cNvPr>
          <p:cNvSpPr>
            <a:spLocks noGrp="1" noRot="1" noChangeAspect="1" noChangeArrowheads="1" noTextEdit="1"/>
          </p:cNvSpPr>
          <p:nvPr>
            <p:ph type="sldImg"/>
          </p:nvPr>
        </p:nvSpPr>
        <p:spPr>
          <a:ln/>
        </p:spPr>
      </p:sp>
      <p:sp>
        <p:nvSpPr>
          <p:cNvPr id="73731" name="Notes Placeholder 2">
            <a:extLst>
              <a:ext uri="{FF2B5EF4-FFF2-40B4-BE49-F238E27FC236}">
                <a16:creationId xmlns:a16="http://schemas.microsoft.com/office/drawing/2014/main" id="{45AA34B0-3DFF-E964-9C1F-66060F0046E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73732" name="Slide Number Placeholder 3">
            <a:extLst>
              <a:ext uri="{FF2B5EF4-FFF2-40B4-BE49-F238E27FC236}">
                <a16:creationId xmlns:a16="http://schemas.microsoft.com/office/drawing/2014/main" id="{1C04932C-EF61-AEF2-2863-43D45CA7487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0ACC9D2-6AA3-4F2C-BFBF-29343013903E}" type="slidenum">
              <a:rPr lang="en-US" altLang="en-US" sz="1200" smtClean="0"/>
              <a:pPr/>
              <a:t>29</a:t>
            </a:fld>
            <a:endParaRPr lang="en-US" altLang="en-US" sz="12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DDFA3F12-3765-A97A-BDA4-67AF5310F4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B2B4D34-F61A-4743-81C4-1A01CE150E89}" type="slidenum">
              <a:rPr lang="en-US" altLang="en-US" sz="1200" smtClean="0"/>
              <a:pPr/>
              <a:t>30</a:t>
            </a:fld>
            <a:endParaRPr lang="en-US" altLang="en-US" sz="1200" dirty="0"/>
          </a:p>
        </p:txBody>
      </p:sp>
      <p:sp>
        <p:nvSpPr>
          <p:cNvPr id="71683" name="Rectangle 2">
            <a:extLst>
              <a:ext uri="{FF2B5EF4-FFF2-40B4-BE49-F238E27FC236}">
                <a16:creationId xmlns:a16="http://schemas.microsoft.com/office/drawing/2014/main" id="{3AC1680D-1C6B-62AC-4E9F-53928CADEFEF}"/>
              </a:ext>
            </a:extLst>
          </p:cNvPr>
          <p:cNvSpPr>
            <a:spLocks noGrp="1" noRot="1" noChangeAspect="1" noChangeArrowheads="1" noTextEdit="1"/>
          </p:cNvSpPr>
          <p:nvPr>
            <p:ph type="sldImg"/>
          </p:nvPr>
        </p:nvSpPr>
        <p:spPr>
          <a:solidFill>
            <a:srgbClr val="FFFFFF"/>
          </a:solidFill>
          <a:ln/>
        </p:spPr>
      </p:sp>
      <p:sp>
        <p:nvSpPr>
          <p:cNvPr id="71684" name="Rectangle 3">
            <a:extLst>
              <a:ext uri="{FF2B5EF4-FFF2-40B4-BE49-F238E27FC236}">
                <a16:creationId xmlns:a16="http://schemas.microsoft.com/office/drawing/2014/main" id="{73477BE8-BE6A-FA82-5FB7-ACD9BCBB162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dirty="0">
                <a:latin typeface="Times New Roman" panose="02020603050405020304" pitchFamily="18" charset="0"/>
              </a:rPr>
              <a:t>Sedimentary rocks, England (right), road cut in West Virginia (left)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ED422DD0-B6B6-9420-FBE8-77FD1F14DCF2}"/>
              </a:ext>
            </a:extLst>
          </p:cNvPr>
          <p:cNvSpPr>
            <a:spLocks noGrp="1" noRot="1" noChangeAspect="1" noChangeArrowheads="1" noTextEdit="1"/>
          </p:cNvSpPr>
          <p:nvPr>
            <p:ph type="sldImg"/>
          </p:nvPr>
        </p:nvSpPr>
        <p:spPr>
          <a:ln/>
        </p:spPr>
      </p:sp>
      <p:sp>
        <p:nvSpPr>
          <p:cNvPr id="75779" name="Notes Placeholder 2">
            <a:extLst>
              <a:ext uri="{FF2B5EF4-FFF2-40B4-BE49-F238E27FC236}">
                <a16:creationId xmlns:a16="http://schemas.microsoft.com/office/drawing/2014/main" id="{C7770B02-08BD-4D9A-823D-EBD84FF502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75780" name="Slide Number Placeholder 3">
            <a:extLst>
              <a:ext uri="{FF2B5EF4-FFF2-40B4-BE49-F238E27FC236}">
                <a16:creationId xmlns:a16="http://schemas.microsoft.com/office/drawing/2014/main" id="{0EF34EC6-3D96-D212-D981-0C90E4D840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5E24819-5E31-4A60-9149-D1ABF53CB8A3}" type="slidenum">
              <a:rPr lang="en-US" altLang="en-US" sz="1200" smtClean="0"/>
              <a:pPr/>
              <a:t>31</a:t>
            </a:fld>
            <a:endParaRPr lang="en-US" altLang="en-US" sz="12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65972D50-ADE1-96D0-18E5-F37D3843912F}"/>
              </a:ext>
            </a:extLst>
          </p:cNvPr>
          <p:cNvSpPr>
            <a:spLocks noGrp="1" noRot="1" noChangeAspect="1" noChangeArrowheads="1" noTextEdit="1"/>
          </p:cNvSpPr>
          <p:nvPr>
            <p:ph type="sldImg"/>
          </p:nvPr>
        </p:nvSpPr>
        <p:spPr>
          <a:ln/>
        </p:spPr>
      </p:sp>
      <p:sp>
        <p:nvSpPr>
          <p:cNvPr id="77827" name="Notes Placeholder 2">
            <a:extLst>
              <a:ext uri="{FF2B5EF4-FFF2-40B4-BE49-F238E27FC236}">
                <a16:creationId xmlns:a16="http://schemas.microsoft.com/office/drawing/2014/main" id="{AAA5A889-C82E-F03F-0168-FE60E32A247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Appalachian Mountains</a:t>
            </a:r>
          </a:p>
        </p:txBody>
      </p:sp>
      <p:sp>
        <p:nvSpPr>
          <p:cNvPr id="77828" name="Slide Number Placeholder 3">
            <a:extLst>
              <a:ext uri="{FF2B5EF4-FFF2-40B4-BE49-F238E27FC236}">
                <a16:creationId xmlns:a16="http://schemas.microsoft.com/office/drawing/2014/main" id="{2799FB69-708E-7201-0540-41796D79B73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2610988-FC5F-4101-A501-DA19FA96F0FD}" type="slidenum">
              <a:rPr lang="en-US" altLang="en-US" sz="1200" smtClean="0"/>
              <a:pPr/>
              <a:t>32</a:t>
            </a:fld>
            <a:endParaRPr lang="en-US" altLang="en-US" sz="12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6913CC8B-E503-6877-6E4B-4C42252D9ACF}"/>
              </a:ext>
            </a:extLst>
          </p:cNvPr>
          <p:cNvSpPr>
            <a:spLocks noGrp="1" noRot="1" noChangeAspect="1" noChangeArrowheads="1" noTextEdit="1"/>
          </p:cNvSpPr>
          <p:nvPr>
            <p:ph type="sldImg"/>
          </p:nvPr>
        </p:nvSpPr>
        <p:spPr>
          <a:ln/>
        </p:spPr>
      </p:sp>
      <p:sp>
        <p:nvSpPr>
          <p:cNvPr id="79875" name="Notes Placeholder 2">
            <a:extLst>
              <a:ext uri="{FF2B5EF4-FFF2-40B4-BE49-F238E27FC236}">
                <a16:creationId xmlns:a16="http://schemas.microsoft.com/office/drawing/2014/main" id="{8C12C0C5-EB6E-8F74-A4B7-7BCD1DB3CA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Plunging anticlines and synclines of Central Appalachians of Pennsylvania</a:t>
            </a:r>
          </a:p>
        </p:txBody>
      </p:sp>
      <p:sp>
        <p:nvSpPr>
          <p:cNvPr id="79876" name="Slide Number Placeholder 3">
            <a:extLst>
              <a:ext uri="{FF2B5EF4-FFF2-40B4-BE49-F238E27FC236}">
                <a16:creationId xmlns:a16="http://schemas.microsoft.com/office/drawing/2014/main" id="{197514A4-3792-7FD2-47D1-0E3F3D4B74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3F1D249-0CA8-4DCB-9596-6180BF5FCBD7}" type="slidenum">
              <a:rPr lang="en-US" altLang="en-US" sz="1200" smtClean="0"/>
              <a:pPr/>
              <a:t>33</a:t>
            </a:fld>
            <a:endParaRPr lang="en-US" altLang="en-US" sz="12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98E0EB14-0E69-3DF0-E72A-C92B13904764}"/>
              </a:ext>
            </a:extLst>
          </p:cNvPr>
          <p:cNvSpPr>
            <a:spLocks noGrp="1" noRot="1" noChangeAspect="1" noChangeArrowheads="1" noTextEdit="1"/>
          </p:cNvSpPr>
          <p:nvPr>
            <p:ph type="sldImg"/>
          </p:nvPr>
        </p:nvSpPr>
        <p:spPr>
          <a:ln/>
        </p:spPr>
      </p:sp>
      <p:sp>
        <p:nvSpPr>
          <p:cNvPr id="83971" name="Notes Placeholder 2">
            <a:extLst>
              <a:ext uri="{FF2B5EF4-FFF2-40B4-BE49-F238E27FC236}">
                <a16:creationId xmlns:a16="http://schemas.microsoft.com/office/drawing/2014/main" id="{D34F53DA-2B94-FE4E-9528-60D2F1CA49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83972" name="Slide Number Placeholder 3">
            <a:extLst>
              <a:ext uri="{FF2B5EF4-FFF2-40B4-BE49-F238E27FC236}">
                <a16:creationId xmlns:a16="http://schemas.microsoft.com/office/drawing/2014/main" id="{61CCBE9C-A6A9-2C45-78AE-B5A6484EBC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2E81226-5D6F-41F5-A7E6-3E5EFF3D237E}" type="slidenum">
              <a:rPr lang="en-US" altLang="en-US" sz="1200" smtClean="0"/>
              <a:pPr/>
              <a:t>36</a:t>
            </a:fld>
            <a:endParaRPr lang="en-US" altLang="en-US" sz="12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a:extLst>
              <a:ext uri="{FF2B5EF4-FFF2-40B4-BE49-F238E27FC236}">
                <a16:creationId xmlns:a16="http://schemas.microsoft.com/office/drawing/2014/main" id="{6C3D3B32-8D5B-3D1F-5B43-5C937DE48A63}"/>
              </a:ext>
            </a:extLst>
          </p:cNvPr>
          <p:cNvSpPr>
            <a:spLocks noGrp="1" noRot="1" noChangeAspect="1" noChangeArrowheads="1" noTextEdit="1"/>
          </p:cNvSpPr>
          <p:nvPr>
            <p:ph type="sldImg"/>
          </p:nvPr>
        </p:nvSpPr>
        <p:spPr>
          <a:ln/>
        </p:spPr>
      </p:sp>
      <p:sp>
        <p:nvSpPr>
          <p:cNvPr id="86019" name="Notes Placeholder 2">
            <a:extLst>
              <a:ext uri="{FF2B5EF4-FFF2-40B4-BE49-F238E27FC236}">
                <a16:creationId xmlns:a16="http://schemas.microsoft.com/office/drawing/2014/main" id="{5D83EAE8-80CC-7DF6-C643-C3279F706D5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86020" name="Slide Number Placeholder 3">
            <a:extLst>
              <a:ext uri="{FF2B5EF4-FFF2-40B4-BE49-F238E27FC236}">
                <a16:creationId xmlns:a16="http://schemas.microsoft.com/office/drawing/2014/main" id="{CBEBF126-AB4E-6A29-E569-CC4269E7C47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4E0D06C-00D6-4901-8C4E-BC184541BDCB}" type="slidenum">
              <a:rPr lang="en-US" altLang="en-US" sz="1200" smtClean="0"/>
              <a:pPr/>
              <a:t>37</a:t>
            </a:fld>
            <a:endParaRPr lang="en-US" altLang="en-US" sz="12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a:extLst>
              <a:ext uri="{FF2B5EF4-FFF2-40B4-BE49-F238E27FC236}">
                <a16:creationId xmlns:a16="http://schemas.microsoft.com/office/drawing/2014/main" id="{4172CA89-B740-08D3-1BD1-B1DB9C23BDE5}"/>
              </a:ext>
            </a:extLst>
          </p:cNvPr>
          <p:cNvSpPr>
            <a:spLocks noGrp="1" noRot="1" noChangeAspect="1" noChangeArrowheads="1" noTextEdit="1"/>
          </p:cNvSpPr>
          <p:nvPr>
            <p:ph type="sldImg"/>
          </p:nvPr>
        </p:nvSpPr>
        <p:spPr>
          <a:ln/>
        </p:spPr>
      </p:sp>
      <p:sp>
        <p:nvSpPr>
          <p:cNvPr id="88067" name="Notes Placeholder 2">
            <a:extLst>
              <a:ext uri="{FF2B5EF4-FFF2-40B4-BE49-F238E27FC236}">
                <a16:creationId xmlns:a16="http://schemas.microsoft.com/office/drawing/2014/main" id="{4E49D2CA-5E30-8BC9-938E-281D45D498A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88068" name="Slide Number Placeholder 3">
            <a:extLst>
              <a:ext uri="{FF2B5EF4-FFF2-40B4-BE49-F238E27FC236}">
                <a16:creationId xmlns:a16="http://schemas.microsoft.com/office/drawing/2014/main" id="{6166CA73-93FA-E21F-5C2C-BF231967DE3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90B8382-539F-475A-9ED7-815221BDDCAD}" type="slidenum">
              <a:rPr lang="en-US" altLang="en-US" sz="1200" smtClean="0"/>
              <a:pPr/>
              <a:t>38</a:t>
            </a:fld>
            <a:endParaRPr lang="en-US" altLang="en-US" sz="12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AA11DB84-6CC5-2074-835A-2A97A1855E41}"/>
              </a:ext>
            </a:extLst>
          </p:cNvPr>
          <p:cNvSpPr>
            <a:spLocks noGrp="1" noRot="1" noChangeAspect="1" noChangeArrowheads="1" noTextEdit="1"/>
          </p:cNvSpPr>
          <p:nvPr>
            <p:ph type="sldImg"/>
          </p:nvPr>
        </p:nvSpPr>
        <p:spPr>
          <a:ln/>
        </p:spPr>
      </p:sp>
      <p:sp>
        <p:nvSpPr>
          <p:cNvPr id="90115" name="Notes Placeholder 2">
            <a:extLst>
              <a:ext uri="{FF2B5EF4-FFF2-40B4-BE49-F238E27FC236}">
                <a16:creationId xmlns:a16="http://schemas.microsoft.com/office/drawing/2014/main" id="{3FFB0402-DFD1-EB2D-41F6-36FDA9A708A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90116" name="Slide Number Placeholder 3">
            <a:extLst>
              <a:ext uri="{FF2B5EF4-FFF2-40B4-BE49-F238E27FC236}">
                <a16:creationId xmlns:a16="http://schemas.microsoft.com/office/drawing/2014/main" id="{BEA8BD28-191E-5C2F-9C04-DC7558DF0F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FF8A55E-B608-4EE0-8895-070B665297BE}" type="slidenum">
              <a:rPr lang="en-US" altLang="en-US" sz="1200" smtClean="0"/>
              <a:pPr/>
              <a:t>39</a:t>
            </a:fld>
            <a:endParaRPr lang="en-US" altLang="en-US" sz="12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a:extLst>
              <a:ext uri="{FF2B5EF4-FFF2-40B4-BE49-F238E27FC236}">
                <a16:creationId xmlns:a16="http://schemas.microsoft.com/office/drawing/2014/main" id="{7C63A9EC-8D30-9DA0-C986-5B1AECFE9A3A}"/>
              </a:ext>
            </a:extLst>
          </p:cNvPr>
          <p:cNvSpPr>
            <a:spLocks noGrp="1" noRot="1" noChangeAspect="1" noChangeArrowheads="1" noTextEdit="1"/>
          </p:cNvSpPr>
          <p:nvPr>
            <p:ph type="sldImg"/>
          </p:nvPr>
        </p:nvSpPr>
        <p:spPr>
          <a:ln/>
        </p:spPr>
      </p:sp>
      <p:sp>
        <p:nvSpPr>
          <p:cNvPr id="92163" name="Notes Placeholder 2">
            <a:extLst>
              <a:ext uri="{FF2B5EF4-FFF2-40B4-BE49-F238E27FC236}">
                <a16:creationId xmlns:a16="http://schemas.microsoft.com/office/drawing/2014/main" id="{7DDE4BA8-9263-F643-607D-7B0C42856B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92164" name="Slide Number Placeholder 3">
            <a:extLst>
              <a:ext uri="{FF2B5EF4-FFF2-40B4-BE49-F238E27FC236}">
                <a16:creationId xmlns:a16="http://schemas.microsoft.com/office/drawing/2014/main" id="{128170A4-7B72-D15E-0619-AD876ECD362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DE7C72E-E888-495B-A232-775A36BF07C8}" type="slidenum">
              <a:rPr lang="en-US" altLang="en-US" sz="1200" smtClean="0"/>
              <a:pPr/>
              <a:t>40</a:t>
            </a:fld>
            <a:endParaRPr lang="en-US" altLang="en-US" sz="12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thrust fault is a reverse fault with a low-angle dip (45 degrees or less), where older rocks are pushed over younger rocks due to compressional tectonic forces, causing crustal shortening. These faults form in zones where one tectonic plate subducts under another, or when two landmasses collide, such as during mountain building events.</a:t>
            </a:r>
          </a:p>
        </p:txBody>
      </p:sp>
      <p:sp>
        <p:nvSpPr>
          <p:cNvPr id="4" name="Slide Number Placeholder 3"/>
          <p:cNvSpPr>
            <a:spLocks noGrp="1"/>
          </p:cNvSpPr>
          <p:nvPr>
            <p:ph type="sldNum" sz="quarter" idx="5"/>
          </p:nvPr>
        </p:nvSpPr>
        <p:spPr/>
        <p:txBody>
          <a:bodyPr/>
          <a:lstStyle/>
          <a:p>
            <a:pPr>
              <a:defRPr/>
            </a:pPr>
            <a:fld id="{EF75651E-B26B-4DAB-9291-DD33F2B5C9AF}" type="slidenum">
              <a:rPr lang="en-US" altLang="en-US" smtClean="0"/>
              <a:pPr>
                <a:defRPr/>
              </a:pPr>
              <a:t>41</a:t>
            </a:fld>
            <a:endParaRPr lang="en-US" altLang="en-US" dirty="0"/>
          </a:p>
        </p:txBody>
      </p:sp>
    </p:spTree>
    <p:extLst>
      <p:ext uri="{BB962C8B-B14F-4D97-AF65-F5344CB8AC3E}">
        <p14:creationId xmlns:p14="http://schemas.microsoft.com/office/powerpoint/2010/main" val="15146371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8A80D007-7AF2-3856-DD28-BD389BD9B42B}"/>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fld id="{4F0F45B2-2547-4A6B-B96D-D2B544B7751E}" type="slidenum">
              <a:rPr lang="en-US" altLang="en-US" sz="1200"/>
              <a:pPr algn="r" eaLnBrk="1" hangingPunct="1"/>
              <a:t>42</a:t>
            </a:fld>
            <a:endParaRPr lang="en-US" altLang="en-US" sz="1200" dirty="0"/>
          </a:p>
        </p:txBody>
      </p:sp>
      <p:sp>
        <p:nvSpPr>
          <p:cNvPr id="94211" name="Rectangle 2">
            <a:extLst>
              <a:ext uri="{FF2B5EF4-FFF2-40B4-BE49-F238E27FC236}">
                <a16:creationId xmlns:a16="http://schemas.microsoft.com/office/drawing/2014/main" id="{04442DB9-5A8A-3B91-7D4F-7BE5AB903C7C}"/>
              </a:ext>
            </a:extLst>
          </p:cNvPr>
          <p:cNvSpPr>
            <a:spLocks noGrp="1" noRot="1" noChangeAspect="1" noChangeArrowheads="1" noTextEdit="1"/>
          </p:cNvSpPr>
          <p:nvPr>
            <p:ph type="sldImg"/>
          </p:nvPr>
        </p:nvSpPr>
        <p:spPr>
          <a:solidFill>
            <a:srgbClr val="FFFFFF"/>
          </a:solidFill>
          <a:ln/>
        </p:spPr>
      </p:sp>
      <p:sp>
        <p:nvSpPr>
          <p:cNvPr id="94212" name="Rectangle 3">
            <a:extLst>
              <a:ext uri="{FF2B5EF4-FFF2-40B4-BE49-F238E27FC236}">
                <a16:creationId xmlns:a16="http://schemas.microsoft.com/office/drawing/2014/main" id="{B1EB7F48-9D2B-0777-11BF-56424FCBB901}"/>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dirty="0">
                <a:latin typeface="Times New Roman" panose="02020603050405020304" pitchFamily="18" charset="0"/>
              </a:rPr>
              <a:t>Thrust fault in limestone, western Pennsylvania. Thrust faults are low angle reverse faults</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38856E7C-31DA-BDF7-A1AE-CA550248DE91}"/>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E474CDA5-D834-2704-8D75-BDE81FCBF5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Normal faults in volcanic ashes and paleo-soils, El Salvador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(top) and after (bottom) photos of </a:t>
            </a:r>
            <a:r>
              <a:rPr lang="en-US" dirty="0" err="1"/>
              <a:t>Nias</a:t>
            </a:r>
            <a:r>
              <a:rPr lang="en-US" dirty="0"/>
              <a:t> Island off the west coast of Sumatra in Indonesia. The island was uplifted more than 8 feet (2.5 meters) during at 2005 earthquake.</a:t>
            </a:r>
          </a:p>
        </p:txBody>
      </p:sp>
      <p:sp>
        <p:nvSpPr>
          <p:cNvPr id="4" name="Slide Number Placeholder 3"/>
          <p:cNvSpPr>
            <a:spLocks noGrp="1"/>
          </p:cNvSpPr>
          <p:nvPr>
            <p:ph type="sldNum" sz="quarter" idx="5"/>
          </p:nvPr>
        </p:nvSpPr>
        <p:spPr/>
        <p:txBody>
          <a:bodyPr/>
          <a:lstStyle/>
          <a:p>
            <a:pPr>
              <a:defRPr/>
            </a:pPr>
            <a:fld id="{EF75651E-B26B-4DAB-9291-DD33F2B5C9AF}" type="slidenum">
              <a:rPr lang="en-US" altLang="en-US" smtClean="0"/>
              <a:pPr>
                <a:defRPr/>
              </a:pPr>
              <a:t>44</a:t>
            </a:fld>
            <a:endParaRPr lang="en-US" altLang="en-US" dirty="0"/>
          </a:p>
        </p:txBody>
      </p:sp>
    </p:spTree>
    <p:extLst>
      <p:ext uri="{BB962C8B-B14F-4D97-AF65-F5344CB8AC3E}">
        <p14:creationId xmlns:p14="http://schemas.microsoft.com/office/powerpoint/2010/main" val="31491946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a16="http://schemas.microsoft.com/office/drawing/2014/main" id="{6C17E419-2677-1A17-4B8B-0D4F0DDB72B7}"/>
              </a:ext>
            </a:extLst>
          </p:cNvPr>
          <p:cNvSpPr>
            <a:spLocks noGrp="1" noRot="1" noChangeAspect="1" noChangeArrowheads="1" noTextEdit="1"/>
          </p:cNvSpPr>
          <p:nvPr>
            <p:ph type="sldImg"/>
          </p:nvPr>
        </p:nvSpPr>
        <p:spPr>
          <a:ln/>
        </p:spPr>
      </p:sp>
      <p:sp>
        <p:nvSpPr>
          <p:cNvPr id="99331" name="Notes Placeholder 2">
            <a:extLst>
              <a:ext uri="{FF2B5EF4-FFF2-40B4-BE49-F238E27FC236}">
                <a16:creationId xmlns:a16="http://schemas.microsoft.com/office/drawing/2014/main" id="{FC5ACC3E-F9D5-72D4-52B9-A3F8B8F3A1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Cuesta (Italy)</a:t>
            </a:r>
          </a:p>
        </p:txBody>
      </p:sp>
      <p:sp>
        <p:nvSpPr>
          <p:cNvPr id="99332" name="Slide Number Placeholder 3">
            <a:extLst>
              <a:ext uri="{FF2B5EF4-FFF2-40B4-BE49-F238E27FC236}">
                <a16:creationId xmlns:a16="http://schemas.microsoft.com/office/drawing/2014/main" id="{EF97C6D9-4A11-5C6B-925F-7FBD982439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AF0766E-48EE-4033-B387-D13AE4463471}" type="slidenum">
              <a:rPr lang="en-US" altLang="en-US" sz="1200" smtClean="0"/>
              <a:pPr/>
              <a:t>46</a:t>
            </a:fld>
            <a:endParaRPr lang="en-US" altLang="en-US" sz="12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05D48541-0C45-7797-BC51-DF30A180CD70}"/>
              </a:ext>
            </a:extLst>
          </p:cNvPr>
          <p:cNvSpPr>
            <a:spLocks noGrp="1" noRot="1" noChangeAspect="1" noChangeArrowheads="1" noTextEdit="1"/>
          </p:cNvSpPr>
          <p:nvPr>
            <p:ph type="sldImg"/>
          </p:nvPr>
        </p:nvSpPr>
        <p:spPr>
          <a:ln/>
        </p:spPr>
      </p:sp>
      <p:sp>
        <p:nvSpPr>
          <p:cNvPr id="101379" name="Notes Placeholder 2">
            <a:extLst>
              <a:ext uri="{FF2B5EF4-FFF2-40B4-BE49-F238E27FC236}">
                <a16:creationId xmlns:a16="http://schemas.microsoft.com/office/drawing/2014/main" id="{7BAF3231-2187-BE91-DDC6-EF1BE63B06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101380" name="Slide Number Placeholder 3">
            <a:extLst>
              <a:ext uri="{FF2B5EF4-FFF2-40B4-BE49-F238E27FC236}">
                <a16:creationId xmlns:a16="http://schemas.microsoft.com/office/drawing/2014/main" id="{9C99B82C-AC57-2C20-3E4E-BADFF5D70A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F64069D-2220-4B70-96B0-CADB92EAC5BA}" type="slidenum">
              <a:rPr lang="en-US" altLang="en-US" sz="1200" smtClean="0"/>
              <a:pPr/>
              <a:t>47</a:t>
            </a:fld>
            <a:endParaRPr lang="en-US" altLang="en-US" sz="12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a:extLst>
              <a:ext uri="{FF2B5EF4-FFF2-40B4-BE49-F238E27FC236}">
                <a16:creationId xmlns:a16="http://schemas.microsoft.com/office/drawing/2014/main" id="{3DA5F2D9-302E-B608-3089-5BCFD152DA68}"/>
              </a:ext>
            </a:extLst>
          </p:cNvPr>
          <p:cNvSpPr>
            <a:spLocks noGrp="1" noRot="1" noChangeAspect="1" noChangeArrowheads="1" noTextEdit="1"/>
          </p:cNvSpPr>
          <p:nvPr>
            <p:ph type="sldImg"/>
          </p:nvPr>
        </p:nvSpPr>
        <p:spPr>
          <a:ln/>
        </p:spPr>
      </p:sp>
      <p:sp>
        <p:nvSpPr>
          <p:cNvPr id="104451" name="Notes Placeholder 2">
            <a:extLst>
              <a:ext uri="{FF2B5EF4-FFF2-40B4-BE49-F238E27FC236}">
                <a16:creationId xmlns:a16="http://schemas.microsoft.com/office/drawing/2014/main" id="{806B54DC-3E7F-6CCB-86B5-82A6C3FB09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https://coloradomtn.edu/gc/grand-hogback/</a:t>
            </a:r>
          </a:p>
        </p:txBody>
      </p:sp>
      <p:sp>
        <p:nvSpPr>
          <p:cNvPr id="104452" name="Slide Number Placeholder 3">
            <a:extLst>
              <a:ext uri="{FF2B5EF4-FFF2-40B4-BE49-F238E27FC236}">
                <a16:creationId xmlns:a16="http://schemas.microsoft.com/office/drawing/2014/main" id="{EB58627F-5548-298C-22A9-EF259FF31F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1156BD1-9BEA-4AF1-A623-FD9ABCE40A17}" type="slidenum">
              <a:rPr lang="en-US" altLang="en-US" sz="1200" smtClean="0"/>
              <a:pPr/>
              <a:t>49</a:t>
            </a:fld>
            <a:endParaRPr lang="en-US" altLang="en-US" sz="12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a:extLst>
              <a:ext uri="{FF2B5EF4-FFF2-40B4-BE49-F238E27FC236}">
                <a16:creationId xmlns:a16="http://schemas.microsoft.com/office/drawing/2014/main" id="{C9454999-4CCD-4E38-9F1E-52D9DA3D80F2}"/>
              </a:ext>
            </a:extLst>
          </p:cNvPr>
          <p:cNvSpPr>
            <a:spLocks noGrp="1" noRot="1" noChangeAspect="1" noChangeArrowheads="1" noTextEdit="1"/>
          </p:cNvSpPr>
          <p:nvPr>
            <p:ph type="sldImg"/>
          </p:nvPr>
        </p:nvSpPr>
        <p:spPr>
          <a:ln/>
        </p:spPr>
      </p:sp>
      <p:sp>
        <p:nvSpPr>
          <p:cNvPr id="106499" name="Notes Placeholder 2">
            <a:extLst>
              <a:ext uri="{FF2B5EF4-FFF2-40B4-BE49-F238E27FC236}">
                <a16:creationId xmlns:a16="http://schemas.microsoft.com/office/drawing/2014/main" id="{FA5F27F5-5145-6D54-CB47-391F39DFB2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Hogback in foreground. This one is caused by exposure of intrusive igneous rock that is more resistant to weathering. </a:t>
            </a:r>
          </a:p>
        </p:txBody>
      </p:sp>
      <p:sp>
        <p:nvSpPr>
          <p:cNvPr id="106500" name="Slide Number Placeholder 3">
            <a:extLst>
              <a:ext uri="{FF2B5EF4-FFF2-40B4-BE49-F238E27FC236}">
                <a16:creationId xmlns:a16="http://schemas.microsoft.com/office/drawing/2014/main" id="{349ECC8A-BBE0-3EA2-CFE4-75EA6379AC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7DE6486-EF19-4381-B7B8-565A3C1AB288}" type="slidenum">
              <a:rPr lang="en-US" altLang="en-US" sz="1200" smtClean="0"/>
              <a:pPr/>
              <a:t>50</a:t>
            </a:fld>
            <a:endParaRPr lang="en-US" altLang="en-US" sz="12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a:extLst>
              <a:ext uri="{FF2B5EF4-FFF2-40B4-BE49-F238E27FC236}">
                <a16:creationId xmlns:a16="http://schemas.microsoft.com/office/drawing/2014/main" id="{CD828163-033B-D670-7E4B-F93F9479D8F7}"/>
              </a:ext>
            </a:extLst>
          </p:cNvPr>
          <p:cNvSpPr>
            <a:spLocks noGrp="1" noRot="1" noChangeAspect="1" noChangeArrowheads="1" noTextEdit="1"/>
          </p:cNvSpPr>
          <p:nvPr>
            <p:ph type="sldImg"/>
          </p:nvPr>
        </p:nvSpPr>
        <p:spPr>
          <a:ln/>
        </p:spPr>
      </p:sp>
      <p:sp>
        <p:nvSpPr>
          <p:cNvPr id="109571" name="Notes Placeholder 2">
            <a:extLst>
              <a:ext uri="{FF2B5EF4-FFF2-40B4-BE49-F238E27FC236}">
                <a16:creationId xmlns:a16="http://schemas.microsoft.com/office/drawing/2014/main" id="{EF20F154-F3BC-5DFF-10D5-C5C91ADB680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The Basin and Range Province is a particular type of topography that covers much of the southwestern United States and northwestern Mexico that is typified by elongate north-south trending arid valleys bounded by mountain ranges which also bound adjacent valleys. Death Valley is a good example of a modified basin and range valley.</a:t>
            </a:r>
          </a:p>
          <a:p>
            <a:endParaRPr lang="en-US" altLang="en-US" dirty="0">
              <a:latin typeface="Times New Roman" panose="02020603050405020304" pitchFamily="18" charset="0"/>
            </a:endParaRPr>
          </a:p>
          <a:p>
            <a:r>
              <a:rPr lang="en-US" altLang="en-US" dirty="0">
                <a:latin typeface="Times New Roman" panose="02020603050405020304" pitchFamily="18" charset="0"/>
              </a:rPr>
              <a:t>The basins are down-fallen blocks of crust and the ranges are relatively uplifted blocks. The normal arrangement in the basin and range system is that each valley (i.e., basin) is bounded on each side by one or more normal faults that are oriented along or sub-parallel to the range front.</a:t>
            </a:r>
          </a:p>
          <a:p>
            <a:endParaRPr lang="en-US" altLang="en-US" dirty="0">
              <a:latin typeface="Times New Roman" panose="02020603050405020304" pitchFamily="18" charset="0"/>
            </a:endParaRPr>
          </a:p>
          <a:p>
            <a:r>
              <a:rPr lang="en-US" altLang="en-US" dirty="0">
                <a:latin typeface="Times New Roman" panose="02020603050405020304" pitchFamily="18" charset="0"/>
              </a:rPr>
              <a:t>This arrangement is very similar to the horsts and grabens seen in divergent plate boundaries such as the Mid-Atlantic Ridge or in failed rifting areas such as the Western Rift of the Great Rift Valley in East Africa. However the extent of the rifting in the Basin and Range is not concentrated into a single valley but is spread out over a very large area creating much smaller grabens laying roughly parallel to each other in a north-south direction (which leads to a rain shadow effect resulting in exceedingly dry conditions in this province).</a:t>
            </a: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
        <p:nvSpPr>
          <p:cNvPr id="109572" name="Slide Number Placeholder 3">
            <a:extLst>
              <a:ext uri="{FF2B5EF4-FFF2-40B4-BE49-F238E27FC236}">
                <a16:creationId xmlns:a16="http://schemas.microsoft.com/office/drawing/2014/main" id="{D0BEC564-55FD-C39B-D61C-A97B8BAE932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0C86243-B7AC-4E75-9999-8526EF67A8D9}" type="slidenum">
              <a:rPr lang="en-US" altLang="en-US" sz="1200" smtClean="0"/>
              <a:pPr/>
              <a:t>51</a:t>
            </a:fld>
            <a:endParaRPr lang="en-US" altLang="en-US" sz="1200"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Basin and Range Province</a:t>
            </a:r>
          </a:p>
          <a:p>
            <a:endParaRPr lang="en-US" dirty="0"/>
          </a:p>
        </p:txBody>
      </p:sp>
      <p:sp>
        <p:nvSpPr>
          <p:cNvPr id="4" name="Slide Number Placeholder 3"/>
          <p:cNvSpPr>
            <a:spLocks noGrp="1"/>
          </p:cNvSpPr>
          <p:nvPr>
            <p:ph type="sldNum" sz="quarter" idx="5"/>
          </p:nvPr>
        </p:nvSpPr>
        <p:spPr/>
        <p:txBody>
          <a:bodyPr/>
          <a:lstStyle/>
          <a:p>
            <a:fld id="{1E52336C-046A-4A6F-AD53-9D81ACDEAAD3}" type="slidenum">
              <a:rPr lang="en-US" smtClean="0"/>
              <a:t>52</a:t>
            </a:fld>
            <a:endParaRPr lang="en-US" dirty="0"/>
          </a:p>
        </p:txBody>
      </p:sp>
    </p:spTree>
    <p:extLst>
      <p:ext uri="{BB962C8B-B14F-4D97-AF65-F5344CB8AC3E}">
        <p14:creationId xmlns:p14="http://schemas.microsoft.com/office/powerpoint/2010/main" val="3306613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037B8AE8-50A4-F05C-0813-45E4E7B4EAD1}"/>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31856A22-EC80-ED7A-A4FB-40BCAF87B17F}"/>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A7F6B1AB-8E45-37AA-B7E2-D3E87F7581A6}"/>
              </a:ext>
            </a:extLst>
          </p:cNvPr>
          <p:cNvSpPr>
            <a:spLocks noGrp="1" noChangeArrowheads="1"/>
          </p:cNvSpPr>
          <p:nvPr>
            <p:ph type="sldNum" sz="quarter" idx="12"/>
          </p:nvPr>
        </p:nvSpPr>
        <p:spPr>
          <a:ln/>
        </p:spPr>
        <p:txBody>
          <a:bodyPr/>
          <a:lstStyle>
            <a:lvl1pPr>
              <a:defRPr/>
            </a:lvl1pPr>
          </a:lstStyle>
          <a:p>
            <a:pPr>
              <a:defRPr/>
            </a:pPr>
            <a:fld id="{9A0E58DB-4ACC-44A0-B95D-A40B0220975D}" type="slidenum">
              <a:rPr lang="en-US" altLang="en-US"/>
              <a:pPr>
                <a:defRPr/>
              </a:pPr>
              <a:t>‹#›</a:t>
            </a:fld>
            <a:endParaRPr lang="en-US" altLang="en-US" dirty="0"/>
          </a:p>
        </p:txBody>
      </p:sp>
    </p:spTree>
    <p:extLst>
      <p:ext uri="{BB962C8B-B14F-4D97-AF65-F5344CB8AC3E}">
        <p14:creationId xmlns:p14="http://schemas.microsoft.com/office/powerpoint/2010/main" val="4193385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C974297-45E7-EBCB-42F7-3D37D4616B5D}"/>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A03EDD9C-3A73-407A-6110-5426C790B96B}"/>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DB5AF819-23D4-ED84-93EC-2B0EC0F3E874}"/>
              </a:ext>
            </a:extLst>
          </p:cNvPr>
          <p:cNvSpPr>
            <a:spLocks noGrp="1" noChangeArrowheads="1"/>
          </p:cNvSpPr>
          <p:nvPr>
            <p:ph type="sldNum" sz="quarter" idx="12"/>
          </p:nvPr>
        </p:nvSpPr>
        <p:spPr>
          <a:ln/>
        </p:spPr>
        <p:txBody>
          <a:bodyPr/>
          <a:lstStyle>
            <a:lvl1pPr>
              <a:defRPr/>
            </a:lvl1pPr>
          </a:lstStyle>
          <a:p>
            <a:pPr>
              <a:defRPr/>
            </a:pPr>
            <a:fld id="{7730FC9D-7F91-4528-B42E-9F27EF754C29}" type="slidenum">
              <a:rPr lang="en-US" altLang="en-US"/>
              <a:pPr>
                <a:defRPr/>
              </a:pPr>
              <a:t>‹#›</a:t>
            </a:fld>
            <a:endParaRPr lang="en-US" altLang="en-US" dirty="0"/>
          </a:p>
        </p:txBody>
      </p:sp>
    </p:spTree>
    <p:extLst>
      <p:ext uri="{BB962C8B-B14F-4D97-AF65-F5344CB8AC3E}">
        <p14:creationId xmlns:p14="http://schemas.microsoft.com/office/powerpoint/2010/main" val="218157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ABDBF4B5-04DD-A18C-3176-193F30BC83DD}"/>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93B15694-DE85-C4FC-749F-7B2AEF10AD5B}"/>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1FC891E8-E624-39C6-FEA4-CB487422E2C0}"/>
              </a:ext>
            </a:extLst>
          </p:cNvPr>
          <p:cNvSpPr>
            <a:spLocks noGrp="1" noChangeArrowheads="1"/>
          </p:cNvSpPr>
          <p:nvPr>
            <p:ph type="sldNum" sz="quarter" idx="12"/>
          </p:nvPr>
        </p:nvSpPr>
        <p:spPr>
          <a:ln/>
        </p:spPr>
        <p:txBody>
          <a:bodyPr/>
          <a:lstStyle>
            <a:lvl1pPr>
              <a:defRPr/>
            </a:lvl1pPr>
          </a:lstStyle>
          <a:p>
            <a:pPr>
              <a:defRPr/>
            </a:pPr>
            <a:fld id="{3C2B592C-C698-452F-9EE3-928EC1DC178B}" type="slidenum">
              <a:rPr lang="en-US" altLang="en-US"/>
              <a:pPr>
                <a:defRPr/>
              </a:pPr>
              <a:t>‹#›</a:t>
            </a:fld>
            <a:endParaRPr lang="en-US" altLang="en-US" dirty="0"/>
          </a:p>
        </p:txBody>
      </p:sp>
    </p:spTree>
    <p:extLst>
      <p:ext uri="{BB962C8B-B14F-4D97-AF65-F5344CB8AC3E}">
        <p14:creationId xmlns:p14="http://schemas.microsoft.com/office/powerpoint/2010/main" val="4230120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79B22EE-6E1E-5C2F-9BCD-42217A256A2E}"/>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41440383-76AC-B017-4A3B-75DF894541A2}"/>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06AE4B4B-5515-134B-C184-53B7AA51FC07}"/>
              </a:ext>
            </a:extLst>
          </p:cNvPr>
          <p:cNvSpPr>
            <a:spLocks noGrp="1" noChangeArrowheads="1"/>
          </p:cNvSpPr>
          <p:nvPr>
            <p:ph type="sldNum" sz="quarter" idx="12"/>
          </p:nvPr>
        </p:nvSpPr>
        <p:spPr>
          <a:ln/>
        </p:spPr>
        <p:txBody>
          <a:bodyPr/>
          <a:lstStyle>
            <a:lvl1pPr>
              <a:defRPr/>
            </a:lvl1pPr>
          </a:lstStyle>
          <a:p>
            <a:pPr>
              <a:defRPr/>
            </a:pPr>
            <a:fld id="{6029968D-66D0-4161-A5D8-1F15A41BAE0F}" type="slidenum">
              <a:rPr lang="en-US" altLang="en-US"/>
              <a:pPr>
                <a:defRPr/>
              </a:pPr>
              <a:t>‹#›</a:t>
            </a:fld>
            <a:endParaRPr lang="en-US" altLang="en-US" dirty="0"/>
          </a:p>
        </p:txBody>
      </p:sp>
    </p:spTree>
    <p:extLst>
      <p:ext uri="{BB962C8B-B14F-4D97-AF65-F5344CB8AC3E}">
        <p14:creationId xmlns:p14="http://schemas.microsoft.com/office/powerpoint/2010/main" val="5308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5BDDB83-445E-9263-A9D9-B0BD703320D2}"/>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a:extLst>
              <a:ext uri="{FF2B5EF4-FFF2-40B4-BE49-F238E27FC236}">
                <a16:creationId xmlns:a16="http://schemas.microsoft.com/office/drawing/2014/main" id="{317E23F6-5FFB-B8BC-DD14-EB2859174C54}"/>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a:extLst>
              <a:ext uri="{FF2B5EF4-FFF2-40B4-BE49-F238E27FC236}">
                <a16:creationId xmlns:a16="http://schemas.microsoft.com/office/drawing/2014/main" id="{B851F4FB-8534-9862-9871-C031C9C6F399}"/>
              </a:ext>
            </a:extLst>
          </p:cNvPr>
          <p:cNvSpPr>
            <a:spLocks noGrp="1" noChangeArrowheads="1"/>
          </p:cNvSpPr>
          <p:nvPr>
            <p:ph type="sldNum" sz="quarter" idx="12"/>
          </p:nvPr>
        </p:nvSpPr>
        <p:spPr>
          <a:ln/>
        </p:spPr>
        <p:txBody>
          <a:bodyPr/>
          <a:lstStyle>
            <a:lvl1pPr>
              <a:defRPr/>
            </a:lvl1pPr>
          </a:lstStyle>
          <a:p>
            <a:pPr>
              <a:defRPr/>
            </a:pPr>
            <a:fld id="{B5A99060-30D9-441E-8014-31E9F9960F80}" type="slidenum">
              <a:rPr lang="en-US" altLang="en-US"/>
              <a:pPr>
                <a:defRPr/>
              </a:pPr>
              <a:t>‹#›</a:t>
            </a:fld>
            <a:endParaRPr lang="en-US" altLang="en-US" dirty="0"/>
          </a:p>
        </p:txBody>
      </p:sp>
    </p:spTree>
    <p:extLst>
      <p:ext uri="{BB962C8B-B14F-4D97-AF65-F5344CB8AC3E}">
        <p14:creationId xmlns:p14="http://schemas.microsoft.com/office/powerpoint/2010/main" val="2635260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EA3527D7-9200-CBF3-9B6E-0B3384EB8F2A}"/>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a:extLst>
              <a:ext uri="{FF2B5EF4-FFF2-40B4-BE49-F238E27FC236}">
                <a16:creationId xmlns:a16="http://schemas.microsoft.com/office/drawing/2014/main" id="{9F2CC741-E4B0-1EBA-02CE-C5D50C1E754D}"/>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a:extLst>
              <a:ext uri="{FF2B5EF4-FFF2-40B4-BE49-F238E27FC236}">
                <a16:creationId xmlns:a16="http://schemas.microsoft.com/office/drawing/2014/main" id="{D9DB1208-6510-4EC3-58F6-39FECB6DC9CB}"/>
              </a:ext>
            </a:extLst>
          </p:cNvPr>
          <p:cNvSpPr>
            <a:spLocks noGrp="1" noChangeArrowheads="1"/>
          </p:cNvSpPr>
          <p:nvPr>
            <p:ph type="sldNum" sz="quarter" idx="12"/>
          </p:nvPr>
        </p:nvSpPr>
        <p:spPr>
          <a:ln/>
        </p:spPr>
        <p:txBody>
          <a:bodyPr/>
          <a:lstStyle>
            <a:lvl1pPr>
              <a:defRPr/>
            </a:lvl1pPr>
          </a:lstStyle>
          <a:p>
            <a:pPr>
              <a:defRPr/>
            </a:pPr>
            <a:fld id="{2C205FCD-EFAE-49B9-B525-5663DED247F6}" type="slidenum">
              <a:rPr lang="en-US" altLang="en-US"/>
              <a:pPr>
                <a:defRPr/>
              </a:pPr>
              <a:t>‹#›</a:t>
            </a:fld>
            <a:endParaRPr lang="en-US" altLang="en-US" dirty="0"/>
          </a:p>
        </p:txBody>
      </p:sp>
    </p:spTree>
    <p:extLst>
      <p:ext uri="{BB962C8B-B14F-4D97-AF65-F5344CB8AC3E}">
        <p14:creationId xmlns:p14="http://schemas.microsoft.com/office/powerpoint/2010/main" val="3423259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FF6BFBD-8B6B-ED90-BCF5-EC04FBE244CA}"/>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a:extLst>
              <a:ext uri="{FF2B5EF4-FFF2-40B4-BE49-F238E27FC236}">
                <a16:creationId xmlns:a16="http://schemas.microsoft.com/office/drawing/2014/main" id="{98307223-C1E3-65DD-668C-624613F1660E}"/>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a:extLst>
              <a:ext uri="{FF2B5EF4-FFF2-40B4-BE49-F238E27FC236}">
                <a16:creationId xmlns:a16="http://schemas.microsoft.com/office/drawing/2014/main" id="{E6A86D75-D826-A226-F13F-4A86D6FD6C84}"/>
              </a:ext>
            </a:extLst>
          </p:cNvPr>
          <p:cNvSpPr>
            <a:spLocks noGrp="1" noChangeArrowheads="1"/>
          </p:cNvSpPr>
          <p:nvPr>
            <p:ph type="sldNum" sz="quarter" idx="12"/>
          </p:nvPr>
        </p:nvSpPr>
        <p:spPr>
          <a:ln/>
        </p:spPr>
        <p:txBody>
          <a:bodyPr/>
          <a:lstStyle>
            <a:lvl1pPr>
              <a:defRPr/>
            </a:lvl1pPr>
          </a:lstStyle>
          <a:p>
            <a:pPr>
              <a:defRPr/>
            </a:pPr>
            <a:fld id="{0883556B-105F-4887-9369-BED9479C0B01}" type="slidenum">
              <a:rPr lang="en-US" altLang="en-US"/>
              <a:pPr>
                <a:defRPr/>
              </a:pPr>
              <a:t>‹#›</a:t>
            </a:fld>
            <a:endParaRPr lang="en-US" altLang="en-US" dirty="0"/>
          </a:p>
        </p:txBody>
      </p:sp>
    </p:spTree>
    <p:extLst>
      <p:ext uri="{BB962C8B-B14F-4D97-AF65-F5344CB8AC3E}">
        <p14:creationId xmlns:p14="http://schemas.microsoft.com/office/powerpoint/2010/main" val="3073072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427DED3-1350-61F6-9206-D6050C5628AC}"/>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4BFC416F-B22D-766B-6CC1-A7CE707F6EC1}"/>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3B81D9AD-7266-957F-A589-AB803D2F61F2}"/>
              </a:ext>
            </a:extLst>
          </p:cNvPr>
          <p:cNvSpPr>
            <a:spLocks noGrp="1" noChangeArrowheads="1"/>
          </p:cNvSpPr>
          <p:nvPr>
            <p:ph type="sldNum" sz="quarter" idx="12"/>
          </p:nvPr>
        </p:nvSpPr>
        <p:spPr>
          <a:ln/>
        </p:spPr>
        <p:txBody>
          <a:bodyPr/>
          <a:lstStyle>
            <a:lvl1pPr>
              <a:defRPr/>
            </a:lvl1pPr>
          </a:lstStyle>
          <a:p>
            <a:pPr>
              <a:defRPr/>
            </a:pPr>
            <a:fld id="{99019540-B2D3-46D8-B847-DC27C5D9105D}" type="slidenum">
              <a:rPr lang="en-US" altLang="en-US"/>
              <a:pPr>
                <a:defRPr/>
              </a:pPr>
              <a:t>‹#›</a:t>
            </a:fld>
            <a:endParaRPr lang="en-US" altLang="en-US" dirty="0"/>
          </a:p>
        </p:txBody>
      </p:sp>
    </p:spTree>
    <p:extLst>
      <p:ext uri="{BB962C8B-B14F-4D97-AF65-F5344CB8AC3E}">
        <p14:creationId xmlns:p14="http://schemas.microsoft.com/office/powerpoint/2010/main" val="2083044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3C45D6B-A894-57FC-86AD-B5DEAE3766A7}"/>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C87912E7-43DE-8D7D-E7E4-1F6DBE9BF29B}"/>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EB77628F-03CB-B73A-2880-C718AA8EF8B4}"/>
              </a:ext>
            </a:extLst>
          </p:cNvPr>
          <p:cNvSpPr>
            <a:spLocks noGrp="1" noChangeArrowheads="1"/>
          </p:cNvSpPr>
          <p:nvPr>
            <p:ph type="sldNum" sz="quarter" idx="12"/>
          </p:nvPr>
        </p:nvSpPr>
        <p:spPr>
          <a:ln/>
        </p:spPr>
        <p:txBody>
          <a:bodyPr/>
          <a:lstStyle>
            <a:lvl1pPr>
              <a:defRPr/>
            </a:lvl1pPr>
          </a:lstStyle>
          <a:p>
            <a:pPr>
              <a:defRPr/>
            </a:pPr>
            <a:fld id="{35293EC9-669B-4C5F-AF5C-56EC8FBDD7B6}" type="slidenum">
              <a:rPr lang="en-US" altLang="en-US"/>
              <a:pPr>
                <a:defRPr/>
              </a:pPr>
              <a:t>‹#›</a:t>
            </a:fld>
            <a:endParaRPr lang="en-US" altLang="en-US" dirty="0"/>
          </a:p>
        </p:txBody>
      </p:sp>
    </p:spTree>
    <p:extLst>
      <p:ext uri="{BB962C8B-B14F-4D97-AF65-F5344CB8AC3E}">
        <p14:creationId xmlns:p14="http://schemas.microsoft.com/office/powerpoint/2010/main" val="3627181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77B9664-AECE-71A4-D86B-280F34DEFF5D}"/>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45107F30-A3E1-13B2-947A-F258AC515FE4}"/>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13F6D7B8-5585-3B22-67AC-0C5B6E004EAE}"/>
              </a:ext>
            </a:extLst>
          </p:cNvPr>
          <p:cNvSpPr>
            <a:spLocks noGrp="1" noChangeArrowheads="1"/>
          </p:cNvSpPr>
          <p:nvPr>
            <p:ph type="sldNum" sz="quarter" idx="12"/>
          </p:nvPr>
        </p:nvSpPr>
        <p:spPr>
          <a:ln/>
        </p:spPr>
        <p:txBody>
          <a:bodyPr/>
          <a:lstStyle>
            <a:lvl1pPr>
              <a:defRPr/>
            </a:lvl1pPr>
          </a:lstStyle>
          <a:p>
            <a:pPr>
              <a:defRPr/>
            </a:pPr>
            <a:fld id="{1012C735-C5FB-4340-8072-7E904EB22A38}" type="slidenum">
              <a:rPr lang="en-US" altLang="en-US"/>
              <a:pPr>
                <a:defRPr/>
              </a:pPr>
              <a:t>‹#›</a:t>
            </a:fld>
            <a:endParaRPr lang="en-US" altLang="en-US" dirty="0"/>
          </a:p>
        </p:txBody>
      </p:sp>
    </p:spTree>
    <p:extLst>
      <p:ext uri="{BB962C8B-B14F-4D97-AF65-F5344CB8AC3E}">
        <p14:creationId xmlns:p14="http://schemas.microsoft.com/office/powerpoint/2010/main" val="686508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665F6F4-D20C-7225-16C1-49BC418BFE59}"/>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590EB43E-2525-6FD8-9D6B-80472E1D1CC4}"/>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D7AB123E-0AC3-9974-D268-1D77693BE82F}"/>
              </a:ext>
            </a:extLst>
          </p:cNvPr>
          <p:cNvSpPr>
            <a:spLocks noGrp="1" noChangeArrowheads="1"/>
          </p:cNvSpPr>
          <p:nvPr>
            <p:ph type="sldNum" sz="quarter" idx="12"/>
          </p:nvPr>
        </p:nvSpPr>
        <p:spPr>
          <a:ln/>
        </p:spPr>
        <p:txBody>
          <a:bodyPr/>
          <a:lstStyle>
            <a:lvl1pPr>
              <a:defRPr/>
            </a:lvl1pPr>
          </a:lstStyle>
          <a:p>
            <a:pPr>
              <a:defRPr/>
            </a:pPr>
            <a:fld id="{B3D3C6A0-50D7-43B9-8EFC-33CF69DC6B4D}" type="slidenum">
              <a:rPr lang="en-US" altLang="en-US"/>
              <a:pPr>
                <a:defRPr/>
              </a:pPr>
              <a:t>‹#›</a:t>
            </a:fld>
            <a:endParaRPr lang="en-US" altLang="en-US" dirty="0"/>
          </a:p>
        </p:txBody>
      </p:sp>
    </p:spTree>
    <p:extLst>
      <p:ext uri="{BB962C8B-B14F-4D97-AF65-F5344CB8AC3E}">
        <p14:creationId xmlns:p14="http://schemas.microsoft.com/office/powerpoint/2010/main" val="3404650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E1DD4C5-FAAE-96CE-4ABC-BC6D30DB05C4}"/>
              </a:ext>
            </a:extLst>
          </p:cNvPr>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81D9BB70-810C-E449-DC7E-5C9E136C7071}"/>
              </a:ext>
            </a:extLst>
          </p:cNvPr>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F1FC348-5930-49FF-966D-810859B33DDB}"/>
              </a:ext>
            </a:extLst>
          </p:cNvPr>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Times New Roman" charset="0"/>
              </a:defRPr>
            </a:lvl1pPr>
          </a:lstStyle>
          <a:p>
            <a:pPr>
              <a:defRPr/>
            </a:pPr>
            <a:endParaRPr lang="en-US" dirty="0"/>
          </a:p>
        </p:txBody>
      </p:sp>
      <p:sp>
        <p:nvSpPr>
          <p:cNvPr id="1029" name="Rectangle 5">
            <a:extLst>
              <a:ext uri="{FF2B5EF4-FFF2-40B4-BE49-F238E27FC236}">
                <a16:creationId xmlns:a16="http://schemas.microsoft.com/office/drawing/2014/main" id="{9911781A-66E3-DFB4-0FA6-129D9E660DD1}"/>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Times New Roman" charset="0"/>
              </a:defRPr>
            </a:lvl1pPr>
          </a:lstStyle>
          <a:p>
            <a:pPr>
              <a:defRPr/>
            </a:pPr>
            <a:endParaRPr lang="en-US" dirty="0"/>
          </a:p>
        </p:txBody>
      </p:sp>
      <p:sp>
        <p:nvSpPr>
          <p:cNvPr id="1030" name="Rectangle 6">
            <a:extLst>
              <a:ext uri="{FF2B5EF4-FFF2-40B4-BE49-F238E27FC236}">
                <a16:creationId xmlns:a16="http://schemas.microsoft.com/office/drawing/2014/main" id="{ADB7EBAE-EAB6-34D9-7233-A73AA7BEF12B}"/>
              </a:ext>
            </a:extLst>
          </p:cNvPr>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BF41CC60-0F6F-4443-9DCD-FE416CE6E530}"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fontAlgn="base">
        <a:spcBef>
          <a:spcPct val="0"/>
        </a:spcBef>
        <a:spcAft>
          <a:spcPct val="0"/>
        </a:spcAft>
        <a:defRPr sz="4400">
          <a:solidFill>
            <a:schemeClr val="tx2"/>
          </a:solidFill>
          <a:latin typeface="Times New Roman" charset="0"/>
        </a:defRPr>
      </a:lvl6pPr>
      <a:lvl7pPr marL="914400" algn="ctr" rtl="0" fontAlgn="base">
        <a:spcBef>
          <a:spcPct val="0"/>
        </a:spcBef>
        <a:spcAft>
          <a:spcPct val="0"/>
        </a:spcAft>
        <a:defRPr sz="4400">
          <a:solidFill>
            <a:schemeClr val="tx2"/>
          </a:solidFill>
          <a:latin typeface="Times New Roman" charset="0"/>
        </a:defRPr>
      </a:lvl7pPr>
      <a:lvl8pPr marL="1371600" algn="ctr" rtl="0" fontAlgn="base">
        <a:spcBef>
          <a:spcPct val="0"/>
        </a:spcBef>
        <a:spcAft>
          <a:spcPct val="0"/>
        </a:spcAft>
        <a:defRPr sz="4400">
          <a:solidFill>
            <a:schemeClr val="tx2"/>
          </a:solidFill>
          <a:latin typeface="Times New Roman" charset="0"/>
        </a:defRPr>
      </a:lvl8pPr>
      <a:lvl9pPr marL="1828800" algn="ctr" rtl="0" fontAlgn="base">
        <a:spcBef>
          <a:spcPct val="0"/>
        </a:spcBef>
        <a:spcAft>
          <a:spcPct val="0"/>
        </a:spcAft>
        <a:defRPr sz="4400">
          <a:solidFill>
            <a:schemeClr val="tx2"/>
          </a:solidFill>
          <a:latin typeface="Times New Roman"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33.jpe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8.jpe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8.jpeg"/></Relationships>
</file>

<file path=ppt/slides/_rels/slide5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61.jpeg"/></Relationships>
</file>

<file path=ppt/slides/_rels/slide52.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EE008A8F-05DB-9A99-1BC8-58DFBC2C3E7D}"/>
              </a:ext>
            </a:extLst>
          </p:cNvPr>
          <p:cNvSpPr>
            <a:spLocks noGrp="1" noChangeArrowheads="1"/>
          </p:cNvSpPr>
          <p:nvPr>
            <p:ph type="title"/>
          </p:nvPr>
        </p:nvSpPr>
        <p:spPr>
          <a:xfrm>
            <a:off x="2209800" y="304800"/>
            <a:ext cx="7772400" cy="1143000"/>
          </a:xfrm>
        </p:spPr>
        <p:txBody>
          <a:bodyPr/>
          <a:lstStyle/>
          <a:p>
            <a:pPr eaLnBrk="1" hangingPunct="1"/>
            <a:r>
              <a:rPr lang="en-US" altLang="en-US" dirty="0">
                <a:latin typeface="Arial" panose="020B0604020202020204" pitchFamily="34" charset="0"/>
                <a:cs typeface="Arial" panose="020B0604020202020204" pitchFamily="34" charset="0"/>
              </a:rPr>
              <a:t>Crustal motion</a:t>
            </a:r>
          </a:p>
        </p:txBody>
      </p:sp>
      <p:sp>
        <p:nvSpPr>
          <p:cNvPr id="4099" name="Content Placeholder 2">
            <a:extLst>
              <a:ext uri="{FF2B5EF4-FFF2-40B4-BE49-F238E27FC236}">
                <a16:creationId xmlns:a16="http://schemas.microsoft.com/office/drawing/2014/main" id="{7AEA5982-AF9A-1B4F-E063-C0A7D776E3FC}"/>
              </a:ext>
            </a:extLst>
          </p:cNvPr>
          <p:cNvSpPr>
            <a:spLocks noGrp="1" noChangeArrowheads="1"/>
          </p:cNvSpPr>
          <p:nvPr>
            <p:ph idx="1"/>
          </p:nvPr>
        </p:nvSpPr>
        <p:spPr>
          <a:xfrm>
            <a:off x="609600" y="1676400"/>
            <a:ext cx="10668000" cy="4114800"/>
          </a:xfrm>
        </p:spPr>
        <p:txBody>
          <a:bodyPr/>
          <a:lstStyle/>
          <a:p>
            <a:pPr eaLnBrk="1" hangingPunct="1"/>
            <a:r>
              <a:rPr lang="en-US" altLang="en-US" sz="2800" dirty="0">
                <a:latin typeface="Arial" panose="020B0604020202020204" pitchFamily="34" charset="0"/>
                <a:cs typeface="Arial" panose="020B0604020202020204" pitchFamily="34" charset="0"/>
              </a:rPr>
              <a:t>Can be very slow (California’s mountains are rising a few cm each year) or very fast (meters in seconds and minutes) in the case of earthquakes. Plate tectonics and internal structure of the Earth are source of energy for these motions: </a:t>
            </a:r>
          </a:p>
          <a:p>
            <a:pPr lvl="1" eaLnBrk="1" hangingPunct="1"/>
            <a:r>
              <a:rPr lang="en-US" altLang="en-US" sz="2400" dirty="0">
                <a:latin typeface="Arial" panose="020B0604020202020204" pitchFamily="34" charset="0"/>
                <a:cs typeface="Arial" panose="020B0604020202020204" pitchFamily="34" charset="0"/>
              </a:rPr>
              <a:t>Gravity anomalies </a:t>
            </a:r>
          </a:p>
          <a:p>
            <a:pPr lvl="1" eaLnBrk="1" hangingPunct="1"/>
            <a:r>
              <a:rPr lang="en-US" altLang="en-US" sz="2400" dirty="0">
                <a:latin typeface="Arial" panose="020B0604020202020204" pitchFamily="34" charset="0"/>
                <a:cs typeface="Arial" panose="020B0604020202020204" pitchFamily="34" charset="0"/>
              </a:rPr>
              <a:t>Crustal heating</a:t>
            </a:r>
          </a:p>
          <a:p>
            <a:pPr lvl="1" eaLnBrk="1" hangingPunct="1"/>
            <a:r>
              <a:rPr lang="en-US" altLang="en-US" sz="2400" dirty="0">
                <a:latin typeface="Arial" panose="020B0604020202020204" pitchFamily="34" charset="0"/>
                <a:cs typeface="Arial" panose="020B0604020202020204" pitchFamily="34" charset="0"/>
              </a:rPr>
              <a:t>Mountain-building (orogenesis)</a:t>
            </a:r>
          </a:p>
          <a:p>
            <a:pPr lvl="1" eaLnBrk="1" hangingPunct="1"/>
            <a:r>
              <a:rPr lang="en-US" altLang="en-US" sz="2400" dirty="0">
                <a:latin typeface="Arial" panose="020B0604020202020204" pitchFamily="34" charset="0"/>
                <a:cs typeface="Arial" panose="020B0604020202020204" pitchFamily="34" charset="0"/>
              </a:rPr>
              <a:t>Non-deformational motion (epeiorogeny)</a:t>
            </a:r>
          </a:p>
          <a:p>
            <a:pPr lvl="1" eaLnBrk="1" hangingPunct="1"/>
            <a:r>
              <a:rPr lang="en-US" altLang="en-US" sz="2400" dirty="0">
                <a:latin typeface="Arial" panose="020B0604020202020204" pitchFamily="34" charset="0"/>
                <a:cs typeface="Arial" panose="020B0604020202020204" pitchFamily="34" charset="0"/>
              </a:rPr>
              <a:t>Folding and faulting </a:t>
            </a:r>
          </a:p>
          <a:p>
            <a:pPr eaLnBrk="1" hangingPunct="1"/>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7" descr="geoid1">
            <a:extLst>
              <a:ext uri="{FF2B5EF4-FFF2-40B4-BE49-F238E27FC236}">
                <a16:creationId xmlns:a16="http://schemas.microsoft.com/office/drawing/2014/main" id="{35BF08C8-935F-2BBD-F604-5B3C7CA7F2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295400"/>
            <a:ext cx="52578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Picture 6" descr="grace">
            <a:extLst>
              <a:ext uri="{FF2B5EF4-FFF2-40B4-BE49-F238E27FC236}">
                <a16:creationId xmlns:a16="http://schemas.microsoft.com/office/drawing/2014/main" id="{D2DB5AE7-E71F-F492-BABA-838243A3DB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9175" y="1295400"/>
            <a:ext cx="5411788"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 name="Title 1">
            <a:extLst>
              <a:ext uri="{FF2B5EF4-FFF2-40B4-BE49-F238E27FC236}">
                <a16:creationId xmlns:a16="http://schemas.microsoft.com/office/drawing/2014/main" id="{C8558A8C-03D8-5ACA-0F65-D1DAE4F455B6}"/>
              </a:ext>
            </a:extLst>
          </p:cNvPr>
          <p:cNvSpPr>
            <a:spLocks noGrp="1" noChangeArrowheads="1"/>
          </p:cNvSpPr>
          <p:nvPr>
            <p:ph type="title"/>
          </p:nvPr>
        </p:nvSpPr>
        <p:spPr>
          <a:xfrm>
            <a:off x="2206625" y="152400"/>
            <a:ext cx="7772400" cy="1143000"/>
          </a:xfrm>
        </p:spPr>
        <p:txBody>
          <a:bodyPr/>
          <a:lstStyle/>
          <a:p>
            <a:pPr eaLnBrk="1" hangingPunct="1"/>
            <a:r>
              <a:rPr lang="en-US" altLang="en-US" dirty="0">
                <a:latin typeface="Arial" panose="020B0604020202020204" pitchFamily="34" charset="0"/>
                <a:cs typeface="Arial" panose="020B0604020202020204" pitchFamily="34" charset="0"/>
              </a:rPr>
              <a:t>The ‘lumpy’ Earth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JAS\Desktop\USBouguer.jpg">
            <a:extLst>
              <a:ext uri="{FF2B5EF4-FFF2-40B4-BE49-F238E27FC236}">
                <a16:creationId xmlns:a16="http://schemas.microsoft.com/office/drawing/2014/main" id="{B7AED387-68FF-43C0-2A2D-1794DB3C2B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143000"/>
            <a:ext cx="8001000" cy="522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Title 1">
            <a:extLst>
              <a:ext uri="{FF2B5EF4-FFF2-40B4-BE49-F238E27FC236}">
                <a16:creationId xmlns:a16="http://schemas.microsoft.com/office/drawing/2014/main" id="{CBBC1763-9202-FCFB-8208-D8C62BD831AD}"/>
              </a:ext>
            </a:extLst>
          </p:cNvPr>
          <p:cNvSpPr>
            <a:spLocks noGrp="1" noChangeArrowheads="1"/>
          </p:cNvSpPr>
          <p:nvPr>
            <p:ph type="title"/>
          </p:nvPr>
        </p:nvSpPr>
        <p:spPr>
          <a:xfrm>
            <a:off x="0" y="-37407"/>
            <a:ext cx="11811000" cy="1143000"/>
          </a:xfrm>
        </p:spPr>
        <p:txBody>
          <a:bodyPr/>
          <a:lstStyle/>
          <a:p>
            <a:r>
              <a:rPr lang="en-US" altLang="en-US" sz="4200" dirty="0">
                <a:latin typeface="Arial" panose="020B0604020202020204" pitchFamily="34" charset="0"/>
                <a:cs typeface="Arial" panose="020B0604020202020204" pitchFamily="34" charset="0"/>
              </a:rPr>
              <a:t>Lumpiness due to variability in force of gravity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Content Placeholder 2">
            <a:extLst>
              <a:ext uri="{FF2B5EF4-FFF2-40B4-BE49-F238E27FC236}">
                <a16:creationId xmlns:a16="http://schemas.microsoft.com/office/drawing/2014/main" id="{94BC777A-5697-B5C5-C549-B9AB03A16686}"/>
              </a:ext>
            </a:extLst>
          </p:cNvPr>
          <p:cNvSpPr>
            <a:spLocks noGrp="1" noChangeArrowheads="1"/>
          </p:cNvSpPr>
          <p:nvPr>
            <p:ph idx="1"/>
          </p:nvPr>
        </p:nvSpPr>
        <p:spPr>
          <a:xfrm>
            <a:off x="190500" y="312738"/>
            <a:ext cx="5638800" cy="5707062"/>
          </a:xfrm>
        </p:spPr>
        <p:txBody>
          <a:bodyPr/>
          <a:lstStyle/>
          <a:p>
            <a:r>
              <a:rPr lang="en-US" altLang="en-US" sz="2800" dirty="0">
                <a:latin typeface="Arial" panose="020B0604020202020204" pitchFamily="34" charset="0"/>
                <a:cs typeface="Arial" panose="020B0604020202020204" pitchFamily="34" charset="0"/>
              </a:rPr>
              <a:t>Gravity is not the same everywhere on Earth (but you would not notice it)</a:t>
            </a:r>
          </a:p>
          <a:p>
            <a:r>
              <a:rPr lang="en-US" altLang="en-US" sz="2800" dirty="0">
                <a:latin typeface="Arial" panose="020B0604020202020204" pitchFamily="34" charset="0"/>
                <a:cs typeface="Arial" panose="020B0604020202020204" pitchFamily="34" charset="0"/>
              </a:rPr>
              <a:t>Over large areas of the crust, gravity can vary due to the density of the crust which is a function of rock type</a:t>
            </a:r>
          </a:p>
          <a:p>
            <a:r>
              <a:rPr lang="en-US" altLang="en-US" sz="2800" dirty="0">
                <a:latin typeface="Arial" panose="020B0604020202020204" pitchFamily="34" charset="0"/>
                <a:cs typeface="Arial" panose="020B0604020202020204" pitchFamily="34" charset="0"/>
              </a:rPr>
              <a:t>The force of gravity is proportional to the density of crustal rock type</a:t>
            </a:r>
          </a:p>
          <a:p>
            <a:r>
              <a:rPr lang="en-US" altLang="en-US" sz="2800" dirty="0">
                <a:latin typeface="Arial" panose="020B0604020202020204" pitchFamily="34" charset="0"/>
                <a:cs typeface="Arial" panose="020B0604020202020204" pitchFamily="34" charset="0"/>
              </a:rPr>
              <a:t>Denser rocks have greater gravitational force and are thus pulled downward more</a:t>
            </a:r>
          </a:p>
        </p:txBody>
      </p:sp>
      <p:pic>
        <p:nvPicPr>
          <p:cNvPr id="10244" name="Picture 2" descr="lumpyearth">
            <a:extLst>
              <a:ext uri="{FF2B5EF4-FFF2-40B4-BE49-F238E27FC236}">
                <a16:creationId xmlns:a16="http://schemas.microsoft.com/office/drawing/2014/main" id="{F2017CDF-DF3D-560E-1494-65D66F29F8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12738"/>
            <a:ext cx="5257800" cy="525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TextBox 2">
            <a:extLst>
              <a:ext uri="{FF2B5EF4-FFF2-40B4-BE49-F238E27FC236}">
                <a16:creationId xmlns:a16="http://schemas.microsoft.com/office/drawing/2014/main" id="{AF25DAE8-348D-26FA-05DB-38CFE5529ABB}"/>
              </a:ext>
            </a:extLst>
          </p:cNvPr>
          <p:cNvSpPr txBox="1">
            <a:spLocks noChangeArrowheads="1"/>
          </p:cNvSpPr>
          <p:nvPr/>
        </p:nvSpPr>
        <p:spPr bwMode="auto">
          <a:xfrm>
            <a:off x="6096000" y="5715000"/>
            <a:ext cx="5257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latin typeface="Arial" panose="020B0604020202020204" pitchFamily="34" charset="0"/>
                <a:cs typeface="Arial" panose="020B0604020202020204" pitchFamily="34" charset="0"/>
              </a:rPr>
              <a:t>Topographic relief is exaggerated in order to make it more apparent. The world is not this lumpy.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Documents and Settings\Tony Stallins\Desktop\euro-map-700.jpg">
            <a:extLst>
              <a:ext uri="{FF2B5EF4-FFF2-40B4-BE49-F238E27FC236}">
                <a16:creationId xmlns:a16="http://schemas.microsoft.com/office/drawing/2014/main" id="{6F7814B6-65D5-7C0D-24E3-01DF084E01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3913" y="381000"/>
            <a:ext cx="6281737"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Title 1">
            <a:extLst>
              <a:ext uri="{FF2B5EF4-FFF2-40B4-BE49-F238E27FC236}">
                <a16:creationId xmlns:a16="http://schemas.microsoft.com/office/drawing/2014/main" id="{53F94357-57DD-6107-4226-3D33AF3D10FA}"/>
              </a:ext>
            </a:extLst>
          </p:cNvPr>
          <p:cNvSpPr>
            <a:spLocks noGrp="1" noChangeArrowheads="1"/>
          </p:cNvSpPr>
          <p:nvPr>
            <p:ph type="title"/>
          </p:nvPr>
        </p:nvSpPr>
        <p:spPr>
          <a:xfrm>
            <a:off x="457200" y="304800"/>
            <a:ext cx="6400800" cy="1143000"/>
          </a:xfrm>
        </p:spPr>
        <p:txBody>
          <a:bodyPr/>
          <a:lstStyle/>
          <a:p>
            <a:r>
              <a:rPr lang="en-US" altLang="en-US" dirty="0">
                <a:latin typeface="Arial" panose="020B0604020202020204" pitchFamily="34" charset="0"/>
                <a:cs typeface="Arial" panose="020B0604020202020204" pitchFamily="34" charset="0"/>
              </a:rPr>
              <a:t>Crustal heating also makes the Earth lumpy</a:t>
            </a:r>
          </a:p>
        </p:txBody>
      </p:sp>
      <p:sp>
        <p:nvSpPr>
          <p:cNvPr id="12292" name="Content Placeholder 2">
            <a:extLst>
              <a:ext uri="{FF2B5EF4-FFF2-40B4-BE49-F238E27FC236}">
                <a16:creationId xmlns:a16="http://schemas.microsoft.com/office/drawing/2014/main" id="{1EE00CF8-7961-B62B-05A8-B9EA0D8A1FAE}"/>
              </a:ext>
            </a:extLst>
          </p:cNvPr>
          <p:cNvSpPr>
            <a:spLocks noGrp="1" noChangeArrowheads="1"/>
          </p:cNvSpPr>
          <p:nvPr>
            <p:ph idx="1"/>
          </p:nvPr>
        </p:nvSpPr>
        <p:spPr>
          <a:xfrm>
            <a:off x="304800" y="1981200"/>
            <a:ext cx="5638800" cy="4114800"/>
          </a:xfrm>
        </p:spPr>
        <p:txBody>
          <a:bodyPr/>
          <a:lstStyle/>
          <a:p>
            <a:r>
              <a:rPr lang="en-US" altLang="en-US" sz="2800" dirty="0">
                <a:latin typeface="Arial" panose="020B0604020202020204" pitchFamily="34" charset="0"/>
                <a:cs typeface="Arial" panose="020B0604020202020204" pitchFamily="34" charset="0"/>
              </a:rPr>
              <a:t>Hotter crust:  bulging outward because of lower density</a:t>
            </a:r>
          </a:p>
          <a:p>
            <a:r>
              <a:rPr lang="en-US" altLang="en-US" sz="2800" dirty="0">
                <a:latin typeface="Arial" panose="020B0604020202020204" pitchFamily="34" charset="0"/>
                <a:cs typeface="Arial" panose="020B0604020202020204" pitchFamily="34" charset="0"/>
              </a:rPr>
              <a:t>Cooler crust:  downwarped because of higher density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767088B4-6BA2-3D1E-E066-6C3ED74DB2DC}"/>
              </a:ext>
            </a:extLst>
          </p:cNvPr>
          <p:cNvSpPr>
            <a:spLocks noGrp="1" noChangeArrowheads="1"/>
          </p:cNvSpPr>
          <p:nvPr>
            <p:ph type="title" idx="4294967295"/>
          </p:nvPr>
        </p:nvSpPr>
        <p:spPr/>
        <p:txBody>
          <a:bodyPr/>
          <a:lstStyle/>
          <a:p>
            <a:pPr eaLnBrk="1" hangingPunct="1"/>
            <a:r>
              <a:rPr lang="en-US" altLang="en-US" sz="4000" dirty="0">
                <a:latin typeface="Arial" panose="020B0604020202020204" pitchFamily="34" charset="0"/>
                <a:cs typeface="Arial" panose="020B0604020202020204" pitchFamily="34" charset="0"/>
              </a:rPr>
              <a:t>Mountain building</a:t>
            </a:r>
          </a:p>
        </p:txBody>
      </p:sp>
      <p:sp>
        <p:nvSpPr>
          <p:cNvPr id="14339" name="Content Placeholder 2">
            <a:extLst>
              <a:ext uri="{FF2B5EF4-FFF2-40B4-BE49-F238E27FC236}">
                <a16:creationId xmlns:a16="http://schemas.microsoft.com/office/drawing/2014/main" id="{F6CE74C0-1C65-FB01-6F33-618E6F9CC187}"/>
              </a:ext>
            </a:extLst>
          </p:cNvPr>
          <p:cNvSpPr>
            <a:spLocks noGrp="1" noChangeArrowheads="1"/>
          </p:cNvSpPr>
          <p:nvPr>
            <p:ph idx="4294967295"/>
          </p:nvPr>
        </p:nvSpPr>
        <p:spPr>
          <a:xfrm>
            <a:off x="533400" y="1828800"/>
            <a:ext cx="10744200" cy="4114800"/>
          </a:xfrm>
        </p:spPr>
        <p:txBody>
          <a:bodyPr/>
          <a:lstStyle/>
          <a:p>
            <a:r>
              <a:rPr lang="en-US" altLang="en-US" dirty="0">
                <a:latin typeface="Arial" panose="020B0604020202020204" pitchFamily="34" charset="0"/>
              </a:rPr>
              <a:t>A mountain building episode is an orogeny.</a:t>
            </a:r>
          </a:p>
          <a:p>
            <a:r>
              <a:rPr lang="en-US" altLang="en-US" dirty="0">
                <a:latin typeface="Arial" panose="020B0604020202020204" pitchFamily="34" charset="0"/>
              </a:rPr>
              <a:t>Rates of uplift can be on the order of &lt;10 centimeters per year  </a:t>
            </a:r>
          </a:p>
          <a:p>
            <a:r>
              <a:rPr lang="en-US" altLang="en-US" dirty="0">
                <a:latin typeface="Arial" panose="020B0604020202020204" pitchFamily="34" charset="0"/>
              </a:rPr>
              <a:t>Uplift must exceed removal of rocks and sediment by weathering and erosion for mountains to rise</a:t>
            </a:r>
          </a:p>
          <a:p>
            <a:r>
              <a:rPr lang="en-US" altLang="en-US" dirty="0">
                <a:latin typeface="Arial" panose="020B0604020202020204" pitchFamily="34" charset="0"/>
              </a:rPr>
              <a:t>Multiple orogenies over time possible</a:t>
            </a:r>
          </a:p>
          <a:p>
            <a:pPr>
              <a:buFontTx/>
              <a:buNone/>
            </a:pPr>
            <a:endParaRPr lang="en-US" altLang="en-US" dirty="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5" descr="HomePhoto">
            <a:extLst>
              <a:ext uri="{FF2B5EF4-FFF2-40B4-BE49-F238E27FC236}">
                <a16:creationId xmlns:a16="http://schemas.microsoft.com/office/drawing/2014/main" id="{217632E0-BD30-8C20-8734-44663D28E1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325" y="0"/>
            <a:ext cx="10328275" cy="688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6">
            <a:extLst>
              <a:ext uri="{FF2B5EF4-FFF2-40B4-BE49-F238E27FC236}">
                <a16:creationId xmlns:a16="http://schemas.microsoft.com/office/drawing/2014/main" id="{3CCB00E9-0FF5-BBC7-1EB5-0B7E2F122960}"/>
              </a:ext>
            </a:extLst>
          </p:cNvPr>
          <p:cNvSpPr txBox="1">
            <a:spLocks noChangeArrowheads="1"/>
          </p:cNvSpPr>
          <p:nvPr/>
        </p:nvSpPr>
        <p:spPr bwMode="auto">
          <a:xfrm>
            <a:off x="6621780" y="304800"/>
            <a:ext cx="5265420" cy="7232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pPr>
            <a:r>
              <a:rPr lang="en-US" altLang="en-US" sz="2800" dirty="0">
                <a:latin typeface="Arial" panose="020B0604020202020204" pitchFamily="34" charset="0"/>
                <a:cs typeface="Arial" panose="020B0604020202020204" pitchFamily="34" charset="0"/>
              </a:rPr>
              <a:t>The Appalachians represent several orogenic events occurring intermittently over millions of years, including one that occurred with formation of supercontinent of Pangaea.</a:t>
            </a:r>
          </a:p>
          <a:p>
            <a:pPr eaLnBrk="1" hangingPunct="1">
              <a:spcBef>
                <a:spcPct val="0"/>
              </a:spcBef>
            </a:pPr>
            <a:endParaRPr lang="en-US" altLang="en-US" sz="2800" dirty="0">
              <a:latin typeface="Arial" panose="020B0604020202020204" pitchFamily="34" charset="0"/>
              <a:cs typeface="Arial" panose="020B0604020202020204" pitchFamily="34" charset="0"/>
            </a:endParaRPr>
          </a:p>
          <a:p>
            <a:pPr eaLnBrk="1" hangingPunct="1">
              <a:spcBef>
                <a:spcPct val="0"/>
              </a:spcBef>
            </a:pPr>
            <a:r>
              <a:rPr lang="en-US" altLang="en-US" sz="2800" dirty="0">
                <a:latin typeface="Arial" panose="020B0604020202020204" pitchFamily="34" charset="0"/>
                <a:cs typeface="Arial" panose="020B0604020202020204" pitchFamily="34" charset="0"/>
              </a:rPr>
              <a:t>Appalachians are one of the oldest mountain ranges: the first orogeny began 400 million years ago.  The last orogeny was a period of uplift 30 million years ago</a:t>
            </a:r>
          </a:p>
          <a:p>
            <a:pPr eaLnBrk="1" hangingPunct="1">
              <a:spcBef>
                <a:spcPct val="0"/>
              </a:spcBef>
            </a:pPr>
            <a:endParaRPr lang="en-US" altLang="en-US" sz="2400" dirty="0">
              <a:latin typeface="Arial" panose="020B0604020202020204" pitchFamily="34" charset="0"/>
              <a:cs typeface="Arial" panose="020B0604020202020204" pitchFamily="34" charset="0"/>
            </a:endParaRPr>
          </a:p>
          <a:p>
            <a:pPr eaLnBrk="1" hangingPunct="1">
              <a:spcBef>
                <a:spcPct val="0"/>
              </a:spcBef>
            </a:pPr>
            <a:endParaRPr lang="en-US" altLang="en-US" sz="2400" dirty="0">
              <a:latin typeface="Arial" panose="020B0604020202020204" pitchFamily="34" charset="0"/>
              <a:cs typeface="Arial" panose="020B0604020202020204" pitchFamily="34" charset="0"/>
            </a:endParaRPr>
          </a:p>
          <a:p>
            <a:pPr marL="0" indent="0" eaLnBrk="1" hangingPunct="1">
              <a:spcBef>
                <a:spcPct val="0"/>
              </a:spcBef>
              <a:buNone/>
            </a:pPr>
            <a:endParaRPr lang="en-US" altLang="en-US" sz="2400" dirty="0"/>
          </a:p>
        </p:txBody>
      </p:sp>
      <p:grpSp>
        <p:nvGrpSpPr>
          <p:cNvPr id="18435" name="Group 8">
            <a:extLst>
              <a:ext uri="{FF2B5EF4-FFF2-40B4-BE49-F238E27FC236}">
                <a16:creationId xmlns:a16="http://schemas.microsoft.com/office/drawing/2014/main" id="{01CB9271-9E5A-B5BD-4565-B6C3A925B04B}"/>
              </a:ext>
            </a:extLst>
          </p:cNvPr>
          <p:cNvGrpSpPr>
            <a:grpSpLocks/>
          </p:cNvGrpSpPr>
          <p:nvPr/>
        </p:nvGrpSpPr>
        <p:grpSpPr bwMode="auto">
          <a:xfrm>
            <a:off x="685800" y="0"/>
            <a:ext cx="5791200" cy="6629400"/>
            <a:chOff x="117197" y="-1389541"/>
            <a:chExt cx="3811588" cy="4129088"/>
          </a:xfrm>
        </p:grpSpPr>
        <p:pic>
          <p:nvPicPr>
            <p:cNvPr id="18437" name="Picture 2" descr="C:\Documents and Settings\Jon Anthony Stallins\Desktop\Pangaea.png">
              <a:extLst>
                <a:ext uri="{FF2B5EF4-FFF2-40B4-BE49-F238E27FC236}">
                  <a16:creationId xmlns:a16="http://schemas.microsoft.com/office/drawing/2014/main" id="{FAD64F97-FC85-B6AE-7F43-8B738F6148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197" y="-1389541"/>
              <a:ext cx="3811588" cy="412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TextBox 5">
              <a:extLst>
                <a:ext uri="{FF2B5EF4-FFF2-40B4-BE49-F238E27FC236}">
                  <a16:creationId xmlns:a16="http://schemas.microsoft.com/office/drawing/2014/main" id="{0AA3F668-B3AC-D8B0-ACA1-573DFF76AB35}"/>
                </a:ext>
              </a:extLst>
            </p:cNvPr>
            <p:cNvSpPr txBox="1">
              <a:spLocks noChangeArrowheads="1"/>
            </p:cNvSpPr>
            <p:nvPr/>
          </p:nvSpPr>
          <p:spPr bwMode="auto">
            <a:xfrm>
              <a:off x="212487" y="2275792"/>
              <a:ext cx="1275253" cy="367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dirty="0">
                  <a:latin typeface="Calibri" panose="020F0502020204030204" pitchFamily="34" charset="0"/>
                </a:rPr>
                <a:t>PANGAEA</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844753F2-37A5-A750-4F6C-A5A14C46592C}"/>
              </a:ext>
            </a:extLst>
          </p:cNvPr>
          <p:cNvSpPr>
            <a:spLocks noGrp="1" noChangeArrowheads="1"/>
          </p:cNvSpPr>
          <p:nvPr>
            <p:ph type="title" idx="4294967295"/>
          </p:nvPr>
        </p:nvSpPr>
        <p:spPr/>
        <p:txBody>
          <a:bodyPr/>
          <a:lstStyle/>
          <a:p>
            <a:pPr eaLnBrk="1" hangingPunct="1"/>
            <a:r>
              <a:rPr lang="en-US" altLang="en-US" dirty="0">
                <a:latin typeface="Arial" panose="020B0604020202020204" pitchFamily="34" charset="0"/>
                <a:cs typeface="Arial" panose="020B0604020202020204" pitchFamily="34" charset="0"/>
              </a:rPr>
              <a:t>Mountain-building processes</a:t>
            </a:r>
          </a:p>
        </p:txBody>
      </p:sp>
      <p:sp>
        <p:nvSpPr>
          <p:cNvPr id="24579" name="Content Placeholder 2">
            <a:extLst>
              <a:ext uri="{FF2B5EF4-FFF2-40B4-BE49-F238E27FC236}">
                <a16:creationId xmlns:a16="http://schemas.microsoft.com/office/drawing/2014/main" id="{8EA76A30-945D-BA63-404A-F0943B1670B9}"/>
              </a:ext>
            </a:extLst>
          </p:cNvPr>
          <p:cNvSpPr>
            <a:spLocks noGrp="1" noChangeArrowheads="1"/>
          </p:cNvSpPr>
          <p:nvPr>
            <p:ph idx="4294967295"/>
          </p:nvPr>
        </p:nvSpPr>
        <p:spPr>
          <a:xfrm>
            <a:off x="762000" y="1752600"/>
            <a:ext cx="10363200" cy="4114800"/>
          </a:xfrm>
        </p:spPr>
        <p:txBody>
          <a:bodyPr/>
          <a:lstStyle/>
          <a:p>
            <a:r>
              <a:rPr lang="en-US" altLang="en-US" sz="2800" dirty="0">
                <a:latin typeface="Arial" panose="020B0604020202020204" pitchFamily="34" charset="0"/>
              </a:rPr>
              <a:t>Convergent plate motions that result in compressional forces and uplift.  </a:t>
            </a:r>
          </a:p>
          <a:p>
            <a:pPr lvl="1"/>
            <a:r>
              <a:rPr lang="en-US" altLang="en-US" sz="2400" dirty="0">
                <a:latin typeface="Arial" panose="020B0604020202020204" pitchFamily="34" charset="0"/>
              </a:rPr>
              <a:t>Specific mechanisms:</a:t>
            </a:r>
          </a:p>
          <a:p>
            <a:pPr marL="1371600" lvl="2" indent="-457200">
              <a:buFont typeface="+mj-lt"/>
              <a:buAutoNum type="arabicPeriod"/>
            </a:pPr>
            <a:r>
              <a:rPr lang="en-US" altLang="en-US" dirty="0">
                <a:latin typeface="Arial" panose="020B0604020202020204" pitchFamily="34" charset="0"/>
              </a:rPr>
              <a:t>Accretionary wedging </a:t>
            </a:r>
          </a:p>
          <a:p>
            <a:pPr marL="1371600" lvl="2" indent="-457200">
              <a:buFont typeface="+mj-lt"/>
              <a:buAutoNum type="arabicPeriod"/>
            </a:pPr>
            <a:r>
              <a:rPr lang="en-US" altLang="en-US" dirty="0">
                <a:latin typeface="Arial" panose="020B0604020202020204" pitchFamily="34" charset="0"/>
              </a:rPr>
              <a:t>Emplacement and exposure of batholiths, an intrusive igneous feature</a:t>
            </a:r>
          </a:p>
          <a:p>
            <a:pPr marL="1371600" lvl="2" indent="-457200">
              <a:buFont typeface="+mj-lt"/>
              <a:buAutoNum type="arabicPeriod"/>
            </a:pPr>
            <a:r>
              <a:rPr lang="en-US" altLang="en-US" dirty="0">
                <a:latin typeface="Arial" panose="020B0604020202020204" pitchFamily="34" charset="0"/>
              </a:rPr>
              <a:t>Thrust faulting</a:t>
            </a:r>
          </a:p>
          <a:p>
            <a:pPr marL="1371600" lvl="2" indent="-457200">
              <a:buFont typeface="+mj-lt"/>
              <a:buAutoNum type="arabicPeriod"/>
            </a:pPr>
            <a:r>
              <a:rPr lang="en-US" altLang="en-US" dirty="0">
                <a:latin typeface="Arial" panose="020B0604020202020204" pitchFamily="34" charset="0"/>
              </a:rPr>
              <a:t>Accumulation of extrusive volcanic materials</a:t>
            </a:r>
          </a:p>
          <a:p>
            <a:pPr marL="1371600" lvl="2" indent="-457200">
              <a:buFont typeface="+mj-lt"/>
              <a:buAutoNum type="arabicPeriod"/>
            </a:pPr>
            <a:r>
              <a:rPr lang="en-US" altLang="en-US" dirty="0">
                <a:latin typeface="Arial" panose="020B0604020202020204" pitchFamily="34" charset="0"/>
              </a:rPr>
              <a:t>Exotic terranes</a:t>
            </a:r>
            <a:endParaRPr lang="en-US" altLang="en-US" sz="2800" dirty="0">
              <a:latin typeface="Arial" panose="020B0604020202020204" pitchFamily="34" charset="0"/>
              <a:cs typeface="Arial" panose="020B0604020202020204" pitchFamily="34" charset="0"/>
            </a:endParaRPr>
          </a:p>
          <a:p>
            <a:pPr eaLnBrk="1" hangingPunct="1"/>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a:extLst>
              <a:ext uri="{FF2B5EF4-FFF2-40B4-BE49-F238E27FC236}">
                <a16:creationId xmlns:a16="http://schemas.microsoft.com/office/drawing/2014/main" id="{37D2E02B-21BD-5B9E-ED03-763335825B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373" r="3421" b="10420"/>
          <a:stretch>
            <a:fillRect/>
          </a:stretch>
        </p:blipFill>
        <p:spPr bwMode="auto">
          <a:xfrm>
            <a:off x="693738" y="-304800"/>
            <a:ext cx="10804525" cy="705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descr="C:\Documents and Settings\Tony Stallins\Desktop\tibet-plateau.jpg">
            <a:extLst>
              <a:ext uri="{FF2B5EF4-FFF2-40B4-BE49-F238E27FC236}">
                <a16:creationId xmlns:a16="http://schemas.microsoft.com/office/drawing/2014/main" id="{4A640B21-50F3-A7E1-ED39-17EA2934C9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001"/>
          <a:stretch>
            <a:fillRect/>
          </a:stretch>
        </p:blipFill>
        <p:spPr bwMode="auto">
          <a:xfrm>
            <a:off x="228600" y="195263"/>
            <a:ext cx="11752263" cy="620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Picture 5" descr="intro3">
            <a:extLst>
              <a:ext uri="{FF2B5EF4-FFF2-40B4-BE49-F238E27FC236}">
                <a16:creationId xmlns:a16="http://schemas.microsoft.com/office/drawing/2014/main" id="{6EFE7EC7-63B8-EAA2-261B-4933D95B7A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9800" y="5307013"/>
            <a:ext cx="4724400" cy="1355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1" descr="C:\Documents and Settings\Jon Anthony Stallins\My Documents\My Pictures\untitled1.bmp">
            <a:extLst>
              <a:ext uri="{FF2B5EF4-FFF2-40B4-BE49-F238E27FC236}">
                <a16:creationId xmlns:a16="http://schemas.microsoft.com/office/drawing/2014/main" id="{DDB75440-93CD-2C96-ED82-DCBC7F0E57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3238" y="1341438"/>
            <a:ext cx="4341812"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Picture 2" descr="C:\Documents and Settings\Jon Anthony Stallins\My Documents\My Pictures\untitled2.bmp">
            <a:extLst>
              <a:ext uri="{FF2B5EF4-FFF2-40B4-BE49-F238E27FC236}">
                <a16:creationId xmlns:a16="http://schemas.microsoft.com/office/drawing/2014/main" id="{91F359B9-7FC4-3E13-FA61-1CA4626A44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6188" y="1304925"/>
            <a:ext cx="4341812"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3" descr="C:\Documents and Settings\Jon Anthony Stallins\My Documents\My Pictures\untitled3.bmp">
            <a:extLst>
              <a:ext uri="{FF2B5EF4-FFF2-40B4-BE49-F238E27FC236}">
                <a16:creationId xmlns:a16="http://schemas.microsoft.com/office/drawing/2014/main" id="{CA0C5EA3-A88D-5241-8C96-D3D36A7889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4200525"/>
            <a:ext cx="4341813"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4" descr="C:\Documents and Settings\Jon Anthony Stallins\My Documents\My Pictures\untitled4.bmp">
            <a:extLst>
              <a:ext uri="{FF2B5EF4-FFF2-40B4-BE49-F238E27FC236}">
                <a16:creationId xmlns:a16="http://schemas.microsoft.com/office/drawing/2014/main" id="{F4579EDB-FCA3-DFE6-F925-ADE346A99A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6188" y="4124325"/>
            <a:ext cx="4341812"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6" name="Rectangle 8">
            <a:extLst>
              <a:ext uri="{FF2B5EF4-FFF2-40B4-BE49-F238E27FC236}">
                <a16:creationId xmlns:a16="http://schemas.microsoft.com/office/drawing/2014/main" id="{C60B8719-D00B-47C1-71E7-5D9A99165508}"/>
              </a:ext>
            </a:extLst>
          </p:cNvPr>
          <p:cNvSpPr>
            <a:spLocks noChangeArrowheads="1"/>
          </p:cNvSpPr>
          <p:nvPr/>
        </p:nvSpPr>
        <p:spPr bwMode="auto">
          <a:xfrm>
            <a:off x="1600200" y="152400"/>
            <a:ext cx="9296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dirty="0">
                <a:solidFill>
                  <a:schemeClr val="tx2"/>
                </a:solidFill>
                <a:latin typeface="Arial" panose="020B0604020202020204" pitchFamily="34" charset="0"/>
              </a:rPr>
              <a:t>Accretionary wedging in the Himalayas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5" descr="C:\Documents and Settings\Tony Stallins\Desktop\Mt Everest 2007 card 3 summit 134.jpg">
            <a:extLst>
              <a:ext uri="{FF2B5EF4-FFF2-40B4-BE49-F238E27FC236}">
                <a16:creationId xmlns:a16="http://schemas.microsoft.com/office/drawing/2014/main" id="{65C5549C-1B00-C39B-025B-045E01DA78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Box 1">
            <a:extLst>
              <a:ext uri="{FF2B5EF4-FFF2-40B4-BE49-F238E27FC236}">
                <a16:creationId xmlns:a16="http://schemas.microsoft.com/office/drawing/2014/main" id="{385E1FE2-5110-5E66-2664-1B6CE1241017}"/>
              </a:ext>
            </a:extLst>
          </p:cNvPr>
          <p:cNvSpPr txBox="1">
            <a:spLocks noChangeArrowheads="1"/>
          </p:cNvSpPr>
          <p:nvPr/>
        </p:nvSpPr>
        <p:spPr bwMode="auto">
          <a:xfrm>
            <a:off x="1676400" y="255588"/>
            <a:ext cx="8686800" cy="1200150"/>
          </a:xfrm>
          <a:prstGeom prst="rect">
            <a:avLst/>
          </a:prstGeom>
          <a:solidFill>
            <a:schemeClr val="bg1"/>
          </a:solidFill>
          <a:ln w="9525">
            <a:solidFill>
              <a:schemeClr val="tx1"/>
            </a:solidFill>
            <a:miter lim="800000"/>
            <a:headEnd/>
            <a:tailEnd/>
          </a:ln>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dirty="0">
                <a:latin typeface="Arial" panose="020B0604020202020204" pitchFamily="34" charset="0"/>
                <a:cs typeface="Arial" panose="020B0604020202020204" pitchFamily="34" charset="0"/>
              </a:rPr>
              <a:t>Because the Himalayas formed from the convergence of continental crust, there was little subduction, and hence little extrusive volcanism. Rocks at the highest points on Everest and other Himalayan mountains are comprised of sedimentary rocks that reflect a deep marine sea bottom environment.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69EC2FA-A181-EE90-D5F0-F5ABDD252D8A}"/>
              </a:ext>
            </a:extLst>
          </p:cNvPr>
          <p:cNvSpPr>
            <a:spLocks noGrp="1" noChangeArrowheads="1"/>
          </p:cNvSpPr>
          <p:nvPr>
            <p:ph type="title"/>
          </p:nvPr>
        </p:nvSpPr>
        <p:spPr>
          <a:xfrm>
            <a:off x="2209800" y="55563"/>
            <a:ext cx="7772400" cy="1143000"/>
          </a:xfrm>
        </p:spPr>
        <p:txBody>
          <a:bodyPr/>
          <a:lstStyle/>
          <a:p>
            <a:r>
              <a:rPr lang="en-US" altLang="en-US" sz="3600" dirty="0">
                <a:latin typeface="Arial" panose="020B0604020202020204" pitchFamily="34" charset="0"/>
              </a:rPr>
              <a:t>Batholiths: Sierra Nevada Mountains</a:t>
            </a:r>
          </a:p>
        </p:txBody>
      </p:sp>
      <p:pic>
        <p:nvPicPr>
          <p:cNvPr id="34819" name="Picture 4" descr="BatholithsNA">
            <a:extLst>
              <a:ext uri="{FF2B5EF4-FFF2-40B4-BE49-F238E27FC236}">
                <a16:creationId xmlns:a16="http://schemas.microsoft.com/office/drawing/2014/main" id="{65ED624E-42D9-33F6-3384-9661684AE6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8925" y="1349375"/>
            <a:ext cx="2841625"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5" descr="Half_Dome">
            <a:extLst>
              <a:ext uri="{FF2B5EF4-FFF2-40B4-BE49-F238E27FC236}">
                <a16:creationId xmlns:a16="http://schemas.microsoft.com/office/drawing/2014/main" id="{2211465D-915F-5CBF-82D1-78E8ED2C13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3738" y="1349375"/>
            <a:ext cx="607060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Text Box 6">
            <a:extLst>
              <a:ext uri="{FF2B5EF4-FFF2-40B4-BE49-F238E27FC236}">
                <a16:creationId xmlns:a16="http://schemas.microsoft.com/office/drawing/2014/main" id="{8CA89774-3478-542A-6BE1-4CD7FE342923}"/>
              </a:ext>
            </a:extLst>
          </p:cNvPr>
          <p:cNvSpPr txBox="1">
            <a:spLocks noChangeArrowheads="1"/>
          </p:cNvSpPr>
          <p:nvPr/>
        </p:nvSpPr>
        <p:spPr bwMode="auto">
          <a:xfrm>
            <a:off x="4708525" y="6553200"/>
            <a:ext cx="5959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latin typeface="Arial" panose="020B0604020202020204" pitchFamily="34" charset="0"/>
              </a:rPr>
              <a:t>Half Dome, Yosemite National Park, Sierra Nevada Mountains, CA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descr="2-1021-full">
            <a:extLst>
              <a:ext uri="{FF2B5EF4-FFF2-40B4-BE49-F238E27FC236}">
                <a16:creationId xmlns:a16="http://schemas.microsoft.com/office/drawing/2014/main" id="{E97A2E84-8DA5-85F4-A6C8-59207ED8C2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896"/>
          <a:stretch>
            <a:fillRect/>
          </a:stretch>
        </p:blipFill>
        <p:spPr bwMode="auto">
          <a:xfrm>
            <a:off x="1524000" y="152400"/>
            <a:ext cx="9144000"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Text Box 5">
            <a:extLst>
              <a:ext uri="{FF2B5EF4-FFF2-40B4-BE49-F238E27FC236}">
                <a16:creationId xmlns:a16="http://schemas.microsoft.com/office/drawing/2014/main" id="{DFFA69CE-4FA5-65AC-A01D-A7AE76F51FF3}"/>
              </a:ext>
            </a:extLst>
          </p:cNvPr>
          <p:cNvSpPr txBox="1">
            <a:spLocks noChangeArrowheads="1"/>
          </p:cNvSpPr>
          <p:nvPr/>
        </p:nvSpPr>
        <p:spPr bwMode="auto">
          <a:xfrm>
            <a:off x="6400800" y="533400"/>
            <a:ext cx="4114800" cy="2554288"/>
          </a:xfrm>
          <a:prstGeom prst="rect">
            <a:avLst/>
          </a:prstGeom>
          <a:solidFill>
            <a:schemeClr val="bg1"/>
          </a:solidFill>
          <a:ln w="9525">
            <a:solidFill>
              <a:schemeClr val="tx1"/>
            </a:solidFill>
            <a:miter lim="800000"/>
            <a:headEnd/>
            <a:tailEnd/>
          </a:ln>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latin typeface="Arial" panose="020B0604020202020204" pitchFamily="34" charset="0"/>
              </a:rPr>
              <a:t>Three mountain ranges in the western US, each with a different predominating mountain-building process:</a:t>
            </a:r>
            <a:br>
              <a:rPr lang="en-US" altLang="en-US" sz="2000" dirty="0">
                <a:latin typeface="Arial" panose="020B0604020202020204" pitchFamily="34" charset="0"/>
              </a:rPr>
            </a:br>
            <a:br>
              <a:rPr lang="en-US" altLang="en-US" sz="2000" dirty="0">
                <a:latin typeface="Arial" panose="020B0604020202020204" pitchFamily="34" charset="0"/>
              </a:rPr>
            </a:br>
            <a:r>
              <a:rPr lang="en-US" altLang="en-US" sz="2000" dirty="0">
                <a:latin typeface="Arial" panose="020B0604020202020204" pitchFamily="34" charset="0"/>
              </a:rPr>
              <a:t>Sierra Nevada Mts (batholiths)</a:t>
            </a:r>
          </a:p>
          <a:p>
            <a:pPr eaLnBrk="1" hangingPunct="1">
              <a:spcBef>
                <a:spcPct val="0"/>
              </a:spcBef>
              <a:buFontTx/>
              <a:buNone/>
            </a:pPr>
            <a:r>
              <a:rPr lang="en-US" altLang="en-US" sz="2000" dirty="0">
                <a:latin typeface="Arial" panose="020B0604020202020204" pitchFamily="34" charset="0"/>
              </a:rPr>
              <a:t>Cascade Mts (extrusive volcanics)</a:t>
            </a:r>
          </a:p>
          <a:p>
            <a:pPr eaLnBrk="1" hangingPunct="1">
              <a:spcBef>
                <a:spcPct val="0"/>
              </a:spcBef>
              <a:buFontTx/>
              <a:buNone/>
            </a:pPr>
            <a:r>
              <a:rPr lang="en-US" altLang="en-US" sz="2000" dirty="0">
                <a:latin typeface="Arial" panose="020B0604020202020204" pitchFamily="34" charset="0"/>
              </a:rPr>
              <a:t>Rocky Mts (thrust faulting)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956565F1-19E0-424A-64F7-69A0167B4F5C}"/>
              </a:ext>
            </a:extLst>
          </p:cNvPr>
          <p:cNvSpPr>
            <a:spLocks noGrp="1" noChangeArrowheads="1"/>
          </p:cNvSpPr>
          <p:nvPr>
            <p:ph type="title" idx="4294967295"/>
          </p:nvPr>
        </p:nvSpPr>
        <p:spPr/>
        <p:txBody>
          <a:bodyPr/>
          <a:lstStyle/>
          <a:p>
            <a:pPr eaLnBrk="1" hangingPunct="1"/>
            <a:r>
              <a:rPr lang="en-US" altLang="en-US" sz="4000" dirty="0">
                <a:latin typeface="Arial" panose="020B0604020202020204" pitchFamily="34" charset="0"/>
                <a:cs typeface="Arial" panose="020B0604020202020204" pitchFamily="34" charset="0"/>
              </a:rPr>
              <a:t>Thrust faults:  Rocky Mountains</a:t>
            </a:r>
          </a:p>
        </p:txBody>
      </p:sp>
      <p:pic>
        <p:nvPicPr>
          <p:cNvPr id="38915" name="Picture 4" descr="fold_thrust_belt">
            <a:extLst>
              <a:ext uri="{FF2B5EF4-FFF2-40B4-BE49-F238E27FC236}">
                <a16:creationId xmlns:a16="http://schemas.microsoft.com/office/drawing/2014/main" id="{8698D9FB-57C2-4D20-480A-B5CBA570C0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138" y="1981200"/>
            <a:ext cx="11515725" cy="412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nowy mountain range with blue sky&#10;&#10;Description automatically generated">
            <a:extLst>
              <a:ext uri="{FF2B5EF4-FFF2-40B4-BE49-F238E27FC236}">
                <a16:creationId xmlns:a16="http://schemas.microsoft.com/office/drawing/2014/main" id="{096BB3CC-9160-734D-A8BF-D240A93D73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7197" y="0"/>
            <a:ext cx="10194804" cy="6796536"/>
          </a:xfrm>
          <a:prstGeom prst="rect">
            <a:avLst/>
          </a:prstGeom>
        </p:spPr>
      </p:pic>
      <p:sp>
        <p:nvSpPr>
          <p:cNvPr id="40962" name="Rectangle 2">
            <a:extLst>
              <a:ext uri="{FF2B5EF4-FFF2-40B4-BE49-F238E27FC236}">
                <a16:creationId xmlns:a16="http://schemas.microsoft.com/office/drawing/2014/main" id="{15983F38-06B5-4024-460E-FFF8DE50571D}"/>
              </a:ext>
            </a:extLst>
          </p:cNvPr>
          <p:cNvSpPr>
            <a:spLocks noGrp="1" noChangeArrowheads="1"/>
          </p:cNvSpPr>
          <p:nvPr>
            <p:ph type="title"/>
          </p:nvPr>
        </p:nvSpPr>
        <p:spPr>
          <a:xfrm>
            <a:off x="2827399" y="-138113"/>
            <a:ext cx="8534400" cy="1143000"/>
          </a:xfrm>
        </p:spPr>
        <p:txBody>
          <a:bodyPr/>
          <a:lstStyle/>
          <a:p>
            <a:r>
              <a:rPr lang="en-US" altLang="en-US" sz="3600" dirty="0">
                <a:latin typeface="Arial" panose="020B0604020202020204" pitchFamily="34" charset="0"/>
              </a:rPr>
              <a:t>Extrusive volcanics: Cascade Mountains</a:t>
            </a:r>
          </a:p>
        </p:txBody>
      </p:sp>
      <p:pic>
        <p:nvPicPr>
          <p:cNvPr id="40964" name="Picture 4" descr="C:\Documents and Settings\Owner\Desktop\cascadefaultseis.gif">
            <a:extLst>
              <a:ext uri="{FF2B5EF4-FFF2-40B4-BE49-F238E27FC236}">
                <a16:creationId xmlns:a16="http://schemas.microsoft.com/office/drawing/2014/main" id="{937599F2-FB99-5754-87BB-C63EFEA918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405063"/>
            <a:ext cx="4038600"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Text Box 5">
            <a:extLst>
              <a:ext uri="{FF2B5EF4-FFF2-40B4-BE49-F238E27FC236}">
                <a16:creationId xmlns:a16="http://schemas.microsoft.com/office/drawing/2014/main" id="{1B4F8192-3B6D-1BEA-7420-723BDF0AE580}"/>
              </a:ext>
            </a:extLst>
          </p:cNvPr>
          <p:cNvSpPr txBox="1">
            <a:spLocks noChangeArrowheads="1"/>
          </p:cNvSpPr>
          <p:nvPr/>
        </p:nvSpPr>
        <p:spPr bwMode="auto">
          <a:xfrm>
            <a:off x="304800" y="1046885"/>
            <a:ext cx="5791200" cy="1016000"/>
          </a:xfrm>
          <a:prstGeom prst="rect">
            <a:avLst/>
          </a:prstGeom>
          <a:solidFill>
            <a:schemeClr val="bg1"/>
          </a:solidFill>
          <a:ln w="9525">
            <a:solidFill>
              <a:schemeClr val="tx1"/>
            </a:solidFill>
            <a:miter lim="800000"/>
            <a:headEnd/>
            <a:tailEnd/>
          </a:ln>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latin typeface="Arial" panose="020B0604020202020204" pitchFamily="34" charset="0"/>
              </a:rPr>
              <a:t>The Cascades are a continental volcanic arc with active subduction along the coasts of Northern California, Oregon, and Washington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4" descr="lava">
            <a:extLst>
              <a:ext uri="{FF2B5EF4-FFF2-40B4-BE49-F238E27FC236}">
                <a16:creationId xmlns:a16="http://schemas.microsoft.com/office/drawing/2014/main" id="{EE48508D-096C-2235-660E-3A63811F1C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7938"/>
            <a:ext cx="12115800" cy="691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B0D80F37-4BAB-46C1-D3DF-E37F0EF202AD}"/>
              </a:ext>
            </a:extLst>
          </p:cNvPr>
          <p:cNvSpPr>
            <a:spLocks noGrp="1" noChangeArrowheads="1"/>
          </p:cNvSpPr>
          <p:nvPr>
            <p:ph type="title"/>
          </p:nvPr>
        </p:nvSpPr>
        <p:spPr>
          <a:xfrm>
            <a:off x="304800" y="114300"/>
            <a:ext cx="11353800" cy="1143000"/>
          </a:xfrm>
        </p:spPr>
        <p:txBody>
          <a:bodyPr/>
          <a:lstStyle/>
          <a:p>
            <a:r>
              <a:rPr lang="en-US" altLang="en-US" sz="4000" dirty="0">
                <a:latin typeface="Arial" panose="020B0604020202020204" pitchFamily="34" charset="0"/>
                <a:cs typeface="Arial" panose="020B0604020202020204" pitchFamily="34" charset="0"/>
              </a:rPr>
              <a:t>Exotic terranes: Pacific coast coastal mountains</a:t>
            </a:r>
          </a:p>
        </p:txBody>
      </p:sp>
      <p:pic>
        <p:nvPicPr>
          <p:cNvPr id="45059" name="Picture 3" descr="C:\Documents and Settings\Tony Stallins\Desktop\FigS11-1.gif">
            <a:extLst>
              <a:ext uri="{FF2B5EF4-FFF2-40B4-BE49-F238E27FC236}">
                <a16:creationId xmlns:a16="http://schemas.microsoft.com/office/drawing/2014/main" id="{7C98C696-0138-1B3D-9DC3-69E077D823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517"/>
          <a:stretch>
            <a:fillRect/>
          </a:stretch>
        </p:blipFill>
        <p:spPr bwMode="auto">
          <a:xfrm>
            <a:off x="4592638" y="1143000"/>
            <a:ext cx="3213100" cy="558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8395F5E4-B73F-7281-F60B-AB9BD98E90B8}"/>
              </a:ext>
            </a:extLst>
          </p:cNvPr>
          <p:cNvSpPr txBox="1">
            <a:spLocks noChangeArrowheads="1"/>
          </p:cNvSpPr>
          <p:nvPr/>
        </p:nvSpPr>
        <p:spPr bwMode="auto">
          <a:xfrm>
            <a:off x="1524000" y="1600200"/>
            <a:ext cx="3124200" cy="4114800"/>
          </a:xfrm>
          <a:prstGeom prst="rect">
            <a:avLst/>
          </a:prstGeom>
          <a:noFill/>
          <a:ln w="9525">
            <a:noFill/>
            <a:miter lim="800000"/>
            <a:headEnd/>
            <a:tailEnd/>
          </a:ln>
        </p:spPr>
        <p:txBody>
          <a:bodyPr/>
          <a:lstStyle/>
          <a:p>
            <a:pPr marL="342900" indent="-342900">
              <a:lnSpc>
                <a:spcPct val="90000"/>
              </a:lnSpc>
              <a:spcBef>
                <a:spcPct val="20000"/>
              </a:spcBef>
              <a:buFontTx/>
              <a:buChar char="•"/>
              <a:defRPr/>
            </a:pPr>
            <a:endParaRPr lang="en-US" kern="0" dirty="0">
              <a:latin typeface="Arial" charset="0"/>
            </a:endParaRPr>
          </a:p>
        </p:txBody>
      </p:sp>
      <p:pic>
        <p:nvPicPr>
          <p:cNvPr id="45061" name="Picture 4" descr="C:\Documents and Settings\Tony Stallins\Desktop\santa-lucia-mountains-rising-from-ocean-big-sur.jpg">
            <a:extLst>
              <a:ext uri="{FF2B5EF4-FFF2-40B4-BE49-F238E27FC236}">
                <a16:creationId xmlns:a16="http://schemas.microsoft.com/office/drawing/2014/main" id="{40F1B5BB-9B73-D890-838A-8A9F91CB18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8840" r="7729"/>
          <a:stretch>
            <a:fillRect/>
          </a:stretch>
        </p:blipFill>
        <p:spPr bwMode="auto">
          <a:xfrm>
            <a:off x="7958138" y="1257300"/>
            <a:ext cx="3040062" cy="551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Picture 6" descr="C:\Users\JAS\Desktop\MicroPlate.jpg">
            <a:extLst>
              <a:ext uri="{FF2B5EF4-FFF2-40B4-BE49-F238E27FC236}">
                <a16:creationId xmlns:a16="http://schemas.microsoft.com/office/drawing/2014/main" id="{DAF3A904-9290-2052-32BB-028D12D36D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143000"/>
            <a:ext cx="3505200" cy="544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04CEACA4-BDC7-01B4-0B43-FB4370E4CB1D}"/>
              </a:ext>
            </a:extLst>
          </p:cNvPr>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Epeirogeny</a:t>
            </a:r>
            <a:endParaRPr lang="en-US" altLang="en-US" dirty="0"/>
          </a:p>
        </p:txBody>
      </p:sp>
      <p:sp>
        <p:nvSpPr>
          <p:cNvPr id="48131" name="Content Placeholder 2">
            <a:extLst>
              <a:ext uri="{FF2B5EF4-FFF2-40B4-BE49-F238E27FC236}">
                <a16:creationId xmlns:a16="http://schemas.microsoft.com/office/drawing/2014/main" id="{21C61B20-195C-948D-DDB9-29AD5A460955}"/>
              </a:ext>
            </a:extLst>
          </p:cNvPr>
          <p:cNvSpPr>
            <a:spLocks noGrp="1" noChangeArrowheads="1"/>
          </p:cNvSpPr>
          <p:nvPr>
            <p:ph idx="1"/>
          </p:nvPr>
        </p:nvSpPr>
        <p:spPr/>
        <p:txBody>
          <a:bodyPr/>
          <a:lstStyle/>
          <a:p>
            <a:r>
              <a:rPr lang="en-US" altLang="en-US" dirty="0">
                <a:latin typeface="Arial" panose="020B0604020202020204" pitchFamily="34" charset="0"/>
                <a:cs typeface="Arial" panose="020B0604020202020204" pitchFamily="34" charset="0"/>
              </a:rPr>
              <a:t>Motion is non-deformational</a:t>
            </a:r>
          </a:p>
          <a:p>
            <a:r>
              <a:rPr lang="en-US" altLang="en-US" dirty="0">
                <a:latin typeface="Arial" panose="020B0604020202020204" pitchFamily="34" charset="0"/>
                <a:cs typeface="Arial" panose="020B0604020202020204" pitchFamily="34" charset="0"/>
              </a:rPr>
              <a:t>The uplift or subsidence of the crust without significant folding, faulting or fracturing</a:t>
            </a:r>
          </a:p>
          <a:p>
            <a:r>
              <a:rPr lang="en-US" altLang="en-US" dirty="0">
                <a:latin typeface="Arial" panose="020B0604020202020204" pitchFamily="34" charset="0"/>
                <a:cs typeface="Arial" panose="020B0604020202020204" pitchFamily="34" charset="0"/>
              </a:rPr>
              <a:t>Can create contrasts in elevation</a:t>
            </a:r>
          </a:p>
          <a:p>
            <a:pPr lvl="1"/>
            <a:r>
              <a:rPr lang="en-US" altLang="en-US" dirty="0">
                <a:latin typeface="Arial" panose="020B0604020202020204" pitchFamily="34" charset="0"/>
                <a:cs typeface="Arial" panose="020B0604020202020204" pitchFamily="34" charset="0"/>
              </a:rPr>
              <a:t>Isostatic rebound</a:t>
            </a:r>
          </a:p>
          <a:p>
            <a:pPr lvl="1"/>
            <a:r>
              <a:rPr lang="en-US" altLang="en-US" dirty="0">
                <a:latin typeface="Arial" panose="020B0604020202020204" pitchFamily="34" charset="0"/>
                <a:cs typeface="Arial" panose="020B0604020202020204" pitchFamily="34" charset="0"/>
              </a:rPr>
              <a:t>Mantle drips</a:t>
            </a:r>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3">
            <a:extLst>
              <a:ext uri="{FF2B5EF4-FFF2-40B4-BE49-F238E27FC236}">
                <a16:creationId xmlns:a16="http://schemas.microsoft.com/office/drawing/2014/main" id="{5E61CE41-2DCB-805F-76AC-9B4AEC22A7A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3050" y="76200"/>
            <a:ext cx="3962400" cy="678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7" name="Picture 3">
            <a:extLst>
              <a:ext uri="{FF2B5EF4-FFF2-40B4-BE49-F238E27FC236}">
                <a16:creationId xmlns:a16="http://schemas.microsoft.com/office/drawing/2014/main" id="{E29E1807-8F85-468C-FFE5-942422A5B4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5450" y="533400"/>
            <a:ext cx="5108575" cy="557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8BF440C8-97AC-7502-DC4E-8D7312C125E9}"/>
              </a:ext>
            </a:extLst>
          </p:cNvPr>
          <p:cNvSpPr>
            <a:spLocks noGrp="1" noChangeArrowheads="1"/>
          </p:cNvSpPr>
          <p:nvPr>
            <p:ph type="title"/>
          </p:nvPr>
        </p:nvSpPr>
        <p:spPr>
          <a:xfrm>
            <a:off x="4724400" y="0"/>
            <a:ext cx="6324600" cy="1143000"/>
          </a:xfrm>
        </p:spPr>
        <p:txBody>
          <a:bodyPr/>
          <a:lstStyle/>
          <a:p>
            <a:r>
              <a:rPr lang="en-US" altLang="en-US" dirty="0">
                <a:latin typeface="Arial" panose="020B0604020202020204" pitchFamily="34" charset="0"/>
                <a:cs typeface="Arial" panose="020B0604020202020204" pitchFamily="34" charset="0"/>
              </a:rPr>
              <a:t>Isostatic rebound</a:t>
            </a:r>
          </a:p>
        </p:txBody>
      </p:sp>
      <p:sp>
        <p:nvSpPr>
          <p:cNvPr id="49155" name="Content Placeholder 2">
            <a:extLst>
              <a:ext uri="{FF2B5EF4-FFF2-40B4-BE49-F238E27FC236}">
                <a16:creationId xmlns:a16="http://schemas.microsoft.com/office/drawing/2014/main" id="{F5B4D247-1C1D-3E16-5767-4DFF0B181193}"/>
              </a:ext>
            </a:extLst>
          </p:cNvPr>
          <p:cNvSpPr>
            <a:spLocks noGrp="1" noChangeArrowheads="1"/>
          </p:cNvSpPr>
          <p:nvPr>
            <p:ph idx="1"/>
          </p:nvPr>
        </p:nvSpPr>
        <p:spPr>
          <a:xfrm>
            <a:off x="152400" y="1111135"/>
            <a:ext cx="3795713" cy="6248400"/>
          </a:xfrm>
        </p:spPr>
        <p:txBody>
          <a:bodyPr/>
          <a:lstStyle/>
          <a:p>
            <a:r>
              <a:rPr lang="en-US" altLang="en-US" sz="2600" dirty="0">
                <a:latin typeface="Arial" panose="020B0604020202020204" pitchFamily="34" charset="0"/>
                <a:cs typeface="Arial" panose="020B0604020202020204" pitchFamily="34" charset="0"/>
              </a:rPr>
              <a:t>The uplift of land after removal of load resting on top of it</a:t>
            </a:r>
          </a:p>
          <a:p>
            <a:r>
              <a:rPr lang="en-US" altLang="en-US" sz="2600" dirty="0">
                <a:latin typeface="Arial" panose="020B0604020202020204" pitchFamily="34" charset="0"/>
                <a:cs typeface="Arial" panose="020B0604020202020204" pitchFamily="34" charset="0"/>
              </a:rPr>
              <a:t>Melting of thick Pleistocene ice sheets on surface since last glacial maximum led to the crust rebounding upward even today.</a:t>
            </a:r>
          </a:p>
          <a:p>
            <a:endParaRPr lang="en-US" altLang="en-US" sz="2600" dirty="0">
              <a:latin typeface="Arial" panose="020B0604020202020204" pitchFamily="34" charset="0"/>
              <a:cs typeface="Arial" panose="020B0604020202020204" pitchFamily="34" charset="0"/>
            </a:endParaRPr>
          </a:p>
        </p:txBody>
      </p:sp>
      <p:pic>
        <p:nvPicPr>
          <p:cNvPr id="49156" name="Picture 5" descr="C:\Documents and Settings\Tony Stallins\Desktop\WqteII.png">
            <a:extLst>
              <a:ext uri="{FF2B5EF4-FFF2-40B4-BE49-F238E27FC236}">
                <a16:creationId xmlns:a16="http://schemas.microsoft.com/office/drawing/2014/main" id="{5021E88C-6660-8F21-0BC5-03327456AF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7494" y="1143000"/>
            <a:ext cx="7618412" cy="559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6B4773C5-2065-9753-158A-2DE80A3AF517}"/>
              </a:ext>
            </a:extLst>
          </p:cNvPr>
          <p:cNvSpPr>
            <a:spLocks noGrp="1" noChangeArrowheads="1"/>
          </p:cNvSpPr>
          <p:nvPr>
            <p:ph type="title"/>
          </p:nvPr>
        </p:nvSpPr>
        <p:spPr>
          <a:xfrm>
            <a:off x="4419600" y="685800"/>
            <a:ext cx="7613650" cy="1143000"/>
          </a:xfrm>
        </p:spPr>
        <p:txBody>
          <a:bodyPr/>
          <a:lstStyle/>
          <a:p>
            <a:r>
              <a:rPr lang="en-US" altLang="en-US" sz="4000" dirty="0">
                <a:latin typeface="Arial" panose="020B0604020202020204" pitchFamily="34" charset="0"/>
                <a:cs typeface="Arial" panose="020B0604020202020204" pitchFamily="34" charset="0"/>
              </a:rPr>
              <a:t>Isostatic rebound due to glacial retreat: Lake Mälaren, Sweden </a:t>
            </a:r>
          </a:p>
        </p:txBody>
      </p:sp>
      <p:pic>
        <p:nvPicPr>
          <p:cNvPr id="51203" name="Picture 3" descr="C:\Users\JAS\Desktop\La3-demis-malaren.png">
            <a:extLst>
              <a:ext uri="{FF2B5EF4-FFF2-40B4-BE49-F238E27FC236}">
                <a16:creationId xmlns:a16="http://schemas.microsoft.com/office/drawing/2014/main" id="{1E4E82B8-0C6F-99C6-7F0B-48F49F076D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0226"/>
          <a:stretch>
            <a:fillRect/>
          </a:stretch>
        </p:blipFill>
        <p:spPr bwMode="auto">
          <a:xfrm>
            <a:off x="4541838" y="2454275"/>
            <a:ext cx="7491412"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4" name="Picture 3" descr="C:\Documents and Settings\Tony Stallins\Desktop\M%C3%A4laren.png">
            <a:extLst>
              <a:ext uri="{FF2B5EF4-FFF2-40B4-BE49-F238E27FC236}">
                <a16:creationId xmlns:a16="http://schemas.microsoft.com/office/drawing/2014/main" id="{84D93184-42D8-3EDD-C004-C500ACBCF9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0338"/>
          <a:stretch>
            <a:fillRect/>
          </a:stretch>
        </p:blipFill>
        <p:spPr bwMode="auto">
          <a:xfrm>
            <a:off x="381000" y="-150813"/>
            <a:ext cx="3946525" cy="684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ountain with snow on top&#10;&#10;AI-generated content may be incorrect.">
            <a:extLst>
              <a:ext uri="{FF2B5EF4-FFF2-40B4-BE49-F238E27FC236}">
                <a16:creationId xmlns:a16="http://schemas.microsoft.com/office/drawing/2014/main" id="{957D8FC0-D99C-DD1F-A70D-1AB3F695EC1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9600" y="27432"/>
            <a:ext cx="11277600" cy="6845856"/>
          </a:xfrm>
        </p:spPr>
      </p:pic>
    </p:spTree>
    <p:extLst>
      <p:ext uri="{BB962C8B-B14F-4D97-AF65-F5344CB8AC3E}">
        <p14:creationId xmlns:p14="http://schemas.microsoft.com/office/powerpoint/2010/main" val="12090150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5" descr="C:\Documents and Settings\Owner\Desktop\frame_01.gif">
            <a:extLst>
              <a:ext uri="{FF2B5EF4-FFF2-40B4-BE49-F238E27FC236}">
                <a16:creationId xmlns:a16="http://schemas.microsoft.com/office/drawing/2014/main" id="{99BC9858-F316-FD1E-3DB5-5D810DD59D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66800"/>
            <a:ext cx="6321425"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1" name="Picture 6" descr="Grand-Canyon">
            <a:extLst>
              <a:ext uri="{FF2B5EF4-FFF2-40B4-BE49-F238E27FC236}">
                <a16:creationId xmlns:a16="http://schemas.microsoft.com/office/drawing/2014/main" id="{A2319035-1BD8-5292-C3D7-5F73E6E95D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3325" y="615950"/>
            <a:ext cx="5778500"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08555F95-E36E-FA81-71EA-B36294954B0E}"/>
              </a:ext>
            </a:extLst>
          </p:cNvPr>
          <p:cNvSpPr>
            <a:spLocks noGrp="1" noChangeArrowheads="1"/>
          </p:cNvSpPr>
          <p:nvPr>
            <p:ph type="title"/>
          </p:nvPr>
        </p:nvSpPr>
        <p:spPr/>
        <p:txBody>
          <a:bodyPr/>
          <a:lstStyle/>
          <a:p>
            <a:r>
              <a:rPr lang="en-US" altLang="en-US" dirty="0">
                <a:latin typeface="Arial" panose="020B0604020202020204" pitchFamily="34" charset="0"/>
              </a:rPr>
              <a:t>The Colorado Plateau</a:t>
            </a:r>
          </a:p>
        </p:txBody>
      </p:sp>
      <p:sp>
        <p:nvSpPr>
          <p:cNvPr id="55299" name="Rectangle 3">
            <a:extLst>
              <a:ext uri="{FF2B5EF4-FFF2-40B4-BE49-F238E27FC236}">
                <a16:creationId xmlns:a16="http://schemas.microsoft.com/office/drawing/2014/main" id="{3FB2E53D-8579-437F-2354-641CF5B97F2E}"/>
              </a:ext>
            </a:extLst>
          </p:cNvPr>
          <p:cNvSpPr>
            <a:spLocks noGrp="1" noChangeArrowheads="1"/>
          </p:cNvSpPr>
          <p:nvPr>
            <p:ph type="body" idx="1"/>
          </p:nvPr>
        </p:nvSpPr>
        <p:spPr>
          <a:xfrm>
            <a:off x="914400" y="1752600"/>
            <a:ext cx="10210800" cy="4114800"/>
          </a:xfrm>
        </p:spPr>
        <p:txBody>
          <a:bodyPr/>
          <a:lstStyle/>
          <a:p>
            <a:r>
              <a:rPr lang="en-US" altLang="en-US" sz="2800" dirty="0">
                <a:latin typeface="Arial" panose="020B0604020202020204" pitchFamily="34" charset="0"/>
              </a:rPr>
              <a:t>Sedimentary rocks uplifted three kilometers over several millions of years through multiple a couple of uplift events</a:t>
            </a:r>
          </a:p>
          <a:p>
            <a:r>
              <a:rPr lang="en-US" altLang="en-US" sz="2800" dirty="0">
                <a:latin typeface="Arial" panose="020B0604020202020204" pitchFamily="34" charset="0"/>
              </a:rPr>
              <a:t>Elevations of 10,000 ft in some locations</a:t>
            </a:r>
          </a:p>
          <a:p>
            <a:pPr>
              <a:lnSpc>
                <a:spcPct val="90000"/>
              </a:lnSpc>
            </a:pPr>
            <a:r>
              <a:rPr lang="en-US" altLang="en-US" sz="2800" dirty="0">
                <a:latin typeface="Arial" panose="020B0604020202020204" pitchFamily="34" charset="0"/>
              </a:rPr>
              <a:t>Grand Canyon formed when Colorado River cut down through these gently uplifted sedimentary layers</a:t>
            </a:r>
          </a:p>
          <a:p>
            <a:pPr>
              <a:lnSpc>
                <a:spcPct val="90000"/>
              </a:lnSpc>
            </a:pPr>
            <a:r>
              <a:rPr lang="en-US" altLang="en-US" sz="2800" dirty="0">
                <a:latin typeface="Arial" panose="020B0604020202020204" pitchFamily="34" charset="0"/>
              </a:rPr>
              <a:t>Formation of the Colorado Plateau and its features is combination of hotspot activity with mantle drips and delamination</a:t>
            </a:r>
          </a:p>
          <a:p>
            <a:pPr>
              <a:buFontTx/>
              <a:buNone/>
            </a:pPr>
            <a:endParaRPr lang="en-US"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a:extLst>
              <a:ext uri="{FF2B5EF4-FFF2-40B4-BE49-F238E27FC236}">
                <a16:creationId xmlns:a16="http://schemas.microsoft.com/office/drawing/2014/main" id="{A5F8942A-A058-C405-738D-07D7154731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990600"/>
            <a:ext cx="7924800" cy="534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7" name="Rectangle 2">
            <a:extLst>
              <a:ext uri="{FF2B5EF4-FFF2-40B4-BE49-F238E27FC236}">
                <a16:creationId xmlns:a16="http://schemas.microsoft.com/office/drawing/2014/main" id="{40F35EF7-72EF-9B22-1F92-C55EF7C374FC}"/>
              </a:ext>
            </a:extLst>
          </p:cNvPr>
          <p:cNvSpPr>
            <a:spLocks noGrp="1" noChangeArrowheads="1"/>
          </p:cNvSpPr>
          <p:nvPr>
            <p:ph type="title"/>
          </p:nvPr>
        </p:nvSpPr>
        <p:spPr>
          <a:xfrm>
            <a:off x="2286000" y="228600"/>
            <a:ext cx="7772400" cy="1143000"/>
          </a:xfrm>
        </p:spPr>
        <p:txBody>
          <a:bodyPr/>
          <a:lstStyle/>
          <a:p>
            <a:r>
              <a:rPr lang="en-US" altLang="en-US" dirty="0">
                <a:latin typeface="Arial" panose="020B0604020202020204" pitchFamily="34" charset="0"/>
              </a:rPr>
              <a:t>Mantle drips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BFD59-B779-5C98-0572-0D2E44F8B1E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Folding and faulting (deformational motion)</a:t>
            </a:r>
          </a:p>
        </p:txBody>
      </p:sp>
      <p:sp>
        <p:nvSpPr>
          <p:cNvPr id="3" name="Content Placeholder 2">
            <a:extLst>
              <a:ext uri="{FF2B5EF4-FFF2-40B4-BE49-F238E27FC236}">
                <a16:creationId xmlns:a16="http://schemas.microsoft.com/office/drawing/2014/main" id="{329B037D-1D87-E0AC-82E3-23D8FB98C2A2}"/>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Tectonic forces reshape position of crustal rocks to create structural landforms smaller than mountain ranges</a:t>
            </a:r>
          </a:p>
          <a:p>
            <a:r>
              <a:rPr lang="en-US" dirty="0">
                <a:latin typeface="Arial" panose="020B0604020202020204" pitchFamily="34" charset="0"/>
                <a:cs typeface="Arial" panose="020B0604020202020204" pitchFamily="34" charset="0"/>
              </a:rPr>
              <a:t>These structural landforms can be subsequently modified by weathering and erosion to create a diversity of landform types. </a:t>
            </a:r>
          </a:p>
        </p:txBody>
      </p:sp>
    </p:spTree>
    <p:extLst>
      <p:ext uri="{BB962C8B-B14F-4D97-AF65-F5344CB8AC3E}">
        <p14:creationId xmlns:p14="http://schemas.microsoft.com/office/powerpoint/2010/main" val="24651337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BC0F6E23-9747-F3FF-B499-C1815CCE3A5A}"/>
              </a:ext>
            </a:extLst>
          </p:cNvPr>
          <p:cNvSpPr>
            <a:spLocks noGrp="1" noChangeArrowheads="1"/>
          </p:cNvSpPr>
          <p:nvPr>
            <p:ph type="title"/>
          </p:nvPr>
        </p:nvSpPr>
        <p:spPr/>
        <p:txBody>
          <a:bodyPr/>
          <a:lstStyle/>
          <a:p>
            <a:pPr eaLnBrk="1" hangingPunct="1"/>
            <a:r>
              <a:rPr lang="en-US" altLang="en-US" sz="4000" dirty="0">
                <a:latin typeface="Arial" panose="020B0604020202020204" pitchFamily="34" charset="0"/>
                <a:cs typeface="Arial" panose="020B0604020202020204" pitchFamily="34" charset="0"/>
              </a:rPr>
              <a:t>Folding: anticlines and synclines</a:t>
            </a:r>
          </a:p>
        </p:txBody>
      </p:sp>
      <p:pic>
        <p:nvPicPr>
          <p:cNvPr id="72707" name="Picture 6" descr="anticline">
            <a:extLst>
              <a:ext uri="{FF2B5EF4-FFF2-40B4-BE49-F238E27FC236}">
                <a16:creationId xmlns:a16="http://schemas.microsoft.com/office/drawing/2014/main" id="{57C91571-5F8E-5E21-EF81-CB23112E9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175" y="1905000"/>
            <a:ext cx="48006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8" name="Picture 7" descr="syncline">
            <a:extLst>
              <a:ext uri="{FF2B5EF4-FFF2-40B4-BE49-F238E27FC236}">
                <a16:creationId xmlns:a16="http://schemas.microsoft.com/office/drawing/2014/main" id="{7480CB55-03F2-639C-A6E0-04B7216516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225" y="1690688"/>
            <a:ext cx="5029200" cy="428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descr="C:\Geomorphcdrom\Eckart\Geom_CD_Lithology_Sedimentary_Rocks_England.jpg">
            <a:extLst>
              <a:ext uri="{FF2B5EF4-FFF2-40B4-BE49-F238E27FC236}">
                <a16:creationId xmlns:a16="http://schemas.microsoft.com/office/drawing/2014/main" id="{C9824BA0-A495-0768-C3B5-1B4C4084AB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3813"/>
            <a:ext cx="46482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59" name="Picture 2" descr="A road with cars parked on the side&#10;&#10;Description automatically generated">
            <a:extLst>
              <a:ext uri="{FF2B5EF4-FFF2-40B4-BE49-F238E27FC236}">
                <a16:creationId xmlns:a16="http://schemas.microsoft.com/office/drawing/2014/main" id="{965883E0-2F65-6592-908D-553A8984E2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413" y="928688"/>
            <a:ext cx="6596062"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a:extLst>
              <a:ext uri="{FF2B5EF4-FFF2-40B4-BE49-F238E27FC236}">
                <a16:creationId xmlns:a16="http://schemas.microsoft.com/office/drawing/2014/main" id="{0EEC7400-2F44-0F3B-81F6-2032F7B174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33375"/>
            <a:ext cx="9144000" cy="619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descr="C:\Documents and Settings\Tony Stallins\Desktop\AppalachianFolds.jpg">
            <a:extLst>
              <a:ext uri="{FF2B5EF4-FFF2-40B4-BE49-F238E27FC236}">
                <a16:creationId xmlns:a16="http://schemas.microsoft.com/office/drawing/2014/main" id="{57E9CAEC-9D26-3D93-320A-EFEAD697D4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6938"/>
          <a:stretch>
            <a:fillRect/>
          </a:stretch>
        </p:blipFill>
        <p:spPr bwMode="auto">
          <a:xfrm>
            <a:off x="1981200" y="1476375"/>
            <a:ext cx="8229600" cy="53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Title 1">
            <a:extLst>
              <a:ext uri="{FF2B5EF4-FFF2-40B4-BE49-F238E27FC236}">
                <a16:creationId xmlns:a16="http://schemas.microsoft.com/office/drawing/2014/main" id="{551C0AC4-9E68-83B8-BEA9-7434A2B02514}"/>
              </a:ext>
            </a:extLst>
          </p:cNvPr>
          <p:cNvSpPr>
            <a:spLocks noGrp="1" noChangeArrowheads="1"/>
          </p:cNvSpPr>
          <p:nvPr>
            <p:ph type="title"/>
          </p:nvPr>
        </p:nvSpPr>
        <p:spPr>
          <a:xfrm>
            <a:off x="914400" y="152400"/>
            <a:ext cx="10363200" cy="1143000"/>
          </a:xfrm>
        </p:spPr>
        <p:txBody>
          <a:bodyPr/>
          <a:lstStyle/>
          <a:p>
            <a:pPr eaLnBrk="1" hangingPunct="1"/>
            <a:r>
              <a:rPr lang="en-US" altLang="en-US" sz="4000" dirty="0">
                <a:latin typeface="Arial" panose="020B0604020202020204" pitchFamily="34" charset="0"/>
                <a:cs typeface="Arial" panose="020B0604020202020204" pitchFamily="34" charset="0"/>
              </a:rPr>
              <a:t>Plunging anticlines and synclines with differential weathering and erosion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Content Placeholder 4">
            <a:extLst>
              <a:ext uri="{FF2B5EF4-FFF2-40B4-BE49-F238E27FC236}">
                <a16:creationId xmlns:a16="http://schemas.microsoft.com/office/drawing/2014/main" id="{FC08D729-6CFB-8F1F-3C9A-7414942EFD4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85800" y="71438"/>
            <a:ext cx="10972800" cy="6715125"/>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A4A093C5-86AE-DD57-B411-A1DA3C7F63F7}"/>
              </a:ext>
            </a:extLst>
          </p:cNvPr>
          <p:cNvSpPr>
            <a:spLocks noGrp="1" noChangeArrowheads="1"/>
          </p:cNvSpPr>
          <p:nvPr>
            <p:ph type="title"/>
          </p:nvPr>
        </p:nvSpPr>
        <p:spPr>
          <a:xfrm>
            <a:off x="914400" y="49212"/>
            <a:ext cx="10363200" cy="1143000"/>
          </a:xfrm>
        </p:spPr>
        <p:txBody>
          <a:bodyPr/>
          <a:lstStyle/>
          <a:p>
            <a:r>
              <a:rPr lang="en-US" altLang="en-US" sz="4000" dirty="0">
                <a:latin typeface="Arial" panose="020B0604020202020204" pitchFamily="34" charset="0"/>
                <a:cs typeface="Arial" panose="020B0604020202020204" pitchFamily="34" charset="0"/>
              </a:rPr>
              <a:t>Synclinal ridges with differential weathering and erosion</a:t>
            </a:r>
          </a:p>
        </p:txBody>
      </p:sp>
      <p:pic>
        <p:nvPicPr>
          <p:cNvPr id="80899" name="Picture 5" descr="syncline2">
            <a:extLst>
              <a:ext uri="{FF2B5EF4-FFF2-40B4-BE49-F238E27FC236}">
                <a16:creationId xmlns:a16="http://schemas.microsoft.com/office/drawing/2014/main" id="{36779A7A-4D29-BD3B-85D8-828BE29CB9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38300" y="1447800"/>
            <a:ext cx="8915400" cy="4789488"/>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2A4CBC3E-A55C-C569-CFAB-46F10168B800}"/>
              </a:ext>
            </a:extLst>
          </p:cNvPr>
          <p:cNvSpPr>
            <a:spLocks noGrp="1" noChangeArrowheads="1"/>
          </p:cNvSpPr>
          <p:nvPr>
            <p:ph type="title"/>
          </p:nvPr>
        </p:nvSpPr>
        <p:spPr>
          <a:xfrm>
            <a:off x="914400" y="0"/>
            <a:ext cx="10363200" cy="1143000"/>
          </a:xfrm>
        </p:spPr>
        <p:txBody>
          <a:bodyPr/>
          <a:lstStyle/>
          <a:p>
            <a:r>
              <a:rPr lang="en-US" altLang="en-US" sz="4000" dirty="0">
                <a:latin typeface="Arial" panose="020B0604020202020204" pitchFamily="34" charset="0"/>
                <a:cs typeface="Arial" panose="020B0604020202020204" pitchFamily="34" charset="0"/>
              </a:rPr>
              <a:t>Anticlinal valleys</a:t>
            </a:r>
          </a:p>
        </p:txBody>
      </p:sp>
      <p:pic>
        <p:nvPicPr>
          <p:cNvPr id="81923" name="Content Placeholder 4" descr="A black and white drawing of a section of a mountain&#10;&#10;Description automatically generated">
            <a:extLst>
              <a:ext uri="{FF2B5EF4-FFF2-40B4-BE49-F238E27FC236}">
                <a16:creationId xmlns:a16="http://schemas.microsoft.com/office/drawing/2014/main" id="{0AEB9849-451B-86DA-94CA-660B1D1875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00200" y="1154113"/>
            <a:ext cx="8763000" cy="5360987"/>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C0907DB5-283A-C2CC-94AB-897E5C7504DB}"/>
              </a:ext>
            </a:extLst>
          </p:cNvPr>
          <p:cNvSpPr>
            <a:spLocks noGrp="1" noChangeArrowheads="1"/>
          </p:cNvSpPr>
          <p:nvPr>
            <p:ph type="title"/>
          </p:nvPr>
        </p:nvSpPr>
        <p:spPr>
          <a:xfrm>
            <a:off x="2209800" y="381000"/>
            <a:ext cx="7772400" cy="1143000"/>
          </a:xfrm>
        </p:spPr>
        <p:txBody>
          <a:bodyPr/>
          <a:lstStyle/>
          <a:p>
            <a:r>
              <a:rPr lang="en-US" altLang="en-US" dirty="0">
                <a:latin typeface="Arial" panose="020B0604020202020204" pitchFamily="34" charset="0"/>
              </a:rPr>
              <a:t>Faults</a:t>
            </a:r>
            <a:endParaRPr lang="en-US" altLang="en-US" sz="4800" dirty="0"/>
          </a:p>
        </p:txBody>
      </p:sp>
      <p:sp>
        <p:nvSpPr>
          <p:cNvPr id="82947" name="Rectangle 3">
            <a:extLst>
              <a:ext uri="{FF2B5EF4-FFF2-40B4-BE49-F238E27FC236}">
                <a16:creationId xmlns:a16="http://schemas.microsoft.com/office/drawing/2014/main" id="{4AB219D0-E56F-FA74-FAAD-6C2273450546}"/>
              </a:ext>
            </a:extLst>
          </p:cNvPr>
          <p:cNvSpPr>
            <a:spLocks noGrp="1" noChangeArrowheads="1"/>
          </p:cNvSpPr>
          <p:nvPr>
            <p:ph type="body" idx="1"/>
          </p:nvPr>
        </p:nvSpPr>
        <p:spPr>
          <a:xfrm>
            <a:off x="533400" y="1676400"/>
            <a:ext cx="10972800" cy="4114800"/>
          </a:xfrm>
        </p:spPr>
        <p:txBody>
          <a:bodyPr/>
          <a:lstStyle/>
          <a:p>
            <a:pPr>
              <a:lnSpc>
                <a:spcPct val="90000"/>
              </a:lnSpc>
            </a:pPr>
            <a:r>
              <a:rPr lang="en-US" altLang="en-US" sz="2800" dirty="0">
                <a:latin typeface="Arial" panose="020B0604020202020204" pitchFamily="34" charset="0"/>
              </a:rPr>
              <a:t>Initiate potentially rapid movement in crust</a:t>
            </a:r>
          </a:p>
          <a:p>
            <a:pPr>
              <a:lnSpc>
                <a:spcPct val="90000"/>
              </a:lnSpc>
            </a:pPr>
            <a:r>
              <a:rPr lang="en-US" altLang="en-US" sz="2800" dirty="0">
                <a:latin typeface="Arial" panose="020B0604020202020204" pitchFamily="34" charset="0"/>
              </a:rPr>
              <a:t>Faults are differentiated by the type of stress, its motion, and the angle</a:t>
            </a:r>
          </a:p>
          <a:p>
            <a:pPr lvl="1">
              <a:lnSpc>
                <a:spcPct val="90000"/>
              </a:lnSpc>
            </a:pPr>
            <a:r>
              <a:rPr lang="en-US" altLang="en-US" dirty="0">
                <a:latin typeface="Arial" panose="020B0604020202020204" pitchFamily="34" charset="0"/>
              </a:rPr>
              <a:t>Normal fault</a:t>
            </a:r>
          </a:p>
          <a:p>
            <a:pPr lvl="1">
              <a:lnSpc>
                <a:spcPct val="90000"/>
              </a:lnSpc>
            </a:pPr>
            <a:r>
              <a:rPr lang="en-US" altLang="en-US" dirty="0">
                <a:latin typeface="Arial" panose="020B0604020202020204" pitchFamily="34" charset="0"/>
              </a:rPr>
              <a:t>Reverse fault (high-angle)</a:t>
            </a:r>
          </a:p>
          <a:p>
            <a:pPr lvl="1">
              <a:lnSpc>
                <a:spcPct val="90000"/>
              </a:lnSpc>
            </a:pPr>
            <a:r>
              <a:rPr lang="en-US" altLang="en-US" dirty="0">
                <a:latin typeface="Arial" panose="020B0604020202020204" pitchFamily="34" charset="0"/>
              </a:rPr>
              <a:t>Thrust fault (low-angle) - leads to mountain building</a:t>
            </a:r>
          </a:p>
          <a:p>
            <a:pPr lvl="1">
              <a:lnSpc>
                <a:spcPct val="90000"/>
              </a:lnSpc>
            </a:pPr>
            <a:r>
              <a:rPr lang="en-US" altLang="en-US" dirty="0">
                <a:latin typeface="Arial" panose="020B0604020202020204" pitchFamily="34" charset="0"/>
              </a:rPr>
              <a:t>Strike-slip fault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3" descr="C:\Documents and Settings\Tony Stallins\Desktop\strikeslip.jpg">
            <a:extLst>
              <a:ext uri="{FF2B5EF4-FFF2-40B4-BE49-F238E27FC236}">
                <a16:creationId xmlns:a16="http://schemas.microsoft.com/office/drawing/2014/main" id="{1A553FF7-29F9-4B88-9F7C-1BF8AC7A7E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188" y="654050"/>
            <a:ext cx="8937625" cy="554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Title 1">
            <a:extLst>
              <a:ext uri="{FF2B5EF4-FFF2-40B4-BE49-F238E27FC236}">
                <a16:creationId xmlns:a16="http://schemas.microsoft.com/office/drawing/2014/main" id="{7E66E15A-38B5-12B1-3D2D-BAB5B6DD619C}"/>
              </a:ext>
            </a:extLst>
          </p:cNvPr>
          <p:cNvSpPr>
            <a:spLocks noGrp="1" noChangeArrowheads="1"/>
          </p:cNvSpPr>
          <p:nvPr>
            <p:ph type="title"/>
          </p:nvPr>
        </p:nvSpPr>
        <p:spPr>
          <a:xfrm>
            <a:off x="2133600" y="152400"/>
            <a:ext cx="7772400" cy="1143000"/>
          </a:xfrm>
        </p:spPr>
        <p:txBody>
          <a:bodyPr/>
          <a:lstStyle/>
          <a:p>
            <a:pPr eaLnBrk="1" hangingPunct="1"/>
            <a:r>
              <a:rPr lang="en-US" altLang="en-US" dirty="0">
                <a:latin typeface="Arial" panose="020B0604020202020204" pitchFamily="34" charset="0"/>
                <a:cs typeface="Arial" panose="020B0604020202020204" pitchFamily="34" charset="0"/>
              </a:rPr>
              <a:t>Strike-slip fault</a:t>
            </a:r>
          </a:p>
        </p:txBody>
      </p:sp>
      <p:sp>
        <p:nvSpPr>
          <p:cNvPr id="84996" name="Rectangle 3">
            <a:extLst>
              <a:ext uri="{FF2B5EF4-FFF2-40B4-BE49-F238E27FC236}">
                <a16:creationId xmlns:a16="http://schemas.microsoft.com/office/drawing/2014/main" id="{16F677CD-894E-4C2A-528B-F583FCEC2F01}"/>
              </a:ext>
            </a:extLst>
          </p:cNvPr>
          <p:cNvSpPr>
            <a:spLocks noChangeArrowheads="1"/>
          </p:cNvSpPr>
          <p:nvPr/>
        </p:nvSpPr>
        <p:spPr bwMode="auto">
          <a:xfrm>
            <a:off x="4495800" y="6019800"/>
            <a:ext cx="36464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2" eaLnBrk="1" hangingPunct="1">
              <a:lnSpc>
                <a:spcPct val="90000"/>
              </a:lnSpc>
              <a:spcBef>
                <a:spcPct val="0"/>
              </a:spcBef>
              <a:buFontTx/>
              <a:buNone/>
            </a:pPr>
            <a:r>
              <a:rPr lang="en-US" altLang="en-US" sz="2800" dirty="0">
                <a:latin typeface="Arial" panose="020B0604020202020204" pitchFamily="34" charset="0"/>
              </a:rPr>
              <a:t>Lateral stresses</a:t>
            </a:r>
            <a:endParaRPr lang="en-US" altLang="en-US" sz="3600" dirty="0">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8" descr="C:\Documents and Settings\Owner\Desktop\parkfld_bridge_sign.jpe">
            <a:extLst>
              <a:ext uri="{FF2B5EF4-FFF2-40B4-BE49-F238E27FC236}">
                <a16:creationId xmlns:a16="http://schemas.microsoft.com/office/drawing/2014/main" id="{4F27BA5A-BF6A-74E0-9EDE-3ABEB5CDDB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7659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3" name="Picture 9" descr="C:\Documents and Settings\Owner\Desktop\san_andreas.gif">
            <a:extLst>
              <a:ext uri="{FF2B5EF4-FFF2-40B4-BE49-F238E27FC236}">
                <a16:creationId xmlns:a16="http://schemas.microsoft.com/office/drawing/2014/main" id="{0C5DE532-E640-5577-C6F3-1BE2D4F210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23813"/>
            <a:ext cx="5791200" cy="681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descr="C:\Documents and Settings\Tony Stallins\Desktop\normal.jpg">
            <a:extLst>
              <a:ext uri="{FF2B5EF4-FFF2-40B4-BE49-F238E27FC236}">
                <a16:creationId xmlns:a16="http://schemas.microsoft.com/office/drawing/2014/main" id="{6C42C98E-8C15-CF33-6262-056B0850C4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1463" y="903288"/>
            <a:ext cx="9107487" cy="505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1" name="Rectangle 2">
            <a:extLst>
              <a:ext uri="{FF2B5EF4-FFF2-40B4-BE49-F238E27FC236}">
                <a16:creationId xmlns:a16="http://schemas.microsoft.com/office/drawing/2014/main" id="{DF86E6E5-CC17-D50E-49C1-3F43CC8BD69C}"/>
              </a:ext>
            </a:extLst>
          </p:cNvPr>
          <p:cNvSpPr>
            <a:spLocks noChangeArrowheads="1"/>
          </p:cNvSpPr>
          <p:nvPr/>
        </p:nvSpPr>
        <p:spPr bwMode="auto">
          <a:xfrm>
            <a:off x="3733800" y="5715000"/>
            <a:ext cx="324485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eaLnBrk="1" hangingPunct="1">
              <a:lnSpc>
                <a:spcPct val="90000"/>
              </a:lnSpc>
              <a:spcBef>
                <a:spcPct val="0"/>
              </a:spcBef>
              <a:buFontTx/>
              <a:buNone/>
            </a:pPr>
            <a:r>
              <a:rPr lang="en-US" altLang="en-US" dirty="0">
                <a:latin typeface="Arial" panose="020B0604020202020204" pitchFamily="34" charset="0"/>
              </a:rPr>
              <a:t>Divergent stress</a:t>
            </a:r>
          </a:p>
        </p:txBody>
      </p:sp>
      <p:sp>
        <p:nvSpPr>
          <p:cNvPr id="89092" name="Title 1">
            <a:extLst>
              <a:ext uri="{FF2B5EF4-FFF2-40B4-BE49-F238E27FC236}">
                <a16:creationId xmlns:a16="http://schemas.microsoft.com/office/drawing/2014/main" id="{2D7FEC80-C57A-23C3-1468-17486D0ADBA5}"/>
              </a:ext>
            </a:extLst>
          </p:cNvPr>
          <p:cNvSpPr>
            <a:spLocks noGrp="1" noChangeArrowheads="1"/>
          </p:cNvSpPr>
          <p:nvPr>
            <p:ph type="title"/>
          </p:nvPr>
        </p:nvSpPr>
        <p:spPr>
          <a:xfrm>
            <a:off x="2133600" y="152400"/>
            <a:ext cx="7772400" cy="1143000"/>
          </a:xfrm>
        </p:spPr>
        <p:txBody>
          <a:bodyPr/>
          <a:lstStyle/>
          <a:p>
            <a:pPr eaLnBrk="1" hangingPunct="1"/>
            <a:r>
              <a:rPr lang="en-US" altLang="en-US" dirty="0">
                <a:latin typeface="Arial" panose="020B0604020202020204" pitchFamily="34" charset="0"/>
                <a:cs typeface="Arial" panose="020B0604020202020204" pitchFamily="34" charset="0"/>
              </a:rPr>
              <a:t>Normal fault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4" descr="C:\Documents and Settings\Tony Stallins\Desktop\reverse.jpg">
            <a:extLst>
              <a:ext uri="{FF2B5EF4-FFF2-40B4-BE49-F238E27FC236}">
                <a16:creationId xmlns:a16="http://schemas.microsoft.com/office/drawing/2014/main" id="{1332EFE8-7F4A-F3CB-EF33-660AC1DF2E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685800"/>
            <a:ext cx="8193088" cy="644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 name="Title 1">
            <a:extLst>
              <a:ext uri="{FF2B5EF4-FFF2-40B4-BE49-F238E27FC236}">
                <a16:creationId xmlns:a16="http://schemas.microsoft.com/office/drawing/2014/main" id="{EB5ADF15-DC58-AB09-6C2B-39EE4F11820C}"/>
              </a:ext>
            </a:extLst>
          </p:cNvPr>
          <p:cNvSpPr>
            <a:spLocks noGrp="1" noChangeArrowheads="1"/>
          </p:cNvSpPr>
          <p:nvPr>
            <p:ph type="title"/>
          </p:nvPr>
        </p:nvSpPr>
        <p:spPr>
          <a:xfrm>
            <a:off x="2133600" y="0"/>
            <a:ext cx="7772400" cy="1143000"/>
          </a:xfrm>
        </p:spPr>
        <p:txBody>
          <a:bodyPr/>
          <a:lstStyle/>
          <a:p>
            <a:pPr eaLnBrk="1" hangingPunct="1"/>
            <a:r>
              <a:rPr lang="en-US" altLang="en-US" dirty="0">
                <a:latin typeface="Arial" panose="020B0604020202020204" pitchFamily="34" charset="0"/>
                <a:cs typeface="Arial" panose="020B0604020202020204" pitchFamily="34" charset="0"/>
              </a:rPr>
              <a:t>Reverse fault</a:t>
            </a:r>
          </a:p>
        </p:txBody>
      </p:sp>
      <p:sp>
        <p:nvSpPr>
          <p:cNvPr id="91140" name="Rectangle 3">
            <a:extLst>
              <a:ext uri="{FF2B5EF4-FFF2-40B4-BE49-F238E27FC236}">
                <a16:creationId xmlns:a16="http://schemas.microsoft.com/office/drawing/2014/main" id="{0EB81818-E210-47B8-510B-E50849E5B18B}"/>
              </a:ext>
            </a:extLst>
          </p:cNvPr>
          <p:cNvSpPr>
            <a:spLocks noChangeArrowheads="1"/>
          </p:cNvSpPr>
          <p:nvPr/>
        </p:nvSpPr>
        <p:spPr bwMode="auto">
          <a:xfrm>
            <a:off x="1524000" y="1371600"/>
            <a:ext cx="356552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eaLnBrk="1" hangingPunct="1">
              <a:lnSpc>
                <a:spcPct val="90000"/>
              </a:lnSpc>
              <a:spcBef>
                <a:spcPct val="0"/>
              </a:spcBef>
              <a:buFontTx/>
              <a:buNone/>
            </a:pPr>
            <a:r>
              <a:rPr lang="en-US" altLang="en-US" dirty="0">
                <a:latin typeface="Arial" panose="020B0604020202020204" pitchFamily="34" charset="0"/>
              </a:rPr>
              <a:t>Convergent stress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4B22A-80FF-F617-0725-DC97D491B6B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Thrust faults: type of reverse fault associated with mountain building</a:t>
            </a:r>
          </a:p>
        </p:txBody>
      </p:sp>
      <p:pic>
        <p:nvPicPr>
          <p:cNvPr id="5" name="Content Placeholder 4" descr="A diagram of a fault and thrust fault&#10;&#10;AI-generated content may be incorrect.">
            <a:extLst>
              <a:ext uri="{FF2B5EF4-FFF2-40B4-BE49-F238E27FC236}">
                <a16:creationId xmlns:a16="http://schemas.microsoft.com/office/drawing/2014/main" id="{F5CB4A99-319D-2455-53F3-227745B7992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09800" y="2209800"/>
            <a:ext cx="7772400" cy="4322035"/>
          </a:xfrm>
        </p:spPr>
      </p:pic>
    </p:spTree>
    <p:extLst>
      <p:ext uri="{BB962C8B-B14F-4D97-AF65-F5344CB8AC3E}">
        <p14:creationId xmlns:p14="http://schemas.microsoft.com/office/powerpoint/2010/main" val="27807578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3" descr="C:\Geomorphcdrom\Kessel\Scan261.jpg">
            <a:extLst>
              <a:ext uri="{FF2B5EF4-FFF2-40B4-BE49-F238E27FC236}">
                <a16:creationId xmlns:a16="http://schemas.microsoft.com/office/drawing/2014/main" id="{49877351-C76D-D551-63C3-4CE256279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81000"/>
            <a:ext cx="91440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2" descr="salv_faults">
            <a:extLst>
              <a:ext uri="{FF2B5EF4-FFF2-40B4-BE49-F238E27FC236}">
                <a16:creationId xmlns:a16="http://schemas.microsoft.com/office/drawing/2014/main" id="{9EF90678-960A-D048-DD03-69946FD11E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beach with palm trees and sand&#10;&#10;AI-generated content may be incorrect.">
            <a:extLst>
              <a:ext uri="{FF2B5EF4-FFF2-40B4-BE49-F238E27FC236}">
                <a16:creationId xmlns:a16="http://schemas.microsoft.com/office/drawing/2014/main" id="{A0F29677-9FA7-75A8-E2D1-8A80CEFA175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21336"/>
            <a:ext cx="10515600" cy="7014014"/>
          </a:xfrm>
        </p:spPr>
      </p:pic>
    </p:spTree>
    <p:extLst>
      <p:ext uri="{BB962C8B-B14F-4D97-AF65-F5344CB8AC3E}">
        <p14:creationId xmlns:p14="http://schemas.microsoft.com/office/powerpoint/2010/main" val="26833246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1916C679-A3AE-F0C7-E355-79703D95A617}"/>
              </a:ext>
            </a:extLst>
          </p:cNvPr>
          <p:cNvSpPr>
            <a:spLocks noGrp="1" noChangeArrowheads="1"/>
          </p:cNvSpPr>
          <p:nvPr>
            <p:ph type="title"/>
          </p:nvPr>
        </p:nvSpPr>
        <p:spPr>
          <a:xfrm>
            <a:off x="914400" y="381000"/>
            <a:ext cx="10363200" cy="1143000"/>
          </a:xfrm>
        </p:spPr>
        <p:txBody>
          <a:bodyPr/>
          <a:lstStyle/>
          <a:p>
            <a:r>
              <a:rPr lang="en-US" altLang="en-US" dirty="0">
                <a:latin typeface="Arial" panose="020B0604020202020204" pitchFamily="34" charset="0"/>
                <a:cs typeface="Arial" panose="020B0604020202020204" pitchFamily="34" charset="0"/>
              </a:rPr>
              <a:t>Other structural landforms</a:t>
            </a:r>
          </a:p>
        </p:txBody>
      </p:sp>
      <p:sp>
        <p:nvSpPr>
          <p:cNvPr id="97283" name="Content Placeholder 2">
            <a:extLst>
              <a:ext uri="{FF2B5EF4-FFF2-40B4-BE49-F238E27FC236}">
                <a16:creationId xmlns:a16="http://schemas.microsoft.com/office/drawing/2014/main" id="{53EFE12A-E194-0A5D-5DFE-9264482ACB59}"/>
              </a:ext>
            </a:extLst>
          </p:cNvPr>
          <p:cNvSpPr>
            <a:spLocks noGrp="1" noChangeArrowheads="1"/>
          </p:cNvSpPr>
          <p:nvPr>
            <p:ph idx="1"/>
          </p:nvPr>
        </p:nvSpPr>
        <p:spPr>
          <a:xfrm>
            <a:off x="762000" y="1676400"/>
            <a:ext cx="10363200" cy="4114800"/>
          </a:xfrm>
        </p:spPr>
        <p:txBody>
          <a:bodyPr/>
          <a:lstStyle/>
          <a:p>
            <a:r>
              <a:rPr lang="en-US" altLang="en-US" sz="2800" dirty="0">
                <a:latin typeface="Arial" panose="020B0604020202020204" pitchFamily="34" charset="0"/>
                <a:cs typeface="Arial" panose="020B0604020202020204" pitchFamily="34" charset="0"/>
              </a:rPr>
              <a:t>Cuesta</a:t>
            </a:r>
          </a:p>
          <a:p>
            <a:r>
              <a:rPr lang="en-US" altLang="en-US" sz="2800" dirty="0">
                <a:latin typeface="Arial" panose="020B0604020202020204" pitchFamily="34" charset="0"/>
                <a:cs typeface="Arial" panose="020B0604020202020204" pitchFamily="34" charset="0"/>
              </a:rPr>
              <a:t>Hogback</a:t>
            </a:r>
          </a:p>
          <a:p>
            <a:r>
              <a:rPr lang="en-US" altLang="en-US" sz="2800" dirty="0">
                <a:latin typeface="Arial" panose="020B0604020202020204" pitchFamily="34" charset="0"/>
                <a:cs typeface="Arial" panose="020B0604020202020204" pitchFamily="34" charset="0"/>
              </a:rPr>
              <a:t>Mesa and plateaus</a:t>
            </a:r>
          </a:p>
          <a:p>
            <a:r>
              <a:rPr lang="en-US" altLang="en-US" sz="2800" dirty="0">
                <a:latin typeface="Arial" panose="020B0604020202020204" pitchFamily="34" charset="0"/>
                <a:cs typeface="Arial" panose="020B0604020202020204" pitchFamily="34" charset="0"/>
              </a:rPr>
              <a:t>Horst and graben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Content Placeholder 4" descr="A high angle view of a mountain and a lake&#10;&#10;Description automatically generated">
            <a:extLst>
              <a:ext uri="{FF2B5EF4-FFF2-40B4-BE49-F238E27FC236}">
                <a16:creationId xmlns:a16="http://schemas.microsoft.com/office/drawing/2014/main" id="{8D7C47DD-8EB8-7A94-BE10-B29B87C8610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104900" y="103188"/>
            <a:ext cx="9982200" cy="6651625"/>
          </a:xfr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Content Placeholder 4">
            <a:extLst>
              <a:ext uri="{FF2B5EF4-FFF2-40B4-BE49-F238E27FC236}">
                <a16:creationId xmlns:a16="http://schemas.microsoft.com/office/drawing/2014/main" id="{B9D7D3D4-1636-1CB6-85A4-A20E06D52CF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76400" y="228600"/>
            <a:ext cx="9221788" cy="2759075"/>
          </a:xfrm>
        </p:spPr>
      </p:pic>
      <p:pic>
        <p:nvPicPr>
          <p:cNvPr id="100355" name="Picture 6" descr="A colorful striped object with a white ribbon&#10;&#10;Description automatically generated with medium confidence">
            <a:extLst>
              <a:ext uri="{FF2B5EF4-FFF2-40B4-BE49-F238E27FC236}">
                <a16:creationId xmlns:a16="http://schemas.microsoft.com/office/drawing/2014/main" id="{B3C91144-C14B-601F-7A53-FF40F03E04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581400"/>
            <a:ext cx="10969625" cy="230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Content Placeholder 4" descr="A diagram of a mountain&#10;&#10;Description automatically generated with medium confidence">
            <a:extLst>
              <a:ext uri="{FF2B5EF4-FFF2-40B4-BE49-F238E27FC236}">
                <a16:creationId xmlns:a16="http://schemas.microsoft.com/office/drawing/2014/main" id="{B825D6CE-7E45-C88A-FE9F-CB1170B501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76400" y="685800"/>
            <a:ext cx="7239000" cy="5659438"/>
          </a:xfr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Content Placeholder 4" descr="A satellite view of a land&#10;&#10;Description automatically generated">
            <a:extLst>
              <a:ext uri="{FF2B5EF4-FFF2-40B4-BE49-F238E27FC236}">
                <a16:creationId xmlns:a16="http://schemas.microsoft.com/office/drawing/2014/main" id="{49101EA9-284F-3A8E-8A66-8BAB27FD523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71600" y="88900"/>
            <a:ext cx="10580688" cy="6613525"/>
          </a:xfrm>
        </p:spPr>
      </p:pic>
      <p:pic>
        <p:nvPicPr>
          <p:cNvPr id="103427" name="Content Placeholder 4" descr="A high angle view of San Andreas Fault&#10;&#10;Description automatically generated">
            <a:extLst>
              <a:ext uri="{FF2B5EF4-FFF2-40B4-BE49-F238E27FC236}">
                <a16:creationId xmlns:a16="http://schemas.microsoft.com/office/drawing/2014/main" id="{9A385205-B845-9D1F-5681-0F09DA655EF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575" y="0"/>
            <a:ext cx="4467225" cy="670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Content Placeholder 7" descr="A high angle view of a desert&#10;&#10;Description automatically generated">
            <a:extLst>
              <a:ext uri="{FF2B5EF4-FFF2-40B4-BE49-F238E27FC236}">
                <a16:creationId xmlns:a16="http://schemas.microsoft.com/office/drawing/2014/main" id="{1C0DBFC0-8F9B-A03C-B44E-92D8EC87382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81200" y="0"/>
            <a:ext cx="8458200" cy="6889750"/>
          </a:xfr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1F9B323C-5CCA-4636-314B-AD08C8CCE791}"/>
              </a:ext>
            </a:extLst>
          </p:cNvPr>
          <p:cNvSpPr>
            <a:spLocks noGrp="1" noChangeArrowheads="1"/>
          </p:cNvSpPr>
          <p:nvPr>
            <p:ph type="title"/>
          </p:nvPr>
        </p:nvSpPr>
        <p:spPr>
          <a:xfrm>
            <a:off x="1828800" y="457200"/>
            <a:ext cx="3962400" cy="1143000"/>
          </a:xfrm>
        </p:spPr>
        <p:txBody>
          <a:bodyPr/>
          <a:lstStyle/>
          <a:p>
            <a:r>
              <a:rPr lang="en-US" altLang="en-US" sz="3200" dirty="0">
                <a:latin typeface="Arial" panose="020B0604020202020204" pitchFamily="34" charset="0"/>
              </a:rPr>
              <a:t>Basin and Range physiographic province of Nevada</a:t>
            </a:r>
          </a:p>
        </p:txBody>
      </p:sp>
      <p:pic>
        <p:nvPicPr>
          <p:cNvPr id="108547" name="Picture 3" descr="nv">
            <a:extLst>
              <a:ext uri="{FF2B5EF4-FFF2-40B4-BE49-F238E27FC236}">
                <a16:creationId xmlns:a16="http://schemas.microsoft.com/office/drawing/2014/main" id="{E49209AC-5EFF-25D3-2A7A-D59AB5623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0"/>
            <a:ext cx="5257800" cy="688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48" name="Picture 6" descr="C:\Documents and Settings\Tony Stallins\Desktop\BasinRangeModel.jpg">
            <a:extLst>
              <a:ext uri="{FF2B5EF4-FFF2-40B4-BE49-F238E27FC236}">
                <a16:creationId xmlns:a16="http://schemas.microsoft.com/office/drawing/2014/main" id="{2AD64485-470A-ECF3-6770-931C57EBDC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39241" b="29469"/>
          <a:stretch>
            <a:fillRect/>
          </a:stretch>
        </p:blipFill>
        <p:spPr bwMode="auto">
          <a:xfrm>
            <a:off x="457200" y="1905000"/>
            <a:ext cx="5838825"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satellite image of a basin&#10;&#10;Description automatically generated">
            <a:extLst>
              <a:ext uri="{FF2B5EF4-FFF2-40B4-BE49-F238E27FC236}">
                <a16:creationId xmlns:a16="http://schemas.microsoft.com/office/drawing/2014/main" id="{189DFBFD-ED3F-7964-0EC6-54CADBE8F5E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77240" y="0"/>
            <a:ext cx="10073640" cy="6714081"/>
          </a:xfrm>
        </p:spPr>
      </p:pic>
    </p:spTree>
    <p:extLst>
      <p:ext uri="{BB962C8B-B14F-4D97-AF65-F5344CB8AC3E}">
        <p14:creationId xmlns:p14="http://schemas.microsoft.com/office/powerpoint/2010/main" val="23632387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Content Placeholder 4">
            <a:extLst>
              <a:ext uri="{FF2B5EF4-FFF2-40B4-BE49-F238E27FC236}">
                <a16:creationId xmlns:a16="http://schemas.microsoft.com/office/drawing/2014/main" id="{185DD789-3327-3D39-66C3-7104A93C703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43000" y="855663"/>
            <a:ext cx="9471025" cy="4859337"/>
          </a:xfrm>
        </p:spPr>
      </p:pic>
    </p:spTree>
  </p:cSld>
  <p:clrMapOvr>
    <a:masterClrMapping/>
  </p:clrMapOvr>
</p:sld>
</file>

<file path=ppt/theme/theme1.xml><?xml version="1.0" encoding="utf-8"?>
<a:theme xmlns:a="http://schemas.openxmlformats.org/drawingml/2006/main" name="Default Design">
  <a:themeElements>
    <a:clrScheme name="Default Desig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A50021"/>
      </a:hlink>
      <a:folHlink>
        <a:srgbClr val="A50021"/>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A50021"/>
        </a:hlink>
        <a:folHlink>
          <a:srgbClr val="A5002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800000"/>
    </a:hlink>
    <a:folHlink>
      <a:srgbClr val="800000"/>
    </a:folHlink>
  </a:clrScheme>
</a:themeOverride>
</file>

<file path=docProps/app.xml><?xml version="1.0" encoding="utf-8"?>
<Properties xmlns="http://schemas.openxmlformats.org/officeDocument/2006/extended-properties" xmlns:vt="http://schemas.openxmlformats.org/officeDocument/2006/docPropsVTypes">
  <TotalTime>2794</TotalTime>
  <Words>2270</Words>
  <Application>Microsoft Office PowerPoint</Application>
  <PresentationFormat>Widescreen</PresentationFormat>
  <Paragraphs>187</Paragraphs>
  <Slides>53</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Arial</vt:lpstr>
      <vt:lpstr>Calibri</vt:lpstr>
      <vt:lpstr>Times New Roman</vt:lpstr>
      <vt:lpstr>Default Design</vt:lpstr>
      <vt:lpstr>Crustal motion</vt:lpstr>
      <vt:lpstr>The ‘lumpy’ Earth</vt:lpstr>
      <vt:lpstr>Lumpiness due to variability in force of gravity</vt:lpstr>
      <vt:lpstr>PowerPoint Presentation</vt:lpstr>
      <vt:lpstr>Crustal heating also makes the Earth lumpy</vt:lpstr>
      <vt:lpstr>Mountain building</vt:lpstr>
      <vt:lpstr>PowerPoint Presentation</vt:lpstr>
      <vt:lpstr>PowerPoint Presentation</vt:lpstr>
      <vt:lpstr>Mountain-building processes</vt:lpstr>
      <vt:lpstr>PowerPoint Presentation</vt:lpstr>
      <vt:lpstr>PowerPoint Presentation</vt:lpstr>
      <vt:lpstr>PowerPoint Presentation</vt:lpstr>
      <vt:lpstr>PowerPoint Presentation</vt:lpstr>
      <vt:lpstr>Batholiths: Sierra Nevada Mountains</vt:lpstr>
      <vt:lpstr>PowerPoint Presentation</vt:lpstr>
      <vt:lpstr>Thrust faults:  Rocky Mountains</vt:lpstr>
      <vt:lpstr>Extrusive volcanics: Cascade Mountains</vt:lpstr>
      <vt:lpstr>PowerPoint Presentation</vt:lpstr>
      <vt:lpstr>Exotic terranes: Pacific coast coastal mountains</vt:lpstr>
      <vt:lpstr>Epeirogeny</vt:lpstr>
      <vt:lpstr>PowerPoint Presentation</vt:lpstr>
      <vt:lpstr>Isostatic rebound</vt:lpstr>
      <vt:lpstr>Isostatic rebound due to glacial retreat: Lake Mälaren, Sweden </vt:lpstr>
      <vt:lpstr>PowerPoint Presentation</vt:lpstr>
      <vt:lpstr>PowerPoint Presentation</vt:lpstr>
      <vt:lpstr>The Colorado Plateau</vt:lpstr>
      <vt:lpstr>Mantle drips</vt:lpstr>
      <vt:lpstr>Folding and faulting (deformational motion)</vt:lpstr>
      <vt:lpstr>Folding: anticlines and synclines</vt:lpstr>
      <vt:lpstr>PowerPoint Presentation</vt:lpstr>
      <vt:lpstr>PowerPoint Presentation</vt:lpstr>
      <vt:lpstr>Plunging anticlines and synclines with differential weathering and erosion</vt:lpstr>
      <vt:lpstr>PowerPoint Presentation</vt:lpstr>
      <vt:lpstr>Synclinal ridges with differential weathering and erosion</vt:lpstr>
      <vt:lpstr>Anticlinal valleys</vt:lpstr>
      <vt:lpstr>Faults</vt:lpstr>
      <vt:lpstr>Strike-slip fault</vt:lpstr>
      <vt:lpstr>PowerPoint Presentation</vt:lpstr>
      <vt:lpstr>Normal fault</vt:lpstr>
      <vt:lpstr>Reverse fault</vt:lpstr>
      <vt:lpstr>Thrust faults: type of reverse fault associated with mountain building</vt:lpstr>
      <vt:lpstr>PowerPoint Presentation</vt:lpstr>
      <vt:lpstr>PowerPoint Presentation</vt:lpstr>
      <vt:lpstr>PowerPoint Presentation</vt:lpstr>
      <vt:lpstr>Other structural landforms</vt:lpstr>
      <vt:lpstr>PowerPoint Presentation</vt:lpstr>
      <vt:lpstr>PowerPoint Presentation</vt:lpstr>
      <vt:lpstr>PowerPoint Presentation</vt:lpstr>
      <vt:lpstr>PowerPoint Presentation</vt:lpstr>
      <vt:lpstr>PowerPoint Presentation</vt:lpstr>
      <vt:lpstr>Basin and Range physiographic province of Nevada</vt:lpstr>
      <vt:lpstr>PowerPoint Presentation</vt:lpstr>
      <vt:lpstr>PowerPoint Presentation</vt:lpstr>
    </vt:vector>
  </TitlesOfParts>
  <Company>FSU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 Anthony Stallins</dc:creator>
  <cp:lastModifiedBy>Stallins, Jon A.</cp:lastModifiedBy>
  <cp:revision>273</cp:revision>
  <cp:lastPrinted>2024-07-16T14:21:46Z</cp:lastPrinted>
  <dcterms:created xsi:type="dcterms:W3CDTF">2005-06-13T22:30:12Z</dcterms:created>
  <dcterms:modified xsi:type="dcterms:W3CDTF">2025-09-05T15:07:26Z</dcterms:modified>
</cp:coreProperties>
</file>